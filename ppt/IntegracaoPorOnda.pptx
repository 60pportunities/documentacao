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55" r:id="rId3"/>
    <p:sldId id="357" r:id="rId4"/>
    <p:sldId id="354" r:id="rId5"/>
    <p:sldId id="352" r:id="rId6"/>
  </p:sldIdLst>
  <p:sldSz cx="9144000" cy="6858000" type="screen4x3"/>
  <p:notesSz cx="7102475" cy="10234613"/>
  <p:defaultTextStyle>
    <a:defPPr>
      <a:defRPr lang="pt-BR"/>
    </a:defPPr>
    <a:lvl1pPr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just" rtl="0" fontAlgn="base">
      <a:lnSpc>
        <a:spcPct val="120000"/>
      </a:lnSpc>
      <a:spcBef>
        <a:spcPct val="20000"/>
      </a:spcBef>
      <a:spcAft>
        <a:spcPct val="5000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1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rácio Vasconcelos" initials="HV" lastIdx="2" clrIdx="0">
    <p:extLst/>
  </p:cmAuthor>
  <p:cmAuthor id="2" name="Horácio Vasconcelos" initials="HV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B2B2B2"/>
    <a:srgbClr val="DDDDDD"/>
    <a:srgbClr val="FF6600"/>
    <a:srgbClr val="0099FF"/>
    <a:srgbClr val="4D4D4D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49" autoAdjust="0"/>
    <p:restoredTop sz="95109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161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76"/>
    </p:cViewPr>
  </p:sorterViewPr>
  <p:notesViewPr>
    <p:cSldViewPr>
      <p:cViewPr varScale="1">
        <p:scale>
          <a:sx n="51" d="100"/>
          <a:sy n="51" d="100"/>
        </p:scale>
        <p:origin x="133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4DC39-E524-4C64-BC61-509CE6533ED4}" type="datetimeFigureOut">
              <a:rPr lang="pt-BR"/>
              <a:t>09/07/2019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A40CE-69CD-4894-9751-4DE9311BFEA4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62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6A40CE-69CD-4894-9751-4DE9311BFEA4}" type="slidenum">
              <a:rPr lang="pt-BR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13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Picture 9" descr="cap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9163050" cy="687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en-US" noProof="0" smtClean="0"/>
              <a:t>Clique para editar o estilo do título mestre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pt-BR" altLang="en-US" noProof="0" smtClean="0"/>
              <a:t>Clique para editar o estilo do subtítulo mestre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87CE05E-22C9-4325-86C8-D2F281C098F4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4D13F-1024-4567-9543-EE13C8730021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75357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F7F1EE-D6F6-4B12-AE91-F4402078A0F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42893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E04CD-25D9-4EF3-AC8F-62FCD07ADA8E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9227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30BC86-E54C-44AC-9929-0E1DD3720CAF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54598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B36C10-6A3D-4173-B8F4-ED40E9673536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7966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45C527-DB43-4775-AAF2-9FBB0CC124C7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2829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0CFED-1D80-4000-88C4-93D48549441A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99910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325533-05A9-4F80-926C-378843C67C2B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745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3384B-C5AF-46E5-A5BC-0AFA84012B6E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05016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0635F-0B01-42A7-91FE-7A435A192D04}" type="slidenum">
              <a:rPr lang="pt-BR" altLang="en-US"/>
              <a:pPr/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0236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interna_clara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0"/>
            <a:ext cx="9163050" cy="687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smtClean="0"/>
              <a:t>Clique para editar os estilos do texto mestre</a:t>
            </a:r>
          </a:p>
          <a:p>
            <a:pPr lvl="1"/>
            <a:r>
              <a:rPr lang="pt-BR" altLang="en-US" smtClean="0"/>
              <a:t>Segundo nível</a:t>
            </a:r>
          </a:p>
          <a:p>
            <a:pPr lvl="2"/>
            <a:r>
              <a:rPr lang="pt-BR" altLang="en-US" smtClean="0"/>
              <a:t>Terceiro nível</a:t>
            </a:r>
          </a:p>
          <a:p>
            <a:pPr lvl="3"/>
            <a:r>
              <a:rPr lang="pt-BR" altLang="en-US" smtClean="0"/>
              <a:t>Quarto nível</a:t>
            </a:r>
          </a:p>
          <a:p>
            <a:pPr lvl="4"/>
            <a:r>
              <a:rPr lang="pt-BR" altLang="en-US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endParaRPr lang="pt-B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endParaRPr lang="pt-B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400"/>
            </a:lvl1pPr>
          </a:lstStyle>
          <a:p>
            <a:fld id="{B0AC5DE1-67D5-495B-BCB8-6F418BC3F5A7}" type="slidenum">
              <a:rPr lang="pt-BR" altLang="en-US"/>
              <a:pPr/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6200" y="1615323"/>
            <a:ext cx="7988300" cy="2173717"/>
          </a:xfrm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r>
              <a:rPr lang="pt-BR" altLang="en-US" b="1" dirty="0" smtClean="0">
                <a:solidFill>
                  <a:srgbClr val="FFCC00"/>
                </a:solidFill>
              </a:rPr>
              <a:t>BB Tecnologia e Serviços</a:t>
            </a:r>
            <a:br>
              <a:rPr lang="pt-BR" altLang="en-US" b="1" dirty="0" smtClean="0">
                <a:solidFill>
                  <a:srgbClr val="FFCC00"/>
                </a:solidFill>
              </a:rPr>
            </a:br>
            <a:r>
              <a:rPr lang="pt-BR" altLang="en-US" b="1" dirty="0" smtClean="0">
                <a:solidFill>
                  <a:srgbClr val="FFCC00"/>
                </a:solidFill>
              </a:rPr>
              <a:t>e-Business </a:t>
            </a:r>
            <a:r>
              <a:rPr lang="pt-BR" altLang="en-US" b="1" dirty="0" err="1" smtClean="0">
                <a:solidFill>
                  <a:srgbClr val="FFCC00"/>
                </a:solidFill>
              </a:rPr>
              <a:t>Suite</a:t>
            </a:r>
            <a:endParaRPr lang="pt-BR" altLang="en-US" b="1" dirty="0">
              <a:solidFill>
                <a:srgbClr val="FFCC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552" y="3645024"/>
            <a:ext cx="8393113" cy="2016224"/>
          </a:xfrm>
          <a:effectLst>
            <a:outerShdw dist="17961" dir="2700000" algn="ctr" rotWithShape="0">
              <a:schemeClr val="tx1"/>
            </a:outerShdw>
          </a:effectLst>
        </p:spPr>
        <p:txBody>
          <a:bodyPr/>
          <a:lstStyle/>
          <a:p>
            <a:pPr algn="r"/>
            <a:r>
              <a:rPr lang="pt-BR" altLang="en-US" dirty="0" smtClean="0">
                <a:solidFill>
                  <a:schemeClr val="bg1"/>
                </a:solidFill>
              </a:rPr>
              <a:t>PGE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-36513" y="-193932"/>
            <a:ext cx="8229600" cy="1143001"/>
          </a:xfrm>
        </p:spPr>
        <p:txBody>
          <a:bodyPr/>
          <a:lstStyle/>
          <a:p>
            <a:pPr algn="l" eaLnBrk="1" hangingPunct="1"/>
            <a:r>
              <a:rPr lang="pt-BR" altLang="pt-BR" b="1" dirty="0" smtClean="0">
                <a:solidFill>
                  <a:srgbClr val="003366"/>
                </a:solidFill>
              </a:rPr>
              <a:t>Metodologia</a:t>
            </a:r>
          </a:p>
        </p:txBody>
      </p:sp>
      <p:sp>
        <p:nvSpPr>
          <p:cNvPr id="22531" name="Line 5"/>
          <p:cNvSpPr>
            <a:spLocks noChangeShapeType="1"/>
          </p:cNvSpPr>
          <p:nvPr/>
        </p:nvSpPr>
        <p:spPr bwMode="auto">
          <a:xfrm>
            <a:off x="-36513" y="908050"/>
            <a:ext cx="3168651" cy="0"/>
          </a:xfrm>
          <a:prstGeom prst="line">
            <a:avLst/>
          </a:prstGeom>
          <a:noFill/>
          <a:ln w="28575" cap="rnd">
            <a:solidFill>
              <a:schemeClr val="bg2"/>
            </a:solidFill>
            <a:prstDash val="sysDot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2" name="Text Box 14"/>
          <p:cNvSpPr txBox="1">
            <a:spLocks noChangeArrowheads="1"/>
          </p:cNvSpPr>
          <p:nvPr/>
        </p:nvSpPr>
        <p:spPr bwMode="auto">
          <a:xfrm>
            <a:off x="8585200" y="136525"/>
            <a:ext cx="5302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  <a:spcAft>
                <a:spcPct val="50000"/>
              </a:spcAft>
              <a:buFontTx/>
              <a:buNone/>
            </a:pPr>
            <a:r>
              <a:rPr lang="pt-BR" altLang="pt-BR" sz="1200">
                <a:solidFill>
                  <a:schemeClr val="accent2"/>
                </a:solidFill>
              </a:rPr>
              <a:t>&lt;$?&gt;</a:t>
            </a:r>
          </a:p>
        </p:txBody>
      </p:sp>
      <p:sp>
        <p:nvSpPr>
          <p:cNvPr id="22533" name="Oval 4"/>
          <p:cNvSpPr>
            <a:spLocks noChangeArrowheads="1"/>
          </p:cNvSpPr>
          <p:nvPr/>
        </p:nvSpPr>
        <p:spPr bwMode="auto">
          <a:xfrm>
            <a:off x="7216775" y="1547813"/>
            <a:ext cx="1689100" cy="64928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  <a:spcAft>
                <a:spcPct val="50000"/>
              </a:spcAft>
              <a:buFontTx/>
              <a:buNone/>
            </a:pPr>
            <a:endParaRPr lang="pt-BR" altLang="pt-BR" sz="1800"/>
          </a:p>
        </p:txBody>
      </p:sp>
      <p:sp>
        <p:nvSpPr>
          <p:cNvPr id="10" name="Oval 4"/>
          <p:cNvSpPr>
            <a:spLocks noChangeArrowheads="1"/>
          </p:cNvSpPr>
          <p:nvPr/>
        </p:nvSpPr>
        <p:spPr bwMode="auto">
          <a:xfrm>
            <a:off x="7380288" y="41275"/>
            <a:ext cx="1689100" cy="6477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none" anchor="ctr" anchorCtr="1"/>
          <a:lstStyle/>
          <a:p>
            <a:pPr algn="just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endParaRPr lang="pt-BR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535" name="Text Box 5"/>
          <p:cNvSpPr txBox="1">
            <a:spLocks noChangeArrowheads="1"/>
          </p:cNvSpPr>
          <p:nvPr/>
        </p:nvSpPr>
        <p:spPr bwMode="auto">
          <a:xfrm>
            <a:off x="7408863" y="190500"/>
            <a:ext cx="1706562" cy="29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spcAft>
                <a:spcPct val="50000"/>
              </a:spcAft>
              <a:buFontTx/>
              <a:buNone/>
            </a:pPr>
            <a:r>
              <a:rPr lang="pt-BR" altLang="pt-BR" sz="1200" b="1">
                <a:solidFill>
                  <a:srgbClr val="FF0000"/>
                </a:solidFill>
              </a:rPr>
              <a:t>#público</a:t>
            </a:r>
            <a:endParaRPr lang="pt-BR" altLang="pt-BR" sz="1200">
              <a:solidFill>
                <a:srgbClr val="FF0000"/>
              </a:solidFill>
            </a:endParaRPr>
          </a:p>
        </p:txBody>
      </p:sp>
      <p:pic>
        <p:nvPicPr>
          <p:cNvPr id="22536" name="Imagem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052513"/>
            <a:ext cx="648176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upo 12"/>
          <p:cNvGrpSpPr>
            <a:grpSpLocks/>
          </p:cNvGrpSpPr>
          <p:nvPr/>
        </p:nvGrpSpPr>
        <p:grpSpPr bwMode="auto">
          <a:xfrm>
            <a:off x="1476375" y="2060575"/>
            <a:ext cx="2160588" cy="2160588"/>
            <a:chOff x="1691951" y="2636961"/>
            <a:chExt cx="2160240" cy="2160240"/>
          </a:xfrm>
        </p:grpSpPr>
        <p:sp>
          <p:nvSpPr>
            <p:cNvPr id="22547" name="Elipse 6"/>
            <p:cNvSpPr>
              <a:spLocks noChangeArrowheads="1"/>
            </p:cNvSpPr>
            <p:nvPr/>
          </p:nvSpPr>
          <p:spPr bwMode="auto">
            <a:xfrm>
              <a:off x="1691951" y="2636961"/>
              <a:ext cx="2160240" cy="2160240"/>
            </a:xfrm>
            <a:prstGeom prst="ellipse">
              <a:avLst/>
            </a:prstGeom>
            <a:solidFill>
              <a:schemeClr val="accent1">
                <a:alpha val="38823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Aft>
                  <a:spcPct val="50000"/>
                </a:spcAft>
                <a:buFontTx/>
                <a:buNone/>
              </a:pPr>
              <a:endParaRPr lang="en-US" altLang="en-US" sz="1800"/>
            </a:p>
          </p:txBody>
        </p:sp>
        <p:sp>
          <p:nvSpPr>
            <p:cNvPr id="22548" name="CaixaDeTexto 9"/>
            <p:cNvSpPr txBox="1">
              <a:spLocks noChangeArrowheads="1"/>
            </p:cNvSpPr>
            <p:nvPr/>
          </p:nvSpPr>
          <p:spPr bwMode="auto">
            <a:xfrm>
              <a:off x="1763948" y="4004893"/>
              <a:ext cx="1402722" cy="646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Protótipo 1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CRP1</a:t>
              </a:r>
            </a:p>
          </p:txBody>
        </p:sp>
      </p:grpSp>
      <p:grpSp>
        <p:nvGrpSpPr>
          <p:cNvPr id="15" name="Grupo 13"/>
          <p:cNvGrpSpPr>
            <a:grpSpLocks/>
          </p:cNvGrpSpPr>
          <p:nvPr/>
        </p:nvGrpSpPr>
        <p:grpSpPr bwMode="auto">
          <a:xfrm>
            <a:off x="3779838" y="1989138"/>
            <a:ext cx="2089150" cy="2232025"/>
            <a:chOff x="3995936" y="2564904"/>
            <a:chExt cx="2088232" cy="2232248"/>
          </a:xfrm>
        </p:grpSpPr>
        <p:sp>
          <p:nvSpPr>
            <p:cNvPr id="16" name="Elipse 15"/>
            <p:cNvSpPr/>
            <p:nvPr/>
          </p:nvSpPr>
          <p:spPr bwMode="auto">
            <a:xfrm>
              <a:off x="3995936" y="2564904"/>
              <a:ext cx="2088232" cy="2232248"/>
            </a:xfrm>
            <a:prstGeom prst="ellipse">
              <a:avLst/>
            </a:prstGeom>
            <a:solidFill>
              <a:schemeClr val="bg1">
                <a:lumMod val="85000"/>
                <a:alpha val="39000"/>
              </a:schemeClr>
            </a:solidFill>
            <a:ln>
              <a:noFill/>
            </a:ln>
            <a:effectLst/>
            <a:extLst/>
          </p:spPr>
          <p:txBody>
            <a:bodyPr/>
            <a:lstStyle/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50000"/>
                </a:spcAft>
                <a:defRPr/>
              </a:pPr>
              <a:endParaRPr lang="en-US"/>
            </a:p>
          </p:txBody>
        </p:sp>
        <p:sp>
          <p:nvSpPr>
            <p:cNvPr id="22546" name="CaixaDeTexto 10"/>
            <p:cNvSpPr txBox="1">
              <a:spLocks noChangeArrowheads="1"/>
            </p:cNvSpPr>
            <p:nvPr/>
          </p:nvSpPr>
          <p:spPr bwMode="auto">
            <a:xfrm>
              <a:off x="4372784" y="3645024"/>
              <a:ext cx="1402332" cy="646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Protótipo 2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CRP2</a:t>
              </a:r>
            </a:p>
          </p:txBody>
        </p:sp>
      </p:grpSp>
      <p:grpSp>
        <p:nvGrpSpPr>
          <p:cNvPr id="18" name="Grupo 14"/>
          <p:cNvGrpSpPr>
            <a:grpSpLocks/>
          </p:cNvGrpSpPr>
          <p:nvPr/>
        </p:nvGrpSpPr>
        <p:grpSpPr bwMode="auto">
          <a:xfrm>
            <a:off x="5651500" y="2205038"/>
            <a:ext cx="2736850" cy="1943100"/>
            <a:chOff x="5868144" y="2780928"/>
            <a:chExt cx="2736304" cy="1944216"/>
          </a:xfrm>
        </p:grpSpPr>
        <p:sp>
          <p:nvSpPr>
            <p:cNvPr id="19" name="Elipse 18"/>
            <p:cNvSpPr/>
            <p:nvPr/>
          </p:nvSpPr>
          <p:spPr bwMode="auto">
            <a:xfrm>
              <a:off x="5868144" y="2780928"/>
              <a:ext cx="2736304" cy="194421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39000"/>
              </a:schemeClr>
            </a:solidFill>
            <a:ln>
              <a:noFill/>
            </a:ln>
            <a:effectLst/>
            <a:extLst/>
          </p:spPr>
          <p:txBody>
            <a:bodyPr/>
            <a:lstStyle/>
            <a:p>
              <a:pPr algn="just"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50000"/>
                </a:spcAft>
                <a:defRPr/>
              </a:pPr>
              <a:endParaRPr lang="en-US"/>
            </a:p>
          </p:txBody>
        </p:sp>
        <p:sp>
          <p:nvSpPr>
            <p:cNvPr id="22544" name="CaixaDeTexto 11"/>
            <p:cNvSpPr txBox="1">
              <a:spLocks noChangeArrowheads="1"/>
            </p:cNvSpPr>
            <p:nvPr/>
          </p:nvSpPr>
          <p:spPr bwMode="auto">
            <a:xfrm>
              <a:off x="7113133" y="3861048"/>
              <a:ext cx="1402668" cy="646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Protótipo 3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CRP3</a:t>
              </a:r>
            </a:p>
          </p:txBody>
        </p:sp>
      </p:grpSp>
      <p:sp>
        <p:nvSpPr>
          <p:cNvPr id="21" name="CaixaDeTexto 20"/>
          <p:cNvSpPr txBox="1">
            <a:spLocks noChangeArrowheads="1"/>
          </p:cNvSpPr>
          <p:nvPr/>
        </p:nvSpPr>
        <p:spPr bwMode="auto">
          <a:xfrm>
            <a:off x="1115616" y="4649386"/>
            <a:ext cx="26511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Familiarizar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Nivelar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Conhecimento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Desenhar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Integração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Desenhar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Conversões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Desenhar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Cargas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Desenhar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Customizações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Definir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Modelo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Futuro</a:t>
            </a:r>
            <a:endParaRPr lang="en-US" altLang="en-US" sz="1400" b="1" dirty="0"/>
          </a:p>
        </p:txBody>
      </p:sp>
      <p:sp>
        <p:nvSpPr>
          <p:cNvPr id="22" name="CaixaDeTexto 21"/>
          <p:cNvSpPr txBox="1">
            <a:spLocks noChangeArrowheads="1"/>
          </p:cNvSpPr>
          <p:nvPr/>
        </p:nvSpPr>
        <p:spPr bwMode="auto">
          <a:xfrm>
            <a:off x="3802453" y="4649386"/>
            <a:ext cx="21986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/>
              <a:t>Configurar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/>
              <a:t>Testar Configuração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/>
              <a:t>Rever Processos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/>
              <a:t>Desenvolver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en-US" sz="1400" b="1"/>
              <a:t>Testar unitário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/>
              <a:t>Integrar Desenhos;</a:t>
            </a:r>
          </a:p>
        </p:txBody>
      </p:sp>
      <p:sp>
        <p:nvSpPr>
          <p:cNvPr id="23" name="CaixaDeTexto 22"/>
          <p:cNvSpPr txBox="1">
            <a:spLocks noChangeArrowheads="1"/>
          </p:cNvSpPr>
          <p:nvPr/>
        </p:nvSpPr>
        <p:spPr bwMode="auto">
          <a:xfrm>
            <a:off x="6416675" y="4649386"/>
            <a:ext cx="21685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Configurar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Testar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Integrado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Ajustar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Homologar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Preparar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Processos</a:t>
            </a:r>
            <a:endParaRPr lang="en-US" altLang="en-US" sz="1400" b="1" dirty="0"/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altLang="en-US" sz="1400" b="1" dirty="0" err="1"/>
              <a:t>Preparar</a:t>
            </a:r>
            <a:r>
              <a:rPr lang="en-US" altLang="en-US" sz="1400" b="1" dirty="0"/>
              <a:t> Sistema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endParaRPr lang="en-US" altLang="en-US" sz="14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-36512" y="1052736"/>
            <a:ext cx="154838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Ondas 1 - 3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57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 txBox="1">
            <a:spLocks noChangeArrowheads="1"/>
          </p:cNvSpPr>
          <p:nvPr/>
        </p:nvSpPr>
        <p:spPr bwMode="auto">
          <a:xfrm>
            <a:off x="14288" y="-269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4400" b="1" dirty="0" smtClean="0">
                <a:solidFill>
                  <a:srgbClr val="003366"/>
                </a:solidFill>
              </a:rPr>
              <a:t>Implementação Típica</a:t>
            </a:r>
            <a:endParaRPr lang="pt-BR" altLang="pt-BR" sz="4400" b="1" dirty="0">
              <a:solidFill>
                <a:srgbClr val="003366"/>
              </a:solidFill>
            </a:endParaRPr>
          </a:p>
        </p:txBody>
      </p:sp>
      <p:sp>
        <p:nvSpPr>
          <p:cNvPr id="33795" name="Line 5"/>
          <p:cNvSpPr>
            <a:spLocks noChangeShapeType="1"/>
          </p:cNvSpPr>
          <p:nvPr/>
        </p:nvSpPr>
        <p:spPr bwMode="auto">
          <a:xfrm>
            <a:off x="-36513" y="908050"/>
            <a:ext cx="3168651" cy="0"/>
          </a:xfrm>
          <a:prstGeom prst="line">
            <a:avLst/>
          </a:prstGeom>
          <a:noFill/>
          <a:ln w="28575" cap="rnd">
            <a:solidFill>
              <a:schemeClr val="bg2"/>
            </a:solidFill>
            <a:prstDash val="sysDot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6" name="CaixaDeTexto 4"/>
          <p:cNvSpPr txBox="1">
            <a:spLocks noChangeArrowheads="1"/>
          </p:cNvSpPr>
          <p:nvPr/>
        </p:nvSpPr>
        <p:spPr bwMode="auto">
          <a:xfrm>
            <a:off x="0" y="993775"/>
            <a:ext cx="8964613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pt-BR" altLang="en-US" sz="1800"/>
              <a:t>Ciclo de Vida de uma Implementa</a:t>
            </a:r>
            <a:r>
              <a:rPr lang="en-US" altLang="en-US" sz="1800"/>
              <a:t>ção Típica (</a:t>
            </a:r>
            <a:r>
              <a:rPr lang="en-US" altLang="en-US" sz="1400"/>
              <a:t>TIL - T</a:t>
            </a:r>
            <a:r>
              <a:rPr lang="en-US" altLang="pt-BR" sz="1400"/>
              <a:t>ypical Implementation Lifecycle</a:t>
            </a:r>
            <a:r>
              <a:rPr lang="en-US" altLang="pt-BR" sz="1800"/>
              <a:t>)</a:t>
            </a:r>
            <a:endParaRPr lang="pt-BR" altLang="en-US" sz="1800"/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06363" y="1425575"/>
            <a:ext cx="2520950" cy="1250950"/>
            <a:chOff x="404879" y="1601663"/>
            <a:chExt cx="2521114" cy="1251273"/>
          </a:xfrm>
        </p:grpSpPr>
        <p:grpSp>
          <p:nvGrpSpPr>
            <p:cNvPr id="33814" name="Grupo 6"/>
            <p:cNvGrpSpPr>
              <a:grpSpLocks/>
            </p:cNvGrpSpPr>
            <p:nvPr/>
          </p:nvGrpSpPr>
          <p:grpSpPr bwMode="auto">
            <a:xfrm>
              <a:off x="507124" y="1906330"/>
              <a:ext cx="2369111" cy="946606"/>
              <a:chOff x="42649" y="1474282"/>
              <a:chExt cx="2369111" cy="946606"/>
            </a:xfrm>
          </p:grpSpPr>
          <p:sp>
            <p:nvSpPr>
              <p:cNvPr id="9" name="Disco Magnético 6"/>
              <p:cNvSpPr/>
              <p:nvPr/>
            </p:nvSpPr>
            <p:spPr bwMode="auto">
              <a:xfrm>
                <a:off x="1691530" y="1773021"/>
                <a:ext cx="720772" cy="647867"/>
              </a:xfrm>
              <a:prstGeom prst="flowChartMagneticDisk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noFill/>
              </a:ln>
              <a:effectLst/>
              <a:extLst/>
            </p:spPr>
            <p:txBody>
              <a:bodyPr anchor="ctr"/>
              <a:lstStyle/>
              <a:p>
                <a:pPr algn="ctr" eaLnBrk="1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ct val="50000"/>
                  </a:spcAft>
                  <a:defRPr/>
                </a:pPr>
                <a:r>
                  <a:rPr lang="pt-BR" dirty="0"/>
                  <a:t>CRP</a:t>
                </a:r>
              </a:p>
            </p:txBody>
          </p:sp>
          <p:pic>
            <p:nvPicPr>
              <p:cNvPr id="33817" name="Imagem 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649" y="1474282"/>
                <a:ext cx="837952" cy="5865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33818" name="Conector Angulado 9"/>
              <p:cNvCxnSpPr>
                <a:cxnSpLocks noChangeShapeType="1"/>
                <a:stCxn id="33817" idx="3"/>
                <a:endCxn id="9" idx="2"/>
              </p:cNvCxnSpPr>
              <p:nvPr/>
            </p:nvCxnSpPr>
            <p:spPr bwMode="auto">
              <a:xfrm>
                <a:off x="880601" y="1767565"/>
                <a:ext cx="811079" cy="329287"/>
              </a:xfrm>
              <a:prstGeom prst="bentConnector3">
                <a:avLst>
                  <a:gd name="adj1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3815" name="CaixaDeTexto 7"/>
            <p:cNvSpPr txBox="1">
              <a:spLocks noChangeArrowheads="1"/>
            </p:cNvSpPr>
            <p:nvPr/>
          </p:nvSpPr>
          <p:spPr bwMode="auto">
            <a:xfrm>
              <a:off x="404879" y="1601663"/>
              <a:ext cx="2521114" cy="240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en-US" sz="800" dirty="0"/>
                <a:t>Configura</a:t>
              </a:r>
              <a:r>
                <a:rPr lang="en-US" altLang="en-US" sz="800" dirty="0" err="1"/>
                <a:t>ção</a:t>
              </a:r>
              <a:r>
                <a:rPr lang="en-US" altLang="en-US" sz="800" dirty="0"/>
                <a:t> e Dados </a:t>
              </a:r>
              <a:r>
                <a:rPr lang="en-US" altLang="en-US" sz="800" dirty="0" err="1"/>
                <a:t>impostados</a:t>
              </a:r>
              <a:r>
                <a:rPr lang="en-US" altLang="en-US" sz="800" dirty="0"/>
                <a:t> </a:t>
              </a:r>
              <a:r>
                <a:rPr lang="en-US" altLang="en-US" sz="800" dirty="0" err="1"/>
                <a:t>Manualmente</a:t>
              </a:r>
              <a:endParaRPr lang="pt-BR" altLang="en-US" sz="800" dirty="0"/>
            </a:p>
          </p:txBody>
        </p:sp>
      </p:grpSp>
      <p:sp>
        <p:nvSpPr>
          <p:cNvPr id="12" name="Disco Magnético 11"/>
          <p:cNvSpPr/>
          <p:nvPr/>
        </p:nvSpPr>
        <p:spPr bwMode="auto">
          <a:xfrm>
            <a:off x="2051050" y="3262313"/>
            <a:ext cx="720725" cy="649287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r>
              <a:rPr lang="pt-BR" dirty="0"/>
              <a:t>Gold</a:t>
            </a:r>
          </a:p>
        </p:txBody>
      </p:sp>
      <p:sp>
        <p:nvSpPr>
          <p:cNvPr id="13" name="Disco Magnético 18"/>
          <p:cNvSpPr/>
          <p:nvPr/>
        </p:nvSpPr>
        <p:spPr bwMode="auto">
          <a:xfrm>
            <a:off x="3306763" y="2276475"/>
            <a:ext cx="719137" cy="64770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r>
              <a:rPr lang="pt-BR" dirty="0" err="1"/>
              <a:t>Dev</a:t>
            </a:r>
            <a:endParaRPr lang="pt-BR" dirty="0"/>
          </a:p>
        </p:txBody>
      </p:sp>
      <p:sp>
        <p:nvSpPr>
          <p:cNvPr id="14" name="Disco Magnético 19"/>
          <p:cNvSpPr/>
          <p:nvPr/>
        </p:nvSpPr>
        <p:spPr bwMode="auto">
          <a:xfrm>
            <a:off x="4170363" y="2276475"/>
            <a:ext cx="719137" cy="64770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r>
              <a:rPr lang="pt-BR" dirty="0"/>
              <a:t>Test</a:t>
            </a:r>
          </a:p>
        </p:txBody>
      </p:sp>
      <p:sp>
        <p:nvSpPr>
          <p:cNvPr id="15" name="Disco Magnético 21"/>
          <p:cNvSpPr/>
          <p:nvPr/>
        </p:nvSpPr>
        <p:spPr bwMode="auto">
          <a:xfrm>
            <a:off x="5033963" y="2276475"/>
            <a:ext cx="720725" cy="64770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r>
              <a:rPr lang="pt-BR" dirty="0"/>
              <a:t>TRE</a:t>
            </a:r>
          </a:p>
        </p:txBody>
      </p:sp>
      <p:sp>
        <p:nvSpPr>
          <p:cNvPr id="16" name="Disco Magnético 22"/>
          <p:cNvSpPr/>
          <p:nvPr/>
        </p:nvSpPr>
        <p:spPr bwMode="auto">
          <a:xfrm>
            <a:off x="5897563" y="2276475"/>
            <a:ext cx="720725" cy="64770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r>
              <a:rPr lang="pt-BR" dirty="0"/>
              <a:t>SIT</a:t>
            </a:r>
          </a:p>
        </p:txBody>
      </p:sp>
      <p:sp>
        <p:nvSpPr>
          <p:cNvPr id="17" name="Disco Magnético 23"/>
          <p:cNvSpPr/>
          <p:nvPr/>
        </p:nvSpPr>
        <p:spPr bwMode="auto">
          <a:xfrm>
            <a:off x="6762750" y="2276475"/>
            <a:ext cx="719138" cy="64770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r>
              <a:rPr lang="pt-BR" dirty="0"/>
              <a:t>UAT</a:t>
            </a:r>
          </a:p>
        </p:txBody>
      </p:sp>
      <p:sp>
        <p:nvSpPr>
          <p:cNvPr id="18" name="Disco Magnético 24"/>
          <p:cNvSpPr/>
          <p:nvPr/>
        </p:nvSpPr>
        <p:spPr bwMode="auto">
          <a:xfrm>
            <a:off x="7626350" y="2276475"/>
            <a:ext cx="720725" cy="647700"/>
          </a:xfrm>
          <a:prstGeom prst="flowChartMagneticDisk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  <a:extLst/>
        </p:spPr>
        <p:txBody>
          <a:bodyPr anchor="ctr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50000"/>
              </a:spcAft>
              <a:defRPr/>
            </a:pPr>
            <a:r>
              <a:rPr lang="pt-BR" dirty="0"/>
              <a:t>PRD</a:t>
            </a:r>
          </a:p>
        </p:txBody>
      </p:sp>
      <p:sp>
        <p:nvSpPr>
          <p:cNvPr id="19" name="Forma Livre 25"/>
          <p:cNvSpPr>
            <a:spLocks/>
          </p:cNvSpPr>
          <p:nvPr/>
        </p:nvSpPr>
        <p:spPr bwMode="auto">
          <a:xfrm>
            <a:off x="2771775" y="2819400"/>
            <a:ext cx="893763" cy="838200"/>
          </a:xfrm>
          <a:custGeom>
            <a:avLst/>
            <a:gdLst>
              <a:gd name="T0" fmla="*/ 0 w 1270000"/>
              <a:gd name="T1" fmla="*/ 813984 h 819634"/>
              <a:gd name="T2" fmla="*/ 378716 w 1270000"/>
              <a:gd name="T3" fmla="*/ 798717 h 819634"/>
              <a:gd name="T4" fmla="*/ 438514 w 1270000"/>
              <a:gd name="T5" fmla="*/ 50592 h 819634"/>
              <a:gd name="T6" fmla="*/ 438514 w 1270000"/>
              <a:gd name="T7" fmla="*/ 65860 h 819634"/>
              <a:gd name="T8" fmla="*/ 438514 w 1270000"/>
              <a:gd name="T9" fmla="*/ 65860 h 8196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70000" h="819634">
                <a:moveTo>
                  <a:pt x="0" y="761718"/>
                </a:moveTo>
                <a:cubicBezTo>
                  <a:pt x="438150" y="814105"/>
                  <a:pt x="876300" y="866493"/>
                  <a:pt x="1085850" y="747431"/>
                </a:cubicBezTo>
                <a:cubicBezTo>
                  <a:pt x="1295400" y="628369"/>
                  <a:pt x="1228725" y="161643"/>
                  <a:pt x="1257300" y="47343"/>
                </a:cubicBezTo>
                <a:cubicBezTo>
                  <a:pt x="1285875" y="-66957"/>
                  <a:pt x="1257300" y="61631"/>
                  <a:pt x="1257300" y="616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orma Livre 26"/>
          <p:cNvSpPr>
            <a:spLocks/>
          </p:cNvSpPr>
          <p:nvPr/>
        </p:nvSpPr>
        <p:spPr bwMode="auto">
          <a:xfrm>
            <a:off x="2771775" y="2819400"/>
            <a:ext cx="1728788" cy="838200"/>
          </a:xfrm>
          <a:custGeom>
            <a:avLst/>
            <a:gdLst>
              <a:gd name="T0" fmla="*/ 0 w 1270000"/>
              <a:gd name="T1" fmla="*/ 813984 h 819634"/>
              <a:gd name="T2" fmla="*/ 2738004 w 1270000"/>
              <a:gd name="T3" fmla="*/ 798717 h 819634"/>
              <a:gd name="T4" fmla="*/ 3170321 w 1270000"/>
              <a:gd name="T5" fmla="*/ 50592 h 819634"/>
              <a:gd name="T6" fmla="*/ 3170321 w 1270000"/>
              <a:gd name="T7" fmla="*/ 65860 h 819634"/>
              <a:gd name="T8" fmla="*/ 3170321 w 1270000"/>
              <a:gd name="T9" fmla="*/ 65860 h 8196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70000" h="819634">
                <a:moveTo>
                  <a:pt x="0" y="761718"/>
                </a:moveTo>
                <a:cubicBezTo>
                  <a:pt x="438150" y="814105"/>
                  <a:pt x="876300" y="866493"/>
                  <a:pt x="1085850" y="747431"/>
                </a:cubicBezTo>
                <a:cubicBezTo>
                  <a:pt x="1295400" y="628369"/>
                  <a:pt x="1228725" y="161643"/>
                  <a:pt x="1257300" y="47343"/>
                </a:cubicBezTo>
                <a:cubicBezTo>
                  <a:pt x="1285875" y="-66957"/>
                  <a:pt x="1257300" y="61631"/>
                  <a:pt x="1257300" y="616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Forma Livre 27"/>
          <p:cNvSpPr>
            <a:spLocks/>
          </p:cNvSpPr>
          <p:nvPr/>
        </p:nvSpPr>
        <p:spPr bwMode="auto">
          <a:xfrm>
            <a:off x="2771775" y="2819400"/>
            <a:ext cx="2663825" cy="838200"/>
          </a:xfrm>
          <a:custGeom>
            <a:avLst/>
            <a:gdLst>
              <a:gd name="T0" fmla="*/ 0 w 1270000"/>
              <a:gd name="T1" fmla="*/ 813984 h 819634"/>
              <a:gd name="T2" fmla="*/ 10021956 w 1270000"/>
              <a:gd name="T3" fmla="*/ 798717 h 819634"/>
              <a:gd name="T4" fmla="*/ 11604371 w 1270000"/>
              <a:gd name="T5" fmla="*/ 50592 h 819634"/>
              <a:gd name="T6" fmla="*/ 11604371 w 1270000"/>
              <a:gd name="T7" fmla="*/ 65860 h 819634"/>
              <a:gd name="T8" fmla="*/ 11604371 w 1270000"/>
              <a:gd name="T9" fmla="*/ 65860 h 8196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70000" h="819634">
                <a:moveTo>
                  <a:pt x="0" y="761718"/>
                </a:moveTo>
                <a:cubicBezTo>
                  <a:pt x="438150" y="814105"/>
                  <a:pt x="876300" y="866493"/>
                  <a:pt x="1085850" y="747431"/>
                </a:cubicBezTo>
                <a:cubicBezTo>
                  <a:pt x="1295400" y="628369"/>
                  <a:pt x="1228725" y="161643"/>
                  <a:pt x="1257300" y="47343"/>
                </a:cubicBezTo>
                <a:cubicBezTo>
                  <a:pt x="1285875" y="-66957"/>
                  <a:pt x="1257300" y="61631"/>
                  <a:pt x="1257300" y="616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orma Livre 28"/>
          <p:cNvSpPr>
            <a:spLocks/>
          </p:cNvSpPr>
          <p:nvPr/>
        </p:nvSpPr>
        <p:spPr bwMode="auto">
          <a:xfrm>
            <a:off x="2771775" y="2819400"/>
            <a:ext cx="3529013" cy="811213"/>
          </a:xfrm>
          <a:custGeom>
            <a:avLst/>
            <a:gdLst>
              <a:gd name="T0" fmla="*/ 0 w 1270000"/>
              <a:gd name="T1" fmla="*/ 738204 h 819634"/>
              <a:gd name="T2" fmla="*/ 23293889 w 1270000"/>
              <a:gd name="T3" fmla="*/ 724360 h 819634"/>
              <a:gd name="T4" fmla="*/ 26971871 w 1270000"/>
              <a:gd name="T5" fmla="*/ 45882 h 819634"/>
              <a:gd name="T6" fmla="*/ 26971871 w 1270000"/>
              <a:gd name="T7" fmla="*/ 59729 h 819634"/>
              <a:gd name="T8" fmla="*/ 26971871 w 1270000"/>
              <a:gd name="T9" fmla="*/ 59729 h 8196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70000" h="819634">
                <a:moveTo>
                  <a:pt x="0" y="761718"/>
                </a:moveTo>
                <a:cubicBezTo>
                  <a:pt x="438150" y="814105"/>
                  <a:pt x="876300" y="866493"/>
                  <a:pt x="1085850" y="747431"/>
                </a:cubicBezTo>
                <a:cubicBezTo>
                  <a:pt x="1295400" y="628369"/>
                  <a:pt x="1228725" y="161643"/>
                  <a:pt x="1257300" y="47343"/>
                </a:cubicBezTo>
                <a:cubicBezTo>
                  <a:pt x="1285875" y="-66957"/>
                  <a:pt x="1257300" y="61631"/>
                  <a:pt x="1257300" y="616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orma Livre 29"/>
          <p:cNvSpPr>
            <a:spLocks/>
          </p:cNvSpPr>
          <p:nvPr/>
        </p:nvSpPr>
        <p:spPr bwMode="auto">
          <a:xfrm>
            <a:off x="2813050" y="2924175"/>
            <a:ext cx="4351338" cy="733425"/>
          </a:xfrm>
          <a:custGeom>
            <a:avLst/>
            <a:gdLst>
              <a:gd name="T0" fmla="*/ 0 w 1270000"/>
              <a:gd name="T1" fmla="*/ 545987 h 819634"/>
              <a:gd name="T2" fmla="*/ 43668432 w 1270000"/>
              <a:gd name="T3" fmla="*/ 535747 h 819634"/>
              <a:gd name="T4" fmla="*/ 50563445 w 1270000"/>
              <a:gd name="T5" fmla="*/ 33934 h 819634"/>
              <a:gd name="T6" fmla="*/ 50563445 w 1270000"/>
              <a:gd name="T7" fmla="*/ 44176 h 819634"/>
              <a:gd name="T8" fmla="*/ 50563445 w 1270000"/>
              <a:gd name="T9" fmla="*/ 44176 h 8196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70000" h="819634">
                <a:moveTo>
                  <a:pt x="0" y="761718"/>
                </a:moveTo>
                <a:cubicBezTo>
                  <a:pt x="438150" y="814105"/>
                  <a:pt x="876300" y="866493"/>
                  <a:pt x="1085850" y="747431"/>
                </a:cubicBezTo>
                <a:cubicBezTo>
                  <a:pt x="1295400" y="628369"/>
                  <a:pt x="1228725" y="161643"/>
                  <a:pt x="1257300" y="47343"/>
                </a:cubicBezTo>
                <a:cubicBezTo>
                  <a:pt x="1285875" y="-66957"/>
                  <a:pt x="1257300" y="61631"/>
                  <a:pt x="1257300" y="616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orma Livre 30"/>
          <p:cNvSpPr>
            <a:spLocks/>
          </p:cNvSpPr>
          <p:nvPr/>
        </p:nvSpPr>
        <p:spPr bwMode="auto">
          <a:xfrm>
            <a:off x="2771775" y="2924175"/>
            <a:ext cx="5256213" cy="706438"/>
          </a:xfrm>
          <a:custGeom>
            <a:avLst/>
            <a:gdLst>
              <a:gd name="T0" fmla="*/ 0 w 1270000"/>
              <a:gd name="T1" fmla="*/ 488187 h 819634"/>
              <a:gd name="T2" fmla="*/ 76985364 w 1270000"/>
              <a:gd name="T3" fmla="*/ 479031 h 819634"/>
              <a:gd name="T4" fmla="*/ 89140952 w 1270000"/>
              <a:gd name="T5" fmla="*/ 30342 h 819634"/>
              <a:gd name="T6" fmla="*/ 89140952 w 1270000"/>
              <a:gd name="T7" fmla="*/ 39500 h 819634"/>
              <a:gd name="T8" fmla="*/ 89140952 w 1270000"/>
              <a:gd name="T9" fmla="*/ 39500 h 8196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70000" h="819634">
                <a:moveTo>
                  <a:pt x="0" y="761718"/>
                </a:moveTo>
                <a:cubicBezTo>
                  <a:pt x="438150" y="814105"/>
                  <a:pt x="876300" y="866493"/>
                  <a:pt x="1085850" y="747431"/>
                </a:cubicBezTo>
                <a:cubicBezTo>
                  <a:pt x="1295400" y="628369"/>
                  <a:pt x="1228725" y="161643"/>
                  <a:pt x="1257300" y="47343"/>
                </a:cubicBezTo>
                <a:cubicBezTo>
                  <a:pt x="1285875" y="-66957"/>
                  <a:pt x="1257300" y="61631"/>
                  <a:pt x="1257300" y="6163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CaixaDeTexto 24"/>
          <p:cNvSpPr txBox="1">
            <a:spLocks noChangeArrowheads="1"/>
          </p:cNvSpPr>
          <p:nvPr/>
        </p:nvSpPr>
        <p:spPr bwMode="auto">
          <a:xfrm>
            <a:off x="644525" y="2674938"/>
            <a:ext cx="10033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Manual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FNDLOAD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iSetup</a:t>
            </a:r>
            <a:endParaRPr lang="pt-BR" altLang="en-US" sz="1200"/>
          </a:p>
        </p:txBody>
      </p:sp>
      <p:cxnSp>
        <p:nvCxnSpPr>
          <p:cNvPr id="26" name="Conector Angulado 33"/>
          <p:cNvCxnSpPr>
            <a:cxnSpLocks noChangeShapeType="1"/>
            <a:stCxn id="33817" idx="2"/>
            <a:endCxn id="12" idx="2"/>
          </p:cNvCxnSpPr>
          <p:nvPr/>
        </p:nvCxnSpPr>
        <p:spPr bwMode="auto">
          <a:xfrm rot="16200000" flipH="1">
            <a:off x="704056" y="2240757"/>
            <a:ext cx="1271587" cy="14224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1128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7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7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7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2" presetID="17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0" presetID="17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794545"/>
              </p:ext>
            </p:extLst>
          </p:nvPr>
        </p:nvGraphicFramePr>
        <p:xfrm>
          <a:off x="1403648" y="980728"/>
          <a:ext cx="6192687" cy="45259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1069"/>
                <a:gridCol w="2042745"/>
                <a:gridCol w="793297"/>
                <a:gridCol w="1115576"/>
              </a:tblGrid>
              <a:tr h="122323">
                <a:tc>
                  <a:txBody>
                    <a:bodyPr/>
                    <a:lstStyle/>
                    <a:p>
                      <a:pPr algn="l" fontAlgn="b"/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Rótulos de Coluna</a:t>
                      </a:r>
                      <a:endParaRPr lang="pt-BR" sz="7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Rótulos de Linha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BBTS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CORE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Total Geral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EVALUATION CONTEXT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FUNCTION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2.909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2.930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INDEX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110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46.444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46.554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INDEX PARTITION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2.272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2.276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INDEX SUBPARTITION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112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3.482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3.594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INDEXTYPE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7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7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JAVA CLASS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5.072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5.077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JAVA DATA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JAVA RESOURCE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265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265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JAVA SOURCE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7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9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JOB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LOB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LOB PARTITION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8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8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LOB SUBPARTITION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64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64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MATERIALIZED VIEW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142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143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OPERATOR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38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38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PACKAGE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246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41.679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41.925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PACKAGE BODY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241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40.615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40.856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PROCEDURE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19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111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130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PROGRAM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QUEUE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RULE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7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7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RULE SET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SCHEDULE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8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8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SEQUENCE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55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10.205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10.260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SYNONYM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210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80.376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80.586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TABLE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183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30.160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30.343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TABLE PARTITION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2.814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2.814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TABLE SUBPARTITION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1.022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1.022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TRIGGER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33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6.346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6.379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TYPE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44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4.711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4.755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TYPE BODY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206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221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VIEW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235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45.627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45.862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XML SCHEMA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52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52</a:t>
                      </a:r>
                      <a:endParaRPr lang="pt-BR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>
                          <a:effectLst/>
                        </a:rPr>
                        <a:t>Total Geral</a:t>
                      </a:r>
                      <a:endParaRPr lang="pt-BR" sz="7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1.550</a:t>
                      </a:r>
                      <a:endParaRPr lang="pt-BR" sz="7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>
                          <a:effectLst/>
                        </a:rPr>
                        <a:t>324.719</a:t>
                      </a:r>
                      <a:endParaRPr lang="pt-BR" sz="7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700" u="none" strike="noStrike" dirty="0">
                          <a:effectLst/>
                        </a:rPr>
                        <a:t>326.269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885869"/>
              </p:ext>
            </p:extLst>
          </p:nvPr>
        </p:nvGraphicFramePr>
        <p:xfrm>
          <a:off x="1475656" y="5661248"/>
          <a:ext cx="6192687" cy="366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1069"/>
                <a:gridCol w="2042745"/>
                <a:gridCol w="793297"/>
                <a:gridCol w="1115576"/>
              </a:tblGrid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de </a:t>
                      </a:r>
                      <a:r>
                        <a:rPr lang="pt-BR" sz="7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Forms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Rótulos de Linha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BBTS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CORE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u="none" strike="noStrike" dirty="0">
                          <a:effectLst/>
                        </a:rPr>
                        <a:t>Total Geral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  <a:tr h="122323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Forms</a:t>
                      </a:r>
                      <a:r>
                        <a:rPr lang="pt-B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Customizados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6.420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6.444</a:t>
                      </a:r>
                      <a:endParaRPr lang="pt-BR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116" marR="6116" marT="6116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49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4"/>
          <p:cNvSpPr>
            <a:spLocks noChangeArrowheads="1" noChangeShapeType="1" noTextEdit="1"/>
          </p:cNvSpPr>
          <p:nvPr/>
        </p:nvSpPr>
        <p:spPr bwMode="auto">
          <a:xfrm>
            <a:off x="1042988" y="2636838"/>
            <a:ext cx="7058025" cy="1368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Muito</a:t>
            </a:r>
            <a:r>
              <a:rPr lang="en-US" sz="3600" kern="10" dirty="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 panose="020B0A04020102020204" pitchFamily="34" charset="0"/>
              </a:rPr>
              <a:t> Obrigado</a:t>
            </a:r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4283968" y="4581128"/>
            <a:ext cx="4825032" cy="394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 err="1" smtClean="0"/>
              <a:t>Cristiane</a:t>
            </a:r>
            <a:r>
              <a:rPr lang="en-US" altLang="en-US" dirty="0" smtClean="0"/>
              <a:t>/Horácio/</a:t>
            </a:r>
            <a:r>
              <a:rPr lang="en-US" altLang="en-US" dirty="0" err="1" smtClean="0"/>
              <a:t>Mascus</a:t>
            </a:r>
            <a:r>
              <a:rPr lang="en-US" altLang="en-US" dirty="0" smtClean="0"/>
              <a:t> Pessoa</a:t>
            </a:r>
            <a:endParaRPr lang="pt-BR" altLang="en-US" dirty="0"/>
          </a:p>
        </p:txBody>
      </p:sp>
    </p:spTree>
    <p:extLst>
      <p:ext uri="{BB962C8B-B14F-4D97-AF65-F5344CB8AC3E}">
        <p14:creationId xmlns:p14="http://schemas.microsoft.com/office/powerpoint/2010/main" val="153349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50000"/>
          </a:spcAft>
          <a:buClrTx/>
          <a:buSzTx/>
          <a:buFontTx/>
          <a:buNone/>
          <a:tabLst/>
          <a:defRPr kumimoji="0" lang="pt-B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50000"/>
          </a:spcAft>
          <a:buClrTx/>
          <a:buSzTx/>
          <a:buFontTx/>
          <a:buNone/>
          <a:tabLst/>
          <a:defRPr kumimoji="0" lang="pt-B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19787</TotalTime>
  <Words>261</Words>
  <Application>Microsoft Office PowerPoint</Application>
  <PresentationFormat>Apresentação na tela (4:3)</PresentationFormat>
  <Paragraphs>186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Design padrão</vt:lpstr>
      <vt:lpstr>BB Tecnologia e Serviços e-Business Suite</vt:lpstr>
      <vt:lpstr>Metodologia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Identidade Visual</dc:title>
  <dc:creator>rodrigo</dc:creator>
  <cp:lastModifiedBy>Horácio Vasconcelos</cp:lastModifiedBy>
  <cp:revision>597</cp:revision>
  <dcterms:created xsi:type="dcterms:W3CDTF">2012-10-03T13:59:00Z</dcterms:created>
  <dcterms:modified xsi:type="dcterms:W3CDTF">2019-07-09T14:56:37Z</dcterms:modified>
</cp:coreProperties>
</file>