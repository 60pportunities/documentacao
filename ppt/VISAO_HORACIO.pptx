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62" r:id="rId3"/>
    <p:sldId id="263" r:id="rId4"/>
    <p:sldId id="264" r:id="rId5"/>
    <p:sldId id="265" r:id="rId6"/>
    <p:sldId id="267" r:id="rId7"/>
    <p:sldId id="266" r:id="rId8"/>
    <p:sldId id="268" r:id="rId9"/>
    <p:sldId id="269" r:id="rId10"/>
    <p:sldId id="270" r:id="rId11"/>
    <p:sldId id="25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7A29251B-8557-487E-9DB6-356982F5E9B2}">
          <p14:sldIdLst>
            <p14:sldId id="256"/>
            <p14:sldId id="262"/>
            <p14:sldId id="263"/>
            <p14:sldId id="264"/>
            <p14:sldId id="265"/>
            <p14:sldId id="267"/>
            <p14:sldId id="266"/>
            <p14:sldId id="268"/>
          </p14:sldIdLst>
        </p14:section>
        <p14:section name="Seção sem Título" id="{2DD6AEFB-CC75-4265-85BF-39C1F2A51F55}">
          <p14:sldIdLst>
            <p14:sldId id="269"/>
            <p14:sldId id="270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D916"/>
    <a:srgbClr val="1338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88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918" y="72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60D03-3B2A-48FE-AC06-C11AD3CB1E74}" type="datetimeFigureOut">
              <a:rPr lang="pt-BR" smtClean="0"/>
              <a:t>28/08/2017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E25292-7085-46FC-AE92-032622A3623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557481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E912D-6C84-4DCA-8305-52D81F7C691F}" type="datetimeFigureOut">
              <a:rPr lang="pt-BR" smtClean="0"/>
              <a:t>28/08/2017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35A052-67B1-4CC2-8731-89A9570A9C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461782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8"/>
          <p:cNvCxnSpPr/>
          <p:nvPr userDrawn="1"/>
        </p:nvCxnSpPr>
        <p:spPr>
          <a:xfrm>
            <a:off x="1207658" y="4343400"/>
            <a:ext cx="9875520" cy="0"/>
          </a:xfrm>
          <a:prstGeom prst="line">
            <a:avLst/>
          </a:prstGeom>
          <a:ln w="9525">
            <a:solidFill>
              <a:srgbClr val="F7D9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itle 2"/>
          <p:cNvSpPr txBox="1">
            <a:spLocks/>
          </p:cNvSpPr>
          <p:nvPr userDrawn="1"/>
        </p:nvSpPr>
        <p:spPr>
          <a:xfrm>
            <a:off x="1100050" y="6505187"/>
            <a:ext cx="10745585" cy="290946"/>
          </a:xfrm>
          <a:prstGeom prst="rect">
            <a:avLst/>
          </a:prstGeom>
        </p:spPr>
        <p:txBody>
          <a:bodyPr lIns="91440" rIns="9144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1200" i="1" dirty="0">
                <a:solidFill>
                  <a:schemeClr val="bg1"/>
                </a:solidFill>
              </a:rPr>
              <a:t>Eficiência é o nosso negócio!</a:t>
            </a:r>
            <a:endParaRPr lang="en-US" sz="1200" i="1" dirty="0">
              <a:solidFill>
                <a:schemeClr val="bg1"/>
              </a:solidFill>
            </a:endParaRPr>
          </a:p>
        </p:txBody>
      </p:sp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556953"/>
            <a:ext cx="10058400" cy="3804736"/>
          </a:xfrm>
          <a:prstGeom prst="rect">
            <a:avLst/>
          </a:prstGeom>
        </p:spPr>
        <p:txBody>
          <a:bodyPr anchor="b"/>
          <a:lstStyle>
            <a:lvl1pPr>
              <a:defRPr lang="pt-BR" sz="8000" kern="1200" spc="-50" baseline="0" dirty="0">
                <a:solidFill>
                  <a:srgbClr val="13386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0"/>
          </p:nvPr>
        </p:nvSpPr>
        <p:spPr>
          <a:xfrm>
            <a:off x="1096963" y="4463936"/>
            <a:ext cx="10058400" cy="112221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lang="pt-BR" sz="2400" kern="1200" cap="all" spc="200" baseline="0" dirty="0" smtClean="0">
                <a:solidFill>
                  <a:srgbClr val="13386B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pt-BR" dirty="0"/>
              <a:t>Editar estilos de texto Mestre</a:t>
            </a: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/>
          </p:nvPr>
        </p:nvSpPr>
        <p:spPr>
          <a:xfrm>
            <a:off x="1096963" y="5688401"/>
            <a:ext cx="10058400" cy="259032"/>
          </a:xfrm>
          <a:prstGeom prst="rect">
            <a:avLst/>
          </a:prstGeom>
        </p:spPr>
        <p:txBody>
          <a:bodyPr/>
          <a:lstStyle>
            <a:lvl1pPr marL="0" indent="0"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55915430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>
          <a:xfrm>
            <a:off x="340818" y="293125"/>
            <a:ext cx="11012982" cy="440121"/>
          </a:xfrm>
          <a:prstGeom prst="rect">
            <a:avLst/>
          </a:prstGeom>
        </p:spPr>
        <p:txBody>
          <a:bodyPr/>
          <a:lstStyle>
            <a:lvl1pPr marL="36000">
              <a:defRPr lang="pt-BR" sz="2600" kern="1200" spc="-50" baseline="0" smtClean="0">
                <a:solidFill>
                  <a:srgbClr val="13386B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40818" y="6076604"/>
            <a:ext cx="11521441" cy="191192"/>
          </a:xfrm>
        </p:spPr>
        <p:txBody>
          <a:bodyPr/>
          <a:lstStyle>
            <a:lvl1pPr algn="l">
              <a:defRPr lang="en-US" sz="800" kern="1200" spc="-50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548848" y="6459785"/>
            <a:ext cx="1312025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8"/>
          <p:cNvCxnSpPr/>
          <p:nvPr userDrawn="1"/>
        </p:nvCxnSpPr>
        <p:spPr>
          <a:xfrm>
            <a:off x="340821" y="733246"/>
            <a:ext cx="11521441" cy="0"/>
          </a:xfrm>
          <a:prstGeom prst="line">
            <a:avLst/>
          </a:prstGeom>
          <a:ln w="9525">
            <a:solidFill>
              <a:srgbClr val="F7D9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40819" y="1280160"/>
            <a:ext cx="11521441" cy="458893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3386B"/>
                </a:solidFill>
              </a:defRPr>
            </a:lvl1pPr>
            <a:lvl2pPr marL="38404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rgbClr val="13386B"/>
                </a:solidFill>
              </a:defRPr>
            </a:lvl2pPr>
            <a:lvl3pPr marL="56692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3pPr>
            <a:lvl4pPr marL="74980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4pPr>
            <a:lvl5pPr marL="93268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>
            <a:off x="340819" y="831272"/>
            <a:ext cx="11521441" cy="349135"/>
          </a:xfrm>
          <a:prstGeom prst="rect">
            <a:avLst/>
          </a:prstGeom>
        </p:spPr>
        <p:txBody>
          <a:bodyPr/>
          <a:lstStyle>
            <a:lvl1pPr marL="36000">
              <a:defRPr lang="pt-BR" sz="1800" kern="1200" cap="all" spc="200" baseline="0" dirty="0">
                <a:solidFill>
                  <a:srgbClr val="13386B"/>
                </a:solidFill>
                <a:latin typeface="+mj-lt"/>
                <a:ea typeface="+mn-ea"/>
                <a:cs typeface="+mn-cs"/>
              </a:defRPr>
            </a:lvl1pPr>
            <a:lvl2pPr marL="201168" indent="0">
              <a:buClr>
                <a:srgbClr val="13386B"/>
              </a:buClr>
              <a:buSzPct val="90000"/>
              <a:buFont typeface="Wingdings" panose="05000000000000000000" pitchFamily="2" charset="2"/>
              <a:buNone/>
              <a:defRPr>
                <a:solidFill>
                  <a:srgbClr val="13386B"/>
                </a:solidFill>
              </a:defRPr>
            </a:lvl2pPr>
            <a:lvl3pPr marL="56692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>
                <a:solidFill>
                  <a:srgbClr val="13386B"/>
                </a:solidFill>
              </a:defRPr>
            </a:lvl3pPr>
            <a:lvl4pPr marL="74980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>
                <a:solidFill>
                  <a:srgbClr val="13386B"/>
                </a:solidFill>
              </a:defRPr>
            </a:lvl4pPr>
            <a:lvl5pPr marL="93268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>
                <a:solidFill>
                  <a:srgbClr val="13386B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2508859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>
          <a:xfrm>
            <a:off x="340818" y="293125"/>
            <a:ext cx="11012982" cy="440121"/>
          </a:xfrm>
          <a:prstGeom prst="rect">
            <a:avLst/>
          </a:prstGeom>
        </p:spPr>
        <p:txBody>
          <a:bodyPr/>
          <a:lstStyle>
            <a:lvl1pPr marL="36000">
              <a:defRPr lang="pt-BR" sz="2600" kern="1200" spc="-50" baseline="0" smtClean="0">
                <a:solidFill>
                  <a:srgbClr val="13386B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40818" y="6076604"/>
            <a:ext cx="11521441" cy="191192"/>
          </a:xfrm>
        </p:spPr>
        <p:txBody>
          <a:bodyPr/>
          <a:lstStyle>
            <a:lvl1pPr algn="l">
              <a:defRPr lang="en-US" sz="800" kern="1200" spc="-50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548848" y="6459785"/>
            <a:ext cx="1312025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8"/>
          <p:cNvCxnSpPr/>
          <p:nvPr userDrawn="1"/>
        </p:nvCxnSpPr>
        <p:spPr>
          <a:xfrm>
            <a:off x="340821" y="733246"/>
            <a:ext cx="11521441" cy="0"/>
          </a:xfrm>
          <a:prstGeom prst="line">
            <a:avLst/>
          </a:prstGeom>
          <a:ln w="9525">
            <a:solidFill>
              <a:srgbClr val="F7D9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>
            <a:off x="340819" y="831272"/>
            <a:ext cx="11521441" cy="349135"/>
          </a:xfrm>
          <a:prstGeom prst="rect">
            <a:avLst/>
          </a:prstGeom>
        </p:spPr>
        <p:txBody>
          <a:bodyPr/>
          <a:lstStyle>
            <a:lvl1pPr marL="36000">
              <a:defRPr lang="pt-BR" sz="1800" kern="1200" cap="all" spc="200" baseline="0" dirty="0">
                <a:solidFill>
                  <a:srgbClr val="13386B"/>
                </a:solidFill>
                <a:latin typeface="+mj-lt"/>
                <a:ea typeface="+mn-ea"/>
                <a:cs typeface="+mn-cs"/>
              </a:defRPr>
            </a:lvl1pPr>
            <a:lvl2pPr marL="201168" indent="0">
              <a:buClr>
                <a:srgbClr val="13386B"/>
              </a:buClr>
              <a:buSzPct val="90000"/>
              <a:buFont typeface="Wingdings" panose="05000000000000000000" pitchFamily="2" charset="2"/>
              <a:buNone/>
              <a:defRPr>
                <a:solidFill>
                  <a:srgbClr val="13386B"/>
                </a:solidFill>
              </a:defRPr>
            </a:lvl2pPr>
            <a:lvl3pPr marL="56692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>
                <a:solidFill>
                  <a:srgbClr val="13386B"/>
                </a:solidFill>
              </a:defRPr>
            </a:lvl3pPr>
            <a:lvl4pPr marL="74980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>
                <a:solidFill>
                  <a:srgbClr val="13386B"/>
                </a:solidFill>
              </a:defRPr>
            </a:lvl4pPr>
            <a:lvl5pPr marL="93268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>
                <a:solidFill>
                  <a:srgbClr val="13386B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</p:txBody>
      </p:sp>
    </p:spTree>
    <p:extLst>
      <p:ext uri="{BB962C8B-B14F-4D97-AF65-F5344CB8AC3E}">
        <p14:creationId xmlns:p14="http://schemas.microsoft.com/office/powerpoint/2010/main" val="1440887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>
          <a:xfrm>
            <a:off x="340818" y="293125"/>
            <a:ext cx="11012982" cy="440121"/>
          </a:xfrm>
          <a:prstGeom prst="rect">
            <a:avLst/>
          </a:prstGeom>
        </p:spPr>
        <p:txBody>
          <a:bodyPr/>
          <a:lstStyle>
            <a:lvl1pPr marL="36000">
              <a:defRPr lang="pt-BR" sz="2600" kern="1200" spc="-50" baseline="0" smtClean="0">
                <a:solidFill>
                  <a:srgbClr val="13386B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40818" y="6076604"/>
            <a:ext cx="11521441" cy="191192"/>
          </a:xfrm>
        </p:spPr>
        <p:txBody>
          <a:bodyPr/>
          <a:lstStyle>
            <a:lvl1pPr algn="l">
              <a:defRPr lang="en-US" sz="800" kern="1200" spc="-50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548848" y="6459785"/>
            <a:ext cx="1312025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8"/>
          <p:cNvCxnSpPr/>
          <p:nvPr userDrawn="1"/>
        </p:nvCxnSpPr>
        <p:spPr>
          <a:xfrm>
            <a:off x="340821" y="733246"/>
            <a:ext cx="11521441" cy="0"/>
          </a:xfrm>
          <a:prstGeom prst="line">
            <a:avLst/>
          </a:prstGeom>
          <a:ln w="9525">
            <a:solidFill>
              <a:srgbClr val="F7D9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40820" y="1280160"/>
            <a:ext cx="5544591" cy="458893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3386B"/>
                </a:solidFill>
              </a:defRPr>
            </a:lvl1pPr>
            <a:lvl2pPr marL="38404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rgbClr val="13386B"/>
                </a:solidFill>
              </a:defRPr>
            </a:lvl2pPr>
            <a:lvl3pPr marL="56692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3pPr>
            <a:lvl4pPr marL="74980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4pPr>
            <a:lvl5pPr marL="93268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>
            <a:off x="340819" y="831272"/>
            <a:ext cx="11521441" cy="349135"/>
          </a:xfrm>
          <a:prstGeom prst="rect">
            <a:avLst/>
          </a:prstGeom>
        </p:spPr>
        <p:txBody>
          <a:bodyPr/>
          <a:lstStyle>
            <a:lvl1pPr marL="36000">
              <a:defRPr lang="pt-BR" sz="1800" kern="1200" cap="all" spc="200" baseline="0" dirty="0">
                <a:solidFill>
                  <a:srgbClr val="13386B"/>
                </a:solidFill>
                <a:latin typeface="+mj-lt"/>
                <a:ea typeface="+mn-ea"/>
                <a:cs typeface="+mn-cs"/>
              </a:defRPr>
            </a:lvl1pPr>
            <a:lvl2pPr marL="201168" indent="0">
              <a:buClr>
                <a:srgbClr val="13386B"/>
              </a:buClr>
              <a:buSzPct val="90000"/>
              <a:buFont typeface="Wingdings" panose="05000000000000000000" pitchFamily="2" charset="2"/>
              <a:buNone/>
              <a:defRPr>
                <a:solidFill>
                  <a:srgbClr val="13386B"/>
                </a:solidFill>
              </a:defRPr>
            </a:lvl2pPr>
            <a:lvl3pPr marL="56692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>
                <a:solidFill>
                  <a:srgbClr val="13386B"/>
                </a:solidFill>
              </a:defRPr>
            </a:lvl3pPr>
            <a:lvl4pPr marL="74980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>
                <a:solidFill>
                  <a:srgbClr val="13386B"/>
                </a:solidFill>
              </a:defRPr>
            </a:lvl4pPr>
            <a:lvl5pPr marL="93268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>
                <a:solidFill>
                  <a:srgbClr val="13386B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4"/>
          </p:nvPr>
        </p:nvSpPr>
        <p:spPr>
          <a:xfrm>
            <a:off x="6316282" y="1280160"/>
            <a:ext cx="5544591" cy="458893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3386B"/>
                </a:solidFill>
              </a:defRPr>
            </a:lvl1pPr>
            <a:lvl2pPr marL="38404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rgbClr val="13386B"/>
                </a:solidFill>
              </a:defRPr>
            </a:lvl2pPr>
            <a:lvl3pPr marL="56692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3pPr>
            <a:lvl4pPr marL="74980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4pPr>
            <a:lvl5pPr marL="93268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943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>
          <a:xfrm>
            <a:off x="340818" y="293125"/>
            <a:ext cx="11012982" cy="440121"/>
          </a:xfrm>
          <a:prstGeom prst="rect">
            <a:avLst/>
          </a:prstGeom>
        </p:spPr>
        <p:txBody>
          <a:bodyPr/>
          <a:lstStyle>
            <a:lvl1pPr marL="36000">
              <a:defRPr lang="pt-BR" sz="2600" kern="1200" spc="-50" baseline="0" smtClean="0">
                <a:solidFill>
                  <a:srgbClr val="13386B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40818" y="6076604"/>
            <a:ext cx="11521441" cy="191192"/>
          </a:xfrm>
        </p:spPr>
        <p:txBody>
          <a:bodyPr/>
          <a:lstStyle>
            <a:lvl1pPr algn="l">
              <a:defRPr lang="en-US" sz="800" kern="1200" spc="-50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548848" y="6459785"/>
            <a:ext cx="1312025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8"/>
          <p:cNvCxnSpPr/>
          <p:nvPr userDrawn="1"/>
        </p:nvCxnSpPr>
        <p:spPr>
          <a:xfrm>
            <a:off x="340821" y="733246"/>
            <a:ext cx="11521441" cy="0"/>
          </a:xfrm>
          <a:prstGeom prst="line">
            <a:avLst/>
          </a:prstGeom>
          <a:ln w="9525">
            <a:solidFill>
              <a:srgbClr val="F7D9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40819" y="908051"/>
            <a:ext cx="11521441" cy="4961044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3386B"/>
                </a:solidFill>
              </a:defRPr>
            </a:lvl1pPr>
            <a:lvl2pPr marL="38404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rgbClr val="13386B"/>
                </a:solidFill>
              </a:defRPr>
            </a:lvl2pPr>
            <a:lvl3pPr marL="56692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3pPr>
            <a:lvl4pPr marL="74980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4pPr>
            <a:lvl5pPr marL="93268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73887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>
          <a:xfrm>
            <a:off x="340818" y="293125"/>
            <a:ext cx="11012982" cy="440121"/>
          </a:xfrm>
          <a:prstGeom prst="rect">
            <a:avLst/>
          </a:prstGeom>
        </p:spPr>
        <p:txBody>
          <a:bodyPr/>
          <a:lstStyle>
            <a:lvl1pPr marL="36000">
              <a:defRPr lang="pt-BR" sz="2600" kern="1200" spc="-50" baseline="0" smtClean="0">
                <a:solidFill>
                  <a:srgbClr val="13386B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40818" y="6076604"/>
            <a:ext cx="11521441" cy="191192"/>
          </a:xfrm>
        </p:spPr>
        <p:txBody>
          <a:bodyPr/>
          <a:lstStyle>
            <a:lvl1pPr algn="l">
              <a:defRPr lang="en-US" sz="800" kern="1200" spc="-50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548848" y="6459785"/>
            <a:ext cx="1312025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8"/>
          <p:cNvCxnSpPr/>
          <p:nvPr userDrawn="1"/>
        </p:nvCxnSpPr>
        <p:spPr>
          <a:xfrm>
            <a:off x="340821" y="733246"/>
            <a:ext cx="11521441" cy="0"/>
          </a:xfrm>
          <a:prstGeom prst="line">
            <a:avLst/>
          </a:prstGeom>
          <a:ln w="9525">
            <a:solidFill>
              <a:srgbClr val="F7D9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0685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57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0"/>
          <p:cNvSpPr>
            <a:spLocks noGrp="1"/>
          </p:cNvSpPr>
          <p:nvPr>
            <p:ph type="title"/>
          </p:nvPr>
        </p:nvSpPr>
        <p:spPr>
          <a:xfrm>
            <a:off x="340818" y="293125"/>
            <a:ext cx="11012982" cy="440121"/>
          </a:xfrm>
          <a:prstGeom prst="rect">
            <a:avLst/>
          </a:prstGeom>
        </p:spPr>
        <p:txBody>
          <a:bodyPr/>
          <a:lstStyle>
            <a:lvl1pPr marL="36000">
              <a:defRPr lang="pt-BR" sz="2600" kern="1200" spc="-50" baseline="0" smtClean="0">
                <a:solidFill>
                  <a:srgbClr val="13386B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40818" y="6076604"/>
            <a:ext cx="11521441" cy="191192"/>
          </a:xfrm>
        </p:spPr>
        <p:txBody>
          <a:bodyPr/>
          <a:lstStyle>
            <a:lvl1pPr algn="l">
              <a:defRPr lang="en-US" sz="800" kern="1200" spc="-50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0548848" y="6459785"/>
            <a:ext cx="1312025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Straight Connector 8"/>
          <p:cNvCxnSpPr/>
          <p:nvPr userDrawn="1"/>
        </p:nvCxnSpPr>
        <p:spPr>
          <a:xfrm>
            <a:off x="340821" y="733246"/>
            <a:ext cx="11521441" cy="0"/>
          </a:xfrm>
          <a:prstGeom prst="line">
            <a:avLst/>
          </a:prstGeom>
          <a:ln w="9525">
            <a:solidFill>
              <a:srgbClr val="F7D9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40820" y="925235"/>
            <a:ext cx="5544591" cy="4943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3386B"/>
                </a:solidFill>
              </a:defRPr>
            </a:lvl1pPr>
            <a:lvl2pPr marL="38404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rgbClr val="13386B"/>
                </a:solidFill>
              </a:defRPr>
            </a:lvl2pPr>
            <a:lvl3pPr marL="56692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3pPr>
            <a:lvl4pPr marL="74980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4pPr>
            <a:lvl5pPr marL="93268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4"/>
          </p:nvPr>
        </p:nvSpPr>
        <p:spPr>
          <a:xfrm>
            <a:off x="6316282" y="925235"/>
            <a:ext cx="5544591" cy="4943859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3386B"/>
                </a:solidFill>
              </a:defRPr>
            </a:lvl1pPr>
            <a:lvl2pPr marL="38404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rgbClr val="13386B"/>
                </a:solidFill>
              </a:defRPr>
            </a:lvl2pPr>
            <a:lvl3pPr marL="56692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3pPr>
            <a:lvl4pPr marL="74980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4pPr>
            <a:lvl5pPr marL="93268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03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5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133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F7D9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</p:spPr>
        <p:txBody>
          <a:bodyPr lIns="91440" rIns="91440">
            <a:normAutofit/>
          </a:bodyPr>
          <a:lstStyle>
            <a:lvl1pPr marL="0" indent="0">
              <a:buNone/>
              <a:defRPr sz="1600">
                <a:solidFill>
                  <a:srgbClr val="FFFFFF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dirty="0"/>
              <a:t>EDITAR ESTILOS DE TEXTO MESTRE</a:t>
            </a:r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65680" y="51959"/>
            <a:ext cx="1980000" cy="220887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433278" y="594359"/>
            <a:ext cx="7420671" cy="571084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13386B"/>
                </a:solidFill>
              </a:defRPr>
            </a:lvl1pPr>
            <a:lvl2pPr marL="38404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800">
                <a:solidFill>
                  <a:srgbClr val="13386B"/>
                </a:solidFill>
              </a:defRPr>
            </a:lvl2pPr>
            <a:lvl3pPr marL="56692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3pPr>
            <a:lvl4pPr marL="74980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4pPr>
            <a:lvl5pPr marL="932688" indent="-182880">
              <a:buClr>
                <a:srgbClr val="13386B"/>
              </a:buClr>
              <a:buSzPct val="90000"/>
              <a:buFont typeface="Wingdings" panose="05000000000000000000" pitchFamily="2" charset="2"/>
              <a:buChar char="§"/>
              <a:defRPr sz="1600">
                <a:solidFill>
                  <a:srgbClr val="13386B"/>
                </a:solidFill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  <a:endParaRPr lang="en-US" dirty="0"/>
          </a:p>
        </p:txBody>
      </p:sp>
      <p:sp>
        <p:nvSpPr>
          <p:cNvPr id="13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433278" y="6459785"/>
            <a:ext cx="6714089" cy="290149"/>
          </a:xfrm>
        </p:spPr>
        <p:txBody>
          <a:bodyPr/>
          <a:lstStyle>
            <a:lvl1pPr algn="l">
              <a:defRPr lang="en-US" sz="800" kern="1200" spc="-50" baseline="0" dirty="0">
                <a:solidFill>
                  <a:schemeClr val="bg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dirty="0"/>
          </a:p>
        </p:txBody>
      </p:sp>
      <p:sp>
        <p:nvSpPr>
          <p:cNvPr id="14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11147367" y="6459785"/>
            <a:ext cx="713506" cy="290149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/>
          <p:nvPr userDrawn="1"/>
        </p:nvSpPr>
        <p:spPr>
          <a:xfrm>
            <a:off x="4104079" y="0"/>
            <a:ext cx="8087921" cy="6858000"/>
          </a:xfrm>
          <a:prstGeom prst="rect">
            <a:avLst/>
          </a:prstGeom>
          <a:solidFill>
            <a:srgbClr val="133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8"/>
          <p:cNvSpPr/>
          <p:nvPr userDrawn="1"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F7D9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1753" y="1088967"/>
            <a:ext cx="7205921" cy="4808913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4040055" cy="6858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50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rgbClr val="133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F7D9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5074920"/>
            <a:ext cx="11544299" cy="822960"/>
          </a:xfrm>
          <a:prstGeom prst="rect">
            <a:avLst/>
          </a:prstGeo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333375" y="5993716"/>
            <a:ext cx="11544299" cy="311834"/>
          </a:xfrm>
          <a:prstGeom prst="rect">
            <a:avLst/>
          </a:prstGeo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rgbClr val="FFFFFF"/>
                </a:solidFill>
                <a:latin typeface="+mj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dirty="0"/>
              <a:t>EDITAR ESTILOS DE TEXTO MESTRE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3374" y="6459785"/>
            <a:ext cx="10801335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134724" y="6459785"/>
            <a:ext cx="742949" cy="365125"/>
          </a:xfrm>
        </p:spPr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04183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rgbClr val="133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rgbClr val="F7D9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CaixaDeTexto 11"/>
          <p:cNvSpPr txBox="1"/>
          <p:nvPr userDrawn="1"/>
        </p:nvSpPr>
        <p:spPr>
          <a:xfrm>
            <a:off x="304800" y="5626100"/>
            <a:ext cx="11569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+mj-lt"/>
              </a:rPr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955870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 userDrawn="1"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1338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8"/>
          <p:cNvSpPr/>
          <p:nvPr userDrawn="1"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rgbClr val="F7D9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8/28/2017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pic>
        <p:nvPicPr>
          <p:cNvPr id="8" name="Imagem 7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165680" y="51959"/>
            <a:ext cx="1980000" cy="220887"/>
          </a:xfrm>
          <a:prstGeom prst="rect">
            <a:avLst/>
          </a:prstGeom>
        </p:spPr>
      </p:pic>
      <p:sp>
        <p:nvSpPr>
          <p:cNvPr id="16" name="Title 1"/>
          <p:cNvSpPr txBox="1">
            <a:spLocks/>
          </p:cNvSpPr>
          <p:nvPr userDrawn="1"/>
        </p:nvSpPr>
        <p:spPr>
          <a:xfrm>
            <a:off x="11538065" y="293126"/>
            <a:ext cx="653935" cy="20021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pt-BR" sz="800" dirty="0">
                <a:solidFill>
                  <a:schemeClr val="bg1">
                    <a:lumMod val="50000"/>
                  </a:schemeClr>
                </a:solidFill>
              </a:rPr>
              <a:t>#interna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8" r:id="rId3"/>
    <p:sldLayoutId id="2147483665" r:id="rId4"/>
    <p:sldLayoutId id="2147483664" r:id="rId5"/>
    <p:sldLayoutId id="2147483667" r:id="rId6"/>
    <p:sldLayoutId id="2147483666" r:id="rId7"/>
    <p:sldLayoutId id="2147483656" r:id="rId8"/>
    <p:sldLayoutId id="2147483669" r:id="rId9"/>
    <p:sldLayoutId id="2147483657" r:id="rId10"/>
    <p:sldLayoutId id="214748367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png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wmf"/><Relationship Id="rId7" Type="http://schemas.openxmlformats.org/officeDocument/2006/relationships/oleObject" Target="../embeddings/oleObject2.bin"/><Relationship Id="rId12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0.wmf"/><Relationship Id="rId4" Type="http://schemas.openxmlformats.org/officeDocument/2006/relationships/image" Target="../media/image18.jpeg"/><Relationship Id="rId9" Type="http://schemas.openxmlformats.org/officeDocument/2006/relationships/image" Target="../media/image1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6.png"/><Relationship Id="rId4" Type="http://schemas.openxmlformats.org/officeDocument/2006/relationships/image" Target="../media/image25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Resumo Visão Geral Onda 3</a:t>
            </a:r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r"/>
            <a:r>
              <a:rPr lang="pt-BR" dirty="0" smtClean="0"/>
              <a:t>Horacio Vasconcellos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3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Visão Geral</a:t>
            </a:r>
            <a:endParaRPr lang="pt-BR" dirty="0"/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pt-BR" dirty="0" smtClean="0"/>
              <a:t>BBTS e Hitachi Consulting</a:t>
            </a:r>
            <a:endParaRPr lang="pt-BR" dirty="0"/>
          </a:p>
        </p:txBody>
      </p:sp>
      <p:sp>
        <p:nvSpPr>
          <p:cNvPr id="8" name="Retângulo Arredondado 7">
            <a:hlinkClick r:id="rId2" action="ppaction://hlinksldjump"/>
          </p:cNvPr>
          <p:cNvSpPr/>
          <p:nvPr/>
        </p:nvSpPr>
        <p:spPr>
          <a:xfrm>
            <a:off x="4421411" y="3106321"/>
            <a:ext cx="7961090" cy="64800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28000" lvl="0" defTabSz="914400">
              <a:defRPr/>
            </a:pPr>
            <a:r>
              <a:rPr lang="en-US" sz="1600" b="1" kern="0" dirty="0">
                <a:solidFill>
                  <a:srgbClr val="13386B"/>
                </a:solidFill>
              </a:rPr>
              <a:t>IMPACTO</a:t>
            </a:r>
          </a:p>
        </p:txBody>
      </p:sp>
      <p:sp>
        <p:nvSpPr>
          <p:cNvPr id="9" name="Retângulo Arredondado 8">
            <a:hlinkClick r:id="rId2" action="ppaction://hlinksldjump"/>
          </p:cNvPr>
          <p:cNvSpPr/>
          <p:nvPr/>
        </p:nvSpPr>
        <p:spPr>
          <a:xfrm>
            <a:off x="4421411" y="2335300"/>
            <a:ext cx="7961090" cy="64800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280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3386B"/>
                </a:solidFill>
                <a:effectLst/>
                <a:uLnTx/>
                <a:uFillTx/>
              </a:rPr>
              <a:t>PROBLEMA</a:t>
            </a:r>
          </a:p>
        </p:txBody>
      </p:sp>
      <p:sp>
        <p:nvSpPr>
          <p:cNvPr id="10" name="Retângulo Arredondado 9">
            <a:hlinkClick r:id="" action="ppaction://noaction"/>
          </p:cNvPr>
          <p:cNvSpPr/>
          <p:nvPr/>
        </p:nvSpPr>
        <p:spPr>
          <a:xfrm>
            <a:off x="4421411" y="3877344"/>
            <a:ext cx="7961090" cy="648000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2800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3386B"/>
                </a:solidFill>
                <a:effectLst/>
                <a:uLnTx/>
                <a:uFillTx/>
              </a:rPr>
              <a:t>SOLUÇÕES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94768">
            <a:off x="4735173" y="3960960"/>
            <a:ext cx="353064" cy="480768"/>
          </a:xfrm>
          <a:prstGeom prst="rect">
            <a:avLst/>
          </a:prstGeom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23343" y="3170794"/>
            <a:ext cx="576725" cy="519053"/>
          </a:xfrm>
          <a:prstGeom prst="rect">
            <a:avLst/>
          </a:prstGeom>
        </p:spPr>
      </p:pic>
      <p:pic>
        <p:nvPicPr>
          <p:cNvPr id="15" name="Imagem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8756627">
            <a:off x="4696878" y="2479030"/>
            <a:ext cx="424025" cy="360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42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Reuniões</a:t>
            </a:r>
            <a:endParaRPr lang="pt-BR" dirty="0"/>
          </a:p>
        </p:txBody>
      </p:sp>
      <p:sp>
        <p:nvSpPr>
          <p:cNvPr id="7" name="Espaço Reservado para Conteúdo 6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t-BR" dirty="0" smtClean="0"/>
              <a:t>Agenda de reuniões</a:t>
            </a:r>
            <a:endParaRPr lang="pt-BR" dirty="0"/>
          </a:p>
        </p:txBody>
      </p:sp>
      <p:graphicFrame>
        <p:nvGraphicFramePr>
          <p:cNvPr id="2" name="Tabe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636275"/>
              </p:ext>
            </p:extLst>
          </p:nvPr>
        </p:nvGraphicFramePr>
        <p:xfrm>
          <a:off x="2217194" y="1622491"/>
          <a:ext cx="8127999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428831"/>
                <a:gridCol w="3989835"/>
                <a:gridCol w="2709333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Data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Agenda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Participantes Numero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23/08/2017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err="1" smtClean="0"/>
                        <a:t>eRat</a:t>
                      </a:r>
                      <a:r>
                        <a:rPr lang="pt-BR" dirty="0" smtClean="0"/>
                        <a:t> e GAC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8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 smtClean="0"/>
                        <a:t>25/08/2017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Mapeamento Alto Nível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15</a:t>
                      </a:r>
                      <a:endParaRPr lang="pt-BR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Mapeamento Alto Nível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 smtClean="0"/>
                        <a:t>9</a:t>
                      </a:r>
                      <a:endParaRPr lang="pt-BR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187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1452"/>
          <p:cNvSpPr>
            <a:spLocks noChangeArrowheads="1"/>
          </p:cNvSpPr>
          <p:nvPr/>
        </p:nvSpPr>
        <p:spPr bwMode="auto">
          <a:xfrm>
            <a:off x="3816532" y="4800336"/>
            <a:ext cx="977900" cy="481012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Shipping /</a:t>
            </a:r>
            <a:br>
              <a:rPr lang="en-US" altLang="pt-BR" sz="1200" b="1">
                <a:solidFill>
                  <a:srgbClr val="FF0000"/>
                </a:solidFill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Receiving </a:t>
            </a:r>
          </a:p>
        </p:txBody>
      </p:sp>
      <p:sp>
        <p:nvSpPr>
          <p:cNvPr id="7" name="AutoShape 1453"/>
          <p:cNvSpPr>
            <a:spLocks noChangeArrowheads="1"/>
          </p:cNvSpPr>
          <p:nvPr/>
        </p:nvSpPr>
        <p:spPr bwMode="auto">
          <a:xfrm>
            <a:off x="4858479" y="4800336"/>
            <a:ext cx="977900" cy="481012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Orders &amp;</a:t>
            </a:r>
            <a:br>
              <a:rPr lang="en-US" altLang="pt-BR" sz="1200" b="1">
                <a:solidFill>
                  <a:srgbClr val="FF0000"/>
                </a:solidFill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Cases</a:t>
            </a:r>
          </a:p>
        </p:txBody>
      </p:sp>
      <p:sp>
        <p:nvSpPr>
          <p:cNvPr id="8" name="AutoShape 1454"/>
          <p:cNvSpPr>
            <a:spLocks noChangeArrowheads="1"/>
          </p:cNvSpPr>
          <p:nvPr/>
        </p:nvSpPr>
        <p:spPr bwMode="auto">
          <a:xfrm>
            <a:off x="7987497" y="4798748"/>
            <a:ext cx="977900" cy="481013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Invoices &amp;</a:t>
            </a:r>
            <a:br>
              <a:rPr lang="en-US" altLang="pt-BR" sz="1200" b="1">
                <a:solidFill>
                  <a:srgbClr val="FF0000"/>
                </a:solidFill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Payments</a:t>
            </a:r>
          </a:p>
        </p:txBody>
      </p:sp>
      <p:sp>
        <p:nvSpPr>
          <p:cNvPr id="9" name="AutoShape 1455"/>
          <p:cNvSpPr>
            <a:spLocks noChangeArrowheads="1"/>
          </p:cNvSpPr>
          <p:nvPr/>
        </p:nvSpPr>
        <p:spPr bwMode="auto">
          <a:xfrm>
            <a:off x="5902014" y="4798748"/>
            <a:ext cx="977900" cy="481013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Marketing</a:t>
            </a:r>
            <a:br>
              <a:rPr lang="en-US" altLang="pt-BR" sz="1200" b="1">
                <a:solidFill>
                  <a:srgbClr val="FF0000"/>
                </a:solidFill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Offers</a:t>
            </a:r>
          </a:p>
        </p:txBody>
      </p:sp>
      <p:sp>
        <p:nvSpPr>
          <p:cNvPr id="10" name="AutoShape 1456"/>
          <p:cNvSpPr>
            <a:spLocks noChangeArrowheads="1"/>
          </p:cNvSpPr>
          <p:nvPr/>
        </p:nvSpPr>
        <p:spPr bwMode="auto">
          <a:xfrm>
            <a:off x="6943962" y="4798748"/>
            <a:ext cx="977900" cy="481013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Inventory</a:t>
            </a:r>
          </a:p>
        </p:txBody>
      </p:sp>
      <p:sp>
        <p:nvSpPr>
          <p:cNvPr id="11" name="AutoShape 1457"/>
          <p:cNvSpPr>
            <a:spLocks noChangeArrowheads="1"/>
          </p:cNvSpPr>
          <p:nvPr/>
        </p:nvSpPr>
        <p:spPr bwMode="auto">
          <a:xfrm>
            <a:off x="3810182" y="355336"/>
            <a:ext cx="5514975" cy="534987"/>
          </a:xfrm>
          <a:prstGeom prst="roundRect">
            <a:avLst>
              <a:gd name="adj" fmla="val 18690"/>
            </a:avLst>
          </a:prstGeom>
          <a:gradFill rotWithShape="0">
            <a:gsLst>
              <a:gs pos="0">
                <a:srgbClr val="5F5F5F"/>
              </a:gs>
              <a:gs pos="100000">
                <a:srgbClr val="5F5F5F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scene3d>
            <a:camera prst="legacyObliqueTopRight"/>
            <a:lightRig rig="legacyFlat3" dir="b"/>
          </a:scene3d>
          <a:sp3d extrusionH="100000" contourW="12700" prstMaterial="legacyMatte">
            <a:bevelT w="13500" h="13500" prst="angle"/>
            <a:bevelB w="13500" h="13500" prst="angle"/>
            <a:extrusionClr>
              <a:srgbClr val="5F5F5F"/>
            </a:extrusionClr>
            <a:contourClr>
              <a:srgbClr val="5F5F5F"/>
            </a:contourClr>
          </a:sp3d>
          <a:extLst>
            <a:ext uri="{91240B29-F687-4F45-9708-019B960494DF}">
              <a14:hiddenLine xmlns:a14="http://schemas.microsoft.com/office/drawing/2010/main" w="28575">
                <a:noFill/>
                <a:prstDash val="dash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29783" dir="1514402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2" name="Text Box 1458"/>
          <p:cNvSpPr txBox="1">
            <a:spLocks noChangeArrowheads="1"/>
          </p:cNvSpPr>
          <p:nvPr/>
        </p:nvSpPr>
        <p:spPr bwMode="auto">
          <a:xfrm>
            <a:off x="7859894" y="498211"/>
            <a:ext cx="1087438" cy="257175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Intelligence</a:t>
            </a:r>
          </a:p>
        </p:txBody>
      </p:sp>
      <p:sp>
        <p:nvSpPr>
          <p:cNvPr id="13" name="Text Box 1459"/>
          <p:cNvSpPr txBox="1">
            <a:spLocks noChangeArrowheads="1"/>
          </p:cNvSpPr>
          <p:nvPr/>
        </p:nvSpPr>
        <p:spPr bwMode="auto">
          <a:xfrm>
            <a:off x="3965757" y="415661"/>
            <a:ext cx="165100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Customer/Prod Info,</a:t>
            </a:r>
            <a:b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Knowledge Base</a:t>
            </a:r>
          </a:p>
        </p:txBody>
      </p:sp>
      <p:pic>
        <p:nvPicPr>
          <p:cNvPr id="14" name="Picture 146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69" y="399786"/>
            <a:ext cx="72390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5" name="Text Box 1461"/>
          <p:cNvSpPr txBox="1">
            <a:spLocks noChangeArrowheads="1"/>
          </p:cNvSpPr>
          <p:nvPr/>
        </p:nvSpPr>
        <p:spPr bwMode="white">
          <a:xfrm>
            <a:off x="5707244" y="445823"/>
            <a:ext cx="606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pt-BR" sz="9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Secure</a:t>
            </a:r>
            <a:br>
              <a:rPr lang="en-US" altLang="pt-BR" sz="9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9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Access</a:t>
            </a:r>
          </a:p>
        </p:txBody>
      </p:sp>
      <p:sp>
        <p:nvSpPr>
          <p:cNvPr id="16" name="Line 1462"/>
          <p:cNvSpPr>
            <a:spLocks noChangeShapeType="1"/>
          </p:cNvSpPr>
          <p:nvPr/>
        </p:nvSpPr>
        <p:spPr bwMode="auto">
          <a:xfrm>
            <a:off x="6578782" y="626798"/>
            <a:ext cx="444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grpSp>
        <p:nvGrpSpPr>
          <p:cNvPr id="17" name="Group 1463"/>
          <p:cNvGrpSpPr>
            <a:grpSpLocks/>
          </p:cNvGrpSpPr>
          <p:nvPr/>
        </p:nvGrpSpPr>
        <p:grpSpPr bwMode="auto">
          <a:xfrm>
            <a:off x="7289982" y="395023"/>
            <a:ext cx="471487" cy="454025"/>
            <a:chOff x="3996" y="770"/>
            <a:chExt cx="330" cy="328"/>
          </a:xfrm>
        </p:grpSpPr>
        <p:grpSp>
          <p:nvGrpSpPr>
            <p:cNvPr id="18" name="Group 1464"/>
            <p:cNvGrpSpPr>
              <a:grpSpLocks/>
            </p:cNvGrpSpPr>
            <p:nvPr/>
          </p:nvGrpSpPr>
          <p:grpSpPr bwMode="auto">
            <a:xfrm>
              <a:off x="3996" y="770"/>
              <a:ext cx="255" cy="276"/>
              <a:chOff x="995" y="1653"/>
              <a:chExt cx="649" cy="959"/>
            </a:xfrm>
          </p:grpSpPr>
          <p:sp>
            <p:nvSpPr>
              <p:cNvPr id="86" name="Freeform 1465"/>
              <p:cNvSpPr>
                <a:spLocks/>
              </p:cNvSpPr>
              <p:nvPr/>
            </p:nvSpPr>
            <p:spPr bwMode="auto">
              <a:xfrm>
                <a:off x="995" y="1653"/>
                <a:ext cx="591" cy="925"/>
              </a:xfrm>
              <a:custGeom>
                <a:avLst/>
                <a:gdLst>
                  <a:gd name="T0" fmla="*/ 590 w 591"/>
                  <a:gd name="T1" fmla="*/ 630 h 925"/>
                  <a:gd name="T2" fmla="*/ 590 w 591"/>
                  <a:gd name="T3" fmla="*/ 0 h 925"/>
                  <a:gd name="T4" fmla="*/ 0 w 591"/>
                  <a:gd name="T5" fmla="*/ 274 h 925"/>
                  <a:gd name="T6" fmla="*/ 0 w 591"/>
                  <a:gd name="T7" fmla="*/ 924 h 925"/>
                  <a:gd name="T8" fmla="*/ 590 w 591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1" h="925">
                    <a:moveTo>
                      <a:pt x="590" y="630"/>
                    </a:moveTo>
                    <a:lnTo>
                      <a:pt x="590" y="0"/>
                    </a:lnTo>
                    <a:lnTo>
                      <a:pt x="0" y="274"/>
                    </a:lnTo>
                    <a:lnTo>
                      <a:pt x="0" y="924"/>
                    </a:lnTo>
                    <a:lnTo>
                      <a:pt x="590" y="630"/>
                    </a:lnTo>
                  </a:path>
                </a:pathLst>
              </a:custGeom>
              <a:solidFill>
                <a:srgbClr val="77777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7" name="Freeform 1466"/>
              <p:cNvSpPr>
                <a:spLocks/>
              </p:cNvSpPr>
              <p:nvPr/>
            </p:nvSpPr>
            <p:spPr bwMode="auto">
              <a:xfrm>
                <a:off x="1024" y="1670"/>
                <a:ext cx="592" cy="925"/>
              </a:xfrm>
              <a:custGeom>
                <a:avLst/>
                <a:gdLst>
                  <a:gd name="T0" fmla="*/ 591 w 592"/>
                  <a:gd name="T1" fmla="*/ 630 h 925"/>
                  <a:gd name="T2" fmla="*/ 591 w 592"/>
                  <a:gd name="T3" fmla="*/ 0 h 925"/>
                  <a:gd name="T4" fmla="*/ 0 w 592"/>
                  <a:gd name="T5" fmla="*/ 273 h 925"/>
                  <a:gd name="T6" fmla="*/ 0 w 592"/>
                  <a:gd name="T7" fmla="*/ 924 h 925"/>
                  <a:gd name="T8" fmla="*/ 591 w 592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2" h="925">
                    <a:moveTo>
                      <a:pt x="591" y="630"/>
                    </a:moveTo>
                    <a:lnTo>
                      <a:pt x="591" y="0"/>
                    </a:lnTo>
                    <a:lnTo>
                      <a:pt x="0" y="273"/>
                    </a:lnTo>
                    <a:lnTo>
                      <a:pt x="0" y="924"/>
                    </a:lnTo>
                    <a:lnTo>
                      <a:pt x="591" y="630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8" name="Freeform 1467"/>
              <p:cNvSpPr>
                <a:spLocks/>
              </p:cNvSpPr>
              <p:nvPr/>
            </p:nvSpPr>
            <p:spPr bwMode="auto">
              <a:xfrm>
                <a:off x="1051" y="1687"/>
                <a:ext cx="593" cy="925"/>
              </a:xfrm>
              <a:custGeom>
                <a:avLst/>
                <a:gdLst>
                  <a:gd name="T0" fmla="*/ 592 w 593"/>
                  <a:gd name="T1" fmla="*/ 630 h 925"/>
                  <a:gd name="T2" fmla="*/ 592 w 593"/>
                  <a:gd name="T3" fmla="*/ 0 h 925"/>
                  <a:gd name="T4" fmla="*/ 0 w 593"/>
                  <a:gd name="T5" fmla="*/ 273 h 925"/>
                  <a:gd name="T6" fmla="*/ 0 w 593"/>
                  <a:gd name="T7" fmla="*/ 924 h 925"/>
                  <a:gd name="T8" fmla="*/ 592 w 593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925">
                    <a:moveTo>
                      <a:pt x="592" y="630"/>
                    </a:moveTo>
                    <a:lnTo>
                      <a:pt x="592" y="0"/>
                    </a:lnTo>
                    <a:lnTo>
                      <a:pt x="0" y="273"/>
                    </a:lnTo>
                    <a:lnTo>
                      <a:pt x="0" y="924"/>
                    </a:lnTo>
                    <a:lnTo>
                      <a:pt x="592" y="630"/>
                    </a:lnTo>
                  </a:path>
                </a:pathLst>
              </a:custGeom>
              <a:solidFill>
                <a:schemeClr val="tx1"/>
              </a:solidFill>
              <a:ln w="12700" cap="rnd" cmpd="sng">
                <a:solidFill>
                  <a:srgbClr val="DDDDDD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9" name="Freeform 1468"/>
              <p:cNvSpPr>
                <a:spLocks/>
              </p:cNvSpPr>
              <p:nvPr/>
            </p:nvSpPr>
            <p:spPr bwMode="auto">
              <a:xfrm>
                <a:off x="1096" y="1775"/>
                <a:ext cx="507" cy="775"/>
              </a:xfrm>
              <a:custGeom>
                <a:avLst/>
                <a:gdLst>
                  <a:gd name="T0" fmla="*/ 506 w 507"/>
                  <a:gd name="T1" fmla="*/ 0 h 775"/>
                  <a:gd name="T2" fmla="*/ 217 w 507"/>
                  <a:gd name="T3" fmla="*/ 133 h 775"/>
                  <a:gd name="T4" fmla="*/ 217 w 507"/>
                  <a:gd name="T5" fmla="*/ 303 h 775"/>
                  <a:gd name="T6" fmla="*/ 0 w 507"/>
                  <a:gd name="T7" fmla="*/ 406 h 775"/>
                  <a:gd name="T8" fmla="*/ 0 w 507"/>
                  <a:gd name="T9" fmla="*/ 774 h 775"/>
                  <a:gd name="T10" fmla="*/ 217 w 507"/>
                  <a:gd name="T11" fmla="*/ 666 h 775"/>
                  <a:gd name="T12" fmla="*/ 217 w 507"/>
                  <a:gd name="T13" fmla="*/ 667 h 775"/>
                  <a:gd name="T14" fmla="*/ 391 w 507"/>
                  <a:gd name="T15" fmla="*/ 580 h 775"/>
                  <a:gd name="T16" fmla="*/ 506 w 507"/>
                  <a:gd name="T17" fmla="*/ 524 h 775"/>
                  <a:gd name="T18" fmla="*/ 506 w 507"/>
                  <a:gd name="T19" fmla="*/ 0 h 7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7" h="775">
                    <a:moveTo>
                      <a:pt x="506" y="0"/>
                    </a:moveTo>
                    <a:lnTo>
                      <a:pt x="217" y="133"/>
                    </a:lnTo>
                    <a:lnTo>
                      <a:pt x="217" y="303"/>
                    </a:lnTo>
                    <a:lnTo>
                      <a:pt x="0" y="406"/>
                    </a:lnTo>
                    <a:lnTo>
                      <a:pt x="0" y="774"/>
                    </a:lnTo>
                    <a:lnTo>
                      <a:pt x="217" y="666"/>
                    </a:lnTo>
                    <a:lnTo>
                      <a:pt x="217" y="667"/>
                    </a:lnTo>
                    <a:lnTo>
                      <a:pt x="391" y="580"/>
                    </a:lnTo>
                    <a:lnTo>
                      <a:pt x="506" y="524"/>
                    </a:lnTo>
                    <a:lnTo>
                      <a:pt x="506" y="0"/>
                    </a:lnTo>
                  </a:path>
                </a:pathLst>
              </a:custGeom>
              <a:solidFill>
                <a:srgbClr val="FFFFD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0" name="Freeform 1469"/>
              <p:cNvSpPr>
                <a:spLocks/>
              </p:cNvSpPr>
              <p:nvPr/>
            </p:nvSpPr>
            <p:spPr bwMode="auto">
              <a:xfrm>
                <a:off x="1096" y="2273"/>
                <a:ext cx="507" cy="277"/>
              </a:xfrm>
              <a:custGeom>
                <a:avLst/>
                <a:gdLst>
                  <a:gd name="T0" fmla="*/ 506 w 507"/>
                  <a:gd name="T1" fmla="*/ 27 h 277"/>
                  <a:gd name="T2" fmla="*/ 506 w 507"/>
                  <a:gd name="T3" fmla="*/ 0 h 277"/>
                  <a:gd name="T4" fmla="*/ 0 w 507"/>
                  <a:gd name="T5" fmla="*/ 242 h 277"/>
                  <a:gd name="T6" fmla="*/ 0 w 507"/>
                  <a:gd name="T7" fmla="*/ 276 h 277"/>
                  <a:gd name="T8" fmla="*/ 506 w 507"/>
                  <a:gd name="T9" fmla="*/ 2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7">
                    <a:moveTo>
                      <a:pt x="506" y="27"/>
                    </a:moveTo>
                    <a:lnTo>
                      <a:pt x="506" y="0"/>
                    </a:lnTo>
                    <a:lnTo>
                      <a:pt x="0" y="242"/>
                    </a:lnTo>
                    <a:lnTo>
                      <a:pt x="0" y="276"/>
                    </a:lnTo>
                    <a:lnTo>
                      <a:pt x="506" y="27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1" name="Freeform 1470"/>
              <p:cNvSpPr>
                <a:spLocks/>
              </p:cNvSpPr>
              <p:nvPr/>
            </p:nvSpPr>
            <p:spPr bwMode="auto">
              <a:xfrm>
                <a:off x="1096" y="2213"/>
                <a:ext cx="507" cy="272"/>
              </a:xfrm>
              <a:custGeom>
                <a:avLst/>
                <a:gdLst>
                  <a:gd name="T0" fmla="*/ 506 w 507"/>
                  <a:gd name="T1" fmla="*/ 28 h 272"/>
                  <a:gd name="T2" fmla="*/ 506 w 507"/>
                  <a:gd name="T3" fmla="*/ 0 h 272"/>
                  <a:gd name="T4" fmla="*/ 0 w 507"/>
                  <a:gd name="T5" fmla="*/ 237 h 272"/>
                  <a:gd name="T6" fmla="*/ 0 w 507"/>
                  <a:gd name="T7" fmla="*/ 271 h 272"/>
                  <a:gd name="T8" fmla="*/ 506 w 507"/>
                  <a:gd name="T9" fmla="*/ 2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2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1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2" name="Freeform 1471"/>
              <p:cNvSpPr>
                <a:spLocks/>
              </p:cNvSpPr>
              <p:nvPr/>
            </p:nvSpPr>
            <p:spPr bwMode="auto">
              <a:xfrm>
                <a:off x="1096" y="2147"/>
                <a:ext cx="507" cy="273"/>
              </a:xfrm>
              <a:custGeom>
                <a:avLst/>
                <a:gdLst>
                  <a:gd name="T0" fmla="*/ 506 w 507"/>
                  <a:gd name="T1" fmla="*/ 28 h 273"/>
                  <a:gd name="T2" fmla="*/ 506 w 507"/>
                  <a:gd name="T3" fmla="*/ 0 h 273"/>
                  <a:gd name="T4" fmla="*/ 0 w 507"/>
                  <a:gd name="T5" fmla="*/ 238 h 273"/>
                  <a:gd name="T6" fmla="*/ 0 w 507"/>
                  <a:gd name="T7" fmla="*/ 272 h 273"/>
                  <a:gd name="T8" fmla="*/ 506 w 507"/>
                  <a:gd name="T9" fmla="*/ 28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3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8"/>
                    </a:lnTo>
                    <a:lnTo>
                      <a:pt x="0" y="272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3" name="Freeform 1472"/>
              <p:cNvSpPr>
                <a:spLocks/>
              </p:cNvSpPr>
              <p:nvPr/>
            </p:nvSpPr>
            <p:spPr bwMode="auto">
              <a:xfrm>
                <a:off x="1096" y="2083"/>
                <a:ext cx="507" cy="272"/>
              </a:xfrm>
              <a:custGeom>
                <a:avLst/>
                <a:gdLst>
                  <a:gd name="T0" fmla="*/ 506 w 507"/>
                  <a:gd name="T1" fmla="*/ 28 h 272"/>
                  <a:gd name="T2" fmla="*/ 506 w 507"/>
                  <a:gd name="T3" fmla="*/ 0 h 272"/>
                  <a:gd name="T4" fmla="*/ 0 w 507"/>
                  <a:gd name="T5" fmla="*/ 237 h 272"/>
                  <a:gd name="T6" fmla="*/ 0 w 507"/>
                  <a:gd name="T7" fmla="*/ 271 h 272"/>
                  <a:gd name="T8" fmla="*/ 506 w 507"/>
                  <a:gd name="T9" fmla="*/ 2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2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1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4" name="Freeform 1473"/>
              <p:cNvSpPr>
                <a:spLocks/>
              </p:cNvSpPr>
              <p:nvPr/>
            </p:nvSpPr>
            <p:spPr bwMode="auto">
              <a:xfrm>
                <a:off x="1096" y="1947"/>
                <a:ext cx="507" cy="273"/>
              </a:xfrm>
              <a:custGeom>
                <a:avLst/>
                <a:gdLst>
                  <a:gd name="T0" fmla="*/ 506 w 507"/>
                  <a:gd name="T1" fmla="*/ 32 h 273"/>
                  <a:gd name="T2" fmla="*/ 506 w 507"/>
                  <a:gd name="T3" fmla="*/ 0 h 273"/>
                  <a:gd name="T4" fmla="*/ 0 w 507"/>
                  <a:gd name="T5" fmla="*/ 237 h 273"/>
                  <a:gd name="T6" fmla="*/ 0 w 507"/>
                  <a:gd name="T7" fmla="*/ 272 h 273"/>
                  <a:gd name="T8" fmla="*/ 506 w 507"/>
                  <a:gd name="T9" fmla="*/ 32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3">
                    <a:moveTo>
                      <a:pt x="506" y="32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2"/>
                    </a:lnTo>
                    <a:lnTo>
                      <a:pt x="506" y="32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5" name="Freeform 1474"/>
              <p:cNvSpPr>
                <a:spLocks/>
              </p:cNvSpPr>
              <p:nvPr/>
            </p:nvSpPr>
            <p:spPr bwMode="auto">
              <a:xfrm>
                <a:off x="1096" y="2013"/>
                <a:ext cx="507" cy="276"/>
              </a:xfrm>
              <a:custGeom>
                <a:avLst/>
                <a:gdLst>
                  <a:gd name="T0" fmla="*/ 506 w 507"/>
                  <a:gd name="T1" fmla="*/ 32 h 276"/>
                  <a:gd name="T2" fmla="*/ 506 w 507"/>
                  <a:gd name="T3" fmla="*/ 0 h 276"/>
                  <a:gd name="T4" fmla="*/ 0 w 507"/>
                  <a:gd name="T5" fmla="*/ 238 h 276"/>
                  <a:gd name="T6" fmla="*/ 0 w 507"/>
                  <a:gd name="T7" fmla="*/ 275 h 276"/>
                  <a:gd name="T8" fmla="*/ 506 w 507"/>
                  <a:gd name="T9" fmla="*/ 32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6">
                    <a:moveTo>
                      <a:pt x="506" y="32"/>
                    </a:moveTo>
                    <a:lnTo>
                      <a:pt x="506" y="0"/>
                    </a:lnTo>
                    <a:lnTo>
                      <a:pt x="0" y="238"/>
                    </a:lnTo>
                    <a:lnTo>
                      <a:pt x="0" y="275"/>
                    </a:lnTo>
                    <a:lnTo>
                      <a:pt x="506" y="32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6" name="Line 1475"/>
              <p:cNvSpPr>
                <a:spLocks noChangeShapeType="1"/>
              </p:cNvSpPr>
              <p:nvPr/>
            </p:nvSpPr>
            <p:spPr bwMode="auto">
              <a:xfrm>
                <a:off x="1346" y="1895"/>
                <a:ext cx="0" cy="53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7" name="Line 1476"/>
              <p:cNvSpPr>
                <a:spLocks noChangeShapeType="1"/>
              </p:cNvSpPr>
              <p:nvPr/>
            </p:nvSpPr>
            <p:spPr bwMode="auto">
              <a:xfrm flipH="1">
                <a:off x="1342" y="1896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Line 1477"/>
              <p:cNvSpPr>
                <a:spLocks noChangeShapeType="1"/>
              </p:cNvSpPr>
              <p:nvPr/>
            </p:nvSpPr>
            <p:spPr bwMode="auto">
              <a:xfrm>
                <a:off x="1342" y="2425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9" name="Line 1478"/>
              <p:cNvSpPr>
                <a:spLocks noChangeShapeType="1"/>
              </p:cNvSpPr>
              <p:nvPr/>
            </p:nvSpPr>
            <p:spPr bwMode="auto">
              <a:xfrm>
                <a:off x="1376" y="1884"/>
                <a:ext cx="0" cy="528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0" name="Line 1479"/>
              <p:cNvSpPr>
                <a:spLocks noChangeShapeType="1"/>
              </p:cNvSpPr>
              <p:nvPr/>
            </p:nvSpPr>
            <p:spPr bwMode="auto">
              <a:xfrm flipH="1">
                <a:off x="1374" y="1884"/>
                <a:ext cx="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1" name="Line 1480"/>
              <p:cNvSpPr>
                <a:spLocks noChangeShapeType="1"/>
              </p:cNvSpPr>
              <p:nvPr/>
            </p:nvSpPr>
            <p:spPr bwMode="auto">
              <a:xfrm>
                <a:off x="1374" y="2412"/>
                <a:ext cx="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2" name="Line 1481"/>
              <p:cNvSpPr>
                <a:spLocks noChangeShapeType="1"/>
              </p:cNvSpPr>
              <p:nvPr/>
            </p:nvSpPr>
            <p:spPr bwMode="auto">
              <a:xfrm>
                <a:off x="1408" y="1868"/>
                <a:ext cx="0" cy="53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3" name="Line 1482"/>
              <p:cNvSpPr>
                <a:spLocks noChangeShapeType="1"/>
              </p:cNvSpPr>
              <p:nvPr/>
            </p:nvSpPr>
            <p:spPr bwMode="auto">
              <a:xfrm flipH="1">
                <a:off x="1405" y="1868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4" name="Line 1483"/>
              <p:cNvSpPr>
                <a:spLocks noChangeShapeType="1"/>
              </p:cNvSpPr>
              <p:nvPr/>
            </p:nvSpPr>
            <p:spPr bwMode="auto">
              <a:xfrm>
                <a:off x="1405" y="2398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5" name="Line 1484"/>
              <p:cNvSpPr>
                <a:spLocks noChangeShapeType="1"/>
              </p:cNvSpPr>
              <p:nvPr/>
            </p:nvSpPr>
            <p:spPr bwMode="auto">
              <a:xfrm>
                <a:off x="1438" y="1855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6" name="Line 1485"/>
              <p:cNvSpPr>
                <a:spLocks noChangeShapeType="1"/>
              </p:cNvSpPr>
              <p:nvPr/>
            </p:nvSpPr>
            <p:spPr bwMode="auto">
              <a:xfrm flipH="1">
                <a:off x="1436" y="1855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7" name="Line 1486"/>
              <p:cNvSpPr>
                <a:spLocks noChangeShapeType="1"/>
              </p:cNvSpPr>
              <p:nvPr/>
            </p:nvSpPr>
            <p:spPr bwMode="auto">
              <a:xfrm>
                <a:off x="1436" y="2380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8" name="Line 1487"/>
              <p:cNvSpPr>
                <a:spLocks noChangeShapeType="1"/>
              </p:cNvSpPr>
              <p:nvPr/>
            </p:nvSpPr>
            <p:spPr bwMode="auto">
              <a:xfrm>
                <a:off x="1470" y="1840"/>
                <a:ext cx="0" cy="524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9" name="Line 1488"/>
              <p:cNvSpPr>
                <a:spLocks noChangeShapeType="1"/>
              </p:cNvSpPr>
              <p:nvPr/>
            </p:nvSpPr>
            <p:spPr bwMode="auto">
              <a:xfrm flipH="1">
                <a:off x="1466" y="1840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0" name="Line 1489"/>
              <p:cNvSpPr>
                <a:spLocks noChangeShapeType="1"/>
              </p:cNvSpPr>
              <p:nvPr/>
            </p:nvSpPr>
            <p:spPr bwMode="auto">
              <a:xfrm>
                <a:off x="1466" y="2364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1" name="Line 1490"/>
              <p:cNvSpPr>
                <a:spLocks noChangeShapeType="1"/>
              </p:cNvSpPr>
              <p:nvPr/>
            </p:nvSpPr>
            <p:spPr bwMode="auto">
              <a:xfrm>
                <a:off x="1501" y="1826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Line 1491"/>
              <p:cNvSpPr>
                <a:spLocks noChangeShapeType="1"/>
              </p:cNvSpPr>
              <p:nvPr/>
            </p:nvSpPr>
            <p:spPr bwMode="auto">
              <a:xfrm flipH="1">
                <a:off x="1497" y="1826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3" name="Line 1492"/>
              <p:cNvSpPr>
                <a:spLocks noChangeShapeType="1"/>
              </p:cNvSpPr>
              <p:nvPr/>
            </p:nvSpPr>
            <p:spPr bwMode="auto">
              <a:xfrm>
                <a:off x="1497" y="2351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4" name="Line 1493"/>
              <p:cNvSpPr>
                <a:spLocks noChangeShapeType="1"/>
              </p:cNvSpPr>
              <p:nvPr/>
            </p:nvSpPr>
            <p:spPr bwMode="auto">
              <a:xfrm>
                <a:off x="1535" y="1808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5" name="Line 1494"/>
              <p:cNvSpPr>
                <a:spLocks noChangeShapeType="1"/>
              </p:cNvSpPr>
              <p:nvPr/>
            </p:nvSpPr>
            <p:spPr bwMode="auto">
              <a:xfrm flipH="1">
                <a:off x="1531" y="1808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6" name="Line 1495"/>
              <p:cNvSpPr>
                <a:spLocks noChangeShapeType="1"/>
              </p:cNvSpPr>
              <p:nvPr/>
            </p:nvSpPr>
            <p:spPr bwMode="auto">
              <a:xfrm>
                <a:off x="1531" y="2333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7" name="Line 1496"/>
              <p:cNvSpPr>
                <a:spLocks noChangeShapeType="1"/>
              </p:cNvSpPr>
              <p:nvPr/>
            </p:nvSpPr>
            <p:spPr bwMode="auto">
              <a:xfrm>
                <a:off x="1567" y="1793"/>
                <a:ext cx="0" cy="523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8" name="Line 1497"/>
              <p:cNvSpPr>
                <a:spLocks noChangeShapeType="1"/>
              </p:cNvSpPr>
              <p:nvPr/>
            </p:nvSpPr>
            <p:spPr bwMode="auto">
              <a:xfrm flipH="1">
                <a:off x="1563" y="1793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9" name="Line 1498"/>
              <p:cNvSpPr>
                <a:spLocks noChangeShapeType="1"/>
              </p:cNvSpPr>
              <p:nvPr/>
            </p:nvSpPr>
            <p:spPr bwMode="auto">
              <a:xfrm>
                <a:off x="1563" y="2316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0" name="Line 1499"/>
              <p:cNvSpPr>
                <a:spLocks noChangeShapeType="1"/>
              </p:cNvSpPr>
              <p:nvPr/>
            </p:nvSpPr>
            <p:spPr bwMode="auto">
              <a:xfrm flipV="1">
                <a:off x="1096" y="1977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1" name="Line 1500"/>
              <p:cNvSpPr>
                <a:spLocks noChangeShapeType="1"/>
              </p:cNvSpPr>
              <p:nvPr/>
            </p:nvSpPr>
            <p:spPr bwMode="auto">
              <a:xfrm>
                <a:off x="1094" y="2215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2" name="Line 1501"/>
              <p:cNvSpPr>
                <a:spLocks noChangeShapeType="1"/>
              </p:cNvSpPr>
              <p:nvPr/>
            </p:nvSpPr>
            <p:spPr bwMode="auto">
              <a:xfrm flipH="1" flipV="1">
                <a:off x="1601" y="1972"/>
                <a:ext cx="2" cy="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3" name="Line 1502"/>
              <p:cNvSpPr>
                <a:spLocks noChangeShapeType="1"/>
              </p:cNvSpPr>
              <p:nvPr/>
            </p:nvSpPr>
            <p:spPr bwMode="auto">
              <a:xfrm flipV="1">
                <a:off x="1096" y="2010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4" name="Line 1503"/>
              <p:cNvSpPr>
                <a:spLocks noChangeShapeType="1"/>
              </p:cNvSpPr>
              <p:nvPr/>
            </p:nvSpPr>
            <p:spPr bwMode="auto">
              <a:xfrm>
                <a:off x="1094" y="2248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5" name="Line 1504"/>
              <p:cNvSpPr>
                <a:spLocks noChangeShapeType="1"/>
              </p:cNvSpPr>
              <p:nvPr/>
            </p:nvSpPr>
            <p:spPr bwMode="auto">
              <a:xfrm flipH="1" flipV="1">
                <a:off x="1601" y="2004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6" name="Line 1505"/>
              <p:cNvSpPr>
                <a:spLocks noChangeShapeType="1"/>
              </p:cNvSpPr>
              <p:nvPr/>
            </p:nvSpPr>
            <p:spPr bwMode="auto">
              <a:xfrm flipV="1">
                <a:off x="1096" y="2039"/>
                <a:ext cx="506" cy="241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7" name="Line 1506"/>
              <p:cNvSpPr>
                <a:spLocks noChangeShapeType="1"/>
              </p:cNvSpPr>
              <p:nvPr/>
            </p:nvSpPr>
            <p:spPr bwMode="auto">
              <a:xfrm>
                <a:off x="1094" y="2280"/>
                <a:ext cx="1" cy="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8" name="Line 1507"/>
              <p:cNvSpPr>
                <a:spLocks noChangeShapeType="1"/>
              </p:cNvSpPr>
              <p:nvPr/>
            </p:nvSpPr>
            <p:spPr bwMode="auto">
              <a:xfrm flipH="1" flipV="1">
                <a:off x="1601" y="203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9" name="Line 1508"/>
              <p:cNvSpPr>
                <a:spLocks noChangeShapeType="1"/>
              </p:cNvSpPr>
              <p:nvPr/>
            </p:nvSpPr>
            <p:spPr bwMode="auto">
              <a:xfrm flipV="1">
                <a:off x="1096" y="2077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0" name="Line 1509"/>
              <p:cNvSpPr>
                <a:spLocks noChangeShapeType="1"/>
              </p:cNvSpPr>
              <p:nvPr/>
            </p:nvSpPr>
            <p:spPr bwMode="auto">
              <a:xfrm>
                <a:off x="1094" y="2317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1" name="Line 1510"/>
              <p:cNvSpPr>
                <a:spLocks noChangeShapeType="1"/>
              </p:cNvSpPr>
              <p:nvPr/>
            </p:nvSpPr>
            <p:spPr bwMode="auto">
              <a:xfrm flipH="1" flipV="1">
                <a:off x="1601" y="2074"/>
                <a:ext cx="2" cy="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2" name="Line 1511"/>
              <p:cNvSpPr>
                <a:spLocks noChangeShapeType="1"/>
              </p:cNvSpPr>
              <p:nvPr/>
            </p:nvSpPr>
            <p:spPr bwMode="auto">
              <a:xfrm flipV="1">
                <a:off x="1096" y="2113"/>
                <a:ext cx="506" cy="24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3" name="Line 1512"/>
              <p:cNvSpPr>
                <a:spLocks noChangeShapeType="1"/>
              </p:cNvSpPr>
              <p:nvPr/>
            </p:nvSpPr>
            <p:spPr bwMode="auto">
              <a:xfrm>
                <a:off x="1094" y="2351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4" name="Line 1513"/>
              <p:cNvSpPr>
                <a:spLocks noChangeShapeType="1"/>
              </p:cNvSpPr>
              <p:nvPr/>
            </p:nvSpPr>
            <p:spPr bwMode="auto">
              <a:xfrm flipH="1" flipV="1">
                <a:off x="1601" y="210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5" name="Line 1514"/>
              <p:cNvSpPr>
                <a:spLocks noChangeShapeType="1"/>
              </p:cNvSpPr>
              <p:nvPr/>
            </p:nvSpPr>
            <p:spPr bwMode="auto">
              <a:xfrm flipV="1">
                <a:off x="1096" y="2143"/>
                <a:ext cx="506" cy="243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6" name="Line 1515"/>
              <p:cNvSpPr>
                <a:spLocks noChangeShapeType="1"/>
              </p:cNvSpPr>
              <p:nvPr/>
            </p:nvSpPr>
            <p:spPr bwMode="auto">
              <a:xfrm>
                <a:off x="1094" y="2385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7" name="Line 1516"/>
              <p:cNvSpPr>
                <a:spLocks noChangeShapeType="1"/>
              </p:cNvSpPr>
              <p:nvPr/>
            </p:nvSpPr>
            <p:spPr bwMode="auto">
              <a:xfrm flipH="1" flipV="1">
                <a:off x="1601" y="2140"/>
                <a:ext cx="2" cy="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8" name="Line 1517"/>
              <p:cNvSpPr>
                <a:spLocks noChangeShapeType="1"/>
              </p:cNvSpPr>
              <p:nvPr/>
            </p:nvSpPr>
            <p:spPr bwMode="auto">
              <a:xfrm flipV="1">
                <a:off x="1096" y="2175"/>
                <a:ext cx="506" cy="246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9" name="Line 1518"/>
              <p:cNvSpPr>
                <a:spLocks noChangeShapeType="1"/>
              </p:cNvSpPr>
              <p:nvPr/>
            </p:nvSpPr>
            <p:spPr bwMode="auto">
              <a:xfrm>
                <a:off x="1094" y="2419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0" name="Line 1519"/>
              <p:cNvSpPr>
                <a:spLocks noChangeShapeType="1"/>
              </p:cNvSpPr>
              <p:nvPr/>
            </p:nvSpPr>
            <p:spPr bwMode="auto">
              <a:xfrm flipH="1" flipV="1">
                <a:off x="1601" y="2173"/>
                <a:ext cx="2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1" name="Line 1520"/>
              <p:cNvSpPr>
                <a:spLocks noChangeShapeType="1"/>
              </p:cNvSpPr>
              <p:nvPr/>
            </p:nvSpPr>
            <p:spPr bwMode="auto">
              <a:xfrm flipV="1">
                <a:off x="1096" y="2210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2" name="Line 1521"/>
              <p:cNvSpPr>
                <a:spLocks noChangeShapeType="1"/>
              </p:cNvSpPr>
              <p:nvPr/>
            </p:nvSpPr>
            <p:spPr bwMode="auto">
              <a:xfrm>
                <a:off x="1094" y="2449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3" name="Line 1522"/>
              <p:cNvSpPr>
                <a:spLocks noChangeShapeType="1"/>
              </p:cNvSpPr>
              <p:nvPr/>
            </p:nvSpPr>
            <p:spPr bwMode="auto">
              <a:xfrm flipH="1" flipV="1">
                <a:off x="1601" y="2203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4" name="Line 1523"/>
              <p:cNvSpPr>
                <a:spLocks noChangeShapeType="1"/>
              </p:cNvSpPr>
              <p:nvPr/>
            </p:nvSpPr>
            <p:spPr bwMode="auto">
              <a:xfrm flipV="1">
                <a:off x="1096" y="2244"/>
                <a:ext cx="506" cy="24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5" name="Line 1524"/>
              <p:cNvSpPr>
                <a:spLocks noChangeShapeType="1"/>
              </p:cNvSpPr>
              <p:nvPr/>
            </p:nvSpPr>
            <p:spPr bwMode="auto">
              <a:xfrm>
                <a:off x="1094" y="2482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6" name="Line 1525"/>
              <p:cNvSpPr>
                <a:spLocks noChangeShapeType="1"/>
              </p:cNvSpPr>
              <p:nvPr/>
            </p:nvSpPr>
            <p:spPr bwMode="auto">
              <a:xfrm flipH="1" flipV="1">
                <a:off x="1601" y="2238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7" name="Line 1526"/>
              <p:cNvSpPr>
                <a:spLocks noChangeShapeType="1"/>
              </p:cNvSpPr>
              <p:nvPr/>
            </p:nvSpPr>
            <p:spPr bwMode="auto">
              <a:xfrm flipV="1">
                <a:off x="1096" y="2273"/>
                <a:ext cx="506" cy="244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8" name="Line 1527"/>
              <p:cNvSpPr>
                <a:spLocks noChangeShapeType="1"/>
              </p:cNvSpPr>
              <p:nvPr/>
            </p:nvSpPr>
            <p:spPr bwMode="auto">
              <a:xfrm>
                <a:off x="1094" y="2516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9" name="Line 1528"/>
              <p:cNvSpPr>
                <a:spLocks noChangeShapeType="1"/>
              </p:cNvSpPr>
              <p:nvPr/>
            </p:nvSpPr>
            <p:spPr bwMode="auto">
              <a:xfrm flipH="1" flipV="1">
                <a:off x="1601" y="226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50" name="Freeform 1529"/>
              <p:cNvSpPr>
                <a:spLocks/>
              </p:cNvSpPr>
              <p:nvPr/>
            </p:nvSpPr>
            <p:spPr bwMode="auto">
              <a:xfrm>
                <a:off x="1314" y="1775"/>
                <a:ext cx="289" cy="668"/>
              </a:xfrm>
              <a:custGeom>
                <a:avLst/>
                <a:gdLst>
                  <a:gd name="T0" fmla="*/ 288 w 289"/>
                  <a:gd name="T1" fmla="*/ 523 h 668"/>
                  <a:gd name="T2" fmla="*/ 288 w 289"/>
                  <a:gd name="T3" fmla="*/ 0 h 668"/>
                  <a:gd name="T4" fmla="*/ 0 w 289"/>
                  <a:gd name="T5" fmla="*/ 133 h 668"/>
                  <a:gd name="T6" fmla="*/ 0 w 289"/>
                  <a:gd name="T7" fmla="*/ 667 h 668"/>
                  <a:gd name="T8" fmla="*/ 288 w 289"/>
                  <a:gd name="T9" fmla="*/ 523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9" h="668">
                    <a:moveTo>
                      <a:pt x="288" y="523"/>
                    </a:moveTo>
                    <a:lnTo>
                      <a:pt x="288" y="0"/>
                    </a:lnTo>
                    <a:lnTo>
                      <a:pt x="0" y="133"/>
                    </a:lnTo>
                    <a:lnTo>
                      <a:pt x="0" y="667"/>
                    </a:lnTo>
                    <a:lnTo>
                      <a:pt x="288" y="523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51" name="Freeform 1530"/>
              <p:cNvSpPr>
                <a:spLocks/>
              </p:cNvSpPr>
              <p:nvPr/>
            </p:nvSpPr>
            <p:spPr bwMode="auto">
              <a:xfrm>
                <a:off x="1096" y="1947"/>
                <a:ext cx="507" cy="603"/>
              </a:xfrm>
              <a:custGeom>
                <a:avLst/>
                <a:gdLst>
                  <a:gd name="T0" fmla="*/ 506 w 507"/>
                  <a:gd name="T1" fmla="*/ 353 h 603"/>
                  <a:gd name="T2" fmla="*/ 506 w 507"/>
                  <a:gd name="T3" fmla="*/ 0 h 603"/>
                  <a:gd name="T4" fmla="*/ 0 w 507"/>
                  <a:gd name="T5" fmla="*/ 237 h 603"/>
                  <a:gd name="T6" fmla="*/ 0 w 507"/>
                  <a:gd name="T7" fmla="*/ 602 h 603"/>
                  <a:gd name="T8" fmla="*/ 506 w 507"/>
                  <a:gd name="T9" fmla="*/ 353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603">
                    <a:moveTo>
                      <a:pt x="506" y="353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602"/>
                    </a:lnTo>
                    <a:lnTo>
                      <a:pt x="506" y="353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9" name="Group 1531"/>
            <p:cNvGrpSpPr>
              <a:grpSpLocks/>
            </p:cNvGrpSpPr>
            <p:nvPr/>
          </p:nvGrpSpPr>
          <p:grpSpPr bwMode="auto">
            <a:xfrm>
              <a:off x="4071" y="822"/>
              <a:ext cx="255" cy="276"/>
              <a:chOff x="995" y="1653"/>
              <a:chExt cx="649" cy="959"/>
            </a:xfrm>
          </p:grpSpPr>
          <p:sp>
            <p:nvSpPr>
              <p:cNvPr id="20" name="Freeform 1532"/>
              <p:cNvSpPr>
                <a:spLocks/>
              </p:cNvSpPr>
              <p:nvPr/>
            </p:nvSpPr>
            <p:spPr bwMode="auto">
              <a:xfrm>
                <a:off x="995" y="1653"/>
                <a:ext cx="591" cy="925"/>
              </a:xfrm>
              <a:custGeom>
                <a:avLst/>
                <a:gdLst>
                  <a:gd name="T0" fmla="*/ 590 w 591"/>
                  <a:gd name="T1" fmla="*/ 630 h 925"/>
                  <a:gd name="T2" fmla="*/ 590 w 591"/>
                  <a:gd name="T3" fmla="*/ 0 h 925"/>
                  <a:gd name="T4" fmla="*/ 0 w 591"/>
                  <a:gd name="T5" fmla="*/ 274 h 925"/>
                  <a:gd name="T6" fmla="*/ 0 w 591"/>
                  <a:gd name="T7" fmla="*/ 924 h 925"/>
                  <a:gd name="T8" fmla="*/ 590 w 591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1" h="925">
                    <a:moveTo>
                      <a:pt x="590" y="630"/>
                    </a:moveTo>
                    <a:lnTo>
                      <a:pt x="590" y="0"/>
                    </a:lnTo>
                    <a:lnTo>
                      <a:pt x="0" y="274"/>
                    </a:lnTo>
                    <a:lnTo>
                      <a:pt x="0" y="924"/>
                    </a:lnTo>
                    <a:lnTo>
                      <a:pt x="590" y="630"/>
                    </a:lnTo>
                  </a:path>
                </a:pathLst>
              </a:custGeom>
              <a:solidFill>
                <a:srgbClr val="77777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1" name="Freeform 1533"/>
              <p:cNvSpPr>
                <a:spLocks/>
              </p:cNvSpPr>
              <p:nvPr/>
            </p:nvSpPr>
            <p:spPr bwMode="auto">
              <a:xfrm>
                <a:off x="1024" y="1670"/>
                <a:ext cx="592" cy="925"/>
              </a:xfrm>
              <a:custGeom>
                <a:avLst/>
                <a:gdLst>
                  <a:gd name="T0" fmla="*/ 591 w 592"/>
                  <a:gd name="T1" fmla="*/ 630 h 925"/>
                  <a:gd name="T2" fmla="*/ 591 w 592"/>
                  <a:gd name="T3" fmla="*/ 0 h 925"/>
                  <a:gd name="T4" fmla="*/ 0 w 592"/>
                  <a:gd name="T5" fmla="*/ 273 h 925"/>
                  <a:gd name="T6" fmla="*/ 0 w 592"/>
                  <a:gd name="T7" fmla="*/ 924 h 925"/>
                  <a:gd name="T8" fmla="*/ 591 w 592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2" h="925">
                    <a:moveTo>
                      <a:pt x="591" y="630"/>
                    </a:moveTo>
                    <a:lnTo>
                      <a:pt x="591" y="0"/>
                    </a:lnTo>
                    <a:lnTo>
                      <a:pt x="0" y="273"/>
                    </a:lnTo>
                    <a:lnTo>
                      <a:pt x="0" y="924"/>
                    </a:lnTo>
                    <a:lnTo>
                      <a:pt x="591" y="630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2" name="Freeform 1534"/>
              <p:cNvSpPr>
                <a:spLocks/>
              </p:cNvSpPr>
              <p:nvPr/>
            </p:nvSpPr>
            <p:spPr bwMode="auto">
              <a:xfrm>
                <a:off x="1051" y="1687"/>
                <a:ext cx="593" cy="925"/>
              </a:xfrm>
              <a:custGeom>
                <a:avLst/>
                <a:gdLst>
                  <a:gd name="T0" fmla="*/ 592 w 593"/>
                  <a:gd name="T1" fmla="*/ 630 h 925"/>
                  <a:gd name="T2" fmla="*/ 592 w 593"/>
                  <a:gd name="T3" fmla="*/ 0 h 925"/>
                  <a:gd name="T4" fmla="*/ 0 w 593"/>
                  <a:gd name="T5" fmla="*/ 273 h 925"/>
                  <a:gd name="T6" fmla="*/ 0 w 593"/>
                  <a:gd name="T7" fmla="*/ 924 h 925"/>
                  <a:gd name="T8" fmla="*/ 592 w 593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925">
                    <a:moveTo>
                      <a:pt x="592" y="630"/>
                    </a:moveTo>
                    <a:lnTo>
                      <a:pt x="592" y="0"/>
                    </a:lnTo>
                    <a:lnTo>
                      <a:pt x="0" y="273"/>
                    </a:lnTo>
                    <a:lnTo>
                      <a:pt x="0" y="924"/>
                    </a:lnTo>
                    <a:lnTo>
                      <a:pt x="592" y="630"/>
                    </a:lnTo>
                  </a:path>
                </a:pathLst>
              </a:custGeom>
              <a:solidFill>
                <a:schemeClr val="tx1"/>
              </a:solidFill>
              <a:ln w="12700" cap="rnd" cmpd="sng">
                <a:solidFill>
                  <a:srgbClr val="DDDDDD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3" name="Freeform 1535"/>
              <p:cNvSpPr>
                <a:spLocks/>
              </p:cNvSpPr>
              <p:nvPr/>
            </p:nvSpPr>
            <p:spPr bwMode="auto">
              <a:xfrm>
                <a:off x="1096" y="1775"/>
                <a:ext cx="507" cy="775"/>
              </a:xfrm>
              <a:custGeom>
                <a:avLst/>
                <a:gdLst>
                  <a:gd name="T0" fmla="*/ 506 w 507"/>
                  <a:gd name="T1" fmla="*/ 0 h 775"/>
                  <a:gd name="T2" fmla="*/ 217 w 507"/>
                  <a:gd name="T3" fmla="*/ 133 h 775"/>
                  <a:gd name="T4" fmla="*/ 217 w 507"/>
                  <a:gd name="T5" fmla="*/ 303 h 775"/>
                  <a:gd name="T6" fmla="*/ 0 w 507"/>
                  <a:gd name="T7" fmla="*/ 406 h 775"/>
                  <a:gd name="T8" fmla="*/ 0 w 507"/>
                  <a:gd name="T9" fmla="*/ 774 h 775"/>
                  <a:gd name="T10" fmla="*/ 217 w 507"/>
                  <a:gd name="T11" fmla="*/ 666 h 775"/>
                  <a:gd name="T12" fmla="*/ 217 w 507"/>
                  <a:gd name="T13" fmla="*/ 667 h 775"/>
                  <a:gd name="T14" fmla="*/ 391 w 507"/>
                  <a:gd name="T15" fmla="*/ 580 h 775"/>
                  <a:gd name="T16" fmla="*/ 506 w 507"/>
                  <a:gd name="T17" fmla="*/ 524 h 775"/>
                  <a:gd name="T18" fmla="*/ 506 w 507"/>
                  <a:gd name="T19" fmla="*/ 0 h 7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7" h="775">
                    <a:moveTo>
                      <a:pt x="506" y="0"/>
                    </a:moveTo>
                    <a:lnTo>
                      <a:pt x="217" y="133"/>
                    </a:lnTo>
                    <a:lnTo>
                      <a:pt x="217" y="303"/>
                    </a:lnTo>
                    <a:lnTo>
                      <a:pt x="0" y="406"/>
                    </a:lnTo>
                    <a:lnTo>
                      <a:pt x="0" y="774"/>
                    </a:lnTo>
                    <a:lnTo>
                      <a:pt x="217" y="666"/>
                    </a:lnTo>
                    <a:lnTo>
                      <a:pt x="217" y="667"/>
                    </a:lnTo>
                    <a:lnTo>
                      <a:pt x="391" y="580"/>
                    </a:lnTo>
                    <a:lnTo>
                      <a:pt x="506" y="524"/>
                    </a:lnTo>
                    <a:lnTo>
                      <a:pt x="506" y="0"/>
                    </a:lnTo>
                  </a:path>
                </a:pathLst>
              </a:custGeom>
              <a:solidFill>
                <a:srgbClr val="FFFFD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4" name="Freeform 1536"/>
              <p:cNvSpPr>
                <a:spLocks/>
              </p:cNvSpPr>
              <p:nvPr/>
            </p:nvSpPr>
            <p:spPr bwMode="auto">
              <a:xfrm>
                <a:off x="1096" y="2273"/>
                <a:ext cx="507" cy="277"/>
              </a:xfrm>
              <a:custGeom>
                <a:avLst/>
                <a:gdLst>
                  <a:gd name="T0" fmla="*/ 506 w 507"/>
                  <a:gd name="T1" fmla="*/ 27 h 277"/>
                  <a:gd name="T2" fmla="*/ 506 w 507"/>
                  <a:gd name="T3" fmla="*/ 0 h 277"/>
                  <a:gd name="T4" fmla="*/ 0 w 507"/>
                  <a:gd name="T5" fmla="*/ 242 h 277"/>
                  <a:gd name="T6" fmla="*/ 0 w 507"/>
                  <a:gd name="T7" fmla="*/ 276 h 277"/>
                  <a:gd name="T8" fmla="*/ 506 w 507"/>
                  <a:gd name="T9" fmla="*/ 2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7">
                    <a:moveTo>
                      <a:pt x="506" y="27"/>
                    </a:moveTo>
                    <a:lnTo>
                      <a:pt x="506" y="0"/>
                    </a:lnTo>
                    <a:lnTo>
                      <a:pt x="0" y="242"/>
                    </a:lnTo>
                    <a:lnTo>
                      <a:pt x="0" y="276"/>
                    </a:lnTo>
                    <a:lnTo>
                      <a:pt x="506" y="27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Freeform 1537"/>
              <p:cNvSpPr>
                <a:spLocks/>
              </p:cNvSpPr>
              <p:nvPr/>
            </p:nvSpPr>
            <p:spPr bwMode="auto">
              <a:xfrm>
                <a:off x="1096" y="2213"/>
                <a:ext cx="507" cy="272"/>
              </a:xfrm>
              <a:custGeom>
                <a:avLst/>
                <a:gdLst>
                  <a:gd name="T0" fmla="*/ 506 w 507"/>
                  <a:gd name="T1" fmla="*/ 28 h 272"/>
                  <a:gd name="T2" fmla="*/ 506 w 507"/>
                  <a:gd name="T3" fmla="*/ 0 h 272"/>
                  <a:gd name="T4" fmla="*/ 0 w 507"/>
                  <a:gd name="T5" fmla="*/ 237 h 272"/>
                  <a:gd name="T6" fmla="*/ 0 w 507"/>
                  <a:gd name="T7" fmla="*/ 271 h 272"/>
                  <a:gd name="T8" fmla="*/ 506 w 507"/>
                  <a:gd name="T9" fmla="*/ 2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2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1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6" name="Freeform 1538"/>
              <p:cNvSpPr>
                <a:spLocks/>
              </p:cNvSpPr>
              <p:nvPr/>
            </p:nvSpPr>
            <p:spPr bwMode="auto">
              <a:xfrm>
                <a:off x="1096" y="2147"/>
                <a:ext cx="507" cy="273"/>
              </a:xfrm>
              <a:custGeom>
                <a:avLst/>
                <a:gdLst>
                  <a:gd name="T0" fmla="*/ 506 w 507"/>
                  <a:gd name="T1" fmla="*/ 28 h 273"/>
                  <a:gd name="T2" fmla="*/ 506 w 507"/>
                  <a:gd name="T3" fmla="*/ 0 h 273"/>
                  <a:gd name="T4" fmla="*/ 0 w 507"/>
                  <a:gd name="T5" fmla="*/ 238 h 273"/>
                  <a:gd name="T6" fmla="*/ 0 w 507"/>
                  <a:gd name="T7" fmla="*/ 272 h 273"/>
                  <a:gd name="T8" fmla="*/ 506 w 507"/>
                  <a:gd name="T9" fmla="*/ 28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3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8"/>
                    </a:lnTo>
                    <a:lnTo>
                      <a:pt x="0" y="272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Freeform 1539"/>
              <p:cNvSpPr>
                <a:spLocks/>
              </p:cNvSpPr>
              <p:nvPr/>
            </p:nvSpPr>
            <p:spPr bwMode="auto">
              <a:xfrm>
                <a:off x="1096" y="2083"/>
                <a:ext cx="507" cy="272"/>
              </a:xfrm>
              <a:custGeom>
                <a:avLst/>
                <a:gdLst>
                  <a:gd name="T0" fmla="*/ 506 w 507"/>
                  <a:gd name="T1" fmla="*/ 28 h 272"/>
                  <a:gd name="T2" fmla="*/ 506 w 507"/>
                  <a:gd name="T3" fmla="*/ 0 h 272"/>
                  <a:gd name="T4" fmla="*/ 0 w 507"/>
                  <a:gd name="T5" fmla="*/ 237 h 272"/>
                  <a:gd name="T6" fmla="*/ 0 w 507"/>
                  <a:gd name="T7" fmla="*/ 271 h 272"/>
                  <a:gd name="T8" fmla="*/ 506 w 507"/>
                  <a:gd name="T9" fmla="*/ 2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2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1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8" name="Freeform 1540"/>
              <p:cNvSpPr>
                <a:spLocks/>
              </p:cNvSpPr>
              <p:nvPr/>
            </p:nvSpPr>
            <p:spPr bwMode="auto">
              <a:xfrm>
                <a:off x="1096" y="1947"/>
                <a:ext cx="507" cy="273"/>
              </a:xfrm>
              <a:custGeom>
                <a:avLst/>
                <a:gdLst>
                  <a:gd name="T0" fmla="*/ 506 w 507"/>
                  <a:gd name="T1" fmla="*/ 32 h 273"/>
                  <a:gd name="T2" fmla="*/ 506 w 507"/>
                  <a:gd name="T3" fmla="*/ 0 h 273"/>
                  <a:gd name="T4" fmla="*/ 0 w 507"/>
                  <a:gd name="T5" fmla="*/ 237 h 273"/>
                  <a:gd name="T6" fmla="*/ 0 w 507"/>
                  <a:gd name="T7" fmla="*/ 272 h 273"/>
                  <a:gd name="T8" fmla="*/ 506 w 507"/>
                  <a:gd name="T9" fmla="*/ 32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3">
                    <a:moveTo>
                      <a:pt x="506" y="32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2"/>
                    </a:lnTo>
                    <a:lnTo>
                      <a:pt x="506" y="32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9" name="Freeform 1541"/>
              <p:cNvSpPr>
                <a:spLocks/>
              </p:cNvSpPr>
              <p:nvPr/>
            </p:nvSpPr>
            <p:spPr bwMode="auto">
              <a:xfrm>
                <a:off x="1096" y="2013"/>
                <a:ext cx="507" cy="276"/>
              </a:xfrm>
              <a:custGeom>
                <a:avLst/>
                <a:gdLst>
                  <a:gd name="T0" fmla="*/ 506 w 507"/>
                  <a:gd name="T1" fmla="*/ 32 h 276"/>
                  <a:gd name="T2" fmla="*/ 506 w 507"/>
                  <a:gd name="T3" fmla="*/ 0 h 276"/>
                  <a:gd name="T4" fmla="*/ 0 w 507"/>
                  <a:gd name="T5" fmla="*/ 238 h 276"/>
                  <a:gd name="T6" fmla="*/ 0 w 507"/>
                  <a:gd name="T7" fmla="*/ 275 h 276"/>
                  <a:gd name="T8" fmla="*/ 506 w 507"/>
                  <a:gd name="T9" fmla="*/ 32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6">
                    <a:moveTo>
                      <a:pt x="506" y="32"/>
                    </a:moveTo>
                    <a:lnTo>
                      <a:pt x="506" y="0"/>
                    </a:lnTo>
                    <a:lnTo>
                      <a:pt x="0" y="238"/>
                    </a:lnTo>
                    <a:lnTo>
                      <a:pt x="0" y="275"/>
                    </a:lnTo>
                    <a:lnTo>
                      <a:pt x="506" y="32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0" name="Line 1542"/>
              <p:cNvSpPr>
                <a:spLocks noChangeShapeType="1"/>
              </p:cNvSpPr>
              <p:nvPr/>
            </p:nvSpPr>
            <p:spPr bwMode="auto">
              <a:xfrm>
                <a:off x="1346" y="1895"/>
                <a:ext cx="0" cy="53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1" name="Line 1543"/>
              <p:cNvSpPr>
                <a:spLocks noChangeShapeType="1"/>
              </p:cNvSpPr>
              <p:nvPr/>
            </p:nvSpPr>
            <p:spPr bwMode="auto">
              <a:xfrm flipH="1">
                <a:off x="1342" y="1896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2" name="Line 1544"/>
              <p:cNvSpPr>
                <a:spLocks noChangeShapeType="1"/>
              </p:cNvSpPr>
              <p:nvPr/>
            </p:nvSpPr>
            <p:spPr bwMode="auto">
              <a:xfrm>
                <a:off x="1342" y="2425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3" name="Line 1545"/>
              <p:cNvSpPr>
                <a:spLocks noChangeShapeType="1"/>
              </p:cNvSpPr>
              <p:nvPr/>
            </p:nvSpPr>
            <p:spPr bwMode="auto">
              <a:xfrm>
                <a:off x="1376" y="1884"/>
                <a:ext cx="0" cy="528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4" name="Line 1546"/>
              <p:cNvSpPr>
                <a:spLocks noChangeShapeType="1"/>
              </p:cNvSpPr>
              <p:nvPr/>
            </p:nvSpPr>
            <p:spPr bwMode="auto">
              <a:xfrm flipH="1">
                <a:off x="1374" y="1884"/>
                <a:ext cx="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5" name="Line 1547"/>
              <p:cNvSpPr>
                <a:spLocks noChangeShapeType="1"/>
              </p:cNvSpPr>
              <p:nvPr/>
            </p:nvSpPr>
            <p:spPr bwMode="auto">
              <a:xfrm>
                <a:off x="1374" y="2412"/>
                <a:ext cx="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6" name="Line 1548"/>
              <p:cNvSpPr>
                <a:spLocks noChangeShapeType="1"/>
              </p:cNvSpPr>
              <p:nvPr/>
            </p:nvSpPr>
            <p:spPr bwMode="auto">
              <a:xfrm>
                <a:off x="1408" y="1868"/>
                <a:ext cx="0" cy="53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7" name="Line 1549"/>
              <p:cNvSpPr>
                <a:spLocks noChangeShapeType="1"/>
              </p:cNvSpPr>
              <p:nvPr/>
            </p:nvSpPr>
            <p:spPr bwMode="auto">
              <a:xfrm flipH="1">
                <a:off x="1405" y="1868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8" name="Line 1550"/>
              <p:cNvSpPr>
                <a:spLocks noChangeShapeType="1"/>
              </p:cNvSpPr>
              <p:nvPr/>
            </p:nvSpPr>
            <p:spPr bwMode="auto">
              <a:xfrm>
                <a:off x="1405" y="2398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9" name="Line 1551"/>
              <p:cNvSpPr>
                <a:spLocks noChangeShapeType="1"/>
              </p:cNvSpPr>
              <p:nvPr/>
            </p:nvSpPr>
            <p:spPr bwMode="auto">
              <a:xfrm>
                <a:off x="1438" y="1855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0" name="Line 1552"/>
              <p:cNvSpPr>
                <a:spLocks noChangeShapeType="1"/>
              </p:cNvSpPr>
              <p:nvPr/>
            </p:nvSpPr>
            <p:spPr bwMode="auto">
              <a:xfrm flipH="1">
                <a:off x="1436" y="1855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1" name="Line 1553"/>
              <p:cNvSpPr>
                <a:spLocks noChangeShapeType="1"/>
              </p:cNvSpPr>
              <p:nvPr/>
            </p:nvSpPr>
            <p:spPr bwMode="auto">
              <a:xfrm>
                <a:off x="1436" y="2380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2" name="Line 1554"/>
              <p:cNvSpPr>
                <a:spLocks noChangeShapeType="1"/>
              </p:cNvSpPr>
              <p:nvPr/>
            </p:nvSpPr>
            <p:spPr bwMode="auto">
              <a:xfrm>
                <a:off x="1470" y="1840"/>
                <a:ext cx="0" cy="524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3" name="Line 1555"/>
              <p:cNvSpPr>
                <a:spLocks noChangeShapeType="1"/>
              </p:cNvSpPr>
              <p:nvPr/>
            </p:nvSpPr>
            <p:spPr bwMode="auto">
              <a:xfrm flipH="1">
                <a:off x="1466" y="1840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Line 1556"/>
              <p:cNvSpPr>
                <a:spLocks noChangeShapeType="1"/>
              </p:cNvSpPr>
              <p:nvPr/>
            </p:nvSpPr>
            <p:spPr bwMode="auto">
              <a:xfrm>
                <a:off x="1466" y="2364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Line 1557"/>
              <p:cNvSpPr>
                <a:spLocks noChangeShapeType="1"/>
              </p:cNvSpPr>
              <p:nvPr/>
            </p:nvSpPr>
            <p:spPr bwMode="auto">
              <a:xfrm>
                <a:off x="1501" y="1826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6" name="Line 1558"/>
              <p:cNvSpPr>
                <a:spLocks noChangeShapeType="1"/>
              </p:cNvSpPr>
              <p:nvPr/>
            </p:nvSpPr>
            <p:spPr bwMode="auto">
              <a:xfrm flipH="1">
                <a:off x="1497" y="1826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7" name="Line 1559"/>
              <p:cNvSpPr>
                <a:spLocks noChangeShapeType="1"/>
              </p:cNvSpPr>
              <p:nvPr/>
            </p:nvSpPr>
            <p:spPr bwMode="auto">
              <a:xfrm>
                <a:off x="1497" y="2351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8" name="Line 1560"/>
              <p:cNvSpPr>
                <a:spLocks noChangeShapeType="1"/>
              </p:cNvSpPr>
              <p:nvPr/>
            </p:nvSpPr>
            <p:spPr bwMode="auto">
              <a:xfrm>
                <a:off x="1535" y="1808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9" name="Line 1561"/>
              <p:cNvSpPr>
                <a:spLocks noChangeShapeType="1"/>
              </p:cNvSpPr>
              <p:nvPr/>
            </p:nvSpPr>
            <p:spPr bwMode="auto">
              <a:xfrm flipH="1">
                <a:off x="1531" y="1808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Line 1562"/>
              <p:cNvSpPr>
                <a:spLocks noChangeShapeType="1"/>
              </p:cNvSpPr>
              <p:nvPr/>
            </p:nvSpPr>
            <p:spPr bwMode="auto">
              <a:xfrm>
                <a:off x="1531" y="2333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1" name="Line 1563"/>
              <p:cNvSpPr>
                <a:spLocks noChangeShapeType="1"/>
              </p:cNvSpPr>
              <p:nvPr/>
            </p:nvSpPr>
            <p:spPr bwMode="auto">
              <a:xfrm>
                <a:off x="1567" y="1793"/>
                <a:ext cx="0" cy="523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2" name="Line 1564"/>
              <p:cNvSpPr>
                <a:spLocks noChangeShapeType="1"/>
              </p:cNvSpPr>
              <p:nvPr/>
            </p:nvSpPr>
            <p:spPr bwMode="auto">
              <a:xfrm flipH="1">
                <a:off x="1563" y="1793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3" name="Line 1565"/>
              <p:cNvSpPr>
                <a:spLocks noChangeShapeType="1"/>
              </p:cNvSpPr>
              <p:nvPr/>
            </p:nvSpPr>
            <p:spPr bwMode="auto">
              <a:xfrm>
                <a:off x="1563" y="2316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4" name="Line 1566"/>
              <p:cNvSpPr>
                <a:spLocks noChangeShapeType="1"/>
              </p:cNvSpPr>
              <p:nvPr/>
            </p:nvSpPr>
            <p:spPr bwMode="auto">
              <a:xfrm flipV="1">
                <a:off x="1096" y="1977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5" name="Line 1567"/>
              <p:cNvSpPr>
                <a:spLocks noChangeShapeType="1"/>
              </p:cNvSpPr>
              <p:nvPr/>
            </p:nvSpPr>
            <p:spPr bwMode="auto">
              <a:xfrm>
                <a:off x="1094" y="2215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6" name="Line 1568"/>
              <p:cNvSpPr>
                <a:spLocks noChangeShapeType="1"/>
              </p:cNvSpPr>
              <p:nvPr/>
            </p:nvSpPr>
            <p:spPr bwMode="auto">
              <a:xfrm flipH="1" flipV="1">
                <a:off x="1601" y="1972"/>
                <a:ext cx="2" cy="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Line 1569"/>
              <p:cNvSpPr>
                <a:spLocks noChangeShapeType="1"/>
              </p:cNvSpPr>
              <p:nvPr/>
            </p:nvSpPr>
            <p:spPr bwMode="auto">
              <a:xfrm flipV="1">
                <a:off x="1096" y="2010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8" name="Line 1570"/>
              <p:cNvSpPr>
                <a:spLocks noChangeShapeType="1"/>
              </p:cNvSpPr>
              <p:nvPr/>
            </p:nvSpPr>
            <p:spPr bwMode="auto">
              <a:xfrm>
                <a:off x="1094" y="2248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9" name="Line 1571"/>
              <p:cNvSpPr>
                <a:spLocks noChangeShapeType="1"/>
              </p:cNvSpPr>
              <p:nvPr/>
            </p:nvSpPr>
            <p:spPr bwMode="auto">
              <a:xfrm flipH="1" flipV="1">
                <a:off x="1601" y="2004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0" name="Line 1572"/>
              <p:cNvSpPr>
                <a:spLocks noChangeShapeType="1"/>
              </p:cNvSpPr>
              <p:nvPr/>
            </p:nvSpPr>
            <p:spPr bwMode="auto">
              <a:xfrm flipV="1">
                <a:off x="1096" y="2039"/>
                <a:ext cx="506" cy="241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1" name="Line 1573"/>
              <p:cNvSpPr>
                <a:spLocks noChangeShapeType="1"/>
              </p:cNvSpPr>
              <p:nvPr/>
            </p:nvSpPr>
            <p:spPr bwMode="auto">
              <a:xfrm>
                <a:off x="1094" y="2280"/>
                <a:ext cx="1" cy="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2" name="Line 1574"/>
              <p:cNvSpPr>
                <a:spLocks noChangeShapeType="1"/>
              </p:cNvSpPr>
              <p:nvPr/>
            </p:nvSpPr>
            <p:spPr bwMode="auto">
              <a:xfrm flipH="1" flipV="1">
                <a:off x="1601" y="203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3" name="Line 1575"/>
              <p:cNvSpPr>
                <a:spLocks noChangeShapeType="1"/>
              </p:cNvSpPr>
              <p:nvPr/>
            </p:nvSpPr>
            <p:spPr bwMode="auto">
              <a:xfrm flipV="1">
                <a:off x="1096" y="2077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4" name="Line 1576"/>
              <p:cNvSpPr>
                <a:spLocks noChangeShapeType="1"/>
              </p:cNvSpPr>
              <p:nvPr/>
            </p:nvSpPr>
            <p:spPr bwMode="auto">
              <a:xfrm>
                <a:off x="1094" y="2317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5" name="Line 1577"/>
              <p:cNvSpPr>
                <a:spLocks noChangeShapeType="1"/>
              </p:cNvSpPr>
              <p:nvPr/>
            </p:nvSpPr>
            <p:spPr bwMode="auto">
              <a:xfrm flipH="1" flipV="1">
                <a:off x="1601" y="2074"/>
                <a:ext cx="2" cy="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6" name="Line 1578"/>
              <p:cNvSpPr>
                <a:spLocks noChangeShapeType="1"/>
              </p:cNvSpPr>
              <p:nvPr/>
            </p:nvSpPr>
            <p:spPr bwMode="auto">
              <a:xfrm flipV="1">
                <a:off x="1096" y="2113"/>
                <a:ext cx="506" cy="24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7" name="Line 1579"/>
              <p:cNvSpPr>
                <a:spLocks noChangeShapeType="1"/>
              </p:cNvSpPr>
              <p:nvPr/>
            </p:nvSpPr>
            <p:spPr bwMode="auto">
              <a:xfrm>
                <a:off x="1094" y="2351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8" name="Line 1580"/>
              <p:cNvSpPr>
                <a:spLocks noChangeShapeType="1"/>
              </p:cNvSpPr>
              <p:nvPr/>
            </p:nvSpPr>
            <p:spPr bwMode="auto">
              <a:xfrm flipH="1" flipV="1">
                <a:off x="1601" y="210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9" name="Line 1581"/>
              <p:cNvSpPr>
                <a:spLocks noChangeShapeType="1"/>
              </p:cNvSpPr>
              <p:nvPr/>
            </p:nvSpPr>
            <p:spPr bwMode="auto">
              <a:xfrm flipV="1">
                <a:off x="1096" y="2143"/>
                <a:ext cx="506" cy="243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0" name="Line 1582"/>
              <p:cNvSpPr>
                <a:spLocks noChangeShapeType="1"/>
              </p:cNvSpPr>
              <p:nvPr/>
            </p:nvSpPr>
            <p:spPr bwMode="auto">
              <a:xfrm>
                <a:off x="1094" y="2385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Line 1583"/>
              <p:cNvSpPr>
                <a:spLocks noChangeShapeType="1"/>
              </p:cNvSpPr>
              <p:nvPr/>
            </p:nvSpPr>
            <p:spPr bwMode="auto">
              <a:xfrm flipH="1" flipV="1">
                <a:off x="1601" y="2140"/>
                <a:ext cx="2" cy="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Line 1584"/>
              <p:cNvSpPr>
                <a:spLocks noChangeShapeType="1"/>
              </p:cNvSpPr>
              <p:nvPr/>
            </p:nvSpPr>
            <p:spPr bwMode="auto">
              <a:xfrm flipV="1">
                <a:off x="1096" y="2175"/>
                <a:ext cx="506" cy="246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Line 1585"/>
              <p:cNvSpPr>
                <a:spLocks noChangeShapeType="1"/>
              </p:cNvSpPr>
              <p:nvPr/>
            </p:nvSpPr>
            <p:spPr bwMode="auto">
              <a:xfrm>
                <a:off x="1094" y="2419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Line 1586"/>
              <p:cNvSpPr>
                <a:spLocks noChangeShapeType="1"/>
              </p:cNvSpPr>
              <p:nvPr/>
            </p:nvSpPr>
            <p:spPr bwMode="auto">
              <a:xfrm flipH="1" flipV="1">
                <a:off x="1601" y="2173"/>
                <a:ext cx="2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Line 1587"/>
              <p:cNvSpPr>
                <a:spLocks noChangeShapeType="1"/>
              </p:cNvSpPr>
              <p:nvPr/>
            </p:nvSpPr>
            <p:spPr bwMode="auto">
              <a:xfrm flipV="1">
                <a:off x="1096" y="2210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6" name="Line 1588"/>
              <p:cNvSpPr>
                <a:spLocks noChangeShapeType="1"/>
              </p:cNvSpPr>
              <p:nvPr/>
            </p:nvSpPr>
            <p:spPr bwMode="auto">
              <a:xfrm>
                <a:off x="1094" y="2449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7" name="Line 1589"/>
              <p:cNvSpPr>
                <a:spLocks noChangeShapeType="1"/>
              </p:cNvSpPr>
              <p:nvPr/>
            </p:nvSpPr>
            <p:spPr bwMode="auto">
              <a:xfrm flipH="1" flipV="1">
                <a:off x="1601" y="2203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8" name="Line 1590"/>
              <p:cNvSpPr>
                <a:spLocks noChangeShapeType="1"/>
              </p:cNvSpPr>
              <p:nvPr/>
            </p:nvSpPr>
            <p:spPr bwMode="auto">
              <a:xfrm flipV="1">
                <a:off x="1096" y="2244"/>
                <a:ext cx="506" cy="24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9" name="Line 1591"/>
              <p:cNvSpPr>
                <a:spLocks noChangeShapeType="1"/>
              </p:cNvSpPr>
              <p:nvPr/>
            </p:nvSpPr>
            <p:spPr bwMode="auto">
              <a:xfrm>
                <a:off x="1094" y="2482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0" name="Line 1592"/>
              <p:cNvSpPr>
                <a:spLocks noChangeShapeType="1"/>
              </p:cNvSpPr>
              <p:nvPr/>
            </p:nvSpPr>
            <p:spPr bwMode="auto">
              <a:xfrm flipH="1" flipV="1">
                <a:off x="1601" y="2238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1" name="Line 1593"/>
              <p:cNvSpPr>
                <a:spLocks noChangeShapeType="1"/>
              </p:cNvSpPr>
              <p:nvPr/>
            </p:nvSpPr>
            <p:spPr bwMode="auto">
              <a:xfrm flipV="1">
                <a:off x="1096" y="2273"/>
                <a:ext cx="506" cy="244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2" name="Line 1594"/>
              <p:cNvSpPr>
                <a:spLocks noChangeShapeType="1"/>
              </p:cNvSpPr>
              <p:nvPr/>
            </p:nvSpPr>
            <p:spPr bwMode="auto">
              <a:xfrm>
                <a:off x="1094" y="2516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3" name="Line 1595"/>
              <p:cNvSpPr>
                <a:spLocks noChangeShapeType="1"/>
              </p:cNvSpPr>
              <p:nvPr/>
            </p:nvSpPr>
            <p:spPr bwMode="auto">
              <a:xfrm flipH="1" flipV="1">
                <a:off x="1601" y="226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4" name="Freeform 1596"/>
              <p:cNvSpPr>
                <a:spLocks/>
              </p:cNvSpPr>
              <p:nvPr/>
            </p:nvSpPr>
            <p:spPr bwMode="auto">
              <a:xfrm>
                <a:off x="1314" y="1775"/>
                <a:ext cx="289" cy="668"/>
              </a:xfrm>
              <a:custGeom>
                <a:avLst/>
                <a:gdLst>
                  <a:gd name="T0" fmla="*/ 288 w 289"/>
                  <a:gd name="T1" fmla="*/ 523 h 668"/>
                  <a:gd name="T2" fmla="*/ 288 w 289"/>
                  <a:gd name="T3" fmla="*/ 0 h 668"/>
                  <a:gd name="T4" fmla="*/ 0 w 289"/>
                  <a:gd name="T5" fmla="*/ 133 h 668"/>
                  <a:gd name="T6" fmla="*/ 0 w 289"/>
                  <a:gd name="T7" fmla="*/ 667 h 668"/>
                  <a:gd name="T8" fmla="*/ 288 w 289"/>
                  <a:gd name="T9" fmla="*/ 523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9" h="668">
                    <a:moveTo>
                      <a:pt x="288" y="523"/>
                    </a:moveTo>
                    <a:lnTo>
                      <a:pt x="288" y="0"/>
                    </a:lnTo>
                    <a:lnTo>
                      <a:pt x="0" y="133"/>
                    </a:lnTo>
                    <a:lnTo>
                      <a:pt x="0" y="667"/>
                    </a:lnTo>
                    <a:lnTo>
                      <a:pt x="288" y="523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5" name="Freeform 1597"/>
              <p:cNvSpPr>
                <a:spLocks/>
              </p:cNvSpPr>
              <p:nvPr/>
            </p:nvSpPr>
            <p:spPr bwMode="auto">
              <a:xfrm>
                <a:off x="1096" y="1947"/>
                <a:ext cx="507" cy="603"/>
              </a:xfrm>
              <a:custGeom>
                <a:avLst/>
                <a:gdLst>
                  <a:gd name="T0" fmla="*/ 506 w 507"/>
                  <a:gd name="T1" fmla="*/ 353 h 603"/>
                  <a:gd name="T2" fmla="*/ 506 w 507"/>
                  <a:gd name="T3" fmla="*/ 0 h 603"/>
                  <a:gd name="T4" fmla="*/ 0 w 507"/>
                  <a:gd name="T5" fmla="*/ 237 h 603"/>
                  <a:gd name="T6" fmla="*/ 0 w 507"/>
                  <a:gd name="T7" fmla="*/ 602 h 603"/>
                  <a:gd name="T8" fmla="*/ 506 w 507"/>
                  <a:gd name="T9" fmla="*/ 353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603">
                    <a:moveTo>
                      <a:pt x="506" y="353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602"/>
                    </a:lnTo>
                    <a:lnTo>
                      <a:pt x="506" y="353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152" name="Text Box 1598"/>
          <p:cNvSpPr txBox="1">
            <a:spLocks noChangeArrowheads="1"/>
          </p:cNvSpPr>
          <p:nvPr/>
        </p:nvSpPr>
        <p:spPr bwMode="auto">
          <a:xfrm>
            <a:off x="5516744" y="1001448"/>
            <a:ext cx="2249488" cy="257175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Proactive Service</a:t>
            </a:r>
          </a:p>
        </p:txBody>
      </p:sp>
      <p:grpSp>
        <p:nvGrpSpPr>
          <p:cNvPr id="153" name="Group 1599"/>
          <p:cNvGrpSpPr>
            <a:grpSpLocks/>
          </p:cNvGrpSpPr>
          <p:nvPr/>
        </p:nvGrpSpPr>
        <p:grpSpPr bwMode="auto">
          <a:xfrm>
            <a:off x="5040494" y="942711"/>
            <a:ext cx="3028950" cy="352425"/>
            <a:chOff x="2091" y="3079"/>
            <a:chExt cx="1516" cy="306"/>
          </a:xfrm>
        </p:grpSpPr>
        <p:sp>
          <p:nvSpPr>
            <p:cNvPr id="154" name="Line 1600"/>
            <p:cNvSpPr>
              <a:spLocks noChangeShapeType="1"/>
            </p:cNvSpPr>
            <p:nvPr/>
          </p:nvSpPr>
          <p:spPr bwMode="auto">
            <a:xfrm rot="5400000">
              <a:off x="1938" y="3232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155" name="Line 1601"/>
            <p:cNvSpPr>
              <a:spLocks noChangeShapeType="1"/>
            </p:cNvSpPr>
            <p:nvPr/>
          </p:nvSpPr>
          <p:spPr bwMode="auto">
            <a:xfrm rot="5400000">
              <a:off x="3454" y="3232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</p:grpSp>
      <p:sp>
        <p:nvSpPr>
          <p:cNvPr id="156" name="Line 1602"/>
          <p:cNvSpPr>
            <a:spLocks noChangeShapeType="1"/>
          </p:cNvSpPr>
          <p:nvPr/>
        </p:nvSpPr>
        <p:spPr bwMode="auto">
          <a:xfrm rot="5400000">
            <a:off x="8320078" y="4561417"/>
            <a:ext cx="312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57" name="Line 1603"/>
          <p:cNvSpPr>
            <a:spLocks noChangeShapeType="1"/>
          </p:cNvSpPr>
          <p:nvPr/>
        </p:nvSpPr>
        <p:spPr bwMode="auto">
          <a:xfrm rot="5400000">
            <a:off x="6234595" y="4561417"/>
            <a:ext cx="312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58" name="Line 1604"/>
          <p:cNvSpPr>
            <a:spLocks noChangeShapeType="1"/>
          </p:cNvSpPr>
          <p:nvPr/>
        </p:nvSpPr>
        <p:spPr bwMode="auto">
          <a:xfrm rot="5400000">
            <a:off x="4149113" y="4561417"/>
            <a:ext cx="312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59" name="Line 1605"/>
          <p:cNvSpPr>
            <a:spLocks noChangeShapeType="1"/>
          </p:cNvSpPr>
          <p:nvPr/>
        </p:nvSpPr>
        <p:spPr bwMode="auto">
          <a:xfrm rot="5400000">
            <a:off x="7276543" y="4561417"/>
            <a:ext cx="312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60" name="Line 1606"/>
          <p:cNvSpPr>
            <a:spLocks noChangeShapeType="1"/>
          </p:cNvSpPr>
          <p:nvPr/>
        </p:nvSpPr>
        <p:spPr bwMode="auto">
          <a:xfrm rot="5400000">
            <a:off x="5191060" y="4561417"/>
            <a:ext cx="312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61" name="Text Box 1607"/>
          <p:cNvSpPr txBox="1">
            <a:spLocks noChangeArrowheads="1"/>
          </p:cNvSpPr>
          <p:nvPr/>
        </p:nvSpPr>
        <p:spPr bwMode="auto">
          <a:xfrm>
            <a:off x="3176769" y="930011"/>
            <a:ext cx="1203325" cy="422275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Rapid</a:t>
            </a:r>
            <a:br>
              <a:rPr lang="en-US" altLang="pt-BR" sz="1200" b="1">
                <a:solidFill>
                  <a:srgbClr val="FF0000"/>
                </a:solidFill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Resolution</a:t>
            </a:r>
          </a:p>
        </p:txBody>
      </p:sp>
      <p:sp>
        <p:nvSpPr>
          <p:cNvPr id="162" name="AutoShape 1608"/>
          <p:cNvSpPr>
            <a:spLocks noChangeArrowheads="1"/>
          </p:cNvSpPr>
          <p:nvPr/>
        </p:nvSpPr>
        <p:spPr bwMode="auto">
          <a:xfrm>
            <a:off x="3807007" y="1395148"/>
            <a:ext cx="5518150" cy="2900363"/>
          </a:xfrm>
          <a:prstGeom prst="roundRect">
            <a:avLst>
              <a:gd name="adj" fmla="val 7134"/>
            </a:avLst>
          </a:prstGeom>
          <a:gradFill rotWithShape="0">
            <a:gsLst>
              <a:gs pos="0">
                <a:srgbClr val="5F5F5F"/>
              </a:gs>
              <a:gs pos="100000">
                <a:srgbClr val="5F5F5F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scene3d>
            <a:camera prst="legacyObliqueTopRight"/>
            <a:lightRig rig="legacyFlat3" dir="b"/>
          </a:scene3d>
          <a:sp3d extrusionH="100000" contourW="12700" prstMaterial="legacyMatte">
            <a:bevelT w="13500" h="13500" prst="angle"/>
            <a:bevelB w="13500" h="13500" prst="angle"/>
            <a:extrusionClr>
              <a:srgbClr val="5F5F5F"/>
            </a:extrusionClr>
            <a:contourClr>
              <a:srgbClr val="5F5F5F"/>
            </a:contourClr>
          </a:sp3d>
          <a:extLst>
            <a:ext uri="{91240B29-F687-4F45-9708-019B960494DF}">
              <a14:hiddenLine xmlns:a14="http://schemas.microsoft.com/office/drawing/2010/main" w="28575">
                <a:noFill/>
                <a:prstDash val="dash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29783" dir="1514402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163" name="AutoShape 1609"/>
          <p:cNvSpPr>
            <a:spLocks noChangeArrowheads="1"/>
          </p:cNvSpPr>
          <p:nvPr/>
        </p:nvSpPr>
        <p:spPr bwMode="auto">
          <a:xfrm flipV="1">
            <a:off x="5008744" y="2290498"/>
            <a:ext cx="4060825" cy="377825"/>
          </a:xfrm>
          <a:prstGeom prst="triangle">
            <a:avLst>
              <a:gd name="adj" fmla="val 51194"/>
            </a:avLst>
          </a:prstGeom>
          <a:gradFill rotWithShape="0">
            <a:gsLst>
              <a:gs pos="0">
                <a:srgbClr val="FFFF66">
                  <a:gamma/>
                  <a:shade val="0"/>
                  <a:invGamma/>
                </a:srgbClr>
              </a:gs>
              <a:gs pos="100000">
                <a:srgbClr val="FFFF6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64" name="AutoShape 1610"/>
          <p:cNvSpPr>
            <a:spLocks noChangeArrowheads="1"/>
          </p:cNvSpPr>
          <p:nvPr/>
        </p:nvSpPr>
        <p:spPr bwMode="auto">
          <a:xfrm>
            <a:off x="4978582" y="1487223"/>
            <a:ext cx="4114800" cy="817563"/>
          </a:xfrm>
          <a:prstGeom prst="roundRect">
            <a:avLst>
              <a:gd name="adj" fmla="val 7394"/>
            </a:avLst>
          </a:prstGeom>
          <a:gradFill rotWithShape="0">
            <a:gsLst>
              <a:gs pos="0">
                <a:srgbClr val="0066CC"/>
              </a:gs>
              <a:gs pos="100000">
                <a:srgbClr val="0066CC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3366FF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65" name="AutoShape 1611"/>
          <p:cNvSpPr>
            <a:spLocks noChangeArrowheads="1"/>
          </p:cNvSpPr>
          <p:nvPr/>
        </p:nvSpPr>
        <p:spPr bwMode="auto">
          <a:xfrm>
            <a:off x="5086532" y="1522148"/>
            <a:ext cx="1246187" cy="292100"/>
          </a:xfrm>
          <a:prstGeom prst="roundRect">
            <a:avLst>
              <a:gd name="adj" fmla="val 16579"/>
            </a:avLst>
          </a:prstGeom>
          <a:gradFill rotWithShape="0">
            <a:gsLst>
              <a:gs pos="0">
                <a:srgbClr val="EC8C00"/>
              </a:gs>
              <a:gs pos="100000">
                <a:srgbClr val="EC8C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Self-Service</a:t>
            </a:r>
          </a:p>
        </p:txBody>
      </p:sp>
      <p:sp>
        <p:nvSpPr>
          <p:cNvPr id="166" name="AutoShape 1612"/>
          <p:cNvSpPr>
            <a:spLocks noChangeArrowheads="1"/>
          </p:cNvSpPr>
          <p:nvPr/>
        </p:nvSpPr>
        <p:spPr bwMode="auto">
          <a:xfrm>
            <a:off x="7751944" y="1874573"/>
            <a:ext cx="1246188" cy="292100"/>
          </a:xfrm>
          <a:prstGeom prst="roundRect">
            <a:avLst>
              <a:gd name="adj" fmla="val 16579"/>
            </a:avLst>
          </a:prstGeom>
          <a:gradFill rotWithShape="0">
            <a:gsLst>
              <a:gs pos="0">
                <a:srgbClr val="EC8C00"/>
              </a:gs>
              <a:gs pos="100000">
                <a:srgbClr val="EC8C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Depot Repair</a:t>
            </a:r>
          </a:p>
        </p:txBody>
      </p:sp>
      <p:sp>
        <p:nvSpPr>
          <p:cNvPr id="167" name="AutoShape 1613"/>
          <p:cNvSpPr>
            <a:spLocks noChangeArrowheads="1"/>
          </p:cNvSpPr>
          <p:nvPr/>
        </p:nvSpPr>
        <p:spPr bwMode="auto">
          <a:xfrm>
            <a:off x="5086532" y="1874573"/>
            <a:ext cx="1246187" cy="292100"/>
          </a:xfrm>
          <a:prstGeom prst="roundRect">
            <a:avLst>
              <a:gd name="adj" fmla="val 16579"/>
            </a:avLst>
          </a:prstGeom>
          <a:gradFill rotWithShape="0">
            <a:gsLst>
              <a:gs pos="0">
                <a:srgbClr val="EC8C00"/>
              </a:gs>
              <a:gs pos="100000">
                <a:srgbClr val="EC8C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Agent Assisted</a:t>
            </a:r>
          </a:p>
        </p:txBody>
      </p:sp>
      <p:sp>
        <p:nvSpPr>
          <p:cNvPr id="168" name="AutoShape 1614"/>
          <p:cNvSpPr>
            <a:spLocks noChangeArrowheads="1"/>
          </p:cNvSpPr>
          <p:nvPr/>
        </p:nvSpPr>
        <p:spPr bwMode="auto">
          <a:xfrm>
            <a:off x="7751944" y="1522148"/>
            <a:ext cx="1246188" cy="292100"/>
          </a:xfrm>
          <a:prstGeom prst="roundRect">
            <a:avLst>
              <a:gd name="adj" fmla="val 16579"/>
            </a:avLst>
          </a:prstGeom>
          <a:gradFill rotWithShape="0">
            <a:gsLst>
              <a:gs pos="0">
                <a:srgbClr val="EC8C00"/>
              </a:gs>
              <a:gs pos="100000">
                <a:srgbClr val="EC8C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Field Service</a:t>
            </a:r>
          </a:p>
        </p:txBody>
      </p:sp>
      <p:sp>
        <p:nvSpPr>
          <p:cNvPr id="169" name="Freeform 1615"/>
          <p:cNvSpPr>
            <a:spLocks/>
          </p:cNvSpPr>
          <p:nvPr/>
        </p:nvSpPr>
        <p:spPr bwMode="auto">
          <a:xfrm rot="21575731">
            <a:off x="5343707" y="2690548"/>
            <a:ext cx="960437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70" name="Freeform 1616"/>
          <p:cNvSpPr>
            <a:spLocks/>
          </p:cNvSpPr>
          <p:nvPr/>
        </p:nvSpPr>
        <p:spPr bwMode="auto">
          <a:xfrm rot="21575731">
            <a:off x="4602344" y="2690548"/>
            <a:ext cx="958850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71" name="Text Box 1617"/>
          <p:cNvSpPr txBox="1">
            <a:spLocks noChangeArrowheads="1"/>
          </p:cNvSpPr>
          <p:nvPr/>
        </p:nvSpPr>
        <p:spPr bwMode="auto">
          <a:xfrm>
            <a:off x="4775382" y="3047736"/>
            <a:ext cx="7842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Analyze</a:t>
            </a:r>
          </a:p>
        </p:txBody>
      </p:sp>
      <p:sp>
        <p:nvSpPr>
          <p:cNvPr id="172" name="Freeform 1618"/>
          <p:cNvSpPr>
            <a:spLocks/>
          </p:cNvSpPr>
          <p:nvPr/>
        </p:nvSpPr>
        <p:spPr bwMode="auto">
          <a:xfrm rot="21575731">
            <a:off x="6083482" y="2690548"/>
            <a:ext cx="957262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73" name="Freeform 1619"/>
          <p:cNvSpPr>
            <a:spLocks/>
          </p:cNvSpPr>
          <p:nvPr/>
        </p:nvSpPr>
        <p:spPr bwMode="auto">
          <a:xfrm rot="21575731">
            <a:off x="7569382" y="2690548"/>
            <a:ext cx="957262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74" name="Text Box 1620"/>
          <p:cNvSpPr txBox="1">
            <a:spLocks noChangeArrowheads="1"/>
          </p:cNvSpPr>
          <p:nvPr/>
        </p:nvSpPr>
        <p:spPr bwMode="auto">
          <a:xfrm>
            <a:off x="7737657" y="3047736"/>
            <a:ext cx="812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Debrief</a:t>
            </a:r>
          </a:p>
        </p:txBody>
      </p:sp>
      <p:sp>
        <p:nvSpPr>
          <p:cNvPr id="175" name="Freeform 1621"/>
          <p:cNvSpPr>
            <a:spLocks/>
          </p:cNvSpPr>
          <p:nvPr/>
        </p:nvSpPr>
        <p:spPr bwMode="auto">
          <a:xfrm rot="21575731">
            <a:off x="8309157" y="2684198"/>
            <a:ext cx="957262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76" name="Text Box 1622"/>
          <p:cNvSpPr txBox="1">
            <a:spLocks noChangeArrowheads="1"/>
          </p:cNvSpPr>
          <p:nvPr/>
        </p:nvSpPr>
        <p:spPr bwMode="auto">
          <a:xfrm>
            <a:off x="8518707" y="2957248"/>
            <a:ext cx="693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Close</a:t>
            </a:r>
            <a:b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&amp; Bill</a:t>
            </a:r>
          </a:p>
        </p:txBody>
      </p:sp>
      <p:sp>
        <p:nvSpPr>
          <p:cNvPr id="177" name="Freeform 1623"/>
          <p:cNvSpPr>
            <a:spLocks/>
          </p:cNvSpPr>
          <p:nvPr/>
        </p:nvSpPr>
        <p:spPr bwMode="auto">
          <a:xfrm rot="21575731">
            <a:off x="6823257" y="2684198"/>
            <a:ext cx="957262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78" name="Text Box 1624"/>
          <p:cNvSpPr txBox="1">
            <a:spLocks noChangeArrowheads="1"/>
          </p:cNvSpPr>
          <p:nvPr/>
        </p:nvSpPr>
        <p:spPr bwMode="auto">
          <a:xfrm>
            <a:off x="6969307" y="2957248"/>
            <a:ext cx="865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Repair /</a:t>
            </a:r>
            <a:b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Resolve</a:t>
            </a:r>
          </a:p>
        </p:txBody>
      </p:sp>
      <p:sp>
        <p:nvSpPr>
          <p:cNvPr id="179" name="Freeform 1625"/>
          <p:cNvSpPr>
            <a:spLocks/>
          </p:cNvSpPr>
          <p:nvPr/>
        </p:nvSpPr>
        <p:spPr bwMode="auto">
          <a:xfrm rot="21575731">
            <a:off x="3864157" y="2690548"/>
            <a:ext cx="957262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80" name="Text Box 1626"/>
          <p:cNvSpPr txBox="1">
            <a:spLocks noChangeArrowheads="1"/>
          </p:cNvSpPr>
          <p:nvPr/>
        </p:nvSpPr>
        <p:spPr bwMode="auto">
          <a:xfrm>
            <a:off x="3867332" y="2957248"/>
            <a:ext cx="1090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Identify </a:t>
            </a:r>
            <a:b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&amp; Verify</a:t>
            </a:r>
          </a:p>
        </p:txBody>
      </p:sp>
      <p:sp>
        <p:nvSpPr>
          <p:cNvPr id="181" name="AutoShape 1627"/>
          <p:cNvSpPr>
            <a:spLocks noChangeArrowheads="1"/>
          </p:cNvSpPr>
          <p:nvPr/>
        </p:nvSpPr>
        <p:spPr bwMode="auto">
          <a:xfrm>
            <a:off x="5070657" y="3857361"/>
            <a:ext cx="2794000" cy="34607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66CC"/>
              </a:gs>
              <a:gs pos="100000">
                <a:srgbClr val="0066CC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3366FF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82" name="Rectangle 1628"/>
          <p:cNvSpPr>
            <a:spLocks noChangeArrowheads="1"/>
          </p:cNvSpPr>
          <p:nvPr/>
        </p:nvSpPr>
        <p:spPr bwMode="auto">
          <a:xfrm>
            <a:off x="5124632" y="3887523"/>
            <a:ext cx="2681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FF">
                        <a:gamma/>
                        <a:shade val="46275"/>
                        <a:invGamma/>
                      </a:srgbClr>
                    </a:gs>
                    <a:gs pos="100000">
                      <a:srgbClr val="0000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Contract Entitlements / Warranties</a:t>
            </a:r>
          </a:p>
        </p:txBody>
      </p:sp>
      <p:sp>
        <p:nvSpPr>
          <p:cNvPr id="183" name="AutoShape 1629"/>
          <p:cNvSpPr>
            <a:spLocks noChangeArrowheads="1"/>
          </p:cNvSpPr>
          <p:nvPr/>
        </p:nvSpPr>
        <p:spPr bwMode="auto">
          <a:xfrm>
            <a:off x="4126094" y="3301736"/>
            <a:ext cx="2382838" cy="425450"/>
          </a:xfrm>
          <a:prstGeom prst="rightArrow">
            <a:avLst>
              <a:gd name="adj1" fmla="val 50259"/>
              <a:gd name="adj2" fmla="val 35290"/>
            </a:avLst>
          </a:prstGeom>
          <a:noFill/>
          <a:ln>
            <a:noFill/>
          </a:ln>
          <a:effectLst>
            <a:outerShdw blurRad="63500" dist="17961" dir="2700000" algn="ctr" rotWithShape="0">
              <a:schemeClr val="bg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50000">
                      <a:schemeClr val="accent1"/>
                    </a:gs>
                    <a:gs pos="100000">
                      <a:srgbClr val="FF0000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66FF"/>
                </a:solidFill>
                <a:prstDash val="dash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Workflow Automation</a:t>
            </a:r>
          </a:p>
        </p:txBody>
      </p:sp>
      <p:sp>
        <p:nvSpPr>
          <p:cNvPr id="184" name="Line 1630"/>
          <p:cNvSpPr>
            <a:spLocks noChangeShapeType="1"/>
          </p:cNvSpPr>
          <p:nvPr/>
        </p:nvSpPr>
        <p:spPr bwMode="auto">
          <a:xfrm>
            <a:off x="6134282" y="3523986"/>
            <a:ext cx="26908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85" name="Line 1631"/>
          <p:cNvSpPr>
            <a:spLocks noChangeShapeType="1"/>
          </p:cNvSpPr>
          <p:nvPr/>
        </p:nvSpPr>
        <p:spPr bwMode="auto">
          <a:xfrm flipH="1">
            <a:off x="4161019" y="3523986"/>
            <a:ext cx="225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86" name="Text Box 1632"/>
          <p:cNvSpPr txBox="1">
            <a:spLocks noChangeArrowheads="1"/>
          </p:cNvSpPr>
          <p:nvPr/>
        </p:nvSpPr>
        <p:spPr bwMode="auto">
          <a:xfrm>
            <a:off x="5491344" y="3047736"/>
            <a:ext cx="869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Prioritize</a:t>
            </a:r>
          </a:p>
        </p:txBody>
      </p:sp>
      <p:grpSp>
        <p:nvGrpSpPr>
          <p:cNvPr id="187" name="Group 1633"/>
          <p:cNvGrpSpPr>
            <a:grpSpLocks/>
          </p:cNvGrpSpPr>
          <p:nvPr/>
        </p:nvGrpSpPr>
        <p:grpSpPr bwMode="auto">
          <a:xfrm>
            <a:off x="4256269" y="3752586"/>
            <a:ext cx="776288" cy="274637"/>
            <a:chOff x="2173" y="2929"/>
            <a:chExt cx="489" cy="173"/>
          </a:xfrm>
        </p:grpSpPr>
        <p:sp>
          <p:nvSpPr>
            <p:cNvPr id="188" name="Line 1634"/>
            <p:cNvSpPr>
              <a:spLocks noChangeShapeType="1"/>
            </p:cNvSpPr>
            <p:nvPr/>
          </p:nvSpPr>
          <p:spPr bwMode="auto">
            <a:xfrm flipV="1">
              <a:off x="2173" y="3102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189" name="Line 1635"/>
            <p:cNvSpPr>
              <a:spLocks noChangeShapeType="1"/>
            </p:cNvSpPr>
            <p:nvPr/>
          </p:nvSpPr>
          <p:spPr bwMode="auto">
            <a:xfrm>
              <a:off x="2173" y="2929"/>
              <a:ext cx="0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</p:grpSp>
      <p:sp>
        <p:nvSpPr>
          <p:cNvPr id="190" name="Text Box 1636"/>
          <p:cNvSpPr txBox="1">
            <a:spLocks noChangeArrowheads="1"/>
          </p:cNvSpPr>
          <p:nvPr/>
        </p:nvSpPr>
        <p:spPr bwMode="auto">
          <a:xfrm>
            <a:off x="3881619" y="1657086"/>
            <a:ext cx="1111250" cy="422275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Delivery</a:t>
            </a:r>
            <a:br>
              <a:rPr lang="en-US" altLang="pt-BR" sz="1200" b="1">
                <a:solidFill>
                  <a:srgbClr val="FF0000"/>
                </a:solidFill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Options</a:t>
            </a:r>
          </a:p>
        </p:txBody>
      </p:sp>
      <p:sp>
        <p:nvSpPr>
          <p:cNvPr id="191" name="Text Box 1637"/>
          <p:cNvSpPr txBox="1">
            <a:spLocks noChangeArrowheads="1"/>
          </p:cNvSpPr>
          <p:nvPr/>
        </p:nvSpPr>
        <p:spPr bwMode="auto">
          <a:xfrm>
            <a:off x="6175557" y="2957248"/>
            <a:ext cx="985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Plan &amp;</a:t>
            </a:r>
            <a:b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Schedule</a:t>
            </a:r>
          </a:p>
        </p:txBody>
      </p:sp>
      <p:sp>
        <p:nvSpPr>
          <p:cNvPr id="192" name="Rectangle 1638"/>
          <p:cNvSpPr>
            <a:spLocks noChangeArrowheads="1"/>
          </p:cNvSpPr>
          <p:nvPr/>
        </p:nvSpPr>
        <p:spPr bwMode="auto">
          <a:xfrm>
            <a:off x="6237469" y="2112698"/>
            <a:ext cx="157321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FF">
                        <a:gamma/>
                        <a:shade val="46275"/>
                        <a:invGamma/>
                      </a:srgbClr>
                    </a:gs>
                    <a:gs pos="100000">
                      <a:srgbClr val="0000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pPr algn="l">
              <a:lnSpc>
                <a:spcPct val="90000"/>
              </a:lnSpc>
            </a:pPr>
            <a:r>
              <a:rPr lang="en-US" altLang="pt-BR" sz="1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Service Parts Logistics</a:t>
            </a:r>
          </a:p>
        </p:txBody>
      </p:sp>
      <p:sp>
        <p:nvSpPr>
          <p:cNvPr id="193" name="AutoShape 1639"/>
          <p:cNvSpPr>
            <a:spLocks noChangeArrowheads="1"/>
          </p:cNvSpPr>
          <p:nvPr/>
        </p:nvSpPr>
        <p:spPr bwMode="auto">
          <a:xfrm rot="16200000" flipH="1">
            <a:off x="6231913" y="1672167"/>
            <a:ext cx="661988" cy="3048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chemeClr val="accent2"/>
              </a:gs>
              <a:gs pos="100000">
                <a:srgbClr val="0066CC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94" name="AutoShape 1640"/>
          <p:cNvSpPr>
            <a:spLocks noChangeArrowheads="1"/>
          </p:cNvSpPr>
          <p:nvPr/>
        </p:nvSpPr>
        <p:spPr bwMode="auto">
          <a:xfrm>
            <a:off x="2344919" y="1355461"/>
            <a:ext cx="917575" cy="3924300"/>
          </a:xfrm>
          <a:prstGeom prst="roundRect">
            <a:avLst>
              <a:gd name="adj" fmla="val 16023"/>
            </a:avLst>
          </a:prstGeom>
          <a:noFill/>
          <a:ln w="12700">
            <a:solidFill>
              <a:srgbClr val="96969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pic>
        <p:nvPicPr>
          <p:cNvPr id="195" name="Picture 164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532" y="1545961"/>
            <a:ext cx="522287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96" name="Text Box 1642"/>
          <p:cNvSpPr txBox="1">
            <a:spLocks noChangeArrowheads="1"/>
          </p:cNvSpPr>
          <p:nvPr/>
        </p:nvSpPr>
        <p:spPr bwMode="auto">
          <a:xfrm>
            <a:off x="2381432" y="1926961"/>
            <a:ext cx="866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Self-Service</a:t>
            </a:r>
            <a:endParaRPr lang="en-US" altLang="pt-BR" sz="1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197" name="Text Box 1643"/>
          <p:cNvSpPr txBox="1">
            <a:spLocks noChangeArrowheads="1"/>
          </p:cNvSpPr>
          <p:nvPr/>
        </p:nvSpPr>
        <p:spPr bwMode="auto">
          <a:xfrm>
            <a:off x="2459219" y="2995348"/>
            <a:ext cx="735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Email</a:t>
            </a:r>
            <a:endParaRPr lang="en-US" altLang="pt-BR" sz="1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198" name="Text Box 1644"/>
          <p:cNvSpPr txBox="1">
            <a:spLocks noChangeArrowheads="1"/>
          </p:cNvSpPr>
          <p:nvPr/>
        </p:nvSpPr>
        <p:spPr bwMode="auto">
          <a:xfrm>
            <a:off x="2486207" y="3882761"/>
            <a:ext cx="6556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Phone</a:t>
            </a:r>
            <a:endParaRPr lang="en-US" altLang="pt-BR" sz="1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199" name="Text Box 1645"/>
          <p:cNvSpPr txBox="1">
            <a:spLocks noChangeArrowheads="1"/>
          </p:cNvSpPr>
          <p:nvPr/>
        </p:nvSpPr>
        <p:spPr bwMode="auto">
          <a:xfrm>
            <a:off x="2332219" y="4770173"/>
            <a:ext cx="9921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In Person</a:t>
            </a:r>
            <a:endParaRPr lang="en-US" altLang="pt-BR" sz="1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grpSp>
        <p:nvGrpSpPr>
          <p:cNvPr id="200" name="Group 1646"/>
          <p:cNvGrpSpPr>
            <a:grpSpLocks/>
          </p:cNvGrpSpPr>
          <p:nvPr/>
        </p:nvGrpSpPr>
        <p:grpSpPr bwMode="auto">
          <a:xfrm rot="-5400000">
            <a:off x="2990238" y="2748492"/>
            <a:ext cx="1106487" cy="352425"/>
            <a:chOff x="2091" y="3079"/>
            <a:chExt cx="1516" cy="306"/>
          </a:xfrm>
        </p:grpSpPr>
        <p:sp>
          <p:nvSpPr>
            <p:cNvPr id="201" name="Line 1647"/>
            <p:cNvSpPr>
              <a:spLocks noChangeShapeType="1"/>
            </p:cNvSpPr>
            <p:nvPr/>
          </p:nvSpPr>
          <p:spPr bwMode="auto">
            <a:xfrm rot="5400000">
              <a:off x="1938" y="3232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02" name="Line 1648"/>
            <p:cNvSpPr>
              <a:spLocks noChangeShapeType="1"/>
            </p:cNvSpPr>
            <p:nvPr/>
          </p:nvSpPr>
          <p:spPr bwMode="auto">
            <a:xfrm rot="5400000">
              <a:off x="3454" y="3232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</p:grpSp>
      <p:pic>
        <p:nvPicPr>
          <p:cNvPr id="203" name="Picture 1649" descr="C:\Documents and Settings\nmcferra\Application Data\Microsoft\Media Catalog\Downloaded Clips\cl79\j030283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" r="18463"/>
          <a:stretch>
            <a:fillRect/>
          </a:stretch>
        </p:blipFill>
        <p:spPr bwMode="auto">
          <a:xfrm>
            <a:off x="6713719" y="1555486"/>
            <a:ext cx="600075" cy="56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4" name="Group 1650"/>
          <p:cNvGrpSpPr>
            <a:grpSpLocks/>
          </p:cNvGrpSpPr>
          <p:nvPr/>
        </p:nvGrpSpPr>
        <p:grpSpPr bwMode="auto">
          <a:xfrm flipH="1">
            <a:off x="7913869" y="3752586"/>
            <a:ext cx="776288" cy="274637"/>
            <a:chOff x="2269" y="3025"/>
            <a:chExt cx="489" cy="173"/>
          </a:xfrm>
        </p:grpSpPr>
        <p:sp>
          <p:nvSpPr>
            <p:cNvPr id="205" name="Line 1651"/>
            <p:cNvSpPr>
              <a:spLocks noChangeShapeType="1"/>
            </p:cNvSpPr>
            <p:nvPr/>
          </p:nvSpPr>
          <p:spPr bwMode="auto">
            <a:xfrm flipV="1">
              <a:off x="2269" y="3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06" name="Line 1652"/>
            <p:cNvSpPr>
              <a:spLocks noChangeShapeType="1"/>
            </p:cNvSpPr>
            <p:nvPr/>
          </p:nvSpPr>
          <p:spPr bwMode="auto">
            <a:xfrm>
              <a:off x="2269" y="3025"/>
              <a:ext cx="0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</p:grpSp>
      <p:sp>
        <p:nvSpPr>
          <p:cNvPr id="207" name="AutoShape 1653"/>
          <p:cNvSpPr>
            <a:spLocks noChangeArrowheads="1"/>
          </p:cNvSpPr>
          <p:nvPr/>
        </p:nvSpPr>
        <p:spPr bwMode="auto">
          <a:xfrm rot="5400000" flipH="1">
            <a:off x="7159013" y="1672167"/>
            <a:ext cx="661988" cy="3048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0066CC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pic>
        <p:nvPicPr>
          <p:cNvPr id="208" name="Picture 1654" descr="Office: Phone, Voice Mai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944" y="3460486"/>
            <a:ext cx="538163" cy="40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1655" descr="iAS_Icons: Comput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344" y="2439723"/>
            <a:ext cx="504825" cy="57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" name="Text Box 1656"/>
          <p:cNvSpPr txBox="1">
            <a:spLocks noChangeArrowheads="1"/>
          </p:cNvSpPr>
          <p:nvPr/>
        </p:nvSpPr>
        <p:spPr bwMode="auto">
          <a:xfrm>
            <a:off x="2302057" y="1045898"/>
            <a:ext cx="10287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Channels</a:t>
            </a:r>
            <a:endParaRPr lang="en-US" altLang="pt-BR" sz="1200" i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11068693" y="1041136"/>
            <a:ext cx="1028700" cy="4233862"/>
            <a:chOff x="9871257" y="1041136"/>
            <a:chExt cx="1028700" cy="4233862"/>
          </a:xfrm>
        </p:grpSpPr>
        <p:sp>
          <p:nvSpPr>
            <p:cNvPr id="211" name="AutoShape 1657"/>
            <p:cNvSpPr>
              <a:spLocks noChangeArrowheads="1"/>
            </p:cNvSpPr>
            <p:nvPr/>
          </p:nvSpPr>
          <p:spPr bwMode="auto">
            <a:xfrm>
              <a:off x="9926819" y="1350698"/>
              <a:ext cx="917575" cy="3924300"/>
            </a:xfrm>
            <a:prstGeom prst="roundRect">
              <a:avLst>
                <a:gd name="adj" fmla="val 16023"/>
              </a:avLst>
            </a:prstGeom>
            <a:noFill/>
            <a:ln w="12700">
              <a:solidFill>
                <a:srgbClr val="969696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99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12" name="Text Box 1658"/>
            <p:cNvSpPr txBox="1">
              <a:spLocks noChangeArrowheads="1"/>
            </p:cNvSpPr>
            <p:nvPr/>
          </p:nvSpPr>
          <p:spPr bwMode="auto">
            <a:xfrm>
              <a:off x="9871257" y="1041136"/>
              <a:ext cx="1028700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9900FF"/>
                      </a:gs>
                      <a:gs pos="100000">
                        <a:srgbClr val="9900FF">
                          <a:gamma/>
                          <a:shade val="46275"/>
                          <a:invGamma/>
                        </a:srgbClr>
                      </a:gs>
                    </a:gsLst>
                    <a:lin ang="2700000" scaled="1"/>
                  </a:gra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pt-BR" sz="1200" b="1" i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Users</a:t>
              </a:r>
              <a:endParaRPr lang="en-US" altLang="pt-BR" sz="1200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pic>
          <p:nvPicPr>
            <p:cNvPr id="213" name="Picture 1659" descr="confirmorder.gif                                               00115F78Mac HD                         B89FB567: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04619" y="1550723"/>
              <a:ext cx="560388" cy="460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4" name="Picture 1660" descr="C:\Documents and Settings\nmcferra\Application Data\Microsoft\Media Catalog\Downloaded Clips\cl22\j0085506.wmf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82407" y="3308086"/>
              <a:ext cx="407987" cy="511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5" name="Picture 1661" descr="9i-administration.gif                                          00116124Mac HD                         B89FB567: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2394" y="2471473"/>
              <a:ext cx="606425" cy="4873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16" name="Group 1662"/>
            <p:cNvGrpSpPr>
              <a:grpSpLocks/>
            </p:cNvGrpSpPr>
            <p:nvPr/>
          </p:nvGrpSpPr>
          <p:grpSpPr bwMode="auto">
            <a:xfrm>
              <a:off x="10118907" y="4279636"/>
              <a:ext cx="533400" cy="457200"/>
              <a:chOff x="3936" y="2150"/>
              <a:chExt cx="643" cy="850"/>
            </a:xfrm>
          </p:grpSpPr>
          <p:sp>
            <p:nvSpPr>
              <p:cNvPr id="217" name="Freeform 1663"/>
              <p:cNvSpPr>
                <a:spLocks/>
              </p:cNvSpPr>
              <p:nvPr/>
            </p:nvSpPr>
            <p:spPr bwMode="auto">
              <a:xfrm>
                <a:off x="3957" y="2253"/>
                <a:ext cx="622" cy="685"/>
              </a:xfrm>
              <a:custGeom>
                <a:avLst/>
                <a:gdLst>
                  <a:gd name="T0" fmla="*/ 0 w 622"/>
                  <a:gd name="T1" fmla="*/ 41 h 685"/>
                  <a:gd name="T2" fmla="*/ 186 w 622"/>
                  <a:gd name="T3" fmla="*/ 684 h 685"/>
                  <a:gd name="T4" fmla="*/ 621 w 622"/>
                  <a:gd name="T5" fmla="*/ 539 h 685"/>
                  <a:gd name="T6" fmla="*/ 352 w 622"/>
                  <a:gd name="T7" fmla="*/ 0 h 685"/>
                  <a:gd name="T8" fmla="*/ 0 w 622"/>
                  <a:gd name="T9" fmla="*/ 41 h 6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2" h="685">
                    <a:moveTo>
                      <a:pt x="0" y="41"/>
                    </a:moveTo>
                    <a:lnTo>
                      <a:pt x="186" y="684"/>
                    </a:lnTo>
                    <a:lnTo>
                      <a:pt x="621" y="539"/>
                    </a:lnTo>
                    <a:lnTo>
                      <a:pt x="352" y="0"/>
                    </a:lnTo>
                    <a:lnTo>
                      <a:pt x="0" y="41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shade val="49804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333333"/>
                    </a:solidFill>
                    <a:prstDash val="solid"/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18" name="Freeform 1664"/>
              <p:cNvSpPr>
                <a:spLocks/>
              </p:cNvSpPr>
              <p:nvPr/>
            </p:nvSpPr>
            <p:spPr bwMode="auto">
              <a:xfrm>
                <a:off x="3936" y="2295"/>
                <a:ext cx="208" cy="705"/>
              </a:xfrm>
              <a:custGeom>
                <a:avLst/>
                <a:gdLst>
                  <a:gd name="T0" fmla="*/ 21 w 208"/>
                  <a:gd name="T1" fmla="*/ 0 h 705"/>
                  <a:gd name="T2" fmla="*/ 0 w 208"/>
                  <a:gd name="T3" fmla="*/ 41 h 705"/>
                  <a:gd name="T4" fmla="*/ 166 w 208"/>
                  <a:gd name="T5" fmla="*/ 704 h 705"/>
                  <a:gd name="T6" fmla="*/ 207 w 208"/>
                  <a:gd name="T7" fmla="*/ 642 h 705"/>
                  <a:gd name="T8" fmla="*/ 21 w 208"/>
                  <a:gd name="T9" fmla="*/ 0 h 7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8" h="705">
                    <a:moveTo>
                      <a:pt x="21" y="0"/>
                    </a:moveTo>
                    <a:lnTo>
                      <a:pt x="0" y="41"/>
                    </a:lnTo>
                    <a:lnTo>
                      <a:pt x="166" y="704"/>
                    </a:lnTo>
                    <a:lnTo>
                      <a:pt x="207" y="642"/>
                    </a:lnTo>
                    <a:lnTo>
                      <a:pt x="21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shade val="49804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333333"/>
                    </a:solidFill>
                    <a:prstDash val="solid"/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19" name="Freeform 1665"/>
              <p:cNvSpPr>
                <a:spLocks/>
              </p:cNvSpPr>
              <p:nvPr/>
            </p:nvSpPr>
            <p:spPr bwMode="auto">
              <a:xfrm>
                <a:off x="4102" y="2792"/>
                <a:ext cx="477" cy="208"/>
              </a:xfrm>
              <a:custGeom>
                <a:avLst/>
                <a:gdLst>
                  <a:gd name="T0" fmla="*/ 0 w 477"/>
                  <a:gd name="T1" fmla="*/ 207 h 208"/>
                  <a:gd name="T2" fmla="*/ 435 w 477"/>
                  <a:gd name="T3" fmla="*/ 62 h 208"/>
                  <a:gd name="T4" fmla="*/ 476 w 477"/>
                  <a:gd name="T5" fmla="*/ 0 h 208"/>
                  <a:gd name="T6" fmla="*/ 41 w 477"/>
                  <a:gd name="T7" fmla="*/ 145 h 208"/>
                  <a:gd name="T8" fmla="*/ 0 w 477"/>
                  <a:gd name="T9" fmla="*/ 207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7" h="208">
                    <a:moveTo>
                      <a:pt x="0" y="207"/>
                    </a:moveTo>
                    <a:lnTo>
                      <a:pt x="435" y="62"/>
                    </a:lnTo>
                    <a:lnTo>
                      <a:pt x="476" y="0"/>
                    </a:lnTo>
                    <a:lnTo>
                      <a:pt x="41" y="145"/>
                    </a:lnTo>
                    <a:lnTo>
                      <a:pt x="0" y="207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shade val="49804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333333"/>
                    </a:solidFill>
                    <a:prstDash val="solid"/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20" name="Freeform 1666"/>
              <p:cNvSpPr>
                <a:spLocks/>
              </p:cNvSpPr>
              <p:nvPr/>
            </p:nvSpPr>
            <p:spPr bwMode="auto">
              <a:xfrm>
                <a:off x="3998" y="2274"/>
                <a:ext cx="498" cy="540"/>
              </a:xfrm>
              <a:custGeom>
                <a:avLst/>
                <a:gdLst>
                  <a:gd name="T0" fmla="*/ 0 w 498"/>
                  <a:gd name="T1" fmla="*/ 41 h 540"/>
                  <a:gd name="T2" fmla="*/ 124 w 498"/>
                  <a:gd name="T3" fmla="*/ 539 h 540"/>
                  <a:gd name="T4" fmla="*/ 497 w 498"/>
                  <a:gd name="T5" fmla="*/ 415 h 540"/>
                  <a:gd name="T6" fmla="*/ 290 w 498"/>
                  <a:gd name="T7" fmla="*/ 0 h 540"/>
                  <a:gd name="T8" fmla="*/ 0 w 498"/>
                  <a:gd name="T9" fmla="*/ 41 h 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8" h="540">
                    <a:moveTo>
                      <a:pt x="0" y="41"/>
                    </a:moveTo>
                    <a:lnTo>
                      <a:pt x="124" y="539"/>
                    </a:lnTo>
                    <a:lnTo>
                      <a:pt x="497" y="415"/>
                    </a:lnTo>
                    <a:lnTo>
                      <a:pt x="290" y="0"/>
                    </a:lnTo>
                    <a:lnTo>
                      <a:pt x="0" y="41"/>
                    </a:lnTo>
                  </a:path>
                </a:pathLst>
              </a:custGeom>
              <a:gradFill rotWithShape="0">
                <a:gsLst>
                  <a:gs pos="0">
                    <a:srgbClr val="3366FF"/>
                  </a:gs>
                  <a:gs pos="100000">
                    <a:srgbClr val="3366FF">
                      <a:gamma/>
                      <a:shade val="49804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333333"/>
                    </a:solidFill>
                    <a:prstDash val="solid"/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21" name="Freeform 1667"/>
              <p:cNvSpPr>
                <a:spLocks/>
              </p:cNvSpPr>
              <p:nvPr/>
            </p:nvSpPr>
            <p:spPr bwMode="auto">
              <a:xfrm>
                <a:off x="3998" y="2274"/>
                <a:ext cx="498" cy="416"/>
              </a:xfrm>
              <a:custGeom>
                <a:avLst/>
                <a:gdLst>
                  <a:gd name="T0" fmla="*/ 0 w 498"/>
                  <a:gd name="T1" fmla="*/ 41 h 416"/>
                  <a:gd name="T2" fmla="*/ 290 w 498"/>
                  <a:gd name="T3" fmla="*/ 0 h 416"/>
                  <a:gd name="T4" fmla="*/ 497 w 498"/>
                  <a:gd name="T5" fmla="*/ 415 h 416"/>
                  <a:gd name="T6" fmla="*/ 269 w 498"/>
                  <a:gd name="T7" fmla="*/ 21 h 416"/>
                  <a:gd name="T8" fmla="*/ 0 w 498"/>
                  <a:gd name="T9" fmla="*/ 41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8" h="416">
                    <a:moveTo>
                      <a:pt x="0" y="41"/>
                    </a:moveTo>
                    <a:lnTo>
                      <a:pt x="290" y="0"/>
                    </a:lnTo>
                    <a:lnTo>
                      <a:pt x="497" y="415"/>
                    </a:lnTo>
                    <a:lnTo>
                      <a:pt x="269" y="21"/>
                    </a:lnTo>
                    <a:lnTo>
                      <a:pt x="0" y="41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333333"/>
                    </a:solidFill>
                    <a:prstDash val="solid"/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22" name="Freeform 1668"/>
              <p:cNvSpPr>
                <a:spLocks/>
              </p:cNvSpPr>
              <p:nvPr/>
            </p:nvSpPr>
            <p:spPr bwMode="auto">
              <a:xfrm>
                <a:off x="4205" y="2150"/>
                <a:ext cx="126" cy="456"/>
              </a:xfrm>
              <a:custGeom>
                <a:avLst/>
                <a:gdLst>
                  <a:gd name="T0" fmla="*/ 0 w 126"/>
                  <a:gd name="T1" fmla="*/ 0 h 456"/>
                  <a:gd name="T2" fmla="*/ 104 w 126"/>
                  <a:gd name="T3" fmla="*/ 455 h 456"/>
                  <a:gd name="T4" fmla="*/ 125 w 126"/>
                  <a:gd name="T5" fmla="*/ 455 h 456"/>
                  <a:gd name="T6" fmla="*/ 42 w 126"/>
                  <a:gd name="T7" fmla="*/ 0 h 456"/>
                  <a:gd name="T8" fmla="*/ 0 w 126"/>
                  <a:gd name="T9" fmla="*/ 0 h 4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6" h="456">
                    <a:moveTo>
                      <a:pt x="0" y="0"/>
                    </a:moveTo>
                    <a:lnTo>
                      <a:pt x="104" y="455"/>
                    </a:lnTo>
                    <a:lnTo>
                      <a:pt x="125" y="455"/>
                    </a:lnTo>
                    <a:lnTo>
                      <a:pt x="42" y="0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chemeClr val="folHlink">
                      <a:gamma/>
                      <a:shade val="49804"/>
                      <a:invGamma/>
                    </a:schemeClr>
                  </a:gs>
                  <a:gs pos="100000">
                    <a:schemeClr val="folHlink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 cap="rnd" cmpd="sng">
                    <a:solidFill>
                      <a:srgbClr val="333333"/>
                    </a:solidFill>
                    <a:prstDash val="solid"/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23" name="Oval 1669"/>
              <p:cNvSpPr>
                <a:spLocks noChangeArrowheads="1"/>
              </p:cNvSpPr>
              <p:nvPr/>
            </p:nvSpPr>
            <p:spPr bwMode="auto">
              <a:xfrm rot="20580000">
                <a:off x="4178" y="2811"/>
                <a:ext cx="136" cy="49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shade val="2000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33333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24" name="Oval 1670"/>
              <p:cNvSpPr>
                <a:spLocks noChangeArrowheads="1"/>
              </p:cNvSpPr>
              <p:nvPr/>
            </p:nvSpPr>
            <p:spPr bwMode="auto">
              <a:xfrm>
                <a:off x="4378" y="2754"/>
                <a:ext cx="52" cy="52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shade val="2000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33333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25" name="Oval 1671"/>
              <p:cNvSpPr>
                <a:spLocks noChangeArrowheads="1"/>
              </p:cNvSpPr>
              <p:nvPr/>
            </p:nvSpPr>
            <p:spPr bwMode="auto">
              <a:xfrm>
                <a:off x="4445" y="2731"/>
                <a:ext cx="52" cy="52"/>
              </a:xfrm>
              <a:prstGeom prst="ellipse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shade val="20000"/>
                      <a:invGamma/>
                    </a:scheme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rgbClr val="333333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26" name="Text Box 1672"/>
            <p:cNvSpPr txBox="1">
              <a:spLocks noChangeArrowheads="1"/>
            </p:cNvSpPr>
            <p:nvPr/>
          </p:nvSpPr>
          <p:spPr bwMode="auto">
            <a:xfrm>
              <a:off x="9952219" y="2017448"/>
              <a:ext cx="866775" cy="2746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9900FF"/>
                      </a:gs>
                      <a:gs pos="100000">
                        <a:srgbClr val="9900FF">
                          <a:gamma/>
                          <a:shade val="46275"/>
                          <a:invGamma/>
                        </a:srgbClr>
                      </a:gs>
                    </a:gsLst>
                    <a:lin ang="2700000" scaled="1"/>
                  </a:gra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pt-BR" sz="12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CSRs</a:t>
              </a:r>
              <a:endParaRPr lang="en-US" altLang="pt-BR" sz="12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27" name="Text Box 1673"/>
            <p:cNvSpPr txBox="1">
              <a:spLocks noChangeArrowheads="1"/>
            </p:cNvSpPr>
            <p:nvPr/>
          </p:nvSpPr>
          <p:spPr bwMode="auto">
            <a:xfrm>
              <a:off x="9949044" y="2933436"/>
              <a:ext cx="873125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9900FF"/>
                      </a:gs>
                      <a:gs pos="100000">
                        <a:srgbClr val="9900FF">
                          <a:gamma/>
                          <a:shade val="46275"/>
                          <a:invGamma/>
                        </a:srgbClr>
                      </a:gs>
                    </a:gsLst>
                    <a:lin ang="2700000" scaled="1"/>
                  </a:gra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pt-BR" sz="12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Analysts</a:t>
              </a:r>
              <a:endParaRPr lang="en-US" altLang="pt-BR" sz="12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28" name="Text Box 1674"/>
            <p:cNvSpPr txBox="1">
              <a:spLocks noChangeArrowheads="1"/>
            </p:cNvSpPr>
            <p:nvPr/>
          </p:nvSpPr>
          <p:spPr bwMode="auto">
            <a:xfrm>
              <a:off x="9893482" y="3851011"/>
              <a:ext cx="984250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9900FF"/>
                      </a:gs>
                      <a:gs pos="100000">
                        <a:srgbClr val="9900FF">
                          <a:gamma/>
                          <a:shade val="46275"/>
                          <a:invGamma/>
                        </a:srgbClr>
                      </a:gs>
                    </a:gsLst>
                    <a:lin ang="2700000" scaled="1"/>
                  </a:gra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pt-BR" sz="12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Customers</a:t>
              </a:r>
              <a:endParaRPr lang="en-US" altLang="pt-BR" sz="120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29" name="Text Box 1675"/>
            <p:cNvSpPr txBox="1">
              <a:spLocks noChangeArrowheads="1"/>
            </p:cNvSpPr>
            <p:nvPr/>
          </p:nvSpPr>
          <p:spPr bwMode="auto">
            <a:xfrm>
              <a:off x="9888719" y="4768586"/>
              <a:ext cx="992188" cy="2746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9900FF"/>
                      </a:gs>
                      <a:gs pos="100000">
                        <a:srgbClr val="9900FF">
                          <a:gamma/>
                          <a:shade val="46275"/>
                          <a:invGamma/>
                        </a:srgbClr>
                      </a:gs>
                    </a:gsLst>
                    <a:lin ang="2700000" scaled="1"/>
                  </a:gra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pt-BR" sz="12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Mobile</a:t>
              </a:r>
              <a:endParaRPr lang="en-US" altLang="pt-BR" sz="1200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</p:grpSp>
      <p:grpSp>
        <p:nvGrpSpPr>
          <p:cNvPr id="230" name="Group 1676"/>
          <p:cNvGrpSpPr>
            <a:grpSpLocks/>
          </p:cNvGrpSpPr>
          <p:nvPr/>
        </p:nvGrpSpPr>
        <p:grpSpPr bwMode="auto">
          <a:xfrm rot="-5400000">
            <a:off x="9721469" y="2140248"/>
            <a:ext cx="1106487" cy="1587961"/>
            <a:chOff x="2091" y="3079"/>
            <a:chExt cx="1516" cy="306"/>
          </a:xfrm>
        </p:grpSpPr>
        <p:sp>
          <p:nvSpPr>
            <p:cNvPr id="231" name="Line 1677"/>
            <p:cNvSpPr>
              <a:spLocks noChangeShapeType="1"/>
            </p:cNvSpPr>
            <p:nvPr/>
          </p:nvSpPr>
          <p:spPr bwMode="auto">
            <a:xfrm rot="5400000">
              <a:off x="1938" y="3232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32" name="Line 1678"/>
            <p:cNvSpPr>
              <a:spLocks noChangeShapeType="1"/>
            </p:cNvSpPr>
            <p:nvPr/>
          </p:nvSpPr>
          <p:spPr bwMode="auto">
            <a:xfrm rot="5400000">
              <a:off x="3454" y="3232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</p:grpSp>
      <p:pic>
        <p:nvPicPr>
          <p:cNvPr id="233" name="Picture 167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169" y="4271698"/>
            <a:ext cx="736600" cy="47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6" name="AutoShape 1640"/>
          <p:cNvSpPr>
            <a:spLocks noChangeArrowheads="1"/>
          </p:cNvSpPr>
          <p:nvPr/>
        </p:nvSpPr>
        <p:spPr bwMode="auto">
          <a:xfrm>
            <a:off x="2332219" y="5400889"/>
            <a:ext cx="917575" cy="860425"/>
          </a:xfrm>
          <a:prstGeom prst="roundRect">
            <a:avLst>
              <a:gd name="adj" fmla="val 16023"/>
            </a:avLst>
          </a:prstGeom>
          <a:noFill/>
          <a:ln w="12700">
            <a:solidFill>
              <a:srgbClr val="96969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237" name="Text Box 1642"/>
          <p:cNvSpPr txBox="1">
            <a:spLocks noChangeArrowheads="1"/>
          </p:cNvSpPr>
          <p:nvPr/>
        </p:nvSpPr>
        <p:spPr bwMode="auto">
          <a:xfrm>
            <a:off x="2332219" y="5469073"/>
            <a:ext cx="86677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BBTS Integrator</a:t>
            </a:r>
          </a:p>
          <a:p>
            <a:r>
              <a:rPr lang="en-US" altLang="pt-BR" sz="1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</a:t>
            </a:r>
            <a:r>
              <a:rPr lang="en-US" altLang="pt-BR" sz="1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eRat</a:t>
            </a:r>
            <a:r>
              <a:rPr lang="en-US" altLang="pt-BR" sz="1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</a:t>
            </a:r>
            <a:endParaRPr lang="en-US" altLang="pt-BR" sz="10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cxnSp>
        <p:nvCxnSpPr>
          <p:cNvPr id="239" name="Conector Angulado 238"/>
          <p:cNvCxnSpPr>
            <a:stCxn id="236" idx="3"/>
            <a:endCxn id="162" idx="1"/>
          </p:cNvCxnSpPr>
          <p:nvPr/>
        </p:nvCxnSpPr>
        <p:spPr>
          <a:xfrm flipV="1">
            <a:off x="3249794" y="2845330"/>
            <a:ext cx="557213" cy="2985772"/>
          </a:xfrm>
          <a:prstGeom prst="bentConnector3">
            <a:avLst>
              <a:gd name="adj1" fmla="val 8531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AutoShape 1454"/>
          <p:cNvSpPr>
            <a:spLocks noChangeArrowheads="1"/>
          </p:cNvSpPr>
          <p:nvPr/>
        </p:nvSpPr>
        <p:spPr bwMode="auto">
          <a:xfrm>
            <a:off x="7494387" y="5505516"/>
            <a:ext cx="977900" cy="481013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pt-BR" sz="1200" b="1" dirty="0" err="1" smtClean="0">
                <a:solidFill>
                  <a:srgbClr val="FF0000"/>
                </a:solidFill>
                <a:latin typeface="Arial" charset="0"/>
              </a:rPr>
              <a:t>PeopleSf</a:t>
            </a:r>
            <a:endParaRPr lang="en-US" altLang="pt-BR" sz="1200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235" name="Line 1602"/>
          <p:cNvSpPr>
            <a:spLocks noChangeShapeType="1"/>
          </p:cNvSpPr>
          <p:nvPr/>
        </p:nvSpPr>
        <p:spPr bwMode="auto">
          <a:xfrm rot="5400000" flipV="1">
            <a:off x="7423190" y="4903249"/>
            <a:ext cx="1060057" cy="530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748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BBTS </a:t>
            </a:r>
            <a:r>
              <a:rPr lang="pt-BR" dirty="0" err="1" smtClean="0"/>
              <a:t>Integrator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t-BR" dirty="0" smtClean="0"/>
              <a:t>RECEPCIONAR ORIGENS DISTINTAS EM FORMATOS DISTINTOS</a:t>
            </a:r>
            <a:endParaRPr lang="pt-BR" dirty="0"/>
          </a:p>
        </p:txBody>
      </p:sp>
      <p:grpSp>
        <p:nvGrpSpPr>
          <p:cNvPr id="6" name="Grupo 5"/>
          <p:cNvGrpSpPr/>
          <p:nvPr/>
        </p:nvGrpSpPr>
        <p:grpSpPr>
          <a:xfrm>
            <a:off x="340818" y="1278433"/>
            <a:ext cx="5852160" cy="4876800"/>
            <a:chOff x="2499360" y="1293673"/>
            <a:chExt cx="5852160" cy="4876800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9360" y="1293673"/>
              <a:ext cx="5852160" cy="4876800"/>
            </a:xfrm>
            <a:prstGeom prst="rect">
              <a:avLst/>
            </a:prstGeom>
          </p:spPr>
        </p:pic>
        <p:sp>
          <p:nvSpPr>
            <p:cNvPr id="5" name="Retângulo Arredondado 4"/>
            <p:cNvSpPr/>
            <p:nvPr/>
          </p:nvSpPr>
          <p:spPr>
            <a:xfrm>
              <a:off x="4421529" y="2812648"/>
              <a:ext cx="1956122" cy="148156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BBTS GATEWAY</a:t>
              </a:r>
              <a:endParaRPr lang="pt-BR" dirty="0"/>
            </a:p>
          </p:txBody>
        </p:sp>
      </p:grpSp>
      <p:sp>
        <p:nvSpPr>
          <p:cNvPr id="7" name="CaixaDeTexto 6"/>
          <p:cNvSpPr txBox="1"/>
          <p:nvPr/>
        </p:nvSpPr>
        <p:spPr>
          <a:xfrm>
            <a:off x="5914663" y="1278433"/>
            <a:ext cx="58452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dirty="0" smtClean="0"/>
              <a:t>INPUT</a:t>
            </a:r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RECEPCIONAR DIVERSAS ORIGENS DE DADOS;</a:t>
            </a:r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RECEPCIONAR TEMPLATES PRÉ-FORMATADOS;</a:t>
            </a:r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RECEPCIONAR FLAT FILES FORMATADOS;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TRANSFORM</a:t>
            </a:r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TRANSFORMAÇÃO INPUT EM FORMATO PADRÃO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ENTREGA</a:t>
            </a:r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ENTREGA PARA O PROCESSO DE VALIDAÇÃO, PERSISTIR OU ENRIQUECER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COMPARTILHA/DEVOLUÇÃO</a:t>
            </a:r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FORNECER STATUS OU VALIDAÇÕES</a:t>
            </a:r>
          </a:p>
          <a:p>
            <a:pPr marL="742950" lvl="1" indent="-285750">
              <a:buFont typeface="Arial" charset="0"/>
              <a:buChar char="•"/>
            </a:pPr>
            <a:endParaRPr lang="pt-BR" dirty="0" smtClean="0"/>
          </a:p>
          <a:p>
            <a:pPr marL="285750" indent="-285750">
              <a:buFont typeface="Arial" charset="0"/>
              <a:buChar char="•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6501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1452"/>
          <p:cNvSpPr>
            <a:spLocks noChangeArrowheads="1"/>
          </p:cNvSpPr>
          <p:nvPr/>
        </p:nvSpPr>
        <p:spPr bwMode="auto">
          <a:xfrm>
            <a:off x="3816532" y="4800336"/>
            <a:ext cx="977900" cy="481012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Shipping /</a:t>
            </a:r>
            <a:br>
              <a:rPr lang="en-US" altLang="pt-BR" sz="1200" b="1">
                <a:solidFill>
                  <a:srgbClr val="FF0000"/>
                </a:solidFill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Receiving </a:t>
            </a:r>
          </a:p>
        </p:txBody>
      </p:sp>
      <p:sp>
        <p:nvSpPr>
          <p:cNvPr id="7" name="AutoShape 1453"/>
          <p:cNvSpPr>
            <a:spLocks noChangeArrowheads="1"/>
          </p:cNvSpPr>
          <p:nvPr/>
        </p:nvSpPr>
        <p:spPr bwMode="auto">
          <a:xfrm>
            <a:off x="4948419" y="4800336"/>
            <a:ext cx="977900" cy="481012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Orders &amp;</a:t>
            </a:r>
            <a:br>
              <a:rPr lang="en-US" altLang="pt-BR" sz="1200" b="1">
                <a:solidFill>
                  <a:srgbClr val="FF0000"/>
                </a:solidFill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Cases</a:t>
            </a:r>
          </a:p>
        </p:txBody>
      </p:sp>
      <p:sp>
        <p:nvSpPr>
          <p:cNvPr id="8" name="AutoShape 1454"/>
          <p:cNvSpPr>
            <a:spLocks noChangeArrowheads="1"/>
          </p:cNvSpPr>
          <p:nvPr/>
        </p:nvSpPr>
        <p:spPr bwMode="auto">
          <a:xfrm>
            <a:off x="8347257" y="4798748"/>
            <a:ext cx="977900" cy="481013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Invoices &amp;</a:t>
            </a:r>
            <a:br>
              <a:rPr lang="en-US" altLang="pt-BR" sz="1200" b="1">
                <a:solidFill>
                  <a:srgbClr val="FF0000"/>
                </a:solidFill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Payments</a:t>
            </a:r>
          </a:p>
        </p:txBody>
      </p:sp>
      <p:sp>
        <p:nvSpPr>
          <p:cNvPr id="9" name="AutoShape 1455"/>
          <p:cNvSpPr>
            <a:spLocks noChangeArrowheads="1"/>
          </p:cNvSpPr>
          <p:nvPr/>
        </p:nvSpPr>
        <p:spPr bwMode="auto">
          <a:xfrm>
            <a:off x="6081894" y="4798748"/>
            <a:ext cx="977900" cy="481013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Marketing</a:t>
            </a:r>
            <a:br>
              <a:rPr lang="en-US" altLang="pt-BR" sz="1200" b="1">
                <a:solidFill>
                  <a:srgbClr val="FF0000"/>
                </a:solidFill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Offers</a:t>
            </a:r>
          </a:p>
        </p:txBody>
      </p:sp>
      <p:sp>
        <p:nvSpPr>
          <p:cNvPr id="10" name="AutoShape 1456"/>
          <p:cNvSpPr>
            <a:spLocks noChangeArrowheads="1"/>
          </p:cNvSpPr>
          <p:nvPr/>
        </p:nvSpPr>
        <p:spPr bwMode="auto">
          <a:xfrm>
            <a:off x="7213782" y="4798748"/>
            <a:ext cx="977900" cy="481013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Inventory</a:t>
            </a:r>
          </a:p>
        </p:txBody>
      </p:sp>
      <p:sp>
        <p:nvSpPr>
          <p:cNvPr id="11" name="AutoShape 1457"/>
          <p:cNvSpPr>
            <a:spLocks noChangeArrowheads="1"/>
          </p:cNvSpPr>
          <p:nvPr/>
        </p:nvSpPr>
        <p:spPr bwMode="auto">
          <a:xfrm>
            <a:off x="3810182" y="355336"/>
            <a:ext cx="5514975" cy="534987"/>
          </a:xfrm>
          <a:prstGeom prst="roundRect">
            <a:avLst>
              <a:gd name="adj" fmla="val 18690"/>
            </a:avLst>
          </a:prstGeom>
          <a:gradFill rotWithShape="0">
            <a:gsLst>
              <a:gs pos="0">
                <a:srgbClr val="5F5F5F"/>
              </a:gs>
              <a:gs pos="100000">
                <a:srgbClr val="5F5F5F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scene3d>
            <a:camera prst="legacyObliqueTopRight"/>
            <a:lightRig rig="legacyFlat3" dir="b"/>
          </a:scene3d>
          <a:sp3d extrusionH="100000" contourW="12700" prstMaterial="legacyMatte">
            <a:bevelT w="13500" h="13500" prst="angle"/>
            <a:bevelB w="13500" h="13500" prst="angle"/>
            <a:extrusionClr>
              <a:srgbClr val="5F5F5F"/>
            </a:extrusionClr>
            <a:contourClr>
              <a:srgbClr val="5F5F5F"/>
            </a:contourClr>
          </a:sp3d>
          <a:extLst>
            <a:ext uri="{91240B29-F687-4F45-9708-019B960494DF}">
              <a14:hiddenLine xmlns:a14="http://schemas.microsoft.com/office/drawing/2010/main" w="28575">
                <a:noFill/>
                <a:prstDash val="dash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29783" dir="1514402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2" name="Text Box 1458"/>
          <p:cNvSpPr txBox="1">
            <a:spLocks noChangeArrowheads="1"/>
          </p:cNvSpPr>
          <p:nvPr/>
        </p:nvSpPr>
        <p:spPr bwMode="auto">
          <a:xfrm>
            <a:off x="7859894" y="498211"/>
            <a:ext cx="1087438" cy="257175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</a:pP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Intelligence</a:t>
            </a:r>
          </a:p>
        </p:txBody>
      </p:sp>
      <p:sp>
        <p:nvSpPr>
          <p:cNvPr id="13" name="Text Box 1459"/>
          <p:cNvSpPr txBox="1">
            <a:spLocks noChangeArrowheads="1"/>
          </p:cNvSpPr>
          <p:nvPr/>
        </p:nvSpPr>
        <p:spPr bwMode="auto">
          <a:xfrm>
            <a:off x="3965757" y="415661"/>
            <a:ext cx="1651000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Customer/Prod Info,</a:t>
            </a:r>
            <a:b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Knowledge Base</a:t>
            </a:r>
          </a:p>
        </p:txBody>
      </p:sp>
      <p:pic>
        <p:nvPicPr>
          <p:cNvPr id="14" name="Picture 146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9769" y="399786"/>
            <a:ext cx="723900" cy="614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5" name="Text Box 1461"/>
          <p:cNvSpPr txBox="1">
            <a:spLocks noChangeArrowheads="1"/>
          </p:cNvSpPr>
          <p:nvPr/>
        </p:nvSpPr>
        <p:spPr bwMode="white">
          <a:xfrm>
            <a:off x="5707244" y="445823"/>
            <a:ext cx="6064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pt-BR" sz="9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Secure</a:t>
            </a:r>
            <a:br>
              <a:rPr lang="en-US" altLang="pt-BR" sz="9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9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Access</a:t>
            </a:r>
          </a:p>
        </p:txBody>
      </p:sp>
      <p:sp>
        <p:nvSpPr>
          <p:cNvPr id="16" name="Line 1462"/>
          <p:cNvSpPr>
            <a:spLocks noChangeShapeType="1"/>
          </p:cNvSpPr>
          <p:nvPr/>
        </p:nvSpPr>
        <p:spPr bwMode="auto">
          <a:xfrm>
            <a:off x="6578782" y="626798"/>
            <a:ext cx="4445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grpSp>
        <p:nvGrpSpPr>
          <p:cNvPr id="17" name="Group 1463"/>
          <p:cNvGrpSpPr>
            <a:grpSpLocks/>
          </p:cNvGrpSpPr>
          <p:nvPr/>
        </p:nvGrpSpPr>
        <p:grpSpPr bwMode="auto">
          <a:xfrm>
            <a:off x="7289982" y="395023"/>
            <a:ext cx="471487" cy="454025"/>
            <a:chOff x="3996" y="770"/>
            <a:chExt cx="330" cy="328"/>
          </a:xfrm>
        </p:grpSpPr>
        <p:grpSp>
          <p:nvGrpSpPr>
            <p:cNvPr id="18" name="Group 1464"/>
            <p:cNvGrpSpPr>
              <a:grpSpLocks/>
            </p:cNvGrpSpPr>
            <p:nvPr/>
          </p:nvGrpSpPr>
          <p:grpSpPr bwMode="auto">
            <a:xfrm>
              <a:off x="3996" y="770"/>
              <a:ext cx="255" cy="276"/>
              <a:chOff x="995" y="1653"/>
              <a:chExt cx="649" cy="959"/>
            </a:xfrm>
          </p:grpSpPr>
          <p:sp>
            <p:nvSpPr>
              <p:cNvPr id="86" name="Freeform 1465"/>
              <p:cNvSpPr>
                <a:spLocks/>
              </p:cNvSpPr>
              <p:nvPr/>
            </p:nvSpPr>
            <p:spPr bwMode="auto">
              <a:xfrm>
                <a:off x="995" y="1653"/>
                <a:ext cx="591" cy="925"/>
              </a:xfrm>
              <a:custGeom>
                <a:avLst/>
                <a:gdLst>
                  <a:gd name="T0" fmla="*/ 590 w 591"/>
                  <a:gd name="T1" fmla="*/ 630 h 925"/>
                  <a:gd name="T2" fmla="*/ 590 w 591"/>
                  <a:gd name="T3" fmla="*/ 0 h 925"/>
                  <a:gd name="T4" fmla="*/ 0 w 591"/>
                  <a:gd name="T5" fmla="*/ 274 h 925"/>
                  <a:gd name="T6" fmla="*/ 0 w 591"/>
                  <a:gd name="T7" fmla="*/ 924 h 925"/>
                  <a:gd name="T8" fmla="*/ 590 w 591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1" h="925">
                    <a:moveTo>
                      <a:pt x="590" y="630"/>
                    </a:moveTo>
                    <a:lnTo>
                      <a:pt x="590" y="0"/>
                    </a:lnTo>
                    <a:lnTo>
                      <a:pt x="0" y="274"/>
                    </a:lnTo>
                    <a:lnTo>
                      <a:pt x="0" y="924"/>
                    </a:lnTo>
                    <a:lnTo>
                      <a:pt x="590" y="630"/>
                    </a:lnTo>
                  </a:path>
                </a:pathLst>
              </a:custGeom>
              <a:solidFill>
                <a:srgbClr val="77777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7" name="Freeform 1466"/>
              <p:cNvSpPr>
                <a:spLocks/>
              </p:cNvSpPr>
              <p:nvPr/>
            </p:nvSpPr>
            <p:spPr bwMode="auto">
              <a:xfrm>
                <a:off x="1024" y="1670"/>
                <a:ext cx="592" cy="925"/>
              </a:xfrm>
              <a:custGeom>
                <a:avLst/>
                <a:gdLst>
                  <a:gd name="T0" fmla="*/ 591 w 592"/>
                  <a:gd name="T1" fmla="*/ 630 h 925"/>
                  <a:gd name="T2" fmla="*/ 591 w 592"/>
                  <a:gd name="T3" fmla="*/ 0 h 925"/>
                  <a:gd name="T4" fmla="*/ 0 w 592"/>
                  <a:gd name="T5" fmla="*/ 273 h 925"/>
                  <a:gd name="T6" fmla="*/ 0 w 592"/>
                  <a:gd name="T7" fmla="*/ 924 h 925"/>
                  <a:gd name="T8" fmla="*/ 591 w 592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2" h="925">
                    <a:moveTo>
                      <a:pt x="591" y="630"/>
                    </a:moveTo>
                    <a:lnTo>
                      <a:pt x="591" y="0"/>
                    </a:lnTo>
                    <a:lnTo>
                      <a:pt x="0" y="273"/>
                    </a:lnTo>
                    <a:lnTo>
                      <a:pt x="0" y="924"/>
                    </a:lnTo>
                    <a:lnTo>
                      <a:pt x="591" y="630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8" name="Freeform 1467"/>
              <p:cNvSpPr>
                <a:spLocks/>
              </p:cNvSpPr>
              <p:nvPr/>
            </p:nvSpPr>
            <p:spPr bwMode="auto">
              <a:xfrm>
                <a:off x="1051" y="1687"/>
                <a:ext cx="593" cy="925"/>
              </a:xfrm>
              <a:custGeom>
                <a:avLst/>
                <a:gdLst>
                  <a:gd name="T0" fmla="*/ 592 w 593"/>
                  <a:gd name="T1" fmla="*/ 630 h 925"/>
                  <a:gd name="T2" fmla="*/ 592 w 593"/>
                  <a:gd name="T3" fmla="*/ 0 h 925"/>
                  <a:gd name="T4" fmla="*/ 0 w 593"/>
                  <a:gd name="T5" fmla="*/ 273 h 925"/>
                  <a:gd name="T6" fmla="*/ 0 w 593"/>
                  <a:gd name="T7" fmla="*/ 924 h 925"/>
                  <a:gd name="T8" fmla="*/ 592 w 593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925">
                    <a:moveTo>
                      <a:pt x="592" y="630"/>
                    </a:moveTo>
                    <a:lnTo>
                      <a:pt x="592" y="0"/>
                    </a:lnTo>
                    <a:lnTo>
                      <a:pt x="0" y="273"/>
                    </a:lnTo>
                    <a:lnTo>
                      <a:pt x="0" y="924"/>
                    </a:lnTo>
                    <a:lnTo>
                      <a:pt x="592" y="630"/>
                    </a:lnTo>
                  </a:path>
                </a:pathLst>
              </a:custGeom>
              <a:solidFill>
                <a:schemeClr val="tx1"/>
              </a:solidFill>
              <a:ln w="12700" cap="rnd" cmpd="sng">
                <a:solidFill>
                  <a:srgbClr val="DDDDDD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9" name="Freeform 1468"/>
              <p:cNvSpPr>
                <a:spLocks/>
              </p:cNvSpPr>
              <p:nvPr/>
            </p:nvSpPr>
            <p:spPr bwMode="auto">
              <a:xfrm>
                <a:off x="1096" y="1775"/>
                <a:ext cx="507" cy="775"/>
              </a:xfrm>
              <a:custGeom>
                <a:avLst/>
                <a:gdLst>
                  <a:gd name="T0" fmla="*/ 506 w 507"/>
                  <a:gd name="T1" fmla="*/ 0 h 775"/>
                  <a:gd name="T2" fmla="*/ 217 w 507"/>
                  <a:gd name="T3" fmla="*/ 133 h 775"/>
                  <a:gd name="T4" fmla="*/ 217 w 507"/>
                  <a:gd name="T5" fmla="*/ 303 h 775"/>
                  <a:gd name="T6" fmla="*/ 0 w 507"/>
                  <a:gd name="T7" fmla="*/ 406 h 775"/>
                  <a:gd name="T8" fmla="*/ 0 w 507"/>
                  <a:gd name="T9" fmla="*/ 774 h 775"/>
                  <a:gd name="T10" fmla="*/ 217 w 507"/>
                  <a:gd name="T11" fmla="*/ 666 h 775"/>
                  <a:gd name="T12" fmla="*/ 217 w 507"/>
                  <a:gd name="T13" fmla="*/ 667 h 775"/>
                  <a:gd name="T14" fmla="*/ 391 w 507"/>
                  <a:gd name="T15" fmla="*/ 580 h 775"/>
                  <a:gd name="T16" fmla="*/ 506 w 507"/>
                  <a:gd name="T17" fmla="*/ 524 h 775"/>
                  <a:gd name="T18" fmla="*/ 506 w 507"/>
                  <a:gd name="T19" fmla="*/ 0 h 7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7" h="775">
                    <a:moveTo>
                      <a:pt x="506" y="0"/>
                    </a:moveTo>
                    <a:lnTo>
                      <a:pt x="217" y="133"/>
                    </a:lnTo>
                    <a:lnTo>
                      <a:pt x="217" y="303"/>
                    </a:lnTo>
                    <a:lnTo>
                      <a:pt x="0" y="406"/>
                    </a:lnTo>
                    <a:lnTo>
                      <a:pt x="0" y="774"/>
                    </a:lnTo>
                    <a:lnTo>
                      <a:pt x="217" y="666"/>
                    </a:lnTo>
                    <a:lnTo>
                      <a:pt x="217" y="667"/>
                    </a:lnTo>
                    <a:lnTo>
                      <a:pt x="391" y="580"/>
                    </a:lnTo>
                    <a:lnTo>
                      <a:pt x="506" y="524"/>
                    </a:lnTo>
                    <a:lnTo>
                      <a:pt x="506" y="0"/>
                    </a:lnTo>
                  </a:path>
                </a:pathLst>
              </a:custGeom>
              <a:solidFill>
                <a:srgbClr val="FFFFD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0" name="Freeform 1469"/>
              <p:cNvSpPr>
                <a:spLocks/>
              </p:cNvSpPr>
              <p:nvPr/>
            </p:nvSpPr>
            <p:spPr bwMode="auto">
              <a:xfrm>
                <a:off x="1096" y="2273"/>
                <a:ext cx="507" cy="277"/>
              </a:xfrm>
              <a:custGeom>
                <a:avLst/>
                <a:gdLst>
                  <a:gd name="T0" fmla="*/ 506 w 507"/>
                  <a:gd name="T1" fmla="*/ 27 h 277"/>
                  <a:gd name="T2" fmla="*/ 506 w 507"/>
                  <a:gd name="T3" fmla="*/ 0 h 277"/>
                  <a:gd name="T4" fmla="*/ 0 w 507"/>
                  <a:gd name="T5" fmla="*/ 242 h 277"/>
                  <a:gd name="T6" fmla="*/ 0 w 507"/>
                  <a:gd name="T7" fmla="*/ 276 h 277"/>
                  <a:gd name="T8" fmla="*/ 506 w 507"/>
                  <a:gd name="T9" fmla="*/ 2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7">
                    <a:moveTo>
                      <a:pt x="506" y="27"/>
                    </a:moveTo>
                    <a:lnTo>
                      <a:pt x="506" y="0"/>
                    </a:lnTo>
                    <a:lnTo>
                      <a:pt x="0" y="242"/>
                    </a:lnTo>
                    <a:lnTo>
                      <a:pt x="0" y="276"/>
                    </a:lnTo>
                    <a:lnTo>
                      <a:pt x="506" y="27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1" name="Freeform 1470"/>
              <p:cNvSpPr>
                <a:spLocks/>
              </p:cNvSpPr>
              <p:nvPr/>
            </p:nvSpPr>
            <p:spPr bwMode="auto">
              <a:xfrm>
                <a:off x="1096" y="2213"/>
                <a:ext cx="507" cy="272"/>
              </a:xfrm>
              <a:custGeom>
                <a:avLst/>
                <a:gdLst>
                  <a:gd name="T0" fmla="*/ 506 w 507"/>
                  <a:gd name="T1" fmla="*/ 28 h 272"/>
                  <a:gd name="T2" fmla="*/ 506 w 507"/>
                  <a:gd name="T3" fmla="*/ 0 h 272"/>
                  <a:gd name="T4" fmla="*/ 0 w 507"/>
                  <a:gd name="T5" fmla="*/ 237 h 272"/>
                  <a:gd name="T6" fmla="*/ 0 w 507"/>
                  <a:gd name="T7" fmla="*/ 271 h 272"/>
                  <a:gd name="T8" fmla="*/ 506 w 507"/>
                  <a:gd name="T9" fmla="*/ 2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2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1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2" name="Freeform 1471"/>
              <p:cNvSpPr>
                <a:spLocks/>
              </p:cNvSpPr>
              <p:nvPr/>
            </p:nvSpPr>
            <p:spPr bwMode="auto">
              <a:xfrm>
                <a:off x="1096" y="2147"/>
                <a:ext cx="507" cy="273"/>
              </a:xfrm>
              <a:custGeom>
                <a:avLst/>
                <a:gdLst>
                  <a:gd name="T0" fmla="*/ 506 w 507"/>
                  <a:gd name="T1" fmla="*/ 28 h 273"/>
                  <a:gd name="T2" fmla="*/ 506 w 507"/>
                  <a:gd name="T3" fmla="*/ 0 h 273"/>
                  <a:gd name="T4" fmla="*/ 0 w 507"/>
                  <a:gd name="T5" fmla="*/ 238 h 273"/>
                  <a:gd name="T6" fmla="*/ 0 w 507"/>
                  <a:gd name="T7" fmla="*/ 272 h 273"/>
                  <a:gd name="T8" fmla="*/ 506 w 507"/>
                  <a:gd name="T9" fmla="*/ 28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3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8"/>
                    </a:lnTo>
                    <a:lnTo>
                      <a:pt x="0" y="272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3" name="Freeform 1472"/>
              <p:cNvSpPr>
                <a:spLocks/>
              </p:cNvSpPr>
              <p:nvPr/>
            </p:nvSpPr>
            <p:spPr bwMode="auto">
              <a:xfrm>
                <a:off x="1096" y="2083"/>
                <a:ext cx="507" cy="272"/>
              </a:xfrm>
              <a:custGeom>
                <a:avLst/>
                <a:gdLst>
                  <a:gd name="T0" fmla="*/ 506 w 507"/>
                  <a:gd name="T1" fmla="*/ 28 h 272"/>
                  <a:gd name="T2" fmla="*/ 506 w 507"/>
                  <a:gd name="T3" fmla="*/ 0 h 272"/>
                  <a:gd name="T4" fmla="*/ 0 w 507"/>
                  <a:gd name="T5" fmla="*/ 237 h 272"/>
                  <a:gd name="T6" fmla="*/ 0 w 507"/>
                  <a:gd name="T7" fmla="*/ 271 h 272"/>
                  <a:gd name="T8" fmla="*/ 506 w 507"/>
                  <a:gd name="T9" fmla="*/ 2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2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1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4" name="Freeform 1473"/>
              <p:cNvSpPr>
                <a:spLocks/>
              </p:cNvSpPr>
              <p:nvPr/>
            </p:nvSpPr>
            <p:spPr bwMode="auto">
              <a:xfrm>
                <a:off x="1096" y="1947"/>
                <a:ext cx="507" cy="273"/>
              </a:xfrm>
              <a:custGeom>
                <a:avLst/>
                <a:gdLst>
                  <a:gd name="T0" fmla="*/ 506 w 507"/>
                  <a:gd name="T1" fmla="*/ 32 h 273"/>
                  <a:gd name="T2" fmla="*/ 506 w 507"/>
                  <a:gd name="T3" fmla="*/ 0 h 273"/>
                  <a:gd name="T4" fmla="*/ 0 w 507"/>
                  <a:gd name="T5" fmla="*/ 237 h 273"/>
                  <a:gd name="T6" fmla="*/ 0 w 507"/>
                  <a:gd name="T7" fmla="*/ 272 h 273"/>
                  <a:gd name="T8" fmla="*/ 506 w 507"/>
                  <a:gd name="T9" fmla="*/ 32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3">
                    <a:moveTo>
                      <a:pt x="506" y="32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2"/>
                    </a:lnTo>
                    <a:lnTo>
                      <a:pt x="506" y="32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5" name="Freeform 1474"/>
              <p:cNvSpPr>
                <a:spLocks/>
              </p:cNvSpPr>
              <p:nvPr/>
            </p:nvSpPr>
            <p:spPr bwMode="auto">
              <a:xfrm>
                <a:off x="1096" y="2013"/>
                <a:ext cx="507" cy="276"/>
              </a:xfrm>
              <a:custGeom>
                <a:avLst/>
                <a:gdLst>
                  <a:gd name="T0" fmla="*/ 506 w 507"/>
                  <a:gd name="T1" fmla="*/ 32 h 276"/>
                  <a:gd name="T2" fmla="*/ 506 w 507"/>
                  <a:gd name="T3" fmla="*/ 0 h 276"/>
                  <a:gd name="T4" fmla="*/ 0 w 507"/>
                  <a:gd name="T5" fmla="*/ 238 h 276"/>
                  <a:gd name="T6" fmla="*/ 0 w 507"/>
                  <a:gd name="T7" fmla="*/ 275 h 276"/>
                  <a:gd name="T8" fmla="*/ 506 w 507"/>
                  <a:gd name="T9" fmla="*/ 32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6">
                    <a:moveTo>
                      <a:pt x="506" y="32"/>
                    </a:moveTo>
                    <a:lnTo>
                      <a:pt x="506" y="0"/>
                    </a:lnTo>
                    <a:lnTo>
                      <a:pt x="0" y="238"/>
                    </a:lnTo>
                    <a:lnTo>
                      <a:pt x="0" y="275"/>
                    </a:lnTo>
                    <a:lnTo>
                      <a:pt x="506" y="32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6" name="Line 1475"/>
              <p:cNvSpPr>
                <a:spLocks noChangeShapeType="1"/>
              </p:cNvSpPr>
              <p:nvPr/>
            </p:nvSpPr>
            <p:spPr bwMode="auto">
              <a:xfrm>
                <a:off x="1346" y="1895"/>
                <a:ext cx="0" cy="53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7" name="Line 1476"/>
              <p:cNvSpPr>
                <a:spLocks noChangeShapeType="1"/>
              </p:cNvSpPr>
              <p:nvPr/>
            </p:nvSpPr>
            <p:spPr bwMode="auto">
              <a:xfrm flipH="1">
                <a:off x="1342" y="1896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8" name="Line 1477"/>
              <p:cNvSpPr>
                <a:spLocks noChangeShapeType="1"/>
              </p:cNvSpPr>
              <p:nvPr/>
            </p:nvSpPr>
            <p:spPr bwMode="auto">
              <a:xfrm>
                <a:off x="1342" y="2425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99" name="Line 1478"/>
              <p:cNvSpPr>
                <a:spLocks noChangeShapeType="1"/>
              </p:cNvSpPr>
              <p:nvPr/>
            </p:nvSpPr>
            <p:spPr bwMode="auto">
              <a:xfrm>
                <a:off x="1376" y="1884"/>
                <a:ext cx="0" cy="528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0" name="Line 1479"/>
              <p:cNvSpPr>
                <a:spLocks noChangeShapeType="1"/>
              </p:cNvSpPr>
              <p:nvPr/>
            </p:nvSpPr>
            <p:spPr bwMode="auto">
              <a:xfrm flipH="1">
                <a:off x="1374" y="1884"/>
                <a:ext cx="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1" name="Line 1480"/>
              <p:cNvSpPr>
                <a:spLocks noChangeShapeType="1"/>
              </p:cNvSpPr>
              <p:nvPr/>
            </p:nvSpPr>
            <p:spPr bwMode="auto">
              <a:xfrm>
                <a:off x="1374" y="2412"/>
                <a:ext cx="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2" name="Line 1481"/>
              <p:cNvSpPr>
                <a:spLocks noChangeShapeType="1"/>
              </p:cNvSpPr>
              <p:nvPr/>
            </p:nvSpPr>
            <p:spPr bwMode="auto">
              <a:xfrm>
                <a:off x="1408" y="1868"/>
                <a:ext cx="0" cy="53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3" name="Line 1482"/>
              <p:cNvSpPr>
                <a:spLocks noChangeShapeType="1"/>
              </p:cNvSpPr>
              <p:nvPr/>
            </p:nvSpPr>
            <p:spPr bwMode="auto">
              <a:xfrm flipH="1">
                <a:off x="1405" y="1868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4" name="Line 1483"/>
              <p:cNvSpPr>
                <a:spLocks noChangeShapeType="1"/>
              </p:cNvSpPr>
              <p:nvPr/>
            </p:nvSpPr>
            <p:spPr bwMode="auto">
              <a:xfrm>
                <a:off x="1405" y="2398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5" name="Line 1484"/>
              <p:cNvSpPr>
                <a:spLocks noChangeShapeType="1"/>
              </p:cNvSpPr>
              <p:nvPr/>
            </p:nvSpPr>
            <p:spPr bwMode="auto">
              <a:xfrm>
                <a:off x="1438" y="1855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6" name="Line 1485"/>
              <p:cNvSpPr>
                <a:spLocks noChangeShapeType="1"/>
              </p:cNvSpPr>
              <p:nvPr/>
            </p:nvSpPr>
            <p:spPr bwMode="auto">
              <a:xfrm flipH="1">
                <a:off x="1436" y="1855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7" name="Line 1486"/>
              <p:cNvSpPr>
                <a:spLocks noChangeShapeType="1"/>
              </p:cNvSpPr>
              <p:nvPr/>
            </p:nvSpPr>
            <p:spPr bwMode="auto">
              <a:xfrm>
                <a:off x="1436" y="2380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8" name="Line 1487"/>
              <p:cNvSpPr>
                <a:spLocks noChangeShapeType="1"/>
              </p:cNvSpPr>
              <p:nvPr/>
            </p:nvSpPr>
            <p:spPr bwMode="auto">
              <a:xfrm>
                <a:off x="1470" y="1840"/>
                <a:ext cx="0" cy="524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09" name="Line 1488"/>
              <p:cNvSpPr>
                <a:spLocks noChangeShapeType="1"/>
              </p:cNvSpPr>
              <p:nvPr/>
            </p:nvSpPr>
            <p:spPr bwMode="auto">
              <a:xfrm flipH="1">
                <a:off x="1466" y="1840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0" name="Line 1489"/>
              <p:cNvSpPr>
                <a:spLocks noChangeShapeType="1"/>
              </p:cNvSpPr>
              <p:nvPr/>
            </p:nvSpPr>
            <p:spPr bwMode="auto">
              <a:xfrm>
                <a:off x="1466" y="2364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1" name="Line 1490"/>
              <p:cNvSpPr>
                <a:spLocks noChangeShapeType="1"/>
              </p:cNvSpPr>
              <p:nvPr/>
            </p:nvSpPr>
            <p:spPr bwMode="auto">
              <a:xfrm>
                <a:off x="1501" y="1826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2" name="Line 1491"/>
              <p:cNvSpPr>
                <a:spLocks noChangeShapeType="1"/>
              </p:cNvSpPr>
              <p:nvPr/>
            </p:nvSpPr>
            <p:spPr bwMode="auto">
              <a:xfrm flipH="1">
                <a:off x="1497" y="1826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3" name="Line 1492"/>
              <p:cNvSpPr>
                <a:spLocks noChangeShapeType="1"/>
              </p:cNvSpPr>
              <p:nvPr/>
            </p:nvSpPr>
            <p:spPr bwMode="auto">
              <a:xfrm>
                <a:off x="1497" y="2351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4" name="Line 1493"/>
              <p:cNvSpPr>
                <a:spLocks noChangeShapeType="1"/>
              </p:cNvSpPr>
              <p:nvPr/>
            </p:nvSpPr>
            <p:spPr bwMode="auto">
              <a:xfrm>
                <a:off x="1535" y="1808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5" name="Line 1494"/>
              <p:cNvSpPr>
                <a:spLocks noChangeShapeType="1"/>
              </p:cNvSpPr>
              <p:nvPr/>
            </p:nvSpPr>
            <p:spPr bwMode="auto">
              <a:xfrm flipH="1">
                <a:off x="1531" y="1808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6" name="Line 1495"/>
              <p:cNvSpPr>
                <a:spLocks noChangeShapeType="1"/>
              </p:cNvSpPr>
              <p:nvPr/>
            </p:nvSpPr>
            <p:spPr bwMode="auto">
              <a:xfrm>
                <a:off x="1531" y="2333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7" name="Line 1496"/>
              <p:cNvSpPr>
                <a:spLocks noChangeShapeType="1"/>
              </p:cNvSpPr>
              <p:nvPr/>
            </p:nvSpPr>
            <p:spPr bwMode="auto">
              <a:xfrm>
                <a:off x="1567" y="1793"/>
                <a:ext cx="0" cy="523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8" name="Line 1497"/>
              <p:cNvSpPr>
                <a:spLocks noChangeShapeType="1"/>
              </p:cNvSpPr>
              <p:nvPr/>
            </p:nvSpPr>
            <p:spPr bwMode="auto">
              <a:xfrm flipH="1">
                <a:off x="1563" y="1793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19" name="Line 1498"/>
              <p:cNvSpPr>
                <a:spLocks noChangeShapeType="1"/>
              </p:cNvSpPr>
              <p:nvPr/>
            </p:nvSpPr>
            <p:spPr bwMode="auto">
              <a:xfrm>
                <a:off x="1563" y="2316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0" name="Line 1499"/>
              <p:cNvSpPr>
                <a:spLocks noChangeShapeType="1"/>
              </p:cNvSpPr>
              <p:nvPr/>
            </p:nvSpPr>
            <p:spPr bwMode="auto">
              <a:xfrm flipV="1">
                <a:off x="1096" y="1977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1" name="Line 1500"/>
              <p:cNvSpPr>
                <a:spLocks noChangeShapeType="1"/>
              </p:cNvSpPr>
              <p:nvPr/>
            </p:nvSpPr>
            <p:spPr bwMode="auto">
              <a:xfrm>
                <a:off x="1094" y="2215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2" name="Line 1501"/>
              <p:cNvSpPr>
                <a:spLocks noChangeShapeType="1"/>
              </p:cNvSpPr>
              <p:nvPr/>
            </p:nvSpPr>
            <p:spPr bwMode="auto">
              <a:xfrm flipH="1" flipV="1">
                <a:off x="1601" y="1972"/>
                <a:ext cx="2" cy="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3" name="Line 1502"/>
              <p:cNvSpPr>
                <a:spLocks noChangeShapeType="1"/>
              </p:cNvSpPr>
              <p:nvPr/>
            </p:nvSpPr>
            <p:spPr bwMode="auto">
              <a:xfrm flipV="1">
                <a:off x="1096" y="2010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4" name="Line 1503"/>
              <p:cNvSpPr>
                <a:spLocks noChangeShapeType="1"/>
              </p:cNvSpPr>
              <p:nvPr/>
            </p:nvSpPr>
            <p:spPr bwMode="auto">
              <a:xfrm>
                <a:off x="1094" y="2248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5" name="Line 1504"/>
              <p:cNvSpPr>
                <a:spLocks noChangeShapeType="1"/>
              </p:cNvSpPr>
              <p:nvPr/>
            </p:nvSpPr>
            <p:spPr bwMode="auto">
              <a:xfrm flipH="1" flipV="1">
                <a:off x="1601" y="2004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6" name="Line 1505"/>
              <p:cNvSpPr>
                <a:spLocks noChangeShapeType="1"/>
              </p:cNvSpPr>
              <p:nvPr/>
            </p:nvSpPr>
            <p:spPr bwMode="auto">
              <a:xfrm flipV="1">
                <a:off x="1096" y="2039"/>
                <a:ext cx="506" cy="241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7" name="Line 1506"/>
              <p:cNvSpPr>
                <a:spLocks noChangeShapeType="1"/>
              </p:cNvSpPr>
              <p:nvPr/>
            </p:nvSpPr>
            <p:spPr bwMode="auto">
              <a:xfrm>
                <a:off x="1094" y="2280"/>
                <a:ext cx="1" cy="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8" name="Line 1507"/>
              <p:cNvSpPr>
                <a:spLocks noChangeShapeType="1"/>
              </p:cNvSpPr>
              <p:nvPr/>
            </p:nvSpPr>
            <p:spPr bwMode="auto">
              <a:xfrm flipH="1" flipV="1">
                <a:off x="1601" y="203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29" name="Line 1508"/>
              <p:cNvSpPr>
                <a:spLocks noChangeShapeType="1"/>
              </p:cNvSpPr>
              <p:nvPr/>
            </p:nvSpPr>
            <p:spPr bwMode="auto">
              <a:xfrm flipV="1">
                <a:off x="1096" y="2077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0" name="Line 1509"/>
              <p:cNvSpPr>
                <a:spLocks noChangeShapeType="1"/>
              </p:cNvSpPr>
              <p:nvPr/>
            </p:nvSpPr>
            <p:spPr bwMode="auto">
              <a:xfrm>
                <a:off x="1094" y="2317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1" name="Line 1510"/>
              <p:cNvSpPr>
                <a:spLocks noChangeShapeType="1"/>
              </p:cNvSpPr>
              <p:nvPr/>
            </p:nvSpPr>
            <p:spPr bwMode="auto">
              <a:xfrm flipH="1" flipV="1">
                <a:off x="1601" y="2074"/>
                <a:ext cx="2" cy="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2" name="Line 1511"/>
              <p:cNvSpPr>
                <a:spLocks noChangeShapeType="1"/>
              </p:cNvSpPr>
              <p:nvPr/>
            </p:nvSpPr>
            <p:spPr bwMode="auto">
              <a:xfrm flipV="1">
                <a:off x="1096" y="2113"/>
                <a:ext cx="506" cy="24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3" name="Line 1512"/>
              <p:cNvSpPr>
                <a:spLocks noChangeShapeType="1"/>
              </p:cNvSpPr>
              <p:nvPr/>
            </p:nvSpPr>
            <p:spPr bwMode="auto">
              <a:xfrm>
                <a:off x="1094" y="2351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4" name="Line 1513"/>
              <p:cNvSpPr>
                <a:spLocks noChangeShapeType="1"/>
              </p:cNvSpPr>
              <p:nvPr/>
            </p:nvSpPr>
            <p:spPr bwMode="auto">
              <a:xfrm flipH="1" flipV="1">
                <a:off x="1601" y="210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5" name="Line 1514"/>
              <p:cNvSpPr>
                <a:spLocks noChangeShapeType="1"/>
              </p:cNvSpPr>
              <p:nvPr/>
            </p:nvSpPr>
            <p:spPr bwMode="auto">
              <a:xfrm flipV="1">
                <a:off x="1096" y="2143"/>
                <a:ext cx="506" cy="243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6" name="Line 1515"/>
              <p:cNvSpPr>
                <a:spLocks noChangeShapeType="1"/>
              </p:cNvSpPr>
              <p:nvPr/>
            </p:nvSpPr>
            <p:spPr bwMode="auto">
              <a:xfrm>
                <a:off x="1094" y="2385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7" name="Line 1516"/>
              <p:cNvSpPr>
                <a:spLocks noChangeShapeType="1"/>
              </p:cNvSpPr>
              <p:nvPr/>
            </p:nvSpPr>
            <p:spPr bwMode="auto">
              <a:xfrm flipH="1" flipV="1">
                <a:off x="1601" y="2140"/>
                <a:ext cx="2" cy="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8" name="Line 1517"/>
              <p:cNvSpPr>
                <a:spLocks noChangeShapeType="1"/>
              </p:cNvSpPr>
              <p:nvPr/>
            </p:nvSpPr>
            <p:spPr bwMode="auto">
              <a:xfrm flipV="1">
                <a:off x="1096" y="2175"/>
                <a:ext cx="506" cy="246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39" name="Line 1518"/>
              <p:cNvSpPr>
                <a:spLocks noChangeShapeType="1"/>
              </p:cNvSpPr>
              <p:nvPr/>
            </p:nvSpPr>
            <p:spPr bwMode="auto">
              <a:xfrm>
                <a:off x="1094" y="2419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0" name="Line 1519"/>
              <p:cNvSpPr>
                <a:spLocks noChangeShapeType="1"/>
              </p:cNvSpPr>
              <p:nvPr/>
            </p:nvSpPr>
            <p:spPr bwMode="auto">
              <a:xfrm flipH="1" flipV="1">
                <a:off x="1601" y="2173"/>
                <a:ext cx="2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1" name="Line 1520"/>
              <p:cNvSpPr>
                <a:spLocks noChangeShapeType="1"/>
              </p:cNvSpPr>
              <p:nvPr/>
            </p:nvSpPr>
            <p:spPr bwMode="auto">
              <a:xfrm flipV="1">
                <a:off x="1096" y="2210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2" name="Line 1521"/>
              <p:cNvSpPr>
                <a:spLocks noChangeShapeType="1"/>
              </p:cNvSpPr>
              <p:nvPr/>
            </p:nvSpPr>
            <p:spPr bwMode="auto">
              <a:xfrm>
                <a:off x="1094" y="2449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3" name="Line 1522"/>
              <p:cNvSpPr>
                <a:spLocks noChangeShapeType="1"/>
              </p:cNvSpPr>
              <p:nvPr/>
            </p:nvSpPr>
            <p:spPr bwMode="auto">
              <a:xfrm flipH="1" flipV="1">
                <a:off x="1601" y="2203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4" name="Line 1523"/>
              <p:cNvSpPr>
                <a:spLocks noChangeShapeType="1"/>
              </p:cNvSpPr>
              <p:nvPr/>
            </p:nvSpPr>
            <p:spPr bwMode="auto">
              <a:xfrm flipV="1">
                <a:off x="1096" y="2244"/>
                <a:ext cx="506" cy="24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5" name="Line 1524"/>
              <p:cNvSpPr>
                <a:spLocks noChangeShapeType="1"/>
              </p:cNvSpPr>
              <p:nvPr/>
            </p:nvSpPr>
            <p:spPr bwMode="auto">
              <a:xfrm>
                <a:off x="1094" y="2482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6" name="Line 1525"/>
              <p:cNvSpPr>
                <a:spLocks noChangeShapeType="1"/>
              </p:cNvSpPr>
              <p:nvPr/>
            </p:nvSpPr>
            <p:spPr bwMode="auto">
              <a:xfrm flipH="1" flipV="1">
                <a:off x="1601" y="2238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7" name="Line 1526"/>
              <p:cNvSpPr>
                <a:spLocks noChangeShapeType="1"/>
              </p:cNvSpPr>
              <p:nvPr/>
            </p:nvSpPr>
            <p:spPr bwMode="auto">
              <a:xfrm flipV="1">
                <a:off x="1096" y="2273"/>
                <a:ext cx="506" cy="244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8" name="Line 1527"/>
              <p:cNvSpPr>
                <a:spLocks noChangeShapeType="1"/>
              </p:cNvSpPr>
              <p:nvPr/>
            </p:nvSpPr>
            <p:spPr bwMode="auto">
              <a:xfrm>
                <a:off x="1094" y="2516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49" name="Line 1528"/>
              <p:cNvSpPr>
                <a:spLocks noChangeShapeType="1"/>
              </p:cNvSpPr>
              <p:nvPr/>
            </p:nvSpPr>
            <p:spPr bwMode="auto">
              <a:xfrm flipH="1" flipV="1">
                <a:off x="1601" y="226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50" name="Freeform 1529"/>
              <p:cNvSpPr>
                <a:spLocks/>
              </p:cNvSpPr>
              <p:nvPr/>
            </p:nvSpPr>
            <p:spPr bwMode="auto">
              <a:xfrm>
                <a:off x="1314" y="1775"/>
                <a:ext cx="289" cy="668"/>
              </a:xfrm>
              <a:custGeom>
                <a:avLst/>
                <a:gdLst>
                  <a:gd name="T0" fmla="*/ 288 w 289"/>
                  <a:gd name="T1" fmla="*/ 523 h 668"/>
                  <a:gd name="T2" fmla="*/ 288 w 289"/>
                  <a:gd name="T3" fmla="*/ 0 h 668"/>
                  <a:gd name="T4" fmla="*/ 0 w 289"/>
                  <a:gd name="T5" fmla="*/ 133 h 668"/>
                  <a:gd name="T6" fmla="*/ 0 w 289"/>
                  <a:gd name="T7" fmla="*/ 667 h 668"/>
                  <a:gd name="T8" fmla="*/ 288 w 289"/>
                  <a:gd name="T9" fmla="*/ 523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9" h="668">
                    <a:moveTo>
                      <a:pt x="288" y="523"/>
                    </a:moveTo>
                    <a:lnTo>
                      <a:pt x="288" y="0"/>
                    </a:lnTo>
                    <a:lnTo>
                      <a:pt x="0" y="133"/>
                    </a:lnTo>
                    <a:lnTo>
                      <a:pt x="0" y="667"/>
                    </a:lnTo>
                    <a:lnTo>
                      <a:pt x="288" y="523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151" name="Freeform 1530"/>
              <p:cNvSpPr>
                <a:spLocks/>
              </p:cNvSpPr>
              <p:nvPr/>
            </p:nvSpPr>
            <p:spPr bwMode="auto">
              <a:xfrm>
                <a:off x="1096" y="1947"/>
                <a:ext cx="507" cy="603"/>
              </a:xfrm>
              <a:custGeom>
                <a:avLst/>
                <a:gdLst>
                  <a:gd name="T0" fmla="*/ 506 w 507"/>
                  <a:gd name="T1" fmla="*/ 353 h 603"/>
                  <a:gd name="T2" fmla="*/ 506 w 507"/>
                  <a:gd name="T3" fmla="*/ 0 h 603"/>
                  <a:gd name="T4" fmla="*/ 0 w 507"/>
                  <a:gd name="T5" fmla="*/ 237 h 603"/>
                  <a:gd name="T6" fmla="*/ 0 w 507"/>
                  <a:gd name="T7" fmla="*/ 602 h 603"/>
                  <a:gd name="T8" fmla="*/ 506 w 507"/>
                  <a:gd name="T9" fmla="*/ 353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603">
                    <a:moveTo>
                      <a:pt x="506" y="353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602"/>
                    </a:lnTo>
                    <a:lnTo>
                      <a:pt x="506" y="353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9" name="Group 1531"/>
            <p:cNvGrpSpPr>
              <a:grpSpLocks/>
            </p:cNvGrpSpPr>
            <p:nvPr/>
          </p:nvGrpSpPr>
          <p:grpSpPr bwMode="auto">
            <a:xfrm>
              <a:off x="4071" y="822"/>
              <a:ext cx="255" cy="276"/>
              <a:chOff x="995" y="1653"/>
              <a:chExt cx="649" cy="959"/>
            </a:xfrm>
          </p:grpSpPr>
          <p:sp>
            <p:nvSpPr>
              <p:cNvPr id="20" name="Freeform 1532"/>
              <p:cNvSpPr>
                <a:spLocks/>
              </p:cNvSpPr>
              <p:nvPr/>
            </p:nvSpPr>
            <p:spPr bwMode="auto">
              <a:xfrm>
                <a:off x="995" y="1653"/>
                <a:ext cx="591" cy="925"/>
              </a:xfrm>
              <a:custGeom>
                <a:avLst/>
                <a:gdLst>
                  <a:gd name="T0" fmla="*/ 590 w 591"/>
                  <a:gd name="T1" fmla="*/ 630 h 925"/>
                  <a:gd name="T2" fmla="*/ 590 w 591"/>
                  <a:gd name="T3" fmla="*/ 0 h 925"/>
                  <a:gd name="T4" fmla="*/ 0 w 591"/>
                  <a:gd name="T5" fmla="*/ 274 h 925"/>
                  <a:gd name="T6" fmla="*/ 0 w 591"/>
                  <a:gd name="T7" fmla="*/ 924 h 925"/>
                  <a:gd name="T8" fmla="*/ 590 w 591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1" h="925">
                    <a:moveTo>
                      <a:pt x="590" y="630"/>
                    </a:moveTo>
                    <a:lnTo>
                      <a:pt x="590" y="0"/>
                    </a:lnTo>
                    <a:lnTo>
                      <a:pt x="0" y="274"/>
                    </a:lnTo>
                    <a:lnTo>
                      <a:pt x="0" y="924"/>
                    </a:lnTo>
                    <a:lnTo>
                      <a:pt x="590" y="630"/>
                    </a:lnTo>
                  </a:path>
                </a:pathLst>
              </a:custGeom>
              <a:solidFill>
                <a:srgbClr val="77777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1" name="Freeform 1533"/>
              <p:cNvSpPr>
                <a:spLocks/>
              </p:cNvSpPr>
              <p:nvPr/>
            </p:nvSpPr>
            <p:spPr bwMode="auto">
              <a:xfrm>
                <a:off x="1024" y="1670"/>
                <a:ext cx="592" cy="925"/>
              </a:xfrm>
              <a:custGeom>
                <a:avLst/>
                <a:gdLst>
                  <a:gd name="T0" fmla="*/ 591 w 592"/>
                  <a:gd name="T1" fmla="*/ 630 h 925"/>
                  <a:gd name="T2" fmla="*/ 591 w 592"/>
                  <a:gd name="T3" fmla="*/ 0 h 925"/>
                  <a:gd name="T4" fmla="*/ 0 w 592"/>
                  <a:gd name="T5" fmla="*/ 273 h 925"/>
                  <a:gd name="T6" fmla="*/ 0 w 592"/>
                  <a:gd name="T7" fmla="*/ 924 h 925"/>
                  <a:gd name="T8" fmla="*/ 591 w 592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2" h="925">
                    <a:moveTo>
                      <a:pt x="591" y="630"/>
                    </a:moveTo>
                    <a:lnTo>
                      <a:pt x="591" y="0"/>
                    </a:lnTo>
                    <a:lnTo>
                      <a:pt x="0" y="273"/>
                    </a:lnTo>
                    <a:lnTo>
                      <a:pt x="0" y="924"/>
                    </a:lnTo>
                    <a:lnTo>
                      <a:pt x="591" y="630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2" name="Freeform 1534"/>
              <p:cNvSpPr>
                <a:spLocks/>
              </p:cNvSpPr>
              <p:nvPr/>
            </p:nvSpPr>
            <p:spPr bwMode="auto">
              <a:xfrm>
                <a:off x="1051" y="1687"/>
                <a:ext cx="593" cy="925"/>
              </a:xfrm>
              <a:custGeom>
                <a:avLst/>
                <a:gdLst>
                  <a:gd name="T0" fmla="*/ 592 w 593"/>
                  <a:gd name="T1" fmla="*/ 630 h 925"/>
                  <a:gd name="T2" fmla="*/ 592 w 593"/>
                  <a:gd name="T3" fmla="*/ 0 h 925"/>
                  <a:gd name="T4" fmla="*/ 0 w 593"/>
                  <a:gd name="T5" fmla="*/ 273 h 925"/>
                  <a:gd name="T6" fmla="*/ 0 w 593"/>
                  <a:gd name="T7" fmla="*/ 924 h 925"/>
                  <a:gd name="T8" fmla="*/ 592 w 593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925">
                    <a:moveTo>
                      <a:pt x="592" y="630"/>
                    </a:moveTo>
                    <a:lnTo>
                      <a:pt x="592" y="0"/>
                    </a:lnTo>
                    <a:lnTo>
                      <a:pt x="0" y="273"/>
                    </a:lnTo>
                    <a:lnTo>
                      <a:pt x="0" y="924"/>
                    </a:lnTo>
                    <a:lnTo>
                      <a:pt x="592" y="630"/>
                    </a:lnTo>
                  </a:path>
                </a:pathLst>
              </a:custGeom>
              <a:solidFill>
                <a:schemeClr val="tx1"/>
              </a:solidFill>
              <a:ln w="12700" cap="rnd" cmpd="sng">
                <a:solidFill>
                  <a:srgbClr val="DDDDDD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3" name="Freeform 1535"/>
              <p:cNvSpPr>
                <a:spLocks/>
              </p:cNvSpPr>
              <p:nvPr/>
            </p:nvSpPr>
            <p:spPr bwMode="auto">
              <a:xfrm>
                <a:off x="1096" y="1775"/>
                <a:ext cx="507" cy="775"/>
              </a:xfrm>
              <a:custGeom>
                <a:avLst/>
                <a:gdLst>
                  <a:gd name="T0" fmla="*/ 506 w 507"/>
                  <a:gd name="T1" fmla="*/ 0 h 775"/>
                  <a:gd name="T2" fmla="*/ 217 w 507"/>
                  <a:gd name="T3" fmla="*/ 133 h 775"/>
                  <a:gd name="T4" fmla="*/ 217 w 507"/>
                  <a:gd name="T5" fmla="*/ 303 h 775"/>
                  <a:gd name="T6" fmla="*/ 0 w 507"/>
                  <a:gd name="T7" fmla="*/ 406 h 775"/>
                  <a:gd name="T8" fmla="*/ 0 w 507"/>
                  <a:gd name="T9" fmla="*/ 774 h 775"/>
                  <a:gd name="T10" fmla="*/ 217 w 507"/>
                  <a:gd name="T11" fmla="*/ 666 h 775"/>
                  <a:gd name="T12" fmla="*/ 217 w 507"/>
                  <a:gd name="T13" fmla="*/ 667 h 775"/>
                  <a:gd name="T14" fmla="*/ 391 w 507"/>
                  <a:gd name="T15" fmla="*/ 580 h 775"/>
                  <a:gd name="T16" fmla="*/ 506 w 507"/>
                  <a:gd name="T17" fmla="*/ 524 h 775"/>
                  <a:gd name="T18" fmla="*/ 506 w 507"/>
                  <a:gd name="T19" fmla="*/ 0 h 7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7" h="775">
                    <a:moveTo>
                      <a:pt x="506" y="0"/>
                    </a:moveTo>
                    <a:lnTo>
                      <a:pt x="217" y="133"/>
                    </a:lnTo>
                    <a:lnTo>
                      <a:pt x="217" y="303"/>
                    </a:lnTo>
                    <a:lnTo>
                      <a:pt x="0" y="406"/>
                    </a:lnTo>
                    <a:lnTo>
                      <a:pt x="0" y="774"/>
                    </a:lnTo>
                    <a:lnTo>
                      <a:pt x="217" y="666"/>
                    </a:lnTo>
                    <a:lnTo>
                      <a:pt x="217" y="667"/>
                    </a:lnTo>
                    <a:lnTo>
                      <a:pt x="391" y="580"/>
                    </a:lnTo>
                    <a:lnTo>
                      <a:pt x="506" y="524"/>
                    </a:lnTo>
                    <a:lnTo>
                      <a:pt x="506" y="0"/>
                    </a:lnTo>
                  </a:path>
                </a:pathLst>
              </a:custGeom>
              <a:solidFill>
                <a:srgbClr val="FFFFD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4" name="Freeform 1536"/>
              <p:cNvSpPr>
                <a:spLocks/>
              </p:cNvSpPr>
              <p:nvPr/>
            </p:nvSpPr>
            <p:spPr bwMode="auto">
              <a:xfrm>
                <a:off x="1096" y="2273"/>
                <a:ext cx="507" cy="277"/>
              </a:xfrm>
              <a:custGeom>
                <a:avLst/>
                <a:gdLst>
                  <a:gd name="T0" fmla="*/ 506 w 507"/>
                  <a:gd name="T1" fmla="*/ 27 h 277"/>
                  <a:gd name="T2" fmla="*/ 506 w 507"/>
                  <a:gd name="T3" fmla="*/ 0 h 277"/>
                  <a:gd name="T4" fmla="*/ 0 w 507"/>
                  <a:gd name="T5" fmla="*/ 242 h 277"/>
                  <a:gd name="T6" fmla="*/ 0 w 507"/>
                  <a:gd name="T7" fmla="*/ 276 h 277"/>
                  <a:gd name="T8" fmla="*/ 506 w 507"/>
                  <a:gd name="T9" fmla="*/ 2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7">
                    <a:moveTo>
                      <a:pt x="506" y="27"/>
                    </a:moveTo>
                    <a:lnTo>
                      <a:pt x="506" y="0"/>
                    </a:lnTo>
                    <a:lnTo>
                      <a:pt x="0" y="242"/>
                    </a:lnTo>
                    <a:lnTo>
                      <a:pt x="0" y="276"/>
                    </a:lnTo>
                    <a:lnTo>
                      <a:pt x="506" y="27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Freeform 1537"/>
              <p:cNvSpPr>
                <a:spLocks/>
              </p:cNvSpPr>
              <p:nvPr/>
            </p:nvSpPr>
            <p:spPr bwMode="auto">
              <a:xfrm>
                <a:off x="1096" y="2213"/>
                <a:ext cx="507" cy="272"/>
              </a:xfrm>
              <a:custGeom>
                <a:avLst/>
                <a:gdLst>
                  <a:gd name="T0" fmla="*/ 506 w 507"/>
                  <a:gd name="T1" fmla="*/ 28 h 272"/>
                  <a:gd name="T2" fmla="*/ 506 w 507"/>
                  <a:gd name="T3" fmla="*/ 0 h 272"/>
                  <a:gd name="T4" fmla="*/ 0 w 507"/>
                  <a:gd name="T5" fmla="*/ 237 h 272"/>
                  <a:gd name="T6" fmla="*/ 0 w 507"/>
                  <a:gd name="T7" fmla="*/ 271 h 272"/>
                  <a:gd name="T8" fmla="*/ 506 w 507"/>
                  <a:gd name="T9" fmla="*/ 2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2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1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6" name="Freeform 1538"/>
              <p:cNvSpPr>
                <a:spLocks/>
              </p:cNvSpPr>
              <p:nvPr/>
            </p:nvSpPr>
            <p:spPr bwMode="auto">
              <a:xfrm>
                <a:off x="1096" y="2147"/>
                <a:ext cx="507" cy="273"/>
              </a:xfrm>
              <a:custGeom>
                <a:avLst/>
                <a:gdLst>
                  <a:gd name="T0" fmla="*/ 506 w 507"/>
                  <a:gd name="T1" fmla="*/ 28 h 273"/>
                  <a:gd name="T2" fmla="*/ 506 w 507"/>
                  <a:gd name="T3" fmla="*/ 0 h 273"/>
                  <a:gd name="T4" fmla="*/ 0 w 507"/>
                  <a:gd name="T5" fmla="*/ 238 h 273"/>
                  <a:gd name="T6" fmla="*/ 0 w 507"/>
                  <a:gd name="T7" fmla="*/ 272 h 273"/>
                  <a:gd name="T8" fmla="*/ 506 w 507"/>
                  <a:gd name="T9" fmla="*/ 28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3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8"/>
                    </a:lnTo>
                    <a:lnTo>
                      <a:pt x="0" y="272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Freeform 1539"/>
              <p:cNvSpPr>
                <a:spLocks/>
              </p:cNvSpPr>
              <p:nvPr/>
            </p:nvSpPr>
            <p:spPr bwMode="auto">
              <a:xfrm>
                <a:off x="1096" y="2083"/>
                <a:ext cx="507" cy="272"/>
              </a:xfrm>
              <a:custGeom>
                <a:avLst/>
                <a:gdLst>
                  <a:gd name="T0" fmla="*/ 506 w 507"/>
                  <a:gd name="T1" fmla="*/ 28 h 272"/>
                  <a:gd name="T2" fmla="*/ 506 w 507"/>
                  <a:gd name="T3" fmla="*/ 0 h 272"/>
                  <a:gd name="T4" fmla="*/ 0 w 507"/>
                  <a:gd name="T5" fmla="*/ 237 h 272"/>
                  <a:gd name="T6" fmla="*/ 0 w 507"/>
                  <a:gd name="T7" fmla="*/ 271 h 272"/>
                  <a:gd name="T8" fmla="*/ 506 w 507"/>
                  <a:gd name="T9" fmla="*/ 2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2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1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8" name="Freeform 1540"/>
              <p:cNvSpPr>
                <a:spLocks/>
              </p:cNvSpPr>
              <p:nvPr/>
            </p:nvSpPr>
            <p:spPr bwMode="auto">
              <a:xfrm>
                <a:off x="1096" y="1947"/>
                <a:ext cx="507" cy="273"/>
              </a:xfrm>
              <a:custGeom>
                <a:avLst/>
                <a:gdLst>
                  <a:gd name="T0" fmla="*/ 506 w 507"/>
                  <a:gd name="T1" fmla="*/ 32 h 273"/>
                  <a:gd name="T2" fmla="*/ 506 w 507"/>
                  <a:gd name="T3" fmla="*/ 0 h 273"/>
                  <a:gd name="T4" fmla="*/ 0 w 507"/>
                  <a:gd name="T5" fmla="*/ 237 h 273"/>
                  <a:gd name="T6" fmla="*/ 0 w 507"/>
                  <a:gd name="T7" fmla="*/ 272 h 273"/>
                  <a:gd name="T8" fmla="*/ 506 w 507"/>
                  <a:gd name="T9" fmla="*/ 32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3">
                    <a:moveTo>
                      <a:pt x="506" y="32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2"/>
                    </a:lnTo>
                    <a:lnTo>
                      <a:pt x="506" y="32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29" name="Freeform 1541"/>
              <p:cNvSpPr>
                <a:spLocks/>
              </p:cNvSpPr>
              <p:nvPr/>
            </p:nvSpPr>
            <p:spPr bwMode="auto">
              <a:xfrm>
                <a:off x="1096" y="2013"/>
                <a:ext cx="507" cy="276"/>
              </a:xfrm>
              <a:custGeom>
                <a:avLst/>
                <a:gdLst>
                  <a:gd name="T0" fmla="*/ 506 w 507"/>
                  <a:gd name="T1" fmla="*/ 32 h 276"/>
                  <a:gd name="T2" fmla="*/ 506 w 507"/>
                  <a:gd name="T3" fmla="*/ 0 h 276"/>
                  <a:gd name="T4" fmla="*/ 0 w 507"/>
                  <a:gd name="T5" fmla="*/ 238 h 276"/>
                  <a:gd name="T6" fmla="*/ 0 w 507"/>
                  <a:gd name="T7" fmla="*/ 275 h 276"/>
                  <a:gd name="T8" fmla="*/ 506 w 507"/>
                  <a:gd name="T9" fmla="*/ 32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6">
                    <a:moveTo>
                      <a:pt x="506" y="32"/>
                    </a:moveTo>
                    <a:lnTo>
                      <a:pt x="506" y="0"/>
                    </a:lnTo>
                    <a:lnTo>
                      <a:pt x="0" y="238"/>
                    </a:lnTo>
                    <a:lnTo>
                      <a:pt x="0" y="275"/>
                    </a:lnTo>
                    <a:lnTo>
                      <a:pt x="506" y="32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0" name="Line 1542"/>
              <p:cNvSpPr>
                <a:spLocks noChangeShapeType="1"/>
              </p:cNvSpPr>
              <p:nvPr/>
            </p:nvSpPr>
            <p:spPr bwMode="auto">
              <a:xfrm>
                <a:off x="1346" y="1895"/>
                <a:ext cx="0" cy="53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1" name="Line 1543"/>
              <p:cNvSpPr>
                <a:spLocks noChangeShapeType="1"/>
              </p:cNvSpPr>
              <p:nvPr/>
            </p:nvSpPr>
            <p:spPr bwMode="auto">
              <a:xfrm flipH="1">
                <a:off x="1342" y="1896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2" name="Line 1544"/>
              <p:cNvSpPr>
                <a:spLocks noChangeShapeType="1"/>
              </p:cNvSpPr>
              <p:nvPr/>
            </p:nvSpPr>
            <p:spPr bwMode="auto">
              <a:xfrm>
                <a:off x="1342" y="2425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3" name="Line 1545"/>
              <p:cNvSpPr>
                <a:spLocks noChangeShapeType="1"/>
              </p:cNvSpPr>
              <p:nvPr/>
            </p:nvSpPr>
            <p:spPr bwMode="auto">
              <a:xfrm>
                <a:off x="1376" y="1884"/>
                <a:ext cx="0" cy="528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4" name="Line 1546"/>
              <p:cNvSpPr>
                <a:spLocks noChangeShapeType="1"/>
              </p:cNvSpPr>
              <p:nvPr/>
            </p:nvSpPr>
            <p:spPr bwMode="auto">
              <a:xfrm flipH="1">
                <a:off x="1374" y="1884"/>
                <a:ext cx="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5" name="Line 1547"/>
              <p:cNvSpPr>
                <a:spLocks noChangeShapeType="1"/>
              </p:cNvSpPr>
              <p:nvPr/>
            </p:nvSpPr>
            <p:spPr bwMode="auto">
              <a:xfrm>
                <a:off x="1374" y="2412"/>
                <a:ext cx="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6" name="Line 1548"/>
              <p:cNvSpPr>
                <a:spLocks noChangeShapeType="1"/>
              </p:cNvSpPr>
              <p:nvPr/>
            </p:nvSpPr>
            <p:spPr bwMode="auto">
              <a:xfrm>
                <a:off x="1408" y="1868"/>
                <a:ext cx="0" cy="53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7" name="Line 1549"/>
              <p:cNvSpPr>
                <a:spLocks noChangeShapeType="1"/>
              </p:cNvSpPr>
              <p:nvPr/>
            </p:nvSpPr>
            <p:spPr bwMode="auto">
              <a:xfrm flipH="1">
                <a:off x="1405" y="1868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8" name="Line 1550"/>
              <p:cNvSpPr>
                <a:spLocks noChangeShapeType="1"/>
              </p:cNvSpPr>
              <p:nvPr/>
            </p:nvSpPr>
            <p:spPr bwMode="auto">
              <a:xfrm>
                <a:off x="1405" y="2398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39" name="Line 1551"/>
              <p:cNvSpPr>
                <a:spLocks noChangeShapeType="1"/>
              </p:cNvSpPr>
              <p:nvPr/>
            </p:nvSpPr>
            <p:spPr bwMode="auto">
              <a:xfrm>
                <a:off x="1438" y="1855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0" name="Line 1552"/>
              <p:cNvSpPr>
                <a:spLocks noChangeShapeType="1"/>
              </p:cNvSpPr>
              <p:nvPr/>
            </p:nvSpPr>
            <p:spPr bwMode="auto">
              <a:xfrm flipH="1">
                <a:off x="1436" y="1855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1" name="Line 1553"/>
              <p:cNvSpPr>
                <a:spLocks noChangeShapeType="1"/>
              </p:cNvSpPr>
              <p:nvPr/>
            </p:nvSpPr>
            <p:spPr bwMode="auto">
              <a:xfrm>
                <a:off x="1436" y="2380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2" name="Line 1554"/>
              <p:cNvSpPr>
                <a:spLocks noChangeShapeType="1"/>
              </p:cNvSpPr>
              <p:nvPr/>
            </p:nvSpPr>
            <p:spPr bwMode="auto">
              <a:xfrm>
                <a:off x="1470" y="1840"/>
                <a:ext cx="0" cy="524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3" name="Line 1555"/>
              <p:cNvSpPr>
                <a:spLocks noChangeShapeType="1"/>
              </p:cNvSpPr>
              <p:nvPr/>
            </p:nvSpPr>
            <p:spPr bwMode="auto">
              <a:xfrm flipH="1">
                <a:off x="1466" y="1840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Line 1556"/>
              <p:cNvSpPr>
                <a:spLocks noChangeShapeType="1"/>
              </p:cNvSpPr>
              <p:nvPr/>
            </p:nvSpPr>
            <p:spPr bwMode="auto">
              <a:xfrm>
                <a:off x="1466" y="2364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5" name="Line 1557"/>
              <p:cNvSpPr>
                <a:spLocks noChangeShapeType="1"/>
              </p:cNvSpPr>
              <p:nvPr/>
            </p:nvSpPr>
            <p:spPr bwMode="auto">
              <a:xfrm>
                <a:off x="1501" y="1826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6" name="Line 1558"/>
              <p:cNvSpPr>
                <a:spLocks noChangeShapeType="1"/>
              </p:cNvSpPr>
              <p:nvPr/>
            </p:nvSpPr>
            <p:spPr bwMode="auto">
              <a:xfrm flipH="1">
                <a:off x="1497" y="1826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7" name="Line 1559"/>
              <p:cNvSpPr>
                <a:spLocks noChangeShapeType="1"/>
              </p:cNvSpPr>
              <p:nvPr/>
            </p:nvSpPr>
            <p:spPr bwMode="auto">
              <a:xfrm>
                <a:off x="1497" y="2351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8" name="Line 1560"/>
              <p:cNvSpPr>
                <a:spLocks noChangeShapeType="1"/>
              </p:cNvSpPr>
              <p:nvPr/>
            </p:nvSpPr>
            <p:spPr bwMode="auto">
              <a:xfrm>
                <a:off x="1535" y="1808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49" name="Line 1561"/>
              <p:cNvSpPr>
                <a:spLocks noChangeShapeType="1"/>
              </p:cNvSpPr>
              <p:nvPr/>
            </p:nvSpPr>
            <p:spPr bwMode="auto">
              <a:xfrm flipH="1">
                <a:off x="1531" y="1808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0" name="Line 1562"/>
              <p:cNvSpPr>
                <a:spLocks noChangeShapeType="1"/>
              </p:cNvSpPr>
              <p:nvPr/>
            </p:nvSpPr>
            <p:spPr bwMode="auto">
              <a:xfrm>
                <a:off x="1531" y="2333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1" name="Line 1563"/>
              <p:cNvSpPr>
                <a:spLocks noChangeShapeType="1"/>
              </p:cNvSpPr>
              <p:nvPr/>
            </p:nvSpPr>
            <p:spPr bwMode="auto">
              <a:xfrm>
                <a:off x="1567" y="1793"/>
                <a:ext cx="0" cy="523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2" name="Line 1564"/>
              <p:cNvSpPr>
                <a:spLocks noChangeShapeType="1"/>
              </p:cNvSpPr>
              <p:nvPr/>
            </p:nvSpPr>
            <p:spPr bwMode="auto">
              <a:xfrm flipH="1">
                <a:off x="1563" y="1793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3" name="Line 1565"/>
              <p:cNvSpPr>
                <a:spLocks noChangeShapeType="1"/>
              </p:cNvSpPr>
              <p:nvPr/>
            </p:nvSpPr>
            <p:spPr bwMode="auto">
              <a:xfrm>
                <a:off x="1563" y="2316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4" name="Line 1566"/>
              <p:cNvSpPr>
                <a:spLocks noChangeShapeType="1"/>
              </p:cNvSpPr>
              <p:nvPr/>
            </p:nvSpPr>
            <p:spPr bwMode="auto">
              <a:xfrm flipV="1">
                <a:off x="1096" y="1977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5" name="Line 1567"/>
              <p:cNvSpPr>
                <a:spLocks noChangeShapeType="1"/>
              </p:cNvSpPr>
              <p:nvPr/>
            </p:nvSpPr>
            <p:spPr bwMode="auto">
              <a:xfrm>
                <a:off x="1094" y="2215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6" name="Line 1568"/>
              <p:cNvSpPr>
                <a:spLocks noChangeShapeType="1"/>
              </p:cNvSpPr>
              <p:nvPr/>
            </p:nvSpPr>
            <p:spPr bwMode="auto">
              <a:xfrm flipH="1" flipV="1">
                <a:off x="1601" y="1972"/>
                <a:ext cx="2" cy="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7" name="Line 1569"/>
              <p:cNvSpPr>
                <a:spLocks noChangeShapeType="1"/>
              </p:cNvSpPr>
              <p:nvPr/>
            </p:nvSpPr>
            <p:spPr bwMode="auto">
              <a:xfrm flipV="1">
                <a:off x="1096" y="2010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8" name="Line 1570"/>
              <p:cNvSpPr>
                <a:spLocks noChangeShapeType="1"/>
              </p:cNvSpPr>
              <p:nvPr/>
            </p:nvSpPr>
            <p:spPr bwMode="auto">
              <a:xfrm>
                <a:off x="1094" y="2248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59" name="Line 1571"/>
              <p:cNvSpPr>
                <a:spLocks noChangeShapeType="1"/>
              </p:cNvSpPr>
              <p:nvPr/>
            </p:nvSpPr>
            <p:spPr bwMode="auto">
              <a:xfrm flipH="1" flipV="1">
                <a:off x="1601" y="2004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0" name="Line 1572"/>
              <p:cNvSpPr>
                <a:spLocks noChangeShapeType="1"/>
              </p:cNvSpPr>
              <p:nvPr/>
            </p:nvSpPr>
            <p:spPr bwMode="auto">
              <a:xfrm flipV="1">
                <a:off x="1096" y="2039"/>
                <a:ext cx="506" cy="241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1" name="Line 1573"/>
              <p:cNvSpPr>
                <a:spLocks noChangeShapeType="1"/>
              </p:cNvSpPr>
              <p:nvPr/>
            </p:nvSpPr>
            <p:spPr bwMode="auto">
              <a:xfrm>
                <a:off x="1094" y="2280"/>
                <a:ext cx="1" cy="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2" name="Line 1574"/>
              <p:cNvSpPr>
                <a:spLocks noChangeShapeType="1"/>
              </p:cNvSpPr>
              <p:nvPr/>
            </p:nvSpPr>
            <p:spPr bwMode="auto">
              <a:xfrm flipH="1" flipV="1">
                <a:off x="1601" y="203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3" name="Line 1575"/>
              <p:cNvSpPr>
                <a:spLocks noChangeShapeType="1"/>
              </p:cNvSpPr>
              <p:nvPr/>
            </p:nvSpPr>
            <p:spPr bwMode="auto">
              <a:xfrm flipV="1">
                <a:off x="1096" y="2077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4" name="Line 1576"/>
              <p:cNvSpPr>
                <a:spLocks noChangeShapeType="1"/>
              </p:cNvSpPr>
              <p:nvPr/>
            </p:nvSpPr>
            <p:spPr bwMode="auto">
              <a:xfrm>
                <a:off x="1094" y="2317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5" name="Line 1577"/>
              <p:cNvSpPr>
                <a:spLocks noChangeShapeType="1"/>
              </p:cNvSpPr>
              <p:nvPr/>
            </p:nvSpPr>
            <p:spPr bwMode="auto">
              <a:xfrm flipH="1" flipV="1">
                <a:off x="1601" y="2074"/>
                <a:ext cx="2" cy="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6" name="Line 1578"/>
              <p:cNvSpPr>
                <a:spLocks noChangeShapeType="1"/>
              </p:cNvSpPr>
              <p:nvPr/>
            </p:nvSpPr>
            <p:spPr bwMode="auto">
              <a:xfrm flipV="1">
                <a:off x="1096" y="2113"/>
                <a:ext cx="506" cy="24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7" name="Line 1579"/>
              <p:cNvSpPr>
                <a:spLocks noChangeShapeType="1"/>
              </p:cNvSpPr>
              <p:nvPr/>
            </p:nvSpPr>
            <p:spPr bwMode="auto">
              <a:xfrm>
                <a:off x="1094" y="2351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8" name="Line 1580"/>
              <p:cNvSpPr>
                <a:spLocks noChangeShapeType="1"/>
              </p:cNvSpPr>
              <p:nvPr/>
            </p:nvSpPr>
            <p:spPr bwMode="auto">
              <a:xfrm flipH="1" flipV="1">
                <a:off x="1601" y="210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69" name="Line 1581"/>
              <p:cNvSpPr>
                <a:spLocks noChangeShapeType="1"/>
              </p:cNvSpPr>
              <p:nvPr/>
            </p:nvSpPr>
            <p:spPr bwMode="auto">
              <a:xfrm flipV="1">
                <a:off x="1096" y="2143"/>
                <a:ext cx="506" cy="243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0" name="Line 1582"/>
              <p:cNvSpPr>
                <a:spLocks noChangeShapeType="1"/>
              </p:cNvSpPr>
              <p:nvPr/>
            </p:nvSpPr>
            <p:spPr bwMode="auto">
              <a:xfrm>
                <a:off x="1094" y="2385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1" name="Line 1583"/>
              <p:cNvSpPr>
                <a:spLocks noChangeShapeType="1"/>
              </p:cNvSpPr>
              <p:nvPr/>
            </p:nvSpPr>
            <p:spPr bwMode="auto">
              <a:xfrm flipH="1" flipV="1">
                <a:off x="1601" y="2140"/>
                <a:ext cx="2" cy="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2" name="Line 1584"/>
              <p:cNvSpPr>
                <a:spLocks noChangeShapeType="1"/>
              </p:cNvSpPr>
              <p:nvPr/>
            </p:nvSpPr>
            <p:spPr bwMode="auto">
              <a:xfrm flipV="1">
                <a:off x="1096" y="2175"/>
                <a:ext cx="506" cy="246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3" name="Line 1585"/>
              <p:cNvSpPr>
                <a:spLocks noChangeShapeType="1"/>
              </p:cNvSpPr>
              <p:nvPr/>
            </p:nvSpPr>
            <p:spPr bwMode="auto">
              <a:xfrm>
                <a:off x="1094" y="2419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4" name="Line 1586"/>
              <p:cNvSpPr>
                <a:spLocks noChangeShapeType="1"/>
              </p:cNvSpPr>
              <p:nvPr/>
            </p:nvSpPr>
            <p:spPr bwMode="auto">
              <a:xfrm flipH="1" flipV="1">
                <a:off x="1601" y="2173"/>
                <a:ext cx="2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5" name="Line 1587"/>
              <p:cNvSpPr>
                <a:spLocks noChangeShapeType="1"/>
              </p:cNvSpPr>
              <p:nvPr/>
            </p:nvSpPr>
            <p:spPr bwMode="auto">
              <a:xfrm flipV="1">
                <a:off x="1096" y="2210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6" name="Line 1588"/>
              <p:cNvSpPr>
                <a:spLocks noChangeShapeType="1"/>
              </p:cNvSpPr>
              <p:nvPr/>
            </p:nvSpPr>
            <p:spPr bwMode="auto">
              <a:xfrm>
                <a:off x="1094" y="2449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7" name="Line 1589"/>
              <p:cNvSpPr>
                <a:spLocks noChangeShapeType="1"/>
              </p:cNvSpPr>
              <p:nvPr/>
            </p:nvSpPr>
            <p:spPr bwMode="auto">
              <a:xfrm flipH="1" flipV="1">
                <a:off x="1601" y="2203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8" name="Line 1590"/>
              <p:cNvSpPr>
                <a:spLocks noChangeShapeType="1"/>
              </p:cNvSpPr>
              <p:nvPr/>
            </p:nvSpPr>
            <p:spPr bwMode="auto">
              <a:xfrm flipV="1">
                <a:off x="1096" y="2244"/>
                <a:ext cx="506" cy="24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79" name="Line 1591"/>
              <p:cNvSpPr>
                <a:spLocks noChangeShapeType="1"/>
              </p:cNvSpPr>
              <p:nvPr/>
            </p:nvSpPr>
            <p:spPr bwMode="auto">
              <a:xfrm>
                <a:off x="1094" y="2482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0" name="Line 1592"/>
              <p:cNvSpPr>
                <a:spLocks noChangeShapeType="1"/>
              </p:cNvSpPr>
              <p:nvPr/>
            </p:nvSpPr>
            <p:spPr bwMode="auto">
              <a:xfrm flipH="1" flipV="1">
                <a:off x="1601" y="2238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1" name="Line 1593"/>
              <p:cNvSpPr>
                <a:spLocks noChangeShapeType="1"/>
              </p:cNvSpPr>
              <p:nvPr/>
            </p:nvSpPr>
            <p:spPr bwMode="auto">
              <a:xfrm flipV="1">
                <a:off x="1096" y="2273"/>
                <a:ext cx="506" cy="244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2" name="Line 1594"/>
              <p:cNvSpPr>
                <a:spLocks noChangeShapeType="1"/>
              </p:cNvSpPr>
              <p:nvPr/>
            </p:nvSpPr>
            <p:spPr bwMode="auto">
              <a:xfrm>
                <a:off x="1094" y="2516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3" name="Line 1595"/>
              <p:cNvSpPr>
                <a:spLocks noChangeShapeType="1"/>
              </p:cNvSpPr>
              <p:nvPr/>
            </p:nvSpPr>
            <p:spPr bwMode="auto">
              <a:xfrm flipH="1" flipV="1">
                <a:off x="1601" y="226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4" name="Freeform 1596"/>
              <p:cNvSpPr>
                <a:spLocks/>
              </p:cNvSpPr>
              <p:nvPr/>
            </p:nvSpPr>
            <p:spPr bwMode="auto">
              <a:xfrm>
                <a:off x="1314" y="1775"/>
                <a:ext cx="289" cy="668"/>
              </a:xfrm>
              <a:custGeom>
                <a:avLst/>
                <a:gdLst>
                  <a:gd name="T0" fmla="*/ 288 w 289"/>
                  <a:gd name="T1" fmla="*/ 523 h 668"/>
                  <a:gd name="T2" fmla="*/ 288 w 289"/>
                  <a:gd name="T3" fmla="*/ 0 h 668"/>
                  <a:gd name="T4" fmla="*/ 0 w 289"/>
                  <a:gd name="T5" fmla="*/ 133 h 668"/>
                  <a:gd name="T6" fmla="*/ 0 w 289"/>
                  <a:gd name="T7" fmla="*/ 667 h 668"/>
                  <a:gd name="T8" fmla="*/ 288 w 289"/>
                  <a:gd name="T9" fmla="*/ 523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9" h="668">
                    <a:moveTo>
                      <a:pt x="288" y="523"/>
                    </a:moveTo>
                    <a:lnTo>
                      <a:pt x="288" y="0"/>
                    </a:lnTo>
                    <a:lnTo>
                      <a:pt x="0" y="133"/>
                    </a:lnTo>
                    <a:lnTo>
                      <a:pt x="0" y="667"/>
                    </a:lnTo>
                    <a:lnTo>
                      <a:pt x="288" y="523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  <p:sp>
            <p:nvSpPr>
              <p:cNvPr id="85" name="Freeform 1597"/>
              <p:cNvSpPr>
                <a:spLocks/>
              </p:cNvSpPr>
              <p:nvPr/>
            </p:nvSpPr>
            <p:spPr bwMode="auto">
              <a:xfrm>
                <a:off x="1096" y="1947"/>
                <a:ext cx="507" cy="603"/>
              </a:xfrm>
              <a:custGeom>
                <a:avLst/>
                <a:gdLst>
                  <a:gd name="T0" fmla="*/ 506 w 507"/>
                  <a:gd name="T1" fmla="*/ 353 h 603"/>
                  <a:gd name="T2" fmla="*/ 506 w 507"/>
                  <a:gd name="T3" fmla="*/ 0 h 603"/>
                  <a:gd name="T4" fmla="*/ 0 w 507"/>
                  <a:gd name="T5" fmla="*/ 237 h 603"/>
                  <a:gd name="T6" fmla="*/ 0 w 507"/>
                  <a:gd name="T7" fmla="*/ 602 h 603"/>
                  <a:gd name="T8" fmla="*/ 506 w 507"/>
                  <a:gd name="T9" fmla="*/ 353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603">
                    <a:moveTo>
                      <a:pt x="506" y="353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602"/>
                    </a:lnTo>
                    <a:lnTo>
                      <a:pt x="506" y="353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>
                  <a:solidFill>
                    <a:srgbClr val="FF0000"/>
                  </a:solidFill>
                </a:endParaRPr>
              </a:p>
            </p:txBody>
          </p:sp>
        </p:grpSp>
      </p:grpSp>
      <p:sp>
        <p:nvSpPr>
          <p:cNvPr id="152" name="Text Box 1598"/>
          <p:cNvSpPr txBox="1">
            <a:spLocks noChangeArrowheads="1"/>
          </p:cNvSpPr>
          <p:nvPr/>
        </p:nvSpPr>
        <p:spPr bwMode="auto">
          <a:xfrm>
            <a:off x="5516744" y="1001448"/>
            <a:ext cx="2249488" cy="257175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Proactive Service</a:t>
            </a:r>
          </a:p>
        </p:txBody>
      </p:sp>
      <p:grpSp>
        <p:nvGrpSpPr>
          <p:cNvPr id="153" name="Group 1599"/>
          <p:cNvGrpSpPr>
            <a:grpSpLocks/>
          </p:cNvGrpSpPr>
          <p:nvPr/>
        </p:nvGrpSpPr>
        <p:grpSpPr bwMode="auto">
          <a:xfrm>
            <a:off x="5040494" y="942711"/>
            <a:ext cx="3028950" cy="352425"/>
            <a:chOff x="2091" y="3079"/>
            <a:chExt cx="1516" cy="306"/>
          </a:xfrm>
        </p:grpSpPr>
        <p:sp>
          <p:nvSpPr>
            <p:cNvPr id="154" name="Line 1600"/>
            <p:cNvSpPr>
              <a:spLocks noChangeShapeType="1"/>
            </p:cNvSpPr>
            <p:nvPr/>
          </p:nvSpPr>
          <p:spPr bwMode="auto">
            <a:xfrm rot="5400000">
              <a:off x="1938" y="3232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155" name="Line 1601"/>
            <p:cNvSpPr>
              <a:spLocks noChangeShapeType="1"/>
            </p:cNvSpPr>
            <p:nvPr/>
          </p:nvSpPr>
          <p:spPr bwMode="auto">
            <a:xfrm rot="5400000">
              <a:off x="3454" y="3232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</p:grpSp>
      <p:sp>
        <p:nvSpPr>
          <p:cNvPr id="156" name="Line 1602"/>
          <p:cNvSpPr>
            <a:spLocks noChangeShapeType="1"/>
          </p:cNvSpPr>
          <p:nvPr/>
        </p:nvSpPr>
        <p:spPr bwMode="auto">
          <a:xfrm rot="5400000">
            <a:off x="8679838" y="4561417"/>
            <a:ext cx="312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57" name="Line 1603"/>
          <p:cNvSpPr>
            <a:spLocks noChangeShapeType="1"/>
          </p:cNvSpPr>
          <p:nvPr/>
        </p:nvSpPr>
        <p:spPr bwMode="auto">
          <a:xfrm rot="5400000">
            <a:off x="6414475" y="4561417"/>
            <a:ext cx="312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58" name="Line 1604"/>
          <p:cNvSpPr>
            <a:spLocks noChangeShapeType="1"/>
          </p:cNvSpPr>
          <p:nvPr/>
        </p:nvSpPr>
        <p:spPr bwMode="auto">
          <a:xfrm rot="5400000">
            <a:off x="4149113" y="4561417"/>
            <a:ext cx="312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59" name="Line 1605"/>
          <p:cNvSpPr>
            <a:spLocks noChangeShapeType="1"/>
          </p:cNvSpPr>
          <p:nvPr/>
        </p:nvSpPr>
        <p:spPr bwMode="auto">
          <a:xfrm rot="5400000">
            <a:off x="7546363" y="4561417"/>
            <a:ext cx="312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60" name="Line 1606"/>
          <p:cNvSpPr>
            <a:spLocks noChangeShapeType="1"/>
          </p:cNvSpPr>
          <p:nvPr/>
        </p:nvSpPr>
        <p:spPr bwMode="auto">
          <a:xfrm rot="5400000">
            <a:off x="5281000" y="4561417"/>
            <a:ext cx="3127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61" name="Text Box 1607"/>
          <p:cNvSpPr txBox="1">
            <a:spLocks noChangeArrowheads="1"/>
          </p:cNvSpPr>
          <p:nvPr/>
        </p:nvSpPr>
        <p:spPr bwMode="auto">
          <a:xfrm>
            <a:off x="3176769" y="930011"/>
            <a:ext cx="1203325" cy="422275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Rapid</a:t>
            </a:r>
            <a:br>
              <a:rPr lang="en-US" altLang="pt-BR" sz="1200" b="1">
                <a:solidFill>
                  <a:srgbClr val="FF0000"/>
                </a:solidFill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Resolution</a:t>
            </a:r>
          </a:p>
        </p:txBody>
      </p:sp>
      <p:sp>
        <p:nvSpPr>
          <p:cNvPr id="162" name="AutoShape 1608"/>
          <p:cNvSpPr>
            <a:spLocks noChangeArrowheads="1"/>
          </p:cNvSpPr>
          <p:nvPr/>
        </p:nvSpPr>
        <p:spPr bwMode="auto">
          <a:xfrm>
            <a:off x="3807007" y="1395148"/>
            <a:ext cx="5518150" cy="2900363"/>
          </a:xfrm>
          <a:prstGeom prst="roundRect">
            <a:avLst>
              <a:gd name="adj" fmla="val 7134"/>
            </a:avLst>
          </a:prstGeom>
          <a:gradFill rotWithShape="0">
            <a:gsLst>
              <a:gs pos="0">
                <a:srgbClr val="5F5F5F"/>
              </a:gs>
              <a:gs pos="100000">
                <a:srgbClr val="5F5F5F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scene3d>
            <a:camera prst="legacyObliqueTopRight"/>
            <a:lightRig rig="legacyFlat3" dir="b"/>
          </a:scene3d>
          <a:sp3d extrusionH="100000" contourW="12700" prstMaterial="legacyMatte">
            <a:bevelT w="13500" h="13500" prst="angle"/>
            <a:bevelB w="13500" h="13500" prst="angle"/>
            <a:extrusionClr>
              <a:srgbClr val="5F5F5F"/>
            </a:extrusionClr>
            <a:contourClr>
              <a:srgbClr val="5F5F5F"/>
            </a:contourClr>
          </a:sp3d>
          <a:extLst>
            <a:ext uri="{91240B29-F687-4F45-9708-019B960494DF}">
              <a14:hiddenLine xmlns:a14="http://schemas.microsoft.com/office/drawing/2010/main" w="28575">
                <a:noFill/>
                <a:prstDash val="dash"/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29783" dir="1514402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163" name="AutoShape 1609"/>
          <p:cNvSpPr>
            <a:spLocks noChangeArrowheads="1"/>
          </p:cNvSpPr>
          <p:nvPr/>
        </p:nvSpPr>
        <p:spPr bwMode="auto">
          <a:xfrm flipV="1">
            <a:off x="5008744" y="2290498"/>
            <a:ext cx="4060825" cy="377825"/>
          </a:xfrm>
          <a:prstGeom prst="triangle">
            <a:avLst>
              <a:gd name="adj" fmla="val 51194"/>
            </a:avLst>
          </a:prstGeom>
          <a:gradFill rotWithShape="0">
            <a:gsLst>
              <a:gs pos="0">
                <a:srgbClr val="FFFF66">
                  <a:gamma/>
                  <a:shade val="0"/>
                  <a:invGamma/>
                </a:srgbClr>
              </a:gs>
              <a:gs pos="100000">
                <a:srgbClr val="FFFF66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64" name="AutoShape 1610"/>
          <p:cNvSpPr>
            <a:spLocks noChangeArrowheads="1"/>
          </p:cNvSpPr>
          <p:nvPr/>
        </p:nvSpPr>
        <p:spPr bwMode="auto">
          <a:xfrm>
            <a:off x="4978582" y="1487223"/>
            <a:ext cx="4114800" cy="817563"/>
          </a:xfrm>
          <a:prstGeom prst="roundRect">
            <a:avLst>
              <a:gd name="adj" fmla="val 7394"/>
            </a:avLst>
          </a:prstGeom>
          <a:gradFill rotWithShape="0">
            <a:gsLst>
              <a:gs pos="0">
                <a:srgbClr val="0066CC"/>
              </a:gs>
              <a:gs pos="100000">
                <a:srgbClr val="0066CC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3366FF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65" name="AutoShape 1611"/>
          <p:cNvSpPr>
            <a:spLocks noChangeArrowheads="1"/>
          </p:cNvSpPr>
          <p:nvPr/>
        </p:nvSpPr>
        <p:spPr bwMode="auto">
          <a:xfrm>
            <a:off x="5086532" y="1522148"/>
            <a:ext cx="1246187" cy="292100"/>
          </a:xfrm>
          <a:prstGeom prst="roundRect">
            <a:avLst>
              <a:gd name="adj" fmla="val 16579"/>
            </a:avLst>
          </a:prstGeom>
          <a:gradFill rotWithShape="0">
            <a:gsLst>
              <a:gs pos="0">
                <a:srgbClr val="EC8C00"/>
              </a:gs>
              <a:gs pos="100000">
                <a:srgbClr val="EC8C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Self-Service</a:t>
            </a:r>
          </a:p>
        </p:txBody>
      </p:sp>
      <p:sp>
        <p:nvSpPr>
          <p:cNvPr id="166" name="AutoShape 1612"/>
          <p:cNvSpPr>
            <a:spLocks noChangeArrowheads="1"/>
          </p:cNvSpPr>
          <p:nvPr/>
        </p:nvSpPr>
        <p:spPr bwMode="auto">
          <a:xfrm>
            <a:off x="7751944" y="1874573"/>
            <a:ext cx="1246188" cy="292100"/>
          </a:xfrm>
          <a:prstGeom prst="roundRect">
            <a:avLst>
              <a:gd name="adj" fmla="val 16579"/>
            </a:avLst>
          </a:prstGeom>
          <a:gradFill rotWithShape="0">
            <a:gsLst>
              <a:gs pos="0">
                <a:srgbClr val="EC8C00"/>
              </a:gs>
              <a:gs pos="100000">
                <a:srgbClr val="EC8C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Depot Repair</a:t>
            </a:r>
          </a:p>
        </p:txBody>
      </p:sp>
      <p:sp>
        <p:nvSpPr>
          <p:cNvPr id="167" name="AutoShape 1613"/>
          <p:cNvSpPr>
            <a:spLocks noChangeArrowheads="1"/>
          </p:cNvSpPr>
          <p:nvPr/>
        </p:nvSpPr>
        <p:spPr bwMode="auto">
          <a:xfrm>
            <a:off x="5086532" y="1874573"/>
            <a:ext cx="1246187" cy="292100"/>
          </a:xfrm>
          <a:prstGeom prst="roundRect">
            <a:avLst>
              <a:gd name="adj" fmla="val 16579"/>
            </a:avLst>
          </a:prstGeom>
          <a:gradFill rotWithShape="0">
            <a:gsLst>
              <a:gs pos="0">
                <a:srgbClr val="EC8C00"/>
              </a:gs>
              <a:gs pos="100000">
                <a:srgbClr val="EC8C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Agent Assisted</a:t>
            </a:r>
          </a:p>
        </p:txBody>
      </p:sp>
      <p:sp>
        <p:nvSpPr>
          <p:cNvPr id="168" name="AutoShape 1614"/>
          <p:cNvSpPr>
            <a:spLocks noChangeArrowheads="1"/>
          </p:cNvSpPr>
          <p:nvPr/>
        </p:nvSpPr>
        <p:spPr bwMode="auto">
          <a:xfrm>
            <a:off x="7751944" y="1522148"/>
            <a:ext cx="1246188" cy="292100"/>
          </a:xfrm>
          <a:prstGeom prst="roundRect">
            <a:avLst>
              <a:gd name="adj" fmla="val 16579"/>
            </a:avLst>
          </a:prstGeom>
          <a:gradFill rotWithShape="0">
            <a:gsLst>
              <a:gs pos="0">
                <a:srgbClr val="EC8C00"/>
              </a:gs>
              <a:gs pos="100000">
                <a:srgbClr val="EC8C0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Field Service</a:t>
            </a:r>
          </a:p>
        </p:txBody>
      </p:sp>
      <p:sp>
        <p:nvSpPr>
          <p:cNvPr id="169" name="Freeform 1615"/>
          <p:cNvSpPr>
            <a:spLocks/>
          </p:cNvSpPr>
          <p:nvPr/>
        </p:nvSpPr>
        <p:spPr bwMode="auto">
          <a:xfrm rot="21575731">
            <a:off x="5343707" y="2690548"/>
            <a:ext cx="960437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70" name="Freeform 1616"/>
          <p:cNvSpPr>
            <a:spLocks/>
          </p:cNvSpPr>
          <p:nvPr/>
        </p:nvSpPr>
        <p:spPr bwMode="auto">
          <a:xfrm rot="21575731">
            <a:off x="4602344" y="2690548"/>
            <a:ext cx="958850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71" name="Text Box 1617"/>
          <p:cNvSpPr txBox="1">
            <a:spLocks noChangeArrowheads="1"/>
          </p:cNvSpPr>
          <p:nvPr/>
        </p:nvSpPr>
        <p:spPr bwMode="auto">
          <a:xfrm>
            <a:off x="4775382" y="3047736"/>
            <a:ext cx="7842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Analyze</a:t>
            </a:r>
          </a:p>
        </p:txBody>
      </p:sp>
      <p:sp>
        <p:nvSpPr>
          <p:cNvPr id="172" name="Freeform 1618"/>
          <p:cNvSpPr>
            <a:spLocks/>
          </p:cNvSpPr>
          <p:nvPr/>
        </p:nvSpPr>
        <p:spPr bwMode="auto">
          <a:xfrm rot="21575731">
            <a:off x="6083482" y="2690548"/>
            <a:ext cx="957262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73" name="Freeform 1619"/>
          <p:cNvSpPr>
            <a:spLocks/>
          </p:cNvSpPr>
          <p:nvPr/>
        </p:nvSpPr>
        <p:spPr bwMode="auto">
          <a:xfrm rot="21575731">
            <a:off x="7569382" y="2690548"/>
            <a:ext cx="957262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74" name="Text Box 1620"/>
          <p:cNvSpPr txBox="1">
            <a:spLocks noChangeArrowheads="1"/>
          </p:cNvSpPr>
          <p:nvPr/>
        </p:nvSpPr>
        <p:spPr bwMode="auto">
          <a:xfrm>
            <a:off x="7737657" y="3047736"/>
            <a:ext cx="812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Debrief</a:t>
            </a:r>
          </a:p>
        </p:txBody>
      </p:sp>
      <p:sp>
        <p:nvSpPr>
          <p:cNvPr id="175" name="Freeform 1621"/>
          <p:cNvSpPr>
            <a:spLocks/>
          </p:cNvSpPr>
          <p:nvPr/>
        </p:nvSpPr>
        <p:spPr bwMode="auto">
          <a:xfrm rot="21575731">
            <a:off x="8309157" y="2684198"/>
            <a:ext cx="957262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76" name="Text Box 1622"/>
          <p:cNvSpPr txBox="1">
            <a:spLocks noChangeArrowheads="1"/>
          </p:cNvSpPr>
          <p:nvPr/>
        </p:nvSpPr>
        <p:spPr bwMode="auto">
          <a:xfrm>
            <a:off x="8518707" y="2957248"/>
            <a:ext cx="693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Close</a:t>
            </a:r>
            <a:b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&amp; Bill</a:t>
            </a:r>
          </a:p>
        </p:txBody>
      </p:sp>
      <p:sp>
        <p:nvSpPr>
          <p:cNvPr id="177" name="Freeform 1623"/>
          <p:cNvSpPr>
            <a:spLocks/>
          </p:cNvSpPr>
          <p:nvPr/>
        </p:nvSpPr>
        <p:spPr bwMode="auto">
          <a:xfrm rot="21575731">
            <a:off x="6823257" y="2684198"/>
            <a:ext cx="957262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78" name="Text Box 1624"/>
          <p:cNvSpPr txBox="1">
            <a:spLocks noChangeArrowheads="1"/>
          </p:cNvSpPr>
          <p:nvPr/>
        </p:nvSpPr>
        <p:spPr bwMode="auto">
          <a:xfrm>
            <a:off x="6969307" y="2957248"/>
            <a:ext cx="8651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Repair /</a:t>
            </a:r>
            <a:b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Resolve</a:t>
            </a:r>
          </a:p>
        </p:txBody>
      </p:sp>
      <p:sp>
        <p:nvSpPr>
          <p:cNvPr id="179" name="Freeform 1625"/>
          <p:cNvSpPr>
            <a:spLocks/>
          </p:cNvSpPr>
          <p:nvPr/>
        </p:nvSpPr>
        <p:spPr bwMode="auto">
          <a:xfrm rot="21575731">
            <a:off x="3864157" y="2690548"/>
            <a:ext cx="957262" cy="1011238"/>
          </a:xfrm>
          <a:custGeom>
            <a:avLst/>
            <a:gdLst>
              <a:gd name="T0" fmla="*/ 685 w 915"/>
              <a:gd name="T1" fmla="*/ 0 h 433"/>
              <a:gd name="T2" fmla="*/ 0 w 915"/>
              <a:gd name="T3" fmla="*/ 0 h 433"/>
              <a:gd name="T4" fmla="*/ 228 w 915"/>
              <a:gd name="T5" fmla="*/ 216 h 433"/>
              <a:gd name="T6" fmla="*/ 0 w 915"/>
              <a:gd name="T7" fmla="*/ 432 h 433"/>
              <a:gd name="T8" fmla="*/ 685 w 915"/>
              <a:gd name="T9" fmla="*/ 432 h 433"/>
              <a:gd name="T10" fmla="*/ 914 w 915"/>
              <a:gd name="T11" fmla="*/ 216 h 433"/>
              <a:gd name="T12" fmla="*/ 685 w 915"/>
              <a:gd name="T13" fmla="*/ 0 h 4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915" h="433">
                <a:moveTo>
                  <a:pt x="685" y="0"/>
                </a:moveTo>
                <a:lnTo>
                  <a:pt x="0" y="0"/>
                </a:lnTo>
                <a:lnTo>
                  <a:pt x="228" y="216"/>
                </a:lnTo>
                <a:lnTo>
                  <a:pt x="0" y="432"/>
                </a:lnTo>
                <a:lnTo>
                  <a:pt x="685" y="432"/>
                </a:lnTo>
                <a:lnTo>
                  <a:pt x="914" y="216"/>
                </a:lnTo>
                <a:lnTo>
                  <a:pt x="685" y="0"/>
                </a:lnTo>
              </a:path>
            </a:pathLst>
          </a:custGeom>
          <a:gradFill rotWithShape="0">
            <a:gsLst>
              <a:gs pos="0">
                <a:schemeClr val="hlink">
                  <a:gamma/>
                  <a:shade val="69804"/>
                  <a:invGamma/>
                </a:schemeClr>
              </a:gs>
              <a:gs pos="100000">
                <a:schemeClr val="hlink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 cap="rnd" cmpd="sng">
                <a:solidFill>
                  <a:schemeClr val="hlink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5921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80" name="Text Box 1626"/>
          <p:cNvSpPr txBox="1">
            <a:spLocks noChangeArrowheads="1"/>
          </p:cNvSpPr>
          <p:nvPr/>
        </p:nvSpPr>
        <p:spPr bwMode="auto">
          <a:xfrm>
            <a:off x="3867332" y="2957248"/>
            <a:ext cx="10906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Identify </a:t>
            </a:r>
            <a:b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&amp; Verify</a:t>
            </a:r>
          </a:p>
        </p:txBody>
      </p:sp>
      <p:sp>
        <p:nvSpPr>
          <p:cNvPr id="181" name="AutoShape 1627"/>
          <p:cNvSpPr>
            <a:spLocks noChangeArrowheads="1"/>
          </p:cNvSpPr>
          <p:nvPr/>
        </p:nvSpPr>
        <p:spPr bwMode="auto">
          <a:xfrm>
            <a:off x="5070657" y="3857361"/>
            <a:ext cx="2794000" cy="346075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0066CC"/>
              </a:gs>
              <a:gs pos="100000">
                <a:srgbClr val="0066CC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3366FF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82" name="Rectangle 1628"/>
          <p:cNvSpPr>
            <a:spLocks noChangeArrowheads="1"/>
          </p:cNvSpPr>
          <p:nvPr/>
        </p:nvSpPr>
        <p:spPr bwMode="auto">
          <a:xfrm>
            <a:off x="5124632" y="3887523"/>
            <a:ext cx="2681287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FF">
                        <a:gamma/>
                        <a:shade val="46275"/>
                        <a:invGamma/>
                      </a:srgbClr>
                    </a:gs>
                    <a:gs pos="100000">
                      <a:srgbClr val="0000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Contract Entitlements / Warranties</a:t>
            </a:r>
          </a:p>
        </p:txBody>
      </p:sp>
      <p:sp>
        <p:nvSpPr>
          <p:cNvPr id="183" name="AutoShape 1629"/>
          <p:cNvSpPr>
            <a:spLocks noChangeArrowheads="1"/>
          </p:cNvSpPr>
          <p:nvPr/>
        </p:nvSpPr>
        <p:spPr bwMode="auto">
          <a:xfrm>
            <a:off x="4126094" y="3301736"/>
            <a:ext cx="2382838" cy="425450"/>
          </a:xfrm>
          <a:prstGeom prst="rightArrow">
            <a:avLst>
              <a:gd name="adj1" fmla="val 50259"/>
              <a:gd name="adj2" fmla="val 35290"/>
            </a:avLst>
          </a:prstGeom>
          <a:noFill/>
          <a:ln>
            <a:noFill/>
          </a:ln>
          <a:effectLst>
            <a:outerShdw blurRad="63500" dist="17961" dir="2700000" algn="ctr" rotWithShape="0">
              <a:schemeClr val="bg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0000"/>
                    </a:gs>
                    <a:gs pos="50000">
                      <a:schemeClr val="accent1"/>
                    </a:gs>
                    <a:gs pos="100000">
                      <a:srgbClr val="FF0000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3366FF"/>
                </a:solidFill>
                <a:prstDash val="dash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/>
          <a:lstStyle/>
          <a:p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Workflow Automation</a:t>
            </a:r>
          </a:p>
        </p:txBody>
      </p:sp>
      <p:sp>
        <p:nvSpPr>
          <p:cNvPr id="184" name="Line 1630"/>
          <p:cNvSpPr>
            <a:spLocks noChangeShapeType="1"/>
          </p:cNvSpPr>
          <p:nvPr/>
        </p:nvSpPr>
        <p:spPr bwMode="auto">
          <a:xfrm>
            <a:off x="6134282" y="3523986"/>
            <a:ext cx="26908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85" name="Line 1631"/>
          <p:cNvSpPr>
            <a:spLocks noChangeShapeType="1"/>
          </p:cNvSpPr>
          <p:nvPr/>
        </p:nvSpPr>
        <p:spPr bwMode="auto">
          <a:xfrm flipH="1">
            <a:off x="4161019" y="3523986"/>
            <a:ext cx="225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86" name="Text Box 1632"/>
          <p:cNvSpPr txBox="1">
            <a:spLocks noChangeArrowheads="1"/>
          </p:cNvSpPr>
          <p:nvPr/>
        </p:nvSpPr>
        <p:spPr bwMode="auto">
          <a:xfrm>
            <a:off x="5491344" y="3047736"/>
            <a:ext cx="8699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Prioritize</a:t>
            </a:r>
          </a:p>
        </p:txBody>
      </p:sp>
      <p:grpSp>
        <p:nvGrpSpPr>
          <p:cNvPr id="187" name="Group 1633"/>
          <p:cNvGrpSpPr>
            <a:grpSpLocks/>
          </p:cNvGrpSpPr>
          <p:nvPr/>
        </p:nvGrpSpPr>
        <p:grpSpPr bwMode="auto">
          <a:xfrm>
            <a:off x="4256269" y="3752586"/>
            <a:ext cx="776288" cy="274637"/>
            <a:chOff x="2173" y="2929"/>
            <a:chExt cx="489" cy="173"/>
          </a:xfrm>
        </p:grpSpPr>
        <p:sp>
          <p:nvSpPr>
            <p:cNvPr id="188" name="Line 1634"/>
            <p:cNvSpPr>
              <a:spLocks noChangeShapeType="1"/>
            </p:cNvSpPr>
            <p:nvPr/>
          </p:nvSpPr>
          <p:spPr bwMode="auto">
            <a:xfrm flipV="1">
              <a:off x="2173" y="3102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189" name="Line 1635"/>
            <p:cNvSpPr>
              <a:spLocks noChangeShapeType="1"/>
            </p:cNvSpPr>
            <p:nvPr/>
          </p:nvSpPr>
          <p:spPr bwMode="auto">
            <a:xfrm>
              <a:off x="2173" y="2929"/>
              <a:ext cx="0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</p:grpSp>
      <p:sp>
        <p:nvSpPr>
          <p:cNvPr id="190" name="Text Box 1636"/>
          <p:cNvSpPr txBox="1">
            <a:spLocks noChangeArrowheads="1"/>
          </p:cNvSpPr>
          <p:nvPr/>
        </p:nvSpPr>
        <p:spPr bwMode="auto">
          <a:xfrm>
            <a:off x="3881619" y="1657086"/>
            <a:ext cx="1111250" cy="422275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90000"/>
              </a:lnSpc>
              <a:spcBef>
                <a:spcPct val="50000"/>
              </a:spcBef>
            </a:pP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Delivery</a:t>
            </a:r>
            <a:br>
              <a:rPr lang="en-US" altLang="pt-BR" sz="1200" b="1">
                <a:solidFill>
                  <a:srgbClr val="FF0000"/>
                </a:solidFill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latin typeface="Arial" charset="0"/>
              </a:rPr>
              <a:t>Options</a:t>
            </a:r>
          </a:p>
        </p:txBody>
      </p:sp>
      <p:sp>
        <p:nvSpPr>
          <p:cNvPr id="191" name="Text Box 1637"/>
          <p:cNvSpPr txBox="1">
            <a:spLocks noChangeArrowheads="1"/>
          </p:cNvSpPr>
          <p:nvPr/>
        </p:nvSpPr>
        <p:spPr bwMode="auto">
          <a:xfrm>
            <a:off x="6175557" y="2957248"/>
            <a:ext cx="985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35000"/>
              </a:spcBef>
            </a:pP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Plan &amp;</a:t>
            </a:r>
            <a:b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Schedule</a:t>
            </a:r>
          </a:p>
        </p:txBody>
      </p:sp>
      <p:sp>
        <p:nvSpPr>
          <p:cNvPr id="192" name="Rectangle 1638"/>
          <p:cNvSpPr>
            <a:spLocks noChangeArrowheads="1"/>
          </p:cNvSpPr>
          <p:nvPr/>
        </p:nvSpPr>
        <p:spPr bwMode="auto">
          <a:xfrm>
            <a:off x="6237469" y="2112698"/>
            <a:ext cx="157321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0000FF">
                        <a:gamma/>
                        <a:shade val="46275"/>
                        <a:invGamma/>
                      </a:srgbClr>
                    </a:gs>
                    <a:gs pos="100000">
                      <a:srgbClr val="0000FF"/>
                    </a:gs>
                  </a:gsLst>
                  <a:lin ang="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>
            <a:spAutoFit/>
            <a:flatTx/>
          </a:bodyPr>
          <a:lstStyle/>
          <a:p>
            <a:pPr algn="l">
              <a:lnSpc>
                <a:spcPct val="90000"/>
              </a:lnSpc>
            </a:pPr>
            <a:r>
              <a:rPr lang="en-US" altLang="pt-BR" sz="1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Service Parts Logistics</a:t>
            </a:r>
          </a:p>
        </p:txBody>
      </p:sp>
      <p:sp>
        <p:nvSpPr>
          <p:cNvPr id="193" name="AutoShape 1639"/>
          <p:cNvSpPr>
            <a:spLocks noChangeArrowheads="1"/>
          </p:cNvSpPr>
          <p:nvPr/>
        </p:nvSpPr>
        <p:spPr bwMode="auto">
          <a:xfrm rot="16200000" flipH="1">
            <a:off x="6231913" y="1672167"/>
            <a:ext cx="661988" cy="3048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chemeClr val="accent2"/>
              </a:gs>
              <a:gs pos="100000">
                <a:srgbClr val="0066CC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194" name="AutoShape 1640"/>
          <p:cNvSpPr>
            <a:spLocks noChangeArrowheads="1"/>
          </p:cNvSpPr>
          <p:nvPr/>
        </p:nvSpPr>
        <p:spPr bwMode="auto">
          <a:xfrm>
            <a:off x="2344919" y="1355461"/>
            <a:ext cx="917575" cy="3924300"/>
          </a:xfrm>
          <a:prstGeom prst="roundRect">
            <a:avLst>
              <a:gd name="adj" fmla="val 16023"/>
            </a:avLst>
          </a:prstGeom>
          <a:noFill/>
          <a:ln w="12700">
            <a:solidFill>
              <a:srgbClr val="96969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pic>
        <p:nvPicPr>
          <p:cNvPr id="195" name="Picture 164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532" y="1545961"/>
            <a:ext cx="522287" cy="395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pic>
      <p:sp>
        <p:nvSpPr>
          <p:cNvPr id="196" name="Text Box 1642"/>
          <p:cNvSpPr txBox="1">
            <a:spLocks noChangeArrowheads="1"/>
          </p:cNvSpPr>
          <p:nvPr/>
        </p:nvSpPr>
        <p:spPr bwMode="auto">
          <a:xfrm>
            <a:off x="2381432" y="1926961"/>
            <a:ext cx="866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Self-Service</a:t>
            </a:r>
            <a:endParaRPr lang="en-US" altLang="pt-BR" sz="1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197" name="Text Box 1643"/>
          <p:cNvSpPr txBox="1">
            <a:spLocks noChangeArrowheads="1"/>
          </p:cNvSpPr>
          <p:nvPr/>
        </p:nvSpPr>
        <p:spPr bwMode="auto">
          <a:xfrm>
            <a:off x="2459219" y="2995348"/>
            <a:ext cx="73501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Email</a:t>
            </a:r>
            <a:endParaRPr lang="en-US" altLang="pt-BR" sz="1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198" name="Text Box 1644"/>
          <p:cNvSpPr txBox="1">
            <a:spLocks noChangeArrowheads="1"/>
          </p:cNvSpPr>
          <p:nvPr/>
        </p:nvSpPr>
        <p:spPr bwMode="auto">
          <a:xfrm>
            <a:off x="2486207" y="3882761"/>
            <a:ext cx="6556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Phone</a:t>
            </a:r>
            <a:endParaRPr lang="en-US" altLang="pt-BR" sz="1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199" name="Text Box 1645"/>
          <p:cNvSpPr txBox="1">
            <a:spLocks noChangeArrowheads="1"/>
          </p:cNvSpPr>
          <p:nvPr/>
        </p:nvSpPr>
        <p:spPr bwMode="auto">
          <a:xfrm>
            <a:off x="2332219" y="4770173"/>
            <a:ext cx="99218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In Person</a:t>
            </a:r>
            <a:endParaRPr lang="en-US" altLang="pt-BR" sz="1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grpSp>
        <p:nvGrpSpPr>
          <p:cNvPr id="200" name="Group 1646"/>
          <p:cNvGrpSpPr>
            <a:grpSpLocks/>
          </p:cNvGrpSpPr>
          <p:nvPr/>
        </p:nvGrpSpPr>
        <p:grpSpPr bwMode="auto">
          <a:xfrm rot="-5400000">
            <a:off x="2990238" y="2748492"/>
            <a:ext cx="1106487" cy="352425"/>
            <a:chOff x="2091" y="3079"/>
            <a:chExt cx="1516" cy="306"/>
          </a:xfrm>
        </p:grpSpPr>
        <p:sp>
          <p:nvSpPr>
            <p:cNvPr id="201" name="Line 1647"/>
            <p:cNvSpPr>
              <a:spLocks noChangeShapeType="1"/>
            </p:cNvSpPr>
            <p:nvPr/>
          </p:nvSpPr>
          <p:spPr bwMode="auto">
            <a:xfrm rot="5400000">
              <a:off x="1938" y="3232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02" name="Line 1648"/>
            <p:cNvSpPr>
              <a:spLocks noChangeShapeType="1"/>
            </p:cNvSpPr>
            <p:nvPr/>
          </p:nvSpPr>
          <p:spPr bwMode="auto">
            <a:xfrm rot="5400000">
              <a:off x="3454" y="3232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</p:grpSp>
      <p:pic>
        <p:nvPicPr>
          <p:cNvPr id="203" name="Picture 1649" descr="C:\Documents and Settings\nmcferra\Application Data\Microsoft\Media Catalog\Downloaded Clips\cl79\j0302835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4" r="18463"/>
          <a:stretch>
            <a:fillRect/>
          </a:stretch>
        </p:blipFill>
        <p:spPr bwMode="auto">
          <a:xfrm>
            <a:off x="6713719" y="1555486"/>
            <a:ext cx="600075" cy="56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4" name="Group 1650"/>
          <p:cNvGrpSpPr>
            <a:grpSpLocks/>
          </p:cNvGrpSpPr>
          <p:nvPr/>
        </p:nvGrpSpPr>
        <p:grpSpPr bwMode="auto">
          <a:xfrm flipH="1">
            <a:off x="7913869" y="3752586"/>
            <a:ext cx="776288" cy="274637"/>
            <a:chOff x="2269" y="3025"/>
            <a:chExt cx="489" cy="173"/>
          </a:xfrm>
        </p:grpSpPr>
        <p:sp>
          <p:nvSpPr>
            <p:cNvPr id="205" name="Line 1651"/>
            <p:cNvSpPr>
              <a:spLocks noChangeShapeType="1"/>
            </p:cNvSpPr>
            <p:nvPr/>
          </p:nvSpPr>
          <p:spPr bwMode="auto">
            <a:xfrm flipV="1">
              <a:off x="2269" y="3198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06" name="Line 1652"/>
            <p:cNvSpPr>
              <a:spLocks noChangeShapeType="1"/>
            </p:cNvSpPr>
            <p:nvPr/>
          </p:nvSpPr>
          <p:spPr bwMode="auto">
            <a:xfrm>
              <a:off x="2269" y="3025"/>
              <a:ext cx="0" cy="1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</p:grpSp>
      <p:sp>
        <p:nvSpPr>
          <p:cNvPr id="207" name="AutoShape 1653"/>
          <p:cNvSpPr>
            <a:spLocks noChangeArrowheads="1"/>
          </p:cNvSpPr>
          <p:nvPr/>
        </p:nvSpPr>
        <p:spPr bwMode="auto">
          <a:xfrm rot="5400000" flipH="1">
            <a:off x="7159013" y="1672167"/>
            <a:ext cx="661988" cy="3048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0066CC"/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pic>
        <p:nvPicPr>
          <p:cNvPr id="208" name="Picture 1654" descr="Office: Phone, Voice Mail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944" y="3460486"/>
            <a:ext cx="538163" cy="407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9" name="Picture 1655" descr="iAS_Icons: Compute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344" y="2439723"/>
            <a:ext cx="504825" cy="57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0" name="Text Box 1656"/>
          <p:cNvSpPr txBox="1">
            <a:spLocks noChangeArrowheads="1"/>
          </p:cNvSpPr>
          <p:nvPr/>
        </p:nvSpPr>
        <p:spPr bwMode="auto">
          <a:xfrm>
            <a:off x="2302057" y="1045898"/>
            <a:ext cx="10287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Channels</a:t>
            </a:r>
            <a:endParaRPr lang="en-US" altLang="pt-BR" sz="1200" i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11" name="AutoShape 1657"/>
          <p:cNvSpPr>
            <a:spLocks noChangeArrowheads="1"/>
          </p:cNvSpPr>
          <p:nvPr/>
        </p:nvSpPr>
        <p:spPr bwMode="auto">
          <a:xfrm>
            <a:off x="9926819" y="1350698"/>
            <a:ext cx="917575" cy="3924300"/>
          </a:xfrm>
          <a:prstGeom prst="roundRect">
            <a:avLst>
              <a:gd name="adj" fmla="val 16023"/>
            </a:avLst>
          </a:prstGeom>
          <a:noFill/>
          <a:ln w="12700">
            <a:solidFill>
              <a:srgbClr val="96969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212" name="Text Box 1658"/>
          <p:cNvSpPr txBox="1">
            <a:spLocks noChangeArrowheads="1"/>
          </p:cNvSpPr>
          <p:nvPr/>
        </p:nvSpPr>
        <p:spPr bwMode="auto">
          <a:xfrm>
            <a:off x="9871257" y="1041136"/>
            <a:ext cx="10287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 i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Users</a:t>
            </a:r>
            <a:endParaRPr lang="en-US" altLang="pt-BR" sz="1200" i="1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pic>
        <p:nvPicPr>
          <p:cNvPr id="213" name="Picture 1659" descr="confirmorder.gif                                               00115F78Mac HD                         B89FB567: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619" y="1550723"/>
            <a:ext cx="560388" cy="46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4" name="Picture 1660" descr="C:\Documents and Settings\nmcferra\Application Data\Microsoft\Media Catalog\Downloaded Clips\cl22\j0085506.wmf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2407" y="3308086"/>
            <a:ext cx="407987" cy="51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" name="Picture 1661" descr="9i-administration.gif                                          00116124Mac HD                         B89FB567: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2394" y="2471473"/>
            <a:ext cx="606425" cy="487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6" name="Group 1662"/>
          <p:cNvGrpSpPr>
            <a:grpSpLocks/>
          </p:cNvGrpSpPr>
          <p:nvPr/>
        </p:nvGrpSpPr>
        <p:grpSpPr bwMode="auto">
          <a:xfrm>
            <a:off x="10118907" y="4279636"/>
            <a:ext cx="533400" cy="457200"/>
            <a:chOff x="3936" y="2150"/>
            <a:chExt cx="643" cy="850"/>
          </a:xfrm>
        </p:grpSpPr>
        <p:sp>
          <p:nvSpPr>
            <p:cNvPr id="217" name="Freeform 1663"/>
            <p:cNvSpPr>
              <a:spLocks/>
            </p:cNvSpPr>
            <p:nvPr/>
          </p:nvSpPr>
          <p:spPr bwMode="auto">
            <a:xfrm>
              <a:off x="3957" y="2253"/>
              <a:ext cx="622" cy="685"/>
            </a:xfrm>
            <a:custGeom>
              <a:avLst/>
              <a:gdLst>
                <a:gd name="T0" fmla="*/ 0 w 622"/>
                <a:gd name="T1" fmla="*/ 41 h 685"/>
                <a:gd name="T2" fmla="*/ 186 w 622"/>
                <a:gd name="T3" fmla="*/ 684 h 685"/>
                <a:gd name="T4" fmla="*/ 621 w 622"/>
                <a:gd name="T5" fmla="*/ 539 h 685"/>
                <a:gd name="T6" fmla="*/ 352 w 622"/>
                <a:gd name="T7" fmla="*/ 0 h 685"/>
                <a:gd name="T8" fmla="*/ 0 w 622"/>
                <a:gd name="T9" fmla="*/ 41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22" h="685">
                  <a:moveTo>
                    <a:pt x="0" y="41"/>
                  </a:moveTo>
                  <a:lnTo>
                    <a:pt x="186" y="684"/>
                  </a:lnTo>
                  <a:lnTo>
                    <a:pt x="621" y="539"/>
                  </a:lnTo>
                  <a:lnTo>
                    <a:pt x="352" y="0"/>
                  </a:lnTo>
                  <a:lnTo>
                    <a:pt x="0" y="41"/>
                  </a:lnTo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9804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333333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18" name="Freeform 1664"/>
            <p:cNvSpPr>
              <a:spLocks/>
            </p:cNvSpPr>
            <p:nvPr/>
          </p:nvSpPr>
          <p:spPr bwMode="auto">
            <a:xfrm>
              <a:off x="3936" y="2295"/>
              <a:ext cx="208" cy="705"/>
            </a:xfrm>
            <a:custGeom>
              <a:avLst/>
              <a:gdLst>
                <a:gd name="T0" fmla="*/ 21 w 208"/>
                <a:gd name="T1" fmla="*/ 0 h 705"/>
                <a:gd name="T2" fmla="*/ 0 w 208"/>
                <a:gd name="T3" fmla="*/ 41 h 705"/>
                <a:gd name="T4" fmla="*/ 166 w 208"/>
                <a:gd name="T5" fmla="*/ 704 h 705"/>
                <a:gd name="T6" fmla="*/ 207 w 208"/>
                <a:gd name="T7" fmla="*/ 642 h 705"/>
                <a:gd name="T8" fmla="*/ 21 w 208"/>
                <a:gd name="T9" fmla="*/ 0 h 7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8" h="705">
                  <a:moveTo>
                    <a:pt x="21" y="0"/>
                  </a:moveTo>
                  <a:lnTo>
                    <a:pt x="0" y="41"/>
                  </a:lnTo>
                  <a:lnTo>
                    <a:pt x="166" y="704"/>
                  </a:lnTo>
                  <a:lnTo>
                    <a:pt x="207" y="642"/>
                  </a:lnTo>
                  <a:lnTo>
                    <a:pt x="21" y="0"/>
                  </a:lnTo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9804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333333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19" name="Freeform 1665"/>
            <p:cNvSpPr>
              <a:spLocks/>
            </p:cNvSpPr>
            <p:nvPr/>
          </p:nvSpPr>
          <p:spPr bwMode="auto">
            <a:xfrm>
              <a:off x="4102" y="2792"/>
              <a:ext cx="477" cy="208"/>
            </a:xfrm>
            <a:custGeom>
              <a:avLst/>
              <a:gdLst>
                <a:gd name="T0" fmla="*/ 0 w 477"/>
                <a:gd name="T1" fmla="*/ 207 h 208"/>
                <a:gd name="T2" fmla="*/ 435 w 477"/>
                <a:gd name="T3" fmla="*/ 62 h 208"/>
                <a:gd name="T4" fmla="*/ 476 w 477"/>
                <a:gd name="T5" fmla="*/ 0 h 208"/>
                <a:gd name="T6" fmla="*/ 41 w 477"/>
                <a:gd name="T7" fmla="*/ 145 h 208"/>
                <a:gd name="T8" fmla="*/ 0 w 477"/>
                <a:gd name="T9" fmla="*/ 207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7" h="208">
                  <a:moveTo>
                    <a:pt x="0" y="207"/>
                  </a:moveTo>
                  <a:lnTo>
                    <a:pt x="435" y="62"/>
                  </a:lnTo>
                  <a:lnTo>
                    <a:pt x="476" y="0"/>
                  </a:lnTo>
                  <a:lnTo>
                    <a:pt x="41" y="145"/>
                  </a:lnTo>
                  <a:lnTo>
                    <a:pt x="0" y="207"/>
                  </a:lnTo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9804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333333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20" name="Freeform 1666"/>
            <p:cNvSpPr>
              <a:spLocks/>
            </p:cNvSpPr>
            <p:nvPr/>
          </p:nvSpPr>
          <p:spPr bwMode="auto">
            <a:xfrm>
              <a:off x="3998" y="2274"/>
              <a:ext cx="498" cy="540"/>
            </a:xfrm>
            <a:custGeom>
              <a:avLst/>
              <a:gdLst>
                <a:gd name="T0" fmla="*/ 0 w 498"/>
                <a:gd name="T1" fmla="*/ 41 h 540"/>
                <a:gd name="T2" fmla="*/ 124 w 498"/>
                <a:gd name="T3" fmla="*/ 539 h 540"/>
                <a:gd name="T4" fmla="*/ 497 w 498"/>
                <a:gd name="T5" fmla="*/ 415 h 540"/>
                <a:gd name="T6" fmla="*/ 290 w 498"/>
                <a:gd name="T7" fmla="*/ 0 h 540"/>
                <a:gd name="T8" fmla="*/ 0 w 498"/>
                <a:gd name="T9" fmla="*/ 41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8" h="540">
                  <a:moveTo>
                    <a:pt x="0" y="41"/>
                  </a:moveTo>
                  <a:lnTo>
                    <a:pt x="124" y="539"/>
                  </a:lnTo>
                  <a:lnTo>
                    <a:pt x="497" y="415"/>
                  </a:lnTo>
                  <a:lnTo>
                    <a:pt x="290" y="0"/>
                  </a:lnTo>
                  <a:lnTo>
                    <a:pt x="0" y="41"/>
                  </a:lnTo>
                </a:path>
              </a:pathLst>
            </a:custGeom>
            <a:gradFill rotWithShape="0">
              <a:gsLst>
                <a:gs pos="0">
                  <a:srgbClr val="3366FF"/>
                </a:gs>
                <a:gs pos="100000">
                  <a:srgbClr val="3366FF">
                    <a:gamma/>
                    <a:shade val="49804"/>
                    <a:invGamma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333333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21" name="Freeform 1667"/>
            <p:cNvSpPr>
              <a:spLocks/>
            </p:cNvSpPr>
            <p:nvPr/>
          </p:nvSpPr>
          <p:spPr bwMode="auto">
            <a:xfrm>
              <a:off x="3998" y="2274"/>
              <a:ext cx="498" cy="416"/>
            </a:xfrm>
            <a:custGeom>
              <a:avLst/>
              <a:gdLst>
                <a:gd name="T0" fmla="*/ 0 w 498"/>
                <a:gd name="T1" fmla="*/ 41 h 416"/>
                <a:gd name="T2" fmla="*/ 290 w 498"/>
                <a:gd name="T3" fmla="*/ 0 h 416"/>
                <a:gd name="T4" fmla="*/ 497 w 498"/>
                <a:gd name="T5" fmla="*/ 415 h 416"/>
                <a:gd name="T6" fmla="*/ 269 w 498"/>
                <a:gd name="T7" fmla="*/ 21 h 416"/>
                <a:gd name="T8" fmla="*/ 0 w 498"/>
                <a:gd name="T9" fmla="*/ 41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8" h="416">
                  <a:moveTo>
                    <a:pt x="0" y="41"/>
                  </a:moveTo>
                  <a:lnTo>
                    <a:pt x="290" y="0"/>
                  </a:lnTo>
                  <a:lnTo>
                    <a:pt x="497" y="415"/>
                  </a:lnTo>
                  <a:lnTo>
                    <a:pt x="269" y="21"/>
                  </a:lnTo>
                  <a:lnTo>
                    <a:pt x="0" y="41"/>
                  </a:lnTo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333333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22" name="Freeform 1668"/>
            <p:cNvSpPr>
              <a:spLocks/>
            </p:cNvSpPr>
            <p:nvPr/>
          </p:nvSpPr>
          <p:spPr bwMode="auto">
            <a:xfrm>
              <a:off x="4205" y="2150"/>
              <a:ext cx="126" cy="456"/>
            </a:xfrm>
            <a:custGeom>
              <a:avLst/>
              <a:gdLst>
                <a:gd name="T0" fmla="*/ 0 w 126"/>
                <a:gd name="T1" fmla="*/ 0 h 456"/>
                <a:gd name="T2" fmla="*/ 104 w 126"/>
                <a:gd name="T3" fmla="*/ 455 h 456"/>
                <a:gd name="T4" fmla="*/ 125 w 126"/>
                <a:gd name="T5" fmla="*/ 455 h 456"/>
                <a:gd name="T6" fmla="*/ 42 w 126"/>
                <a:gd name="T7" fmla="*/ 0 h 456"/>
                <a:gd name="T8" fmla="*/ 0 w 126"/>
                <a:gd name="T9" fmla="*/ 0 h 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6" h="456">
                  <a:moveTo>
                    <a:pt x="0" y="0"/>
                  </a:moveTo>
                  <a:lnTo>
                    <a:pt x="104" y="455"/>
                  </a:lnTo>
                  <a:lnTo>
                    <a:pt x="125" y="455"/>
                  </a:lnTo>
                  <a:lnTo>
                    <a:pt x="42" y="0"/>
                  </a:ln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chemeClr val="folHlink">
                    <a:gamma/>
                    <a:shade val="49804"/>
                    <a:invGamma/>
                  </a:schemeClr>
                </a:gs>
                <a:gs pos="100000">
                  <a:schemeClr val="folHlink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rnd" cmpd="sng">
                  <a:solidFill>
                    <a:srgbClr val="333333"/>
                  </a:solidFill>
                  <a:prstDash val="solid"/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23" name="Oval 1669"/>
            <p:cNvSpPr>
              <a:spLocks noChangeArrowheads="1"/>
            </p:cNvSpPr>
            <p:nvPr/>
          </p:nvSpPr>
          <p:spPr bwMode="auto">
            <a:xfrm rot="20580000">
              <a:off x="4178" y="2811"/>
              <a:ext cx="136" cy="49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2000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333333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24" name="Oval 1670"/>
            <p:cNvSpPr>
              <a:spLocks noChangeArrowheads="1"/>
            </p:cNvSpPr>
            <p:nvPr/>
          </p:nvSpPr>
          <p:spPr bwMode="auto">
            <a:xfrm>
              <a:off x="4378" y="2754"/>
              <a:ext cx="52" cy="52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2000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333333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25" name="Oval 1671"/>
            <p:cNvSpPr>
              <a:spLocks noChangeArrowheads="1"/>
            </p:cNvSpPr>
            <p:nvPr/>
          </p:nvSpPr>
          <p:spPr bwMode="auto">
            <a:xfrm>
              <a:off x="4445" y="2731"/>
              <a:ext cx="52" cy="52"/>
            </a:xfrm>
            <a:prstGeom prst="ellipse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2000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333333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</p:grpSp>
      <p:sp>
        <p:nvSpPr>
          <p:cNvPr id="226" name="Text Box 1672"/>
          <p:cNvSpPr txBox="1">
            <a:spLocks noChangeArrowheads="1"/>
          </p:cNvSpPr>
          <p:nvPr/>
        </p:nvSpPr>
        <p:spPr bwMode="auto">
          <a:xfrm>
            <a:off x="9952219" y="2017448"/>
            <a:ext cx="8667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CSRs</a:t>
            </a:r>
            <a:endParaRPr lang="en-US" altLang="pt-BR" sz="1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27" name="Text Box 1673"/>
          <p:cNvSpPr txBox="1">
            <a:spLocks noChangeArrowheads="1"/>
          </p:cNvSpPr>
          <p:nvPr/>
        </p:nvSpPr>
        <p:spPr bwMode="auto">
          <a:xfrm>
            <a:off x="9949044" y="2933436"/>
            <a:ext cx="8731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Analysts</a:t>
            </a:r>
            <a:endParaRPr lang="en-US" altLang="pt-BR" sz="1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28" name="Text Box 1674"/>
          <p:cNvSpPr txBox="1">
            <a:spLocks noChangeArrowheads="1"/>
          </p:cNvSpPr>
          <p:nvPr/>
        </p:nvSpPr>
        <p:spPr bwMode="auto">
          <a:xfrm>
            <a:off x="9893482" y="3851011"/>
            <a:ext cx="98425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Customers</a:t>
            </a:r>
            <a:endParaRPr lang="en-US" altLang="pt-BR" sz="1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sp>
        <p:nvSpPr>
          <p:cNvPr id="229" name="Text Box 1675"/>
          <p:cNvSpPr txBox="1">
            <a:spLocks noChangeArrowheads="1"/>
          </p:cNvSpPr>
          <p:nvPr/>
        </p:nvSpPr>
        <p:spPr bwMode="auto">
          <a:xfrm>
            <a:off x="9888719" y="4768586"/>
            <a:ext cx="992188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2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Mobile</a:t>
            </a:r>
            <a:endParaRPr lang="en-US" altLang="pt-BR" sz="120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grpSp>
        <p:nvGrpSpPr>
          <p:cNvPr id="230" name="Group 1676"/>
          <p:cNvGrpSpPr>
            <a:grpSpLocks/>
          </p:cNvGrpSpPr>
          <p:nvPr/>
        </p:nvGrpSpPr>
        <p:grpSpPr bwMode="auto">
          <a:xfrm rot="-5400000">
            <a:off x="9103701" y="2758017"/>
            <a:ext cx="1106487" cy="352425"/>
            <a:chOff x="2091" y="3079"/>
            <a:chExt cx="1516" cy="306"/>
          </a:xfrm>
        </p:grpSpPr>
        <p:sp>
          <p:nvSpPr>
            <p:cNvPr id="231" name="Line 1677"/>
            <p:cNvSpPr>
              <a:spLocks noChangeShapeType="1"/>
            </p:cNvSpPr>
            <p:nvPr/>
          </p:nvSpPr>
          <p:spPr bwMode="auto">
            <a:xfrm rot="5400000">
              <a:off x="1938" y="3232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232" name="Line 1678"/>
            <p:cNvSpPr>
              <a:spLocks noChangeShapeType="1"/>
            </p:cNvSpPr>
            <p:nvPr/>
          </p:nvSpPr>
          <p:spPr bwMode="auto">
            <a:xfrm rot="5400000">
              <a:off x="3454" y="3232"/>
              <a:ext cx="3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>
                <a:solidFill>
                  <a:srgbClr val="FF0000"/>
                </a:solidFill>
              </a:endParaRPr>
            </a:p>
          </p:txBody>
        </p:sp>
      </p:grpSp>
      <p:pic>
        <p:nvPicPr>
          <p:cNvPr id="233" name="Picture 167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169" y="4271698"/>
            <a:ext cx="736600" cy="47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4" name="Oval 1451"/>
          <p:cNvSpPr>
            <a:spLocks noChangeArrowheads="1"/>
          </p:cNvSpPr>
          <p:nvPr/>
        </p:nvSpPr>
        <p:spPr bwMode="auto">
          <a:xfrm>
            <a:off x="7553507" y="1779323"/>
            <a:ext cx="1643062" cy="454025"/>
          </a:xfrm>
          <a:prstGeom prst="ellipse">
            <a:avLst/>
          </a:prstGeom>
          <a:noFill/>
          <a:ln w="38100">
            <a:solidFill>
              <a:srgbClr val="FFFF0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236" name="AutoShape 1640"/>
          <p:cNvSpPr>
            <a:spLocks noChangeArrowheads="1"/>
          </p:cNvSpPr>
          <p:nvPr/>
        </p:nvSpPr>
        <p:spPr bwMode="auto">
          <a:xfrm>
            <a:off x="2332219" y="5400889"/>
            <a:ext cx="917575" cy="860425"/>
          </a:xfrm>
          <a:prstGeom prst="roundRect">
            <a:avLst>
              <a:gd name="adj" fmla="val 16023"/>
            </a:avLst>
          </a:prstGeom>
          <a:noFill/>
          <a:ln w="12700">
            <a:solidFill>
              <a:srgbClr val="96969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>
              <a:solidFill>
                <a:srgbClr val="FF0000"/>
              </a:solidFill>
            </a:endParaRPr>
          </a:p>
        </p:txBody>
      </p:sp>
      <p:sp>
        <p:nvSpPr>
          <p:cNvPr id="237" name="Text Box 1642"/>
          <p:cNvSpPr txBox="1">
            <a:spLocks noChangeArrowheads="1"/>
          </p:cNvSpPr>
          <p:nvPr/>
        </p:nvSpPr>
        <p:spPr bwMode="auto">
          <a:xfrm>
            <a:off x="2332219" y="5469073"/>
            <a:ext cx="866775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9900FF"/>
                    </a:gs>
                    <a:gs pos="100000">
                      <a:srgbClr val="9900FF">
                        <a:gamma/>
                        <a:shade val="46275"/>
                        <a:invGamma/>
                      </a:srgbClr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pt-BR" sz="1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BBTS Integrator</a:t>
            </a:r>
          </a:p>
          <a:p>
            <a:r>
              <a:rPr lang="en-US" altLang="pt-BR" sz="1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(</a:t>
            </a:r>
            <a:r>
              <a:rPr lang="en-US" altLang="pt-BR" sz="1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eRat</a:t>
            </a:r>
            <a:r>
              <a:rPr lang="en-US" altLang="pt-BR" sz="1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)</a:t>
            </a:r>
            <a:endParaRPr lang="en-US" altLang="pt-BR" sz="1000" dirty="0"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</a:endParaRPr>
          </a:p>
        </p:txBody>
      </p:sp>
      <p:cxnSp>
        <p:nvCxnSpPr>
          <p:cNvPr id="239" name="Conector Angulado 238"/>
          <p:cNvCxnSpPr>
            <a:stCxn id="236" idx="3"/>
            <a:endCxn id="162" idx="1"/>
          </p:cNvCxnSpPr>
          <p:nvPr/>
        </p:nvCxnSpPr>
        <p:spPr>
          <a:xfrm flipV="1">
            <a:off x="3249794" y="2845330"/>
            <a:ext cx="557213" cy="2985772"/>
          </a:xfrm>
          <a:prstGeom prst="bentConnector3">
            <a:avLst>
              <a:gd name="adj1" fmla="val 85313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" name="AutoShape 1454"/>
          <p:cNvSpPr>
            <a:spLocks noChangeArrowheads="1"/>
          </p:cNvSpPr>
          <p:nvPr/>
        </p:nvSpPr>
        <p:spPr bwMode="auto">
          <a:xfrm>
            <a:off x="7772984" y="5701954"/>
            <a:ext cx="977900" cy="481013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96969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99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pt-BR" sz="1200" b="1" dirty="0" err="1" smtClean="0">
                <a:solidFill>
                  <a:srgbClr val="FF0000"/>
                </a:solidFill>
                <a:latin typeface="Arial" charset="0"/>
              </a:rPr>
              <a:t>PeopleSf</a:t>
            </a:r>
            <a:endParaRPr lang="en-US" altLang="pt-BR" sz="1200" b="1" dirty="0">
              <a:solidFill>
                <a:srgbClr val="FF0000"/>
              </a:solidFill>
              <a:latin typeface="Arial" charset="0"/>
            </a:endParaRPr>
          </a:p>
        </p:txBody>
      </p:sp>
      <p:sp>
        <p:nvSpPr>
          <p:cNvPr id="238" name="Line 1602"/>
          <p:cNvSpPr>
            <a:spLocks noChangeShapeType="1"/>
          </p:cNvSpPr>
          <p:nvPr/>
        </p:nvSpPr>
        <p:spPr bwMode="auto">
          <a:xfrm rot="5400000">
            <a:off x="7632748" y="5023918"/>
            <a:ext cx="1273604" cy="1681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51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DEPÓSITO DE REPARO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AutoShape 267"/>
          <p:cNvSpPr>
            <a:spLocks noChangeArrowheads="1"/>
          </p:cNvSpPr>
          <p:nvPr/>
        </p:nvSpPr>
        <p:spPr bwMode="auto">
          <a:xfrm rot="5400000">
            <a:off x="-8413" y="3742531"/>
            <a:ext cx="3454400" cy="674687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chemeClr val="accent2">
                  <a:gamma/>
                  <a:shade val="26275"/>
                  <a:invGamma/>
                </a:schemeClr>
              </a:gs>
              <a:gs pos="100000">
                <a:schemeClr val="accent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 sz="900"/>
          </a:p>
        </p:txBody>
      </p:sp>
      <p:grpSp>
        <p:nvGrpSpPr>
          <p:cNvPr id="5" name="Group 533"/>
          <p:cNvGrpSpPr>
            <a:grpSpLocks/>
          </p:cNvGrpSpPr>
          <p:nvPr/>
        </p:nvGrpSpPr>
        <p:grpSpPr bwMode="auto">
          <a:xfrm>
            <a:off x="-110807" y="1851025"/>
            <a:ext cx="1482725" cy="4060825"/>
            <a:chOff x="487" y="1166"/>
            <a:chExt cx="934" cy="2558"/>
          </a:xfrm>
        </p:grpSpPr>
        <p:sp>
          <p:nvSpPr>
            <p:cNvPr id="6" name="AutoShape 331"/>
            <p:cNvSpPr>
              <a:spLocks noChangeArrowheads="1"/>
            </p:cNvSpPr>
            <p:nvPr/>
          </p:nvSpPr>
          <p:spPr bwMode="auto">
            <a:xfrm>
              <a:off x="600" y="1415"/>
              <a:ext cx="821" cy="2309"/>
            </a:xfrm>
            <a:prstGeom prst="roundRect">
              <a:avLst>
                <a:gd name="adj" fmla="val 7472"/>
              </a:avLst>
            </a:prstGeom>
            <a:noFill/>
            <a:ln w="12700">
              <a:solidFill>
                <a:srgbClr val="777777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808080"/>
                      </a:gs>
                      <a:gs pos="100000">
                        <a:srgbClr val="808080">
                          <a:gamma/>
                          <a:shade val="46275"/>
                          <a:invGamma/>
                        </a:srgbClr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 sz="900"/>
            </a:p>
          </p:txBody>
        </p:sp>
        <p:sp>
          <p:nvSpPr>
            <p:cNvPr id="7" name="Text Box 332"/>
            <p:cNvSpPr txBox="1">
              <a:spLocks noChangeArrowheads="1"/>
            </p:cNvSpPr>
            <p:nvPr/>
          </p:nvSpPr>
          <p:spPr bwMode="auto">
            <a:xfrm>
              <a:off x="487" y="1166"/>
              <a:ext cx="722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00FF">
                          <a:gamma/>
                          <a:shade val="46275"/>
                          <a:invGamma/>
                        </a:srgbClr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wrap="none">
              <a:spAutoFit/>
              <a:flatTx/>
            </a:bodyPr>
            <a:lstStyle/>
            <a:p>
              <a:r>
                <a:rPr lang="en-US" altLang="pt-BR" sz="900" b="1" i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Service Channels</a:t>
              </a:r>
            </a:p>
          </p:txBody>
        </p:sp>
        <p:sp>
          <p:nvSpPr>
            <p:cNvPr id="8" name="Rectangle 334"/>
            <p:cNvSpPr>
              <a:spLocks noChangeArrowheads="1"/>
            </p:cNvSpPr>
            <p:nvPr/>
          </p:nvSpPr>
          <p:spPr bwMode="auto">
            <a:xfrm>
              <a:off x="756" y="1847"/>
              <a:ext cx="509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3" rIns="73025" bIns="36513">
              <a:spAutoFit/>
            </a:bodyPr>
            <a:lstStyle>
              <a:lvl1pPr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365125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731838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096963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1463675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19208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3780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28352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2924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/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Self-Service</a:t>
              </a:r>
            </a:p>
          </p:txBody>
        </p:sp>
        <p:sp>
          <p:nvSpPr>
            <p:cNvPr id="9" name="Rectangle 348"/>
            <p:cNvSpPr>
              <a:spLocks noChangeArrowheads="1"/>
            </p:cNvSpPr>
            <p:nvPr/>
          </p:nvSpPr>
          <p:spPr bwMode="auto">
            <a:xfrm>
              <a:off x="699" y="2407"/>
              <a:ext cx="622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3" rIns="73025" bIns="36513">
              <a:spAutoFit/>
            </a:bodyPr>
            <a:lstStyle>
              <a:lvl1pPr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365125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731838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096963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1463675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19208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3780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28352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2924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/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Agent Assisted</a:t>
              </a:r>
            </a:p>
          </p:txBody>
        </p:sp>
        <p:sp>
          <p:nvSpPr>
            <p:cNvPr id="10" name="Rectangle 352"/>
            <p:cNvSpPr>
              <a:spLocks noChangeArrowheads="1"/>
            </p:cNvSpPr>
            <p:nvPr/>
          </p:nvSpPr>
          <p:spPr bwMode="auto">
            <a:xfrm>
              <a:off x="722" y="3571"/>
              <a:ext cx="578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3" rIns="73025" bIns="36513">
              <a:spAutoFit/>
            </a:bodyPr>
            <a:lstStyle>
              <a:lvl1pPr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365125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731838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096963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1463675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19208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3780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28352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2924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/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Depot Walk-In</a:t>
              </a:r>
            </a:p>
          </p:txBody>
        </p:sp>
        <p:sp>
          <p:nvSpPr>
            <p:cNvPr id="11" name="Rectangle 354"/>
            <p:cNvSpPr>
              <a:spLocks noChangeArrowheads="1"/>
            </p:cNvSpPr>
            <p:nvPr/>
          </p:nvSpPr>
          <p:spPr bwMode="auto">
            <a:xfrm>
              <a:off x="739" y="2976"/>
              <a:ext cx="541" cy="1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73025" tIns="36513" rIns="73025" bIns="36513">
              <a:spAutoFit/>
            </a:bodyPr>
            <a:lstStyle>
              <a:lvl1pPr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365125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731838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096963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marL="1463675" algn="l" defTabSz="585788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marL="19208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marL="23780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marL="28352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marL="3292475" defTabSz="585788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/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Field Service</a:t>
              </a:r>
            </a:p>
          </p:txBody>
        </p:sp>
        <p:pic>
          <p:nvPicPr>
            <p:cNvPr id="12" name="Picture 504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" y="1485"/>
              <a:ext cx="438" cy="3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pic>
        <p:pic>
          <p:nvPicPr>
            <p:cNvPr id="13" name="Picture 505" descr="C:\Documents and Settings\nmcferra\Application Data\Microsoft\Media Catalog\Downloaded Clips\cl73\j0289521.jpg"/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250"/>
            <a:stretch>
              <a:fillRect/>
            </a:stretch>
          </p:blipFill>
          <p:spPr bwMode="auto">
            <a:xfrm>
              <a:off x="799" y="2048"/>
              <a:ext cx="436" cy="3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Group 517"/>
            <p:cNvGrpSpPr>
              <a:grpSpLocks/>
            </p:cNvGrpSpPr>
            <p:nvPr/>
          </p:nvGrpSpPr>
          <p:grpSpPr bwMode="auto">
            <a:xfrm>
              <a:off x="798" y="2614"/>
              <a:ext cx="438" cy="374"/>
              <a:chOff x="2218" y="953"/>
              <a:chExt cx="2050" cy="1538"/>
            </a:xfrm>
          </p:grpSpPr>
          <p:graphicFrame>
            <p:nvGraphicFramePr>
              <p:cNvPr id="16" name="Object 515"/>
              <p:cNvGraphicFramePr>
                <a:graphicFrameLocks noChangeAspect="1"/>
              </p:cNvGraphicFramePr>
              <p:nvPr/>
            </p:nvGraphicFramePr>
            <p:xfrm>
              <a:off x="2218" y="953"/>
              <a:ext cx="2050" cy="15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09" name="Photo Editor Photo" r:id="rId5" imgW="2924583" imgH="2190476" progId="MSPhotoEd.3">
                      <p:embed/>
                    </p:oleObj>
                  </mc:Choice>
                  <mc:Fallback>
                    <p:oleObj name="Photo Editor Photo" r:id="rId5" imgW="2924583" imgH="2190476" progId="MSPhotoEd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18" y="953"/>
                            <a:ext cx="2050" cy="153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1"/>
                                </a:solidFill>
                                <a:miter lim="800000"/>
                                <a:headEnd type="none" w="sm" len="sm"/>
                                <a:tailEnd type="none" w="sm" len="sm"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blurRad="63500" dist="38099" dir="2700000" algn="ctr" rotWithShape="0">
                                    <a:schemeClr val="bg2">
                                      <a:alpha val="74998"/>
                                    </a:schemeClr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7" name="Rectangle 516"/>
              <p:cNvSpPr>
                <a:spLocks noChangeArrowheads="1"/>
              </p:cNvSpPr>
              <p:nvPr/>
            </p:nvSpPr>
            <p:spPr bwMode="auto">
              <a:xfrm>
                <a:off x="3498" y="1744"/>
                <a:ext cx="401" cy="217"/>
              </a:xfrm>
              <a:prstGeom prst="rect">
                <a:avLst/>
              </a:prstGeom>
              <a:solidFill>
                <a:srgbClr val="D1D1D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 sz="900"/>
              </a:p>
            </p:txBody>
          </p:sp>
        </p:grpSp>
        <p:graphicFrame>
          <p:nvGraphicFramePr>
            <p:cNvPr id="15" name="Object 521"/>
            <p:cNvGraphicFramePr>
              <a:graphicFrameLocks noChangeAspect="1"/>
            </p:cNvGraphicFramePr>
            <p:nvPr/>
          </p:nvGraphicFramePr>
          <p:xfrm>
            <a:off x="799" y="3182"/>
            <a:ext cx="438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0" name="Photo Editor Photo" r:id="rId7" imgW="1905266" imgH="1771429" progId="MSPhotoEd.3">
                    <p:embed/>
                  </p:oleObj>
                </mc:Choice>
                <mc:Fallback>
                  <p:oleObj name="Photo Editor Photo" r:id="rId7" imgW="1905266" imgH="1771429" progId="MSPhotoEd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 l="3360" r="11519" b="16002"/>
                        <a:stretch>
                          <a:fillRect/>
                        </a:stretch>
                      </p:blipFill>
                      <p:spPr bwMode="auto">
                        <a:xfrm>
                          <a:off x="799" y="3182"/>
                          <a:ext cx="438" cy="4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AutoShape 231"/>
          <p:cNvSpPr>
            <a:spLocks noChangeArrowheads="1"/>
          </p:cNvSpPr>
          <p:nvPr/>
        </p:nvSpPr>
        <p:spPr bwMode="auto">
          <a:xfrm>
            <a:off x="2094230" y="2811463"/>
            <a:ext cx="5213350" cy="2546350"/>
          </a:xfrm>
          <a:prstGeom prst="roundRect">
            <a:avLst>
              <a:gd name="adj" fmla="val 7472"/>
            </a:avLst>
          </a:prstGeom>
          <a:gradFill rotWithShape="0">
            <a:gsLst>
              <a:gs pos="0">
                <a:srgbClr val="808080"/>
              </a:gs>
              <a:gs pos="100000">
                <a:srgbClr val="808080">
                  <a:gamma/>
                  <a:shade val="46275"/>
                  <a:invGamma/>
                </a:srgbClr>
              </a:gs>
            </a:gsLst>
            <a:lin ang="2700000" scaled="1"/>
          </a:gradFill>
          <a:ln>
            <a:noFill/>
          </a:ln>
          <a:effectLst/>
          <a:scene3d>
            <a:camera prst="legacyObliqueTopRight"/>
            <a:lightRig rig="legacyFlat3" dir="b"/>
          </a:scene3d>
          <a:sp3d extrusionH="100000" contourW="12700" prstMaterial="legacyMatte">
            <a:bevelT w="13500" h="13500" prst="angle"/>
            <a:bevelB w="13500" h="13500" prst="angle"/>
            <a:extrusionClr>
              <a:srgbClr val="808080"/>
            </a:extrusionClr>
            <a:contourClr>
              <a:srgbClr val="808080"/>
            </a:contourClr>
          </a:sp3d>
          <a:extLst>
            <a:ext uri="{91240B29-F687-4F45-9708-019B960494DF}">
              <a14:hiddenLine xmlns:a14="http://schemas.microsoft.com/office/drawing/2010/main" w="9525">
                <a:noFill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 sz="900"/>
          </a:p>
        </p:txBody>
      </p:sp>
      <p:sp>
        <p:nvSpPr>
          <p:cNvPr id="20" name="Rectangle 276"/>
          <p:cNvSpPr>
            <a:spLocks noChangeArrowheads="1"/>
          </p:cNvSpPr>
          <p:nvPr/>
        </p:nvSpPr>
        <p:spPr bwMode="auto">
          <a:xfrm>
            <a:off x="2867324" y="4759325"/>
            <a:ext cx="660437" cy="376386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1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50" tIns="49213" rIns="95250" bIns="49213">
            <a:spAutoFit/>
          </a:bodyPr>
          <a:lstStyle>
            <a:lvl1pPr algn="l" defTabSz="100965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482600" algn="l" defTabSz="10096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960438" algn="l" defTabSz="100965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441450" algn="l" defTabSz="100965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922463" algn="l" defTabSz="100965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379663" defTabSz="10096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836863" defTabSz="10096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294063" defTabSz="10096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751263" defTabSz="10096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US" altLang="pt-BR" sz="900" b="1">
                <a:latin typeface="Arial" charset="0"/>
              </a:rPr>
              <a:t>Installed</a:t>
            </a:r>
            <a:br>
              <a:rPr lang="en-US" altLang="pt-BR" sz="900" b="1">
                <a:latin typeface="Arial" charset="0"/>
              </a:rPr>
            </a:br>
            <a:r>
              <a:rPr lang="en-US" altLang="pt-BR" sz="900" b="1">
                <a:latin typeface="Arial" charset="0"/>
              </a:rPr>
              <a:t>Base</a:t>
            </a:r>
          </a:p>
        </p:txBody>
      </p:sp>
      <p:pic>
        <p:nvPicPr>
          <p:cNvPr id="21" name="Picture 277" descr="C:\WINNT\Profiles\jcaldwel\Application Data\Microsoft\Media Catalog\pcs_popular_111.wmf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155" y="4191000"/>
            <a:ext cx="590550" cy="49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 Box 366"/>
          <p:cNvSpPr txBox="1">
            <a:spLocks noChangeArrowheads="1"/>
          </p:cNvSpPr>
          <p:nvPr/>
        </p:nvSpPr>
        <p:spPr bwMode="auto">
          <a:xfrm>
            <a:off x="4084955" y="4759325"/>
            <a:ext cx="1323975" cy="385170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pt-BR" sz="900" b="1">
                <a:latin typeface="Arial" charset="0"/>
              </a:rPr>
              <a:t>Common Data </a:t>
            </a:r>
          </a:p>
          <a:p>
            <a:pPr>
              <a:lnSpc>
                <a:spcPct val="110000"/>
              </a:lnSpc>
            </a:pPr>
            <a:r>
              <a:rPr lang="en-US" altLang="pt-BR" sz="900" b="1">
                <a:latin typeface="Arial" charset="0"/>
              </a:rPr>
              <a:t>Repository</a:t>
            </a:r>
          </a:p>
        </p:txBody>
      </p:sp>
      <p:sp>
        <p:nvSpPr>
          <p:cNvPr id="23" name="Text Box 502"/>
          <p:cNvSpPr txBox="1">
            <a:spLocks noChangeArrowheads="1"/>
          </p:cNvSpPr>
          <p:nvPr/>
        </p:nvSpPr>
        <p:spPr bwMode="auto">
          <a:xfrm>
            <a:off x="5764530" y="4759325"/>
            <a:ext cx="1003300" cy="232821"/>
          </a:xfrm>
          <a:prstGeom prst="rect">
            <a:avLst/>
          </a:prstGeom>
          <a:noFill/>
          <a:ln>
            <a:noFill/>
          </a:ln>
          <a:effectLst>
            <a:outerShdw blurRad="63500" dist="17961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pt-BR" sz="900" b="1">
                <a:latin typeface="Arial" charset="0"/>
              </a:rPr>
              <a:t>Reports</a:t>
            </a:r>
          </a:p>
        </p:txBody>
      </p:sp>
      <p:grpSp>
        <p:nvGrpSpPr>
          <p:cNvPr id="24" name="Group 532"/>
          <p:cNvGrpSpPr>
            <a:grpSpLocks/>
          </p:cNvGrpSpPr>
          <p:nvPr/>
        </p:nvGrpSpPr>
        <p:grpSpPr bwMode="auto">
          <a:xfrm>
            <a:off x="4351655" y="4151313"/>
            <a:ext cx="790575" cy="627062"/>
            <a:chOff x="3298" y="2615"/>
            <a:chExt cx="498" cy="395"/>
          </a:xfrm>
        </p:grpSpPr>
        <p:pic>
          <p:nvPicPr>
            <p:cNvPr id="25" name="Picture 365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1" y="2615"/>
              <a:ext cx="391" cy="3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00FF">
                          <a:gamma/>
                          <a:shade val="46275"/>
                          <a:invGamma/>
                        </a:srgbClr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</p:pic>
        <p:sp>
          <p:nvSpPr>
            <p:cNvPr id="26" name="Text Box 519"/>
            <p:cNvSpPr txBox="1">
              <a:spLocks noChangeArrowheads="1"/>
            </p:cNvSpPr>
            <p:nvPr/>
          </p:nvSpPr>
          <p:spPr bwMode="auto">
            <a:xfrm>
              <a:off x="3298" y="2671"/>
              <a:ext cx="498" cy="339"/>
            </a:xfrm>
            <a:prstGeom prst="rect">
              <a:avLst/>
            </a:prstGeom>
            <a:noFill/>
            <a:ln>
              <a:noFill/>
            </a:ln>
            <a:effectLst>
              <a:outerShdw blurRad="63500" dist="17961" dir="2700000" algn="ctr" rotWithShape="0">
                <a:schemeClr val="bg2">
                  <a:alpha val="74998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10000"/>
                </a:lnSpc>
              </a:pPr>
              <a:r>
                <a:rPr lang="en-US" altLang="pt-BR" sz="900" b="1">
                  <a:latin typeface="Arial" charset="0"/>
                </a:rPr>
                <a:t>Customer</a:t>
              </a:r>
              <a:br>
                <a:rPr lang="en-US" altLang="pt-BR" sz="900" b="1">
                  <a:latin typeface="Arial" charset="0"/>
                </a:rPr>
              </a:br>
              <a:r>
                <a:rPr lang="en-US" altLang="pt-BR" sz="900" b="1">
                  <a:latin typeface="Arial" charset="0"/>
                </a:rPr>
                <a:t>&amp; Product</a:t>
              </a:r>
              <a:br>
                <a:rPr lang="en-US" altLang="pt-BR" sz="900" b="1">
                  <a:latin typeface="Arial" charset="0"/>
                </a:rPr>
              </a:br>
              <a:r>
                <a:rPr lang="en-US" altLang="pt-BR" sz="900" b="1">
                  <a:latin typeface="Arial" charset="0"/>
                </a:rPr>
                <a:t>Data</a:t>
              </a:r>
            </a:p>
          </p:txBody>
        </p:sp>
      </p:grpSp>
      <p:grpSp>
        <p:nvGrpSpPr>
          <p:cNvPr id="27" name="Group 531"/>
          <p:cNvGrpSpPr>
            <a:grpSpLocks/>
          </p:cNvGrpSpPr>
          <p:nvPr/>
        </p:nvGrpSpPr>
        <p:grpSpPr bwMode="auto">
          <a:xfrm>
            <a:off x="2230755" y="2994025"/>
            <a:ext cx="5006975" cy="1100138"/>
            <a:chOff x="1906" y="1902"/>
            <a:chExt cx="3154" cy="693"/>
          </a:xfrm>
        </p:grpSpPr>
        <p:sp>
          <p:nvSpPr>
            <p:cNvPr id="28" name="Freeform 232"/>
            <p:cNvSpPr>
              <a:spLocks/>
            </p:cNvSpPr>
            <p:nvPr/>
          </p:nvSpPr>
          <p:spPr bwMode="auto">
            <a:xfrm rot="21575731">
              <a:off x="2405" y="1902"/>
              <a:ext cx="637" cy="637"/>
            </a:xfrm>
            <a:custGeom>
              <a:avLst/>
              <a:gdLst>
                <a:gd name="T0" fmla="*/ 685 w 915"/>
                <a:gd name="T1" fmla="*/ 0 h 433"/>
                <a:gd name="T2" fmla="*/ 0 w 915"/>
                <a:gd name="T3" fmla="*/ 0 h 433"/>
                <a:gd name="T4" fmla="*/ 228 w 915"/>
                <a:gd name="T5" fmla="*/ 216 h 433"/>
                <a:gd name="T6" fmla="*/ 0 w 915"/>
                <a:gd name="T7" fmla="*/ 432 h 433"/>
                <a:gd name="T8" fmla="*/ 685 w 915"/>
                <a:gd name="T9" fmla="*/ 432 h 433"/>
                <a:gd name="T10" fmla="*/ 914 w 915"/>
                <a:gd name="T11" fmla="*/ 216 h 433"/>
                <a:gd name="T12" fmla="*/ 685 w 915"/>
                <a:gd name="T13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5" h="433">
                  <a:moveTo>
                    <a:pt x="685" y="0"/>
                  </a:moveTo>
                  <a:lnTo>
                    <a:pt x="0" y="0"/>
                  </a:lnTo>
                  <a:lnTo>
                    <a:pt x="228" y="216"/>
                  </a:lnTo>
                  <a:lnTo>
                    <a:pt x="0" y="432"/>
                  </a:lnTo>
                  <a:lnTo>
                    <a:pt x="685" y="432"/>
                  </a:lnTo>
                  <a:lnTo>
                    <a:pt x="914" y="216"/>
                  </a:lnTo>
                  <a:lnTo>
                    <a:pt x="685" y="0"/>
                  </a:lnTo>
                </a:path>
              </a:pathLst>
            </a:custGeom>
            <a:gradFill rotWithShape="0">
              <a:gsLst>
                <a:gs pos="0">
                  <a:srgbClr val="0066CC">
                    <a:gamma/>
                    <a:shade val="69804"/>
                    <a:invGamma/>
                  </a:srgbClr>
                </a:gs>
                <a:gs pos="100000">
                  <a:srgbClr val="0066CC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rnd" cmpd="sng">
                  <a:solidFill>
                    <a:schemeClr val="hlink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29" name="Freeform 233"/>
            <p:cNvSpPr>
              <a:spLocks/>
            </p:cNvSpPr>
            <p:nvPr/>
          </p:nvSpPr>
          <p:spPr bwMode="auto">
            <a:xfrm rot="21575731">
              <a:off x="1906" y="1902"/>
              <a:ext cx="636" cy="637"/>
            </a:xfrm>
            <a:custGeom>
              <a:avLst/>
              <a:gdLst>
                <a:gd name="T0" fmla="*/ 685 w 915"/>
                <a:gd name="T1" fmla="*/ 0 h 433"/>
                <a:gd name="T2" fmla="*/ 0 w 915"/>
                <a:gd name="T3" fmla="*/ 0 h 433"/>
                <a:gd name="T4" fmla="*/ 228 w 915"/>
                <a:gd name="T5" fmla="*/ 216 h 433"/>
                <a:gd name="T6" fmla="*/ 0 w 915"/>
                <a:gd name="T7" fmla="*/ 432 h 433"/>
                <a:gd name="T8" fmla="*/ 685 w 915"/>
                <a:gd name="T9" fmla="*/ 432 h 433"/>
                <a:gd name="T10" fmla="*/ 914 w 915"/>
                <a:gd name="T11" fmla="*/ 216 h 433"/>
                <a:gd name="T12" fmla="*/ 685 w 915"/>
                <a:gd name="T13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5" h="433">
                  <a:moveTo>
                    <a:pt x="685" y="0"/>
                  </a:moveTo>
                  <a:lnTo>
                    <a:pt x="0" y="0"/>
                  </a:lnTo>
                  <a:lnTo>
                    <a:pt x="228" y="216"/>
                  </a:lnTo>
                  <a:lnTo>
                    <a:pt x="0" y="432"/>
                  </a:lnTo>
                  <a:lnTo>
                    <a:pt x="685" y="432"/>
                  </a:lnTo>
                  <a:lnTo>
                    <a:pt x="914" y="216"/>
                  </a:lnTo>
                  <a:lnTo>
                    <a:pt x="685" y="0"/>
                  </a:lnTo>
                </a:path>
              </a:pathLst>
            </a:custGeom>
            <a:gradFill rotWithShape="0">
              <a:gsLst>
                <a:gs pos="0">
                  <a:srgbClr val="0066CC">
                    <a:gamma/>
                    <a:shade val="69804"/>
                    <a:invGamma/>
                  </a:srgbClr>
                </a:gs>
                <a:gs pos="100000">
                  <a:srgbClr val="0066CC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rnd" cmpd="sng">
                  <a:solidFill>
                    <a:schemeClr val="hlink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30" name="Freeform 234"/>
            <p:cNvSpPr>
              <a:spLocks/>
            </p:cNvSpPr>
            <p:nvPr/>
          </p:nvSpPr>
          <p:spPr bwMode="auto">
            <a:xfrm rot="21575731">
              <a:off x="2911" y="1902"/>
              <a:ext cx="635" cy="637"/>
            </a:xfrm>
            <a:custGeom>
              <a:avLst/>
              <a:gdLst>
                <a:gd name="T0" fmla="*/ 685 w 915"/>
                <a:gd name="T1" fmla="*/ 0 h 433"/>
                <a:gd name="T2" fmla="*/ 0 w 915"/>
                <a:gd name="T3" fmla="*/ 0 h 433"/>
                <a:gd name="T4" fmla="*/ 228 w 915"/>
                <a:gd name="T5" fmla="*/ 216 h 433"/>
                <a:gd name="T6" fmla="*/ 0 w 915"/>
                <a:gd name="T7" fmla="*/ 432 h 433"/>
                <a:gd name="T8" fmla="*/ 685 w 915"/>
                <a:gd name="T9" fmla="*/ 432 h 433"/>
                <a:gd name="T10" fmla="*/ 914 w 915"/>
                <a:gd name="T11" fmla="*/ 216 h 433"/>
                <a:gd name="T12" fmla="*/ 685 w 915"/>
                <a:gd name="T13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5" h="433">
                  <a:moveTo>
                    <a:pt x="685" y="0"/>
                  </a:moveTo>
                  <a:lnTo>
                    <a:pt x="0" y="0"/>
                  </a:lnTo>
                  <a:lnTo>
                    <a:pt x="228" y="216"/>
                  </a:lnTo>
                  <a:lnTo>
                    <a:pt x="0" y="432"/>
                  </a:lnTo>
                  <a:lnTo>
                    <a:pt x="685" y="432"/>
                  </a:lnTo>
                  <a:lnTo>
                    <a:pt x="914" y="216"/>
                  </a:lnTo>
                  <a:lnTo>
                    <a:pt x="685" y="0"/>
                  </a:lnTo>
                </a:path>
              </a:pathLst>
            </a:custGeom>
            <a:gradFill rotWithShape="0">
              <a:gsLst>
                <a:gs pos="0">
                  <a:srgbClr val="0066CC">
                    <a:gamma/>
                    <a:shade val="69804"/>
                    <a:invGamma/>
                  </a:srgbClr>
                </a:gs>
                <a:gs pos="100000">
                  <a:srgbClr val="0066CC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rnd" cmpd="sng">
                  <a:solidFill>
                    <a:schemeClr val="hlink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31" name="Freeform 235"/>
            <p:cNvSpPr>
              <a:spLocks/>
            </p:cNvSpPr>
            <p:nvPr/>
          </p:nvSpPr>
          <p:spPr bwMode="auto">
            <a:xfrm rot="21575731">
              <a:off x="3400" y="1902"/>
              <a:ext cx="658" cy="637"/>
            </a:xfrm>
            <a:custGeom>
              <a:avLst/>
              <a:gdLst>
                <a:gd name="T0" fmla="*/ 685 w 915"/>
                <a:gd name="T1" fmla="*/ 0 h 433"/>
                <a:gd name="T2" fmla="*/ 0 w 915"/>
                <a:gd name="T3" fmla="*/ 0 h 433"/>
                <a:gd name="T4" fmla="*/ 228 w 915"/>
                <a:gd name="T5" fmla="*/ 216 h 433"/>
                <a:gd name="T6" fmla="*/ 0 w 915"/>
                <a:gd name="T7" fmla="*/ 432 h 433"/>
                <a:gd name="T8" fmla="*/ 685 w 915"/>
                <a:gd name="T9" fmla="*/ 432 h 433"/>
                <a:gd name="T10" fmla="*/ 914 w 915"/>
                <a:gd name="T11" fmla="*/ 216 h 433"/>
                <a:gd name="T12" fmla="*/ 685 w 915"/>
                <a:gd name="T13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5" h="433">
                  <a:moveTo>
                    <a:pt x="685" y="0"/>
                  </a:moveTo>
                  <a:lnTo>
                    <a:pt x="0" y="0"/>
                  </a:lnTo>
                  <a:lnTo>
                    <a:pt x="228" y="216"/>
                  </a:lnTo>
                  <a:lnTo>
                    <a:pt x="0" y="432"/>
                  </a:lnTo>
                  <a:lnTo>
                    <a:pt x="685" y="432"/>
                  </a:lnTo>
                  <a:lnTo>
                    <a:pt x="914" y="216"/>
                  </a:lnTo>
                  <a:lnTo>
                    <a:pt x="685" y="0"/>
                  </a:lnTo>
                </a:path>
              </a:pathLst>
            </a:custGeom>
            <a:gradFill rotWithShape="0">
              <a:gsLst>
                <a:gs pos="0">
                  <a:srgbClr val="0066CC">
                    <a:gamma/>
                    <a:shade val="69804"/>
                    <a:invGamma/>
                  </a:srgbClr>
                </a:gs>
                <a:gs pos="100000">
                  <a:srgbClr val="0066CC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rnd" cmpd="sng">
                  <a:solidFill>
                    <a:schemeClr val="hlink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32" name="Text Box 236"/>
            <p:cNvSpPr txBox="1">
              <a:spLocks noChangeArrowheads="1"/>
            </p:cNvSpPr>
            <p:nvPr/>
          </p:nvSpPr>
          <p:spPr bwMode="auto">
            <a:xfrm>
              <a:off x="1996" y="1987"/>
              <a:ext cx="551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5000"/>
                </a:spcBef>
              </a:pPr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Receive</a:t>
              </a:r>
              <a:b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</a:br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and Inspect</a:t>
              </a:r>
            </a:p>
          </p:txBody>
        </p:sp>
        <p:sp>
          <p:nvSpPr>
            <p:cNvPr id="33" name="Text Box 237"/>
            <p:cNvSpPr txBox="1">
              <a:spLocks noChangeArrowheads="1"/>
            </p:cNvSpPr>
            <p:nvPr/>
          </p:nvSpPr>
          <p:spPr bwMode="auto">
            <a:xfrm>
              <a:off x="2492" y="1987"/>
              <a:ext cx="548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5000"/>
                </a:spcBef>
              </a:pPr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Estimate and</a:t>
              </a:r>
              <a:b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</a:br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Approve</a:t>
              </a:r>
            </a:p>
          </p:txBody>
        </p:sp>
        <p:sp>
          <p:nvSpPr>
            <p:cNvPr id="34" name="Text Box 238"/>
            <p:cNvSpPr txBox="1">
              <a:spLocks noChangeArrowheads="1"/>
            </p:cNvSpPr>
            <p:nvPr/>
          </p:nvSpPr>
          <p:spPr bwMode="auto">
            <a:xfrm>
              <a:off x="2962" y="1987"/>
              <a:ext cx="621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5000"/>
                </a:spcBef>
              </a:pPr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Plan</a:t>
              </a:r>
              <a:b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</a:br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and</a:t>
              </a:r>
              <a:b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</a:br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Schedule</a:t>
              </a:r>
            </a:p>
          </p:txBody>
        </p:sp>
        <p:sp>
          <p:nvSpPr>
            <p:cNvPr id="35" name="Freeform 239"/>
            <p:cNvSpPr>
              <a:spLocks/>
            </p:cNvSpPr>
            <p:nvPr/>
          </p:nvSpPr>
          <p:spPr bwMode="auto">
            <a:xfrm rot="21575731">
              <a:off x="3927" y="1902"/>
              <a:ext cx="635" cy="637"/>
            </a:xfrm>
            <a:custGeom>
              <a:avLst/>
              <a:gdLst>
                <a:gd name="T0" fmla="*/ 685 w 915"/>
                <a:gd name="T1" fmla="*/ 0 h 433"/>
                <a:gd name="T2" fmla="*/ 0 w 915"/>
                <a:gd name="T3" fmla="*/ 0 h 433"/>
                <a:gd name="T4" fmla="*/ 228 w 915"/>
                <a:gd name="T5" fmla="*/ 216 h 433"/>
                <a:gd name="T6" fmla="*/ 0 w 915"/>
                <a:gd name="T7" fmla="*/ 432 h 433"/>
                <a:gd name="T8" fmla="*/ 685 w 915"/>
                <a:gd name="T9" fmla="*/ 432 h 433"/>
                <a:gd name="T10" fmla="*/ 914 w 915"/>
                <a:gd name="T11" fmla="*/ 216 h 433"/>
                <a:gd name="T12" fmla="*/ 685 w 915"/>
                <a:gd name="T13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5" h="433">
                  <a:moveTo>
                    <a:pt x="685" y="0"/>
                  </a:moveTo>
                  <a:lnTo>
                    <a:pt x="0" y="0"/>
                  </a:lnTo>
                  <a:lnTo>
                    <a:pt x="228" y="216"/>
                  </a:lnTo>
                  <a:lnTo>
                    <a:pt x="0" y="432"/>
                  </a:lnTo>
                  <a:lnTo>
                    <a:pt x="685" y="432"/>
                  </a:lnTo>
                  <a:lnTo>
                    <a:pt x="914" y="216"/>
                  </a:lnTo>
                  <a:lnTo>
                    <a:pt x="685" y="0"/>
                  </a:lnTo>
                </a:path>
              </a:pathLst>
            </a:custGeom>
            <a:gradFill rotWithShape="0">
              <a:gsLst>
                <a:gs pos="0">
                  <a:srgbClr val="0066CC">
                    <a:gamma/>
                    <a:shade val="69804"/>
                    <a:invGamma/>
                  </a:srgbClr>
                </a:gs>
                <a:gs pos="100000">
                  <a:srgbClr val="0066CC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rnd" cmpd="sng">
                  <a:solidFill>
                    <a:schemeClr val="hlink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36" name="Freeform 240"/>
            <p:cNvSpPr>
              <a:spLocks/>
            </p:cNvSpPr>
            <p:nvPr/>
          </p:nvSpPr>
          <p:spPr bwMode="auto">
            <a:xfrm rot="21575731">
              <a:off x="4425" y="1902"/>
              <a:ext cx="635" cy="637"/>
            </a:xfrm>
            <a:custGeom>
              <a:avLst/>
              <a:gdLst>
                <a:gd name="T0" fmla="*/ 685 w 915"/>
                <a:gd name="T1" fmla="*/ 0 h 433"/>
                <a:gd name="T2" fmla="*/ 0 w 915"/>
                <a:gd name="T3" fmla="*/ 0 h 433"/>
                <a:gd name="T4" fmla="*/ 228 w 915"/>
                <a:gd name="T5" fmla="*/ 216 h 433"/>
                <a:gd name="T6" fmla="*/ 0 w 915"/>
                <a:gd name="T7" fmla="*/ 432 h 433"/>
                <a:gd name="T8" fmla="*/ 685 w 915"/>
                <a:gd name="T9" fmla="*/ 432 h 433"/>
                <a:gd name="T10" fmla="*/ 914 w 915"/>
                <a:gd name="T11" fmla="*/ 216 h 433"/>
                <a:gd name="T12" fmla="*/ 685 w 915"/>
                <a:gd name="T13" fmla="*/ 0 h 4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15" h="433">
                  <a:moveTo>
                    <a:pt x="685" y="0"/>
                  </a:moveTo>
                  <a:lnTo>
                    <a:pt x="0" y="0"/>
                  </a:lnTo>
                  <a:lnTo>
                    <a:pt x="228" y="216"/>
                  </a:lnTo>
                  <a:lnTo>
                    <a:pt x="0" y="432"/>
                  </a:lnTo>
                  <a:lnTo>
                    <a:pt x="685" y="432"/>
                  </a:lnTo>
                  <a:lnTo>
                    <a:pt x="914" y="216"/>
                  </a:lnTo>
                  <a:lnTo>
                    <a:pt x="685" y="0"/>
                  </a:lnTo>
                </a:path>
              </a:pathLst>
            </a:custGeom>
            <a:gradFill rotWithShape="0">
              <a:gsLst>
                <a:gs pos="0">
                  <a:srgbClr val="0066CC">
                    <a:gamma/>
                    <a:shade val="69804"/>
                    <a:invGamma/>
                  </a:srgbClr>
                </a:gs>
                <a:gs pos="100000">
                  <a:srgbClr val="0066CC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25400" cap="rnd" cmpd="sng">
                  <a:solidFill>
                    <a:schemeClr val="hlink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5921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 sz="900"/>
            </a:p>
          </p:txBody>
        </p:sp>
        <p:sp>
          <p:nvSpPr>
            <p:cNvPr id="37" name="Text Box 241"/>
            <p:cNvSpPr txBox="1">
              <a:spLocks noChangeArrowheads="1"/>
            </p:cNvSpPr>
            <p:nvPr/>
          </p:nvSpPr>
          <p:spPr bwMode="auto">
            <a:xfrm>
              <a:off x="4041" y="1988"/>
              <a:ext cx="483" cy="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5000"/>
                </a:spcBef>
              </a:pPr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Repair and Debrief</a:t>
              </a:r>
            </a:p>
          </p:txBody>
        </p:sp>
        <p:sp>
          <p:nvSpPr>
            <p:cNvPr id="38" name="Text Box 242"/>
            <p:cNvSpPr txBox="1">
              <a:spLocks noChangeArrowheads="1"/>
            </p:cNvSpPr>
            <p:nvPr/>
          </p:nvSpPr>
          <p:spPr bwMode="auto">
            <a:xfrm>
              <a:off x="4538" y="1987"/>
              <a:ext cx="512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5000"/>
                </a:spcBef>
              </a:pPr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Ship and</a:t>
              </a:r>
              <a:b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</a:br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Bill</a:t>
              </a:r>
            </a:p>
          </p:txBody>
        </p:sp>
        <p:sp>
          <p:nvSpPr>
            <p:cNvPr id="39" name="Text Box 261"/>
            <p:cNvSpPr txBox="1">
              <a:spLocks noChangeArrowheads="1"/>
            </p:cNvSpPr>
            <p:nvPr/>
          </p:nvSpPr>
          <p:spPr bwMode="auto">
            <a:xfrm>
              <a:off x="3483" y="2105"/>
              <a:ext cx="665" cy="1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5000"/>
                </a:spcBef>
              </a:pPr>
              <a:r>
                <a:rPr lang="en-US" altLang="pt-BR" sz="9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Assign</a:t>
              </a:r>
            </a:p>
          </p:txBody>
        </p:sp>
        <p:grpSp>
          <p:nvGrpSpPr>
            <p:cNvPr id="40" name="Group 530"/>
            <p:cNvGrpSpPr>
              <a:grpSpLocks/>
            </p:cNvGrpSpPr>
            <p:nvPr/>
          </p:nvGrpSpPr>
          <p:grpSpPr bwMode="auto">
            <a:xfrm>
              <a:off x="2008" y="2327"/>
              <a:ext cx="2827" cy="268"/>
              <a:chOff x="2000" y="1887"/>
              <a:chExt cx="2827" cy="268"/>
            </a:xfrm>
          </p:grpSpPr>
          <p:sp>
            <p:nvSpPr>
              <p:cNvPr id="41" name="AutoShape 526"/>
              <p:cNvSpPr>
                <a:spLocks noChangeArrowheads="1"/>
              </p:cNvSpPr>
              <p:nvPr/>
            </p:nvSpPr>
            <p:spPr bwMode="auto">
              <a:xfrm>
                <a:off x="2000" y="1887"/>
                <a:ext cx="1501" cy="268"/>
              </a:xfrm>
              <a:prstGeom prst="rightArrow">
                <a:avLst>
                  <a:gd name="adj1" fmla="val 50259"/>
                  <a:gd name="adj2" fmla="val 35290"/>
                </a:avLst>
              </a:prstGeom>
              <a:noFill/>
              <a:ln>
                <a:noFill/>
              </a:ln>
              <a:effectLst>
                <a:outerShdw blurRad="63500" dist="17961" dir="2700000" algn="ctr" rotWithShape="0">
                  <a:schemeClr val="bg1">
                    <a:alpha val="74998"/>
                  </a:scheme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gradFill rotWithShape="0">
                      <a:gsLst>
                        <a:gs pos="0">
                          <a:srgbClr val="FF0000"/>
                        </a:gs>
                        <a:gs pos="50000">
                          <a:schemeClr val="accent1"/>
                        </a:gs>
                        <a:gs pos="100000">
                          <a:srgbClr val="FF0000"/>
                        </a:gs>
                      </a:gsLst>
                      <a:lin ang="0" scaled="1"/>
                    </a:gra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3366FF"/>
                    </a:solidFill>
                    <a:prstDash val="dash"/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 anchor="ctr"/>
              <a:lstStyle/>
              <a:p>
                <a:r>
                  <a:rPr lang="en-US" altLang="pt-BR" sz="900" b="1">
                    <a:solidFill>
                      <a:schemeClr val="accent2"/>
                    </a:solidFill>
                    <a:latin typeface="Arial" charset="0"/>
                  </a:rPr>
                  <a:t>Manage Resources</a:t>
                </a:r>
              </a:p>
            </p:txBody>
          </p:sp>
          <p:sp>
            <p:nvSpPr>
              <p:cNvPr id="42" name="Line 527"/>
              <p:cNvSpPr>
                <a:spLocks noChangeShapeType="1"/>
              </p:cNvSpPr>
              <p:nvPr/>
            </p:nvSpPr>
            <p:spPr bwMode="auto">
              <a:xfrm>
                <a:off x="3265" y="2024"/>
                <a:ext cx="156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43" name="Line 528"/>
              <p:cNvSpPr>
                <a:spLocks noChangeShapeType="1"/>
              </p:cNvSpPr>
              <p:nvPr/>
            </p:nvSpPr>
            <p:spPr bwMode="auto">
              <a:xfrm flipH="1">
                <a:off x="2069" y="2023"/>
                <a:ext cx="14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rgbClr val="000000">
                          <a:alpha val="74998"/>
                        </a:srgb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</p:grpSp>
      </p:grpSp>
      <p:grpSp>
        <p:nvGrpSpPr>
          <p:cNvPr id="44" name="Group 537"/>
          <p:cNvGrpSpPr>
            <a:grpSpLocks/>
          </p:cNvGrpSpPr>
          <p:nvPr/>
        </p:nvGrpSpPr>
        <p:grpSpPr bwMode="auto">
          <a:xfrm>
            <a:off x="5774055" y="4110038"/>
            <a:ext cx="946150" cy="674687"/>
            <a:chOff x="4194" y="2589"/>
            <a:chExt cx="596" cy="425"/>
          </a:xfrm>
        </p:grpSpPr>
        <p:pic>
          <p:nvPicPr>
            <p:cNvPr id="45" name="Picture 535" descr="Documents: Bar Chart"/>
            <p:cNvPicPr preferRelativeResize="0"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94" y="2630"/>
              <a:ext cx="227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6" name="Picture 536"/>
            <p:cNvPicPr preferRelativeResize="0"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27" y="2589"/>
              <a:ext cx="26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7" name="Group 368"/>
            <p:cNvGrpSpPr>
              <a:grpSpLocks/>
            </p:cNvGrpSpPr>
            <p:nvPr/>
          </p:nvGrpSpPr>
          <p:grpSpPr bwMode="auto">
            <a:xfrm>
              <a:off x="4358" y="2761"/>
              <a:ext cx="259" cy="253"/>
              <a:chOff x="995" y="1653"/>
              <a:chExt cx="649" cy="959"/>
            </a:xfrm>
          </p:grpSpPr>
          <p:sp>
            <p:nvSpPr>
              <p:cNvPr id="48" name="Freeform 369"/>
              <p:cNvSpPr>
                <a:spLocks/>
              </p:cNvSpPr>
              <p:nvPr/>
            </p:nvSpPr>
            <p:spPr bwMode="auto">
              <a:xfrm>
                <a:off x="995" y="1653"/>
                <a:ext cx="591" cy="925"/>
              </a:xfrm>
              <a:custGeom>
                <a:avLst/>
                <a:gdLst>
                  <a:gd name="T0" fmla="*/ 590 w 591"/>
                  <a:gd name="T1" fmla="*/ 630 h 925"/>
                  <a:gd name="T2" fmla="*/ 590 w 591"/>
                  <a:gd name="T3" fmla="*/ 0 h 925"/>
                  <a:gd name="T4" fmla="*/ 0 w 591"/>
                  <a:gd name="T5" fmla="*/ 274 h 925"/>
                  <a:gd name="T6" fmla="*/ 0 w 591"/>
                  <a:gd name="T7" fmla="*/ 924 h 925"/>
                  <a:gd name="T8" fmla="*/ 590 w 591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1" h="925">
                    <a:moveTo>
                      <a:pt x="590" y="630"/>
                    </a:moveTo>
                    <a:lnTo>
                      <a:pt x="590" y="0"/>
                    </a:lnTo>
                    <a:lnTo>
                      <a:pt x="0" y="274"/>
                    </a:lnTo>
                    <a:lnTo>
                      <a:pt x="0" y="924"/>
                    </a:lnTo>
                    <a:lnTo>
                      <a:pt x="590" y="630"/>
                    </a:lnTo>
                  </a:path>
                </a:pathLst>
              </a:custGeom>
              <a:solidFill>
                <a:srgbClr val="777777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49" name="Freeform 370"/>
              <p:cNvSpPr>
                <a:spLocks/>
              </p:cNvSpPr>
              <p:nvPr/>
            </p:nvSpPr>
            <p:spPr bwMode="auto">
              <a:xfrm>
                <a:off x="1024" y="1670"/>
                <a:ext cx="592" cy="925"/>
              </a:xfrm>
              <a:custGeom>
                <a:avLst/>
                <a:gdLst>
                  <a:gd name="T0" fmla="*/ 591 w 592"/>
                  <a:gd name="T1" fmla="*/ 630 h 925"/>
                  <a:gd name="T2" fmla="*/ 591 w 592"/>
                  <a:gd name="T3" fmla="*/ 0 h 925"/>
                  <a:gd name="T4" fmla="*/ 0 w 592"/>
                  <a:gd name="T5" fmla="*/ 273 h 925"/>
                  <a:gd name="T6" fmla="*/ 0 w 592"/>
                  <a:gd name="T7" fmla="*/ 924 h 925"/>
                  <a:gd name="T8" fmla="*/ 591 w 592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2" h="925">
                    <a:moveTo>
                      <a:pt x="591" y="630"/>
                    </a:moveTo>
                    <a:lnTo>
                      <a:pt x="591" y="0"/>
                    </a:lnTo>
                    <a:lnTo>
                      <a:pt x="0" y="273"/>
                    </a:lnTo>
                    <a:lnTo>
                      <a:pt x="0" y="924"/>
                    </a:lnTo>
                    <a:lnTo>
                      <a:pt x="591" y="630"/>
                    </a:lnTo>
                  </a:path>
                </a:pathLst>
              </a:custGeom>
              <a:solidFill>
                <a:srgbClr val="B2B2B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50" name="Freeform 371"/>
              <p:cNvSpPr>
                <a:spLocks/>
              </p:cNvSpPr>
              <p:nvPr/>
            </p:nvSpPr>
            <p:spPr bwMode="auto">
              <a:xfrm>
                <a:off x="1051" y="1687"/>
                <a:ext cx="593" cy="925"/>
              </a:xfrm>
              <a:custGeom>
                <a:avLst/>
                <a:gdLst>
                  <a:gd name="T0" fmla="*/ 592 w 593"/>
                  <a:gd name="T1" fmla="*/ 630 h 925"/>
                  <a:gd name="T2" fmla="*/ 592 w 593"/>
                  <a:gd name="T3" fmla="*/ 0 h 925"/>
                  <a:gd name="T4" fmla="*/ 0 w 593"/>
                  <a:gd name="T5" fmla="*/ 273 h 925"/>
                  <a:gd name="T6" fmla="*/ 0 w 593"/>
                  <a:gd name="T7" fmla="*/ 924 h 925"/>
                  <a:gd name="T8" fmla="*/ 592 w 593"/>
                  <a:gd name="T9" fmla="*/ 630 h 9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925">
                    <a:moveTo>
                      <a:pt x="592" y="630"/>
                    </a:moveTo>
                    <a:lnTo>
                      <a:pt x="592" y="0"/>
                    </a:lnTo>
                    <a:lnTo>
                      <a:pt x="0" y="273"/>
                    </a:lnTo>
                    <a:lnTo>
                      <a:pt x="0" y="924"/>
                    </a:lnTo>
                    <a:lnTo>
                      <a:pt x="592" y="630"/>
                    </a:lnTo>
                  </a:path>
                </a:pathLst>
              </a:custGeom>
              <a:solidFill>
                <a:schemeClr val="tx1"/>
              </a:solidFill>
              <a:ln w="12700" cap="rnd" cmpd="sng">
                <a:solidFill>
                  <a:srgbClr val="DDDDDD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51" name="Freeform 372"/>
              <p:cNvSpPr>
                <a:spLocks/>
              </p:cNvSpPr>
              <p:nvPr/>
            </p:nvSpPr>
            <p:spPr bwMode="auto">
              <a:xfrm>
                <a:off x="1096" y="1775"/>
                <a:ext cx="507" cy="775"/>
              </a:xfrm>
              <a:custGeom>
                <a:avLst/>
                <a:gdLst>
                  <a:gd name="T0" fmla="*/ 506 w 507"/>
                  <a:gd name="T1" fmla="*/ 0 h 775"/>
                  <a:gd name="T2" fmla="*/ 217 w 507"/>
                  <a:gd name="T3" fmla="*/ 133 h 775"/>
                  <a:gd name="T4" fmla="*/ 217 w 507"/>
                  <a:gd name="T5" fmla="*/ 303 h 775"/>
                  <a:gd name="T6" fmla="*/ 0 w 507"/>
                  <a:gd name="T7" fmla="*/ 406 h 775"/>
                  <a:gd name="T8" fmla="*/ 0 w 507"/>
                  <a:gd name="T9" fmla="*/ 774 h 775"/>
                  <a:gd name="T10" fmla="*/ 217 w 507"/>
                  <a:gd name="T11" fmla="*/ 666 h 775"/>
                  <a:gd name="T12" fmla="*/ 217 w 507"/>
                  <a:gd name="T13" fmla="*/ 667 h 775"/>
                  <a:gd name="T14" fmla="*/ 391 w 507"/>
                  <a:gd name="T15" fmla="*/ 580 h 775"/>
                  <a:gd name="T16" fmla="*/ 506 w 507"/>
                  <a:gd name="T17" fmla="*/ 524 h 775"/>
                  <a:gd name="T18" fmla="*/ 506 w 507"/>
                  <a:gd name="T19" fmla="*/ 0 h 7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07" h="775">
                    <a:moveTo>
                      <a:pt x="506" y="0"/>
                    </a:moveTo>
                    <a:lnTo>
                      <a:pt x="217" y="133"/>
                    </a:lnTo>
                    <a:lnTo>
                      <a:pt x="217" y="303"/>
                    </a:lnTo>
                    <a:lnTo>
                      <a:pt x="0" y="406"/>
                    </a:lnTo>
                    <a:lnTo>
                      <a:pt x="0" y="774"/>
                    </a:lnTo>
                    <a:lnTo>
                      <a:pt x="217" y="666"/>
                    </a:lnTo>
                    <a:lnTo>
                      <a:pt x="217" y="667"/>
                    </a:lnTo>
                    <a:lnTo>
                      <a:pt x="391" y="580"/>
                    </a:lnTo>
                    <a:lnTo>
                      <a:pt x="506" y="524"/>
                    </a:lnTo>
                    <a:lnTo>
                      <a:pt x="506" y="0"/>
                    </a:lnTo>
                  </a:path>
                </a:pathLst>
              </a:custGeom>
              <a:solidFill>
                <a:srgbClr val="FFFFD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52" name="Freeform 373"/>
              <p:cNvSpPr>
                <a:spLocks/>
              </p:cNvSpPr>
              <p:nvPr/>
            </p:nvSpPr>
            <p:spPr bwMode="auto">
              <a:xfrm>
                <a:off x="1096" y="2273"/>
                <a:ext cx="507" cy="277"/>
              </a:xfrm>
              <a:custGeom>
                <a:avLst/>
                <a:gdLst>
                  <a:gd name="T0" fmla="*/ 506 w 507"/>
                  <a:gd name="T1" fmla="*/ 27 h 277"/>
                  <a:gd name="T2" fmla="*/ 506 w 507"/>
                  <a:gd name="T3" fmla="*/ 0 h 277"/>
                  <a:gd name="T4" fmla="*/ 0 w 507"/>
                  <a:gd name="T5" fmla="*/ 242 h 277"/>
                  <a:gd name="T6" fmla="*/ 0 w 507"/>
                  <a:gd name="T7" fmla="*/ 276 h 277"/>
                  <a:gd name="T8" fmla="*/ 506 w 507"/>
                  <a:gd name="T9" fmla="*/ 27 h 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7">
                    <a:moveTo>
                      <a:pt x="506" y="27"/>
                    </a:moveTo>
                    <a:lnTo>
                      <a:pt x="506" y="0"/>
                    </a:lnTo>
                    <a:lnTo>
                      <a:pt x="0" y="242"/>
                    </a:lnTo>
                    <a:lnTo>
                      <a:pt x="0" y="276"/>
                    </a:lnTo>
                    <a:lnTo>
                      <a:pt x="506" y="27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53" name="Freeform 374"/>
              <p:cNvSpPr>
                <a:spLocks/>
              </p:cNvSpPr>
              <p:nvPr/>
            </p:nvSpPr>
            <p:spPr bwMode="auto">
              <a:xfrm>
                <a:off x="1096" y="2213"/>
                <a:ext cx="507" cy="272"/>
              </a:xfrm>
              <a:custGeom>
                <a:avLst/>
                <a:gdLst>
                  <a:gd name="T0" fmla="*/ 506 w 507"/>
                  <a:gd name="T1" fmla="*/ 28 h 272"/>
                  <a:gd name="T2" fmla="*/ 506 w 507"/>
                  <a:gd name="T3" fmla="*/ 0 h 272"/>
                  <a:gd name="T4" fmla="*/ 0 w 507"/>
                  <a:gd name="T5" fmla="*/ 237 h 272"/>
                  <a:gd name="T6" fmla="*/ 0 w 507"/>
                  <a:gd name="T7" fmla="*/ 271 h 272"/>
                  <a:gd name="T8" fmla="*/ 506 w 507"/>
                  <a:gd name="T9" fmla="*/ 2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2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1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54" name="Freeform 375"/>
              <p:cNvSpPr>
                <a:spLocks/>
              </p:cNvSpPr>
              <p:nvPr/>
            </p:nvSpPr>
            <p:spPr bwMode="auto">
              <a:xfrm>
                <a:off x="1096" y="2147"/>
                <a:ext cx="507" cy="273"/>
              </a:xfrm>
              <a:custGeom>
                <a:avLst/>
                <a:gdLst>
                  <a:gd name="T0" fmla="*/ 506 w 507"/>
                  <a:gd name="T1" fmla="*/ 28 h 273"/>
                  <a:gd name="T2" fmla="*/ 506 w 507"/>
                  <a:gd name="T3" fmla="*/ 0 h 273"/>
                  <a:gd name="T4" fmla="*/ 0 w 507"/>
                  <a:gd name="T5" fmla="*/ 238 h 273"/>
                  <a:gd name="T6" fmla="*/ 0 w 507"/>
                  <a:gd name="T7" fmla="*/ 272 h 273"/>
                  <a:gd name="T8" fmla="*/ 506 w 507"/>
                  <a:gd name="T9" fmla="*/ 28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3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8"/>
                    </a:lnTo>
                    <a:lnTo>
                      <a:pt x="0" y="272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55" name="Freeform 376"/>
              <p:cNvSpPr>
                <a:spLocks/>
              </p:cNvSpPr>
              <p:nvPr/>
            </p:nvSpPr>
            <p:spPr bwMode="auto">
              <a:xfrm>
                <a:off x="1096" y="2083"/>
                <a:ext cx="507" cy="272"/>
              </a:xfrm>
              <a:custGeom>
                <a:avLst/>
                <a:gdLst>
                  <a:gd name="T0" fmla="*/ 506 w 507"/>
                  <a:gd name="T1" fmla="*/ 28 h 272"/>
                  <a:gd name="T2" fmla="*/ 506 w 507"/>
                  <a:gd name="T3" fmla="*/ 0 h 272"/>
                  <a:gd name="T4" fmla="*/ 0 w 507"/>
                  <a:gd name="T5" fmla="*/ 237 h 272"/>
                  <a:gd name="T6" fmla="*/ 0 w 507"/>
                  <a:gd name="T7" fmla="*/ 271 h 272"/>
                  <a:gd name="T8" fmla="*/ 506 w 507"/>
                  <a:gd name="T9" fmla="*/ 28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2">
                    <a:moveTo>
                      <a:pt x="506" y="28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1"/>
                    </a:lnTo>
                    <a:lnTo>
                      <a:pt x="506" y="28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56" name="Freeform 377"/>
              <p:cNvSpPr>
                <a:spLocks/>
              </p:cNvSpPr>
              <p:nvPr/>
            </p:nvSpPr>
            <p:spPr bwMode="auto">
              <a:xfrm>
                <a:off x="1096" y="1947"/>
                <a:ext cx="507" cy="273"/>
              </a:xfrm>
              <a:custGeom>
                <a:avLst/>
                <a:gdLst>
                  <a:gd name="T0" fmla="*/ 506 w 507"/>
                  <a:gd name="T1" fmla="*/ 32 h 273"/>
                  <a:gd name="T2" fmla="*/ 506 w 507"/>
                  <a:gd name="T3" fmla="*/ 0 h 273"/>
                  <a:gd name="T4" fmla="*/ 0 w 507"/>
                  <a:gd name="T5" fmla="*/ 237 h 273"/>
                  <a:gd name="T6" fmla="*/ 0 w 507"/>
                  <a:gd name="T7" fmla="*/ 272 h 273"/>
                  <a:gd name="T8" fmla="*/ 506 w 507"/>
                  <a:gd name="T9" fmla="*/ 32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3">
                    <a:moveTo>
                      <a:pt x="506" y="32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272"/>
                    </a:lnTo>
                    <a:lnTo>
                      <a:pt x="506" y="32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57" name="Freeform 378"/>
              <p:cNvSpPr>
                <a:spLocks/>
              </p:cNvSpPr>
              <p:nvPr/>
            </p:nvSpPr>
            <p:spPr bwMode="auto">
              <a:xfrm>
                <a:off x="1096" y="2013"/>
                <a:ext cx="507" cy="276"/>
              </a:xfrm>
              <a:custGeom>
                <a:avLst/>
                <a:gdLst>
                  <a:gd name="T0" fmla="*/ 506 w 507"/>
                  <a:gd name="T1" fmla="*/ 32 h 276"/>
                  <a:gd name="T2" fmla="*/ 506 w 507"/>
                  <a:gd name="T3" fmla="*/ 0 h 276"/>
                  <a:gd name="T4" fmla="*/ 0 w 507"/>
                  <a:gd name="T5" fmla="*/ 238 h 276"/>
                  <a:gd name="T6" fmla="*/ 0 w 507"/>
                  <a:gd name="T7" fmla="*/ 275 h 276"/>
                  <a:gd name="T8" fmla="*/ 506 w 507"/>
                  <a:gd name="T9" fmla="*/ 32 h 2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276">
                    <a:moveTo>
                      <a:pt x="506" y="32"/>
                    </a:moveTo>
                    <a:lnTo>
                      <a:pt x="506" y="0"/>
                    </a:lnTo>
                    <a:lnTo>
                      <a:pt x="0" y="238"/>
                    </a:lnTo>
                    <a:lnTo>
                      <a:pt x="0" y="275"/>
                    </a:lnTo>
                    <a:lnTo>
                      <a:pt x="506" y="32"/>
                    </a:lnTo>
                  </a:path>
                </a:pathLst>
              </a:custGeom>
              <a:solidFill>
                <a:srgbClr val="99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58" name="Line 379"/>
              <p:cNvSpPr>
                <a:spLocks noChangeShapeType="1"/>
              </p:cNvSpPr>
              <p:nvPr/>
            </p:nvSpPr>
            <p:spPr bwMode="auto">
              <a:xfrm>
                <a:off x="1346" y="1895"/>
                <a:ext cx="0" cy="53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59" name="Line 380"/>
              <p:cNvSpPr>
                <a:spLocks noChangeShapeType="1"/>
              </p:cNvSpPr>
              <p:nvPr/>
            </p:nvSpPr>
            <p:spPr bwMode="auto">
              <a:xfrm flipH="1">
                <a:off x="1342" y="1896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60" name="Line 381"/>
              <p:cNvSpPr>
                <a:spLocks noChangeShapeType="1"/>
              </p:cNvSpPr>
              <p:nvPr/>
            </p:nvSpPr>
            <p:spPr bwMode="auto">
              <a:xfrm>
                <a:off x="1342" y="2425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61" name="Line 382"/>
              <p:cNvSpPr>
                <a:spLocks noChangeShapeType="1"/>
              </p:cNvSpPr>
              <p:nvPr/>
            </p:nvSpPr>
            <p:spPr bwMode="auto">
              <a:xfrm>
                <a:off x="1376" y="1884"/>
                <a:ext cx="0" cy="528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62" name="Line 383"/>
              <p:cNvSpPr>
                <a:spLocks noChangeShapeType="1"/>
              </p:cNvSpPr>
              <p:nvPr/>
            </p:nvSpPr>
            <p:spPr bwMode="auto">
              <a:xfrm flipH="1">
                <a:off x="1374" y="1884"/>
                <a:ext cx="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63" name="Line 384"/>
              <p:cNvSpPr>
                <a:spLocks noChangeShapeType="1"/>
              </p:cNvSpPr>
              <p:nvPr/>
            </p:nvSpPr>
            <p:spPr bwMode="auto">
              <a:xfrm>
                <a:off x="1374" y="2412"/>
                <a:ext cx="4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64" name="Line 385"/>
              <p:cNvSpPr>
                <a:spLocks noChangeShapeType="1"/>
              </p:cNvSpPr>
              <p:nvPr/>
            </p:nvSpPr>
            <p:spPr bwMode="auto">
              <a:xfrm>
                <a:off x="1408" y="1868"/>
                <a:ext cx="0" cy="53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65" name="Line 386"/>
              <p:cNvSpPr>
                <a:spLocks noChangeShapeType="1"/>
              </p:cNvSpPr>
              <p:nvPr/>
            </p:nvSpPr>
            <p:spPr bwMode="auto">
              <a:xfrm flipH="1">
                <a:off x="1405" y="1868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66" name="Line 387"/>
              <p:cNvSpPr>
                <a:spLocks noChangeShapeType="1"/>
              </p:cNvSpPr>
              <p:nvPr/>
            </p:nvSpPr>
            <p:spPr bwMode="auto">
              <a:xfrm>
                <a:off x="1405" y="2398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67" name="Line 388"/>
              <p:cNvSpPr>
                <a:spLocks noChangeShapeType="1"/>
              </p:cNvSpPr>
              <p:nvPr/>
            </p:nvSpPr>
            <p:spPr bwMode="auto">
              <a:xfrm>
                <a:off x="1438" y="1855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68" name="Line 389"/>
              <p:cNvSpPr>
                <a:spLocks noChangeShapeType="1"/>
              </p:cNvSpPr>
              <p:nvPr/>
            </p:nvSpPr>
            <p:spPr bwMode="auto">
              <a:xfrm flipH="1">
                <a:off x="1436" y="1855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69" name="Line 390"/>
              <p:cNvSpPr>
                <a:spLocks noChangeShapeType="1"/>
              </p:cNvSpPr>
              <p:nvPr/>
            </p:nvSpPr>
            <p:spPr bwMode="auto">
              <a:xfrm>
                <a:off x="1436" y="2380"/>
                <a:ext cx="6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70" name="Line 391"/>
              <p:cNvSpPr>
                <a:spLocks noChangeShapeType="1"/>
              </p:cNvSpPr>
              <p:nvPr/>
            </p:nvSpPr>
            <p:spPr bwMode="auto">
              <a:xfrm>
                <a:off x="1470" y="1840"/>
                <a:ext cx="0" cy="524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71" name="Line 392"/>
              <p:cNvSpPr>
                <a:spLocks noChangeShapeType="1"/>
              </p:cNvSpPr>
              <p:nvPr/>
            </p:nvSpPr>
            <p:spPr bwMode="auto">
              <a:xfrm flipH="1">
                <a:off x="1466" y="1840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72" name="Line 393"/>
              <p:cNvSpPr>
                <a:spLocks noChangeShapeType="1"/>
              </p:cNvSpPr>
              <p:nvPr/>
            </p:nvSpPr>
            <p:spPr bwMode="auto">
              <a:xfrm>
                <a:off x="1466" y="2364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73" name="Line 394"/>
              <p:cNvSpPr>
                <a:spLocks noChangeShapeType="1"/>
              </p:cNvSpPr>
              <p:nvPr/>
            </p:nvSpPr>
            <p:spPr bwMode="auto">
              <a:xfrm>
                <a:off x="1501" y="1826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74" name="Line 395"/>
              <p:cNvSpPr>
                <a:spLocks noChangeShapeType="1"/>
              </p:cNvSpPr>
              <p:nvPr/>
            </p:nvSpPr>
            <p:spPr bwMode="auto">
              <a:xfrm flipH="1">
                <a:off x="1497" y="1826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75" name="Line 396"/>
              <p:cNvSpPr>
                <a:spLocks noChangeShapeType="1"/>
              </p:cNvSpPr>
              <p:nvPr/>
            </p:nvSpPr>
            <p:spPr bwMode="auto">
              <a:xfrm>
                <a:off x="1497" y="2351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76" name="Line 397"/>
              <p:cNvSpPr>
                <a:spLocks noChangeShapeType="1"/>
              </p:cNvSpPr>
              <p:nvPr/>
            </p:nvSpPr>
            <p:spPr bwMode="auto">
              <a:xfrm>
                <a:off x="1535" y="1808"/>
                <a:ext cx="0" cy="525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77" name="Line 398"/>
              <p:cNvSpPr>
                <a:spLocks noChangeShapeType="1"/>
              </p:cNvSpPr>
              <p:nvPr/>
            </p:nvSpPr>
            <p:spPr bwMode="auto">
              <a:xfrm flipH="1">
                <a:off x="1531" y="1808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78" name="Line 399"/>
              <p:cNvSpPr>
                <a:spLocks noChangeShapeType="1"/>
              </p:cNvSpPr>
              <p:nvPr/>
            </p:nvSpPr>
            <p:spPr bwMode="auto">
              <a:xfrm>
                <a:off x="1531" y="2333"/>
                <a:ext cx="5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79" name="Line 400"/>
              <p:cNvSpPr>
                <a:spLocks noChangeShapeType="1"/>
              </p:cNvSpPr>
              <p:nvPr/>
            </p:nvSpPr>
            <p:spPr bwMode="auto">
              <a:xfrm>
                <a:off x="1567" y="1793"/>
                <a:ext cx="0" cy="523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80" name="Line 401"/>
              <p:cNvSpPr>
                <a:spLocks noChangeShapeType="1"/>
              </p:cNvSpPr>
              <p:nvPr/>
            </p:nvSpPr>
            <p:spPr bwMode="auto">
              <a:xfrm flipH="1">
                <a:off x="1563" y="1793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81" name="Line 402"/>
              <p:cNvSpPr>
                <a:spLocks noChangeShapeType="1"/>
              </p:cNvSpPr>
              <p:nvPr/>
            </p:nvSpPr>
            <p:spPr bwMode="auto">
              <a:xfrm>
                <a:off x="1563" y="2316"/>
                <a:ext cx="7" cy="0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82" name="Line 403"/>
              <p:cNvSpPr>
                <a:spLocks noChangeShapeType="1"/>
              </p:cNvSpPr>
              <p:nvPr/>
            </p:nvSpPr>
            <p:spPr bwMode="auto">
              <a:xfrm flipV="1">
                <a:off x="1096" y="1977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83" name="Line 404"/>
              <p:cNvSpPr>
                <a:spLocks noChangeShapeType="1"/>
              </p:cNvSpPr>
              <p:nvPr/>
            </p:nvSpPr>
            <p:spPr bwMode="auto">
              <a:xfrm>
                <a:off x="1094" y="2215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84" name="Line 405"/>
              <p:cNvSpPr>
                <a:spLocks noChangeShapeType="1"/>
              </p:cNvSpPr>
              <p:nvPr/>
            </p:nvSpPr>
            <p:spPr bwMode="auto">
              <a:xfrm flipH="1" flipV="1">
                <a:off x="1601" y="1972"/>
                <a:ext cx="2" cy="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85" name="Line 406"/>
              <p:cNvSpPr>
                <a:spLocks noChangeShapeType="1"/>
              </p:cNvSpPr>
              <p:nvPr/>
            </p:nvSpPr>
            <p:spPr bwMode="auto">
              <a:xfrm flipV="1">
                <a:off x="1096" y="2010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86" name="Line 407"/>
              <p:cNvSpPr>
                <a:spLocks noChangeShapeType="1"/>
              </p:cNvSpPr>
              <p:nvPr/>
            </p:nvSpPr>
            <p:spPr bwMode="auto">
              <a:xfrm>
                <a:off x="1094" y="2248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87" name="Line 408"/>
              <p:cNvSpPr>
                <a:spLocks noChangeShapeType="1"/>
              </p:cNvSpPr>
              <p:nvPr/>
            </p:nvSpPr>
            <p:spPr bwMode="auto">
              <a:xfrm flipH="1" flipV="1">
                <a:off x="1601" y="2004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88" name="Line 409"/>
              <p:cNvSpPr>
                <a:spLocks noChangeShapeType="1"/>
              </p:cNvSpPr>
              <p:nvPr/>
            </p:nvSpPr>
            <p:spPr bwMode="auto">
              <a:xfrm flipV="1">
                <a:off x="1096" y="2039"/>
                <a:ext cx="506" cy="241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89" name="Line 410"/>
              <p:cNvSpPr>
                <a:spLocks noChangeShapeType="1"/>
              </p:cNvSpPr>
              <p:nvPr/>
            </p:nvSpPr>
            <p:spPr bwMode="auto">
              <a:xfrm>
                <a:off x="1094" y="2280"/>
                <a:ext cx="1" cy="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90" name="Line 411"/>
              <p:cNvSpPr>
                <a:spLocks noChangeShapeType="1"/>
              </p:cNvSpPr>
              <p:nvPr/>
            </p:nvSpPr>
            <p:spPr bwMode="auto">
              <a:xfrm flipH="1" flipV="1">
                <a:off x="1601" y="203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91" name="Line 412"/>
              <p:cNvSpPr>
                <a:spLocks noChangeShapeType="1"/>
              </p:cNvSpPr>
              <p:nvPr/>
            </p:nvSpPr>
            <p:spPr bwMode="auto">
              <a:xfrm flipV="1">
                <a:off x="1096" y="2077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92" name="Line 413"/>
              <p:cNvSpPr>
                <a:spLocks noChangeShapeType="1"/>
              </p:cNvSpPr>
              <p:nvPr/>
            </p:nvSpPr>
            <p:spPr bwMode="auto">
              <a:xfrm>
                <a:off x="1094" y="2317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93" name="Line 414"/>
              <p:cNvSpPr>
                <a:spLocks noChangeShapeType="1"/>
              </p:cNvSpPr>
              <p:nvPr/>
            </p:nvSpPr>
            <p:spPr bwMode="auto">
              <a:xfrm flipH="1" flipV="1">
                <a:off x="1601" y="2074"/>
                <a:ext cx="2" cy="8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94" name="Line 415"/>
              <p:cNvSpPr>
                <a:spLocks noChangeShapeType="1"/>
              </p:cNvSpPr>
              <p:nvPr/>
            </p:nvSpPr>
            <p:spPr bwMode="auto">
              <a:xfrm flipV="1">
                <a:off x="1096" y="2113"/>
                <a:ext cx="506" cy="24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95" name="Line 416"/>
              <p:cNvSpPr>
                <a:spLocks noChangeShapeType="1"/>
              </p:cNvSpPr>
              <p:nvPr/>
            </p:nvSpPr>
            <p:spPr bwMode="auto">
              <a:xfrm>
                <a:off x="1094" y="2351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96" name="Line 417"/>
              <p:cNvSpPr>
                <a:spLocks noChangeShapeType="1"/>
              </p:cNvSpPr>
              <p:nvPr/>
            </p:nvSpPr>
            <p:spPr bwMode="auto">
              <a:xfrm flipH="1" flipV="1">
                <a:off x="1601" y="210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97" name="Line 418"/>
              <p:cNvSpPr>
                <a:spLocks noChangeShapeType="1"/>
              </p:cNvSpPr>
              <p:nvPr/>
            </p:nvSpPr>
            <p:spPr bwMode="auto">
              <a:xfrm flipV="1">
                <a:off x="1096" y="2143"/>
                <a:ext cx="506" cy="243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98" name="Line 419"/>
              <p:cNvSpPr>
                <a:spLocks noChangeShapeType="1"/>
              </p:cNvSpPr>
              <p:nvPr/>
            </p:nvSpPr>
            <p:spPr bwMode="auto">
              <a:xfrm>
                <a:off x="1094" y="2385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99" name="Line 420"/>
              <p:cNvSpPr>
                <a:spLocks noChangeShapeType="1"/>
              </p:cNvSpPr>
              <p:nvPr/>
            </p:nvSpPr>
            <p:spPr bwMode="auto">
              <a:xfrm flipH="1" flipV="1">
                <a:off x="1601" y="2140"/>
                <a:ext cx="2" cy="7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00" name="Line 421"/>
              <p:cNvSpPr>
                <a:spLocks noChangeShapeType="1"/>
              </p:cNvSpPr>
              <p:nvPr/>
            </p:nvSpPr>
            <p:spPr bwMode="auto">
              <a:xfrm flipV="1">
                <a:off x="1096" y="2175"/>
                <a:ext cx="506" cy="246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01" name="Line 422"/>
              <p:cNvSpPr>
                <a:spLocks noChangeShapeType="1"/>
              </p:cNvSpPr>
              <p:nvPr/>
            </p:nvSpPr>
            <p:spPr bwMode="auto">
              <a:xfrm>
                <a:off x="1094" y="2419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02" name="Line 423"/>
              <p:cNvSpPr>
                <a:spLocks noChangeShapeType="1"/>
              </p:cNvSpPr>
              <p:nvPr/>
            </p:nvSpPr>
            <p:spPr bwMode="auto">
              <a:xfrm flipH="1" flipV="1">
                <a:off x="1601" y="2173"/>
                <a:ext cx="2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03" name="Line 424"/>
              <p:cNvSpPr>
                <a:spLocks noChangeShapeType="1"/>
              </p:cNvSpPr>
              <p:nvPr/>
            </p:nvSpPr>
            <p:spPr bwMode="auto">
              <a:xfrm flipV="1">
                <a:off x="1096" y="2210"/>
                <a:ext cx="506" cy="242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04" name="Line 425"/>
              <p:cNvSpPr>
                <a:spLocks noChangeShapeType="1"/>
              </p:cNvSpPr>
              <p:nvPr/>
            </p:nvSpPr>
            <p:spPr bwMode="auto">
              <a:xfrm>
                <a:off x="1094" y="2449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05" name="Line 426"/>
              <p:cNvSpPr>
                <a:spLocks noChangeShapeType="1"/>
              </p:cNvSpPr>
              <p:nvPr/>
            </p:nvSpPr>
            <p:spPr bwMode="auto">
              <a:xfrm flipH="1" flipV="1">
                <a:off x="1601" y="2203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06" name="Line 427"/>
              <p:cNvSpPr>
                <a:spLocks noChangeShapeType="1"/>
              </p:cNvSpPr>
              <p:nvPr/>
            </p:nvSpPr>
            <p:spPr bwMode="auto">
              <a:xfrm flipV="1">
                <a:off x="1096" y="2244"/>
                <a:ext cx="506" cy="240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07" name="Line 428"/>
              <p:cNvSpPr>
                <a:spLocks noChangeShapeType="1"/>
              </p:cNvSpPr>
              <p:nvPr/>
            </p:nvSpPr>
            <p:spPr bwMode="auto">
              <a:xfrm>
                <a:off x="1094" y="2482"/>
                <a:ext cx="1" cy="6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08" name="Line 429"/>
              <p:cNvSpPr>
                <a:spLocks noChangeShapeType="1"/>
              </p:cNvSpPr>
              <p:nvPr/>
            </p:nvSpPr>
            <p:spPr bwMode="auto">
              <a:xfrm flipH="1" flipV="1">
                <a:off x="1601" y="2238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09" name="Line 430"/>
              <p:cNvSpPr>
                <a:spLocks noChangeShapeType="1"/>
              </p:cNvSpPr>
              <p:nvPr/>
            </p:nvSpPr>
            <p:spPr bwMode="auto">
              <a:xfrm flipV="1">
                <a:off x="1096" y="2273"/>
                <a:ext cx="506" cy="244"/>
              </a:xfrm>
              <a:prstGeom prst="line">
                <a:avLst/>
              </a:prstGeom>
              <a:noFill/>
              <a:ln w="12700">
                <a:solidFill>
                  <a:srgbClr val="B2B2B2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10" name="Line 431"/>
              <p:cNvSpPr>
                <a:spLocks noChangeShapeType="1"/>
              </p:cNvSpPr>
              <p:nvPr/>
            </p:nvSpPr>
            <p:spPr bwMode="auto">
              <a:xfrm>
                <a:off x="1094" y="2516"/>
                <a:ext cx="1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11" name="Line 432"/>
              <p:cNvSpPr>
                <a:spLocks noChangeShapeType="1"/>
              </p:cNvSpPr>
              <p:nvPr/>
            </p:nvSpPr>
            <p:spPr bwMode="auto">
              <a:xfrm flipH="1" flipV="1">
                <a:off x="1601" y="2267"/>
                <a:ext cx="2" cy="5"/>
              </a:xfrm>
              <a:prstGeom prst="line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12" name="Freeform 433"/>
              <p:cNvSpPr>
                <a:spLocks/>
              </p:cNvSpPr>
              <p:nvPr/>
            </p:nvSpPr>
            <p:spPr bwMode="auto">
              <a:xfrm>
                <a:off x="1314" y="1775"/>
                <a:ext cx="289" cy="668"/>
              </a:xfrm>
              <a:custGeom>
                <a:avLst/>
                <a:gdLst>
                  <a:gd name="T0" fmla="*/ 288 w 289"/>
                  <a:gd name="T1" fmla="*/ 523 h 668"/>
                  <a:gd name="T2" fmla="*/ 288 w 289"/>
                  <a:gd name="T3" fmla="*/ 0 h 668"/>
                  <a:gd name="T4" fmla="*/ 0 w 289"/>
                  <a:gd name="T5" fmla="*/ 133 h 668"/>
                  <a:gd name="T6" fmla="*/ 0 w 289"/>
                  <a:gd name="T7" fmla="*/ 667 h 668"/>
                  <a:gd name="T8" fmla="*/ 288 w 289"/>
                  <a:gd name="T9" fmla="*/ 523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9" h="668">
                    <a:moveTo>
                      <a:pt x="288" y="523"/>
                    </a:moveTo>
                    <a:lnTo>
                      <a:pt x="288" y="0"/>
                    </a:lnTo>
                    <a:lnTo>
                      <a:pt x="0" y="133"/>
                    </a:lnTo>
                    <a:lnTo>
                      <a:pt x="0" y="667"/>
                    </a:lnTo>
                    <a:lnTo>
                      <a:pt x="288" y="523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  <p:sp>
            <p:nvSpPr>
              <p:cNvPr id="113" name="Freeform 434"/>
              <p:cNvSpPr>
                <a:spLocks/>
              </p:cNvSpPr>
              <p:nvPr/>
            </p:nvSpPr>
            <p:spPr bwMode="auto">
              <a:xfrm>
                <a:off x="1096" y="1947"/>
                <a:ext cx="507" cy="603"/>
              </a:xfrm>
              <a:custGeom>
                <a:avLst/>
                <a:gdLst>
                  <a:gd name="T0" fmla="*/ 506 w 507"/>
                  <a:gd name="T1" fmla="*/ 353 h 603"/>
                  <a:gd name="T2" fmla="*/ 506 w 507"/>
                  <a:gd name="T3" fmla="*/ 0 h 603"/>
                  <a:gd name="T4" fmla="*/ 0 w 507"/>
                  <a:gd name="T5" fmla="*/ 237 h 603"/>
                  <a:gd name="T6" fmla="*/ 0 w 507"/>
                  <a:gd name="T7" fmla="*/ 602 h 603"/>
                  <a:gd name="T8" fmla="*/ 506 w 507"/>
                  <a:gd name="T9" fmla="*/ 353 h 6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7" h="603">
                    <a:moveTo>
                      <a:pt x="506" y="353"/>
                    </a:moveTo>
                    <a:lnTo>
                      <a:pt x="506" y="0"/>
                    </a:lnTo>
                    <a:lnTo>
                      <a:pt x="0" y="237"/>
                    </a:lnTo>
                    <a:lnTo>
                      <a:pt x="0" y="602"/>
                    </a:lnTo>
                    <a:lnTo>
                      <a:pt x="506" y="353"/>
                    </a:lnTo>
                  </a:path>
                </a:pathLst>
              </a:custGeom>
              <a:noFill/>
              <a:ln w="12700" cap="rnd" cmpd="sng">
                <a:solidFill>
                  <a:srgbClr val="B2B2B2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 sz="900"/>
              </a:p>
            </p:txBody>
          </p:sp>
        </p:grpSp>
      </p:grpSp>
      <p:grpSp>
        <p:nvGrpSpPr>
          <p:cNvPr id="200" name="Grupo 199"/>
          <p:cNvGrpSpPr/>
          <p:nvPr/>
        </p:nvGrpSpPr>
        <p:grpSpPr>
          <a:xfrm>
            <a:off x="2087977" y="1949707"/>
            <a:ext cx="7137686" cy="3620966"/>
            <a:chOff x="1254125" y="2130425"/>
            <a:chExt cx="7135813" cy="3206750"/>
          </a:xfrm>
        </p:grpSpPr>
        <p:sp>
          <p:nvSpPr>
            <p:cNvPr id="201" name="Rectangle 1057"/>
            <p:cNvSpPr>
              <a:spLocks noChangeArrowheads="1"/>
            </p:cNvSpPr>
            <p:nvPr/>
          </p:nvSpPr>
          <p:spPr bwMode="auto">
            <a:xfrm>
              <a:off x="7305675" y="47625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02" name="Rectangle 1058"/>
            <p:cNvSpPr>
              <a:spLocks noChangeArrowheads="1"/>
            </p:cNvSpPr>
            <p:nvPr/>
          </p:nvSpPr>
          <p:spPr bwMode="auto">
            <a:xfrm>
              <a:off x="6226175" y="47625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03" name="Rectangle 1059"/>
            <p:cNvSpPr>
              <a:spLocks noChangeArrowheads="1"/>
            </p:cNvSpPr>
            <p:nvPr/>
          </p:nvSpPr>
          <p:spPr bwMode="auto">
            <a:xfrm>
              <a:off x="5146675" y="47625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04" name="Rectangle 1060"/>
            <p:cNvSpPr>
              <a:spLocks noChangeArrowheads="1"/>
            </p:cNvSpPr>
            <p:nvPr/>
          </p:nvSpPr>
          <p:spPr bwMode="auto">
            <a:xfrm>
              <a:off x="4057650" y="47625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05" name="Rectangle 1061"/>
            <p:cNvSpPr>
              <a:spLocks noChangeArrowheads="1"/>
            </p:cNvSpPr>
            <p:nvPr/>
          </p:nvSpPr>
          <p:spPr bwMode="auto">
            <a:xfrm>
              <a:off x="2989263" y="4762500"/>
              <a:ext cx="1084262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06" name="Rectangle 1062"/>
            <p:cNvSpPr>
              <a:spLocks noChangeArrowheads="1"/>
            </p:cNvSpPr>
            <p:nvPr/>
          </p:nvSpPr>
          <p:spPr bwMode="auto">
            <a:xfrm>
              <a:off x="1254125" y="4762500"/>
              <a:ext cx="1739900" cy="503238"/>
            </a:xfrm>
            <a:prstGeom prst="rect">
              <a:avLst/>
            </a:prstGeom>
            <a:gradFill rotWithShape="0">
              <a:gsLst>
                <a:gs pos="0">
                  <a:srgbClr val="0066CC"/>
                </a:gs>
                <a:gs pos="100000">
                  <a:srgbClr val="0066CC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1828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pt-BR" sz="13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Refurbishment</a:t>
              </a:r>
            </a:p>
          </p:txBody>
        </p:sp>
        <p:sp>
          <p:nvSpPr>
            <p:cNvPr id="207" name="Rectangle 1063"/>
            <p:cNvSpPr>
              <a:spLocks noChangeArrowheads="1"/>
            </p:cNvSpPr>
            <p:nvPr/>
          </p:nvSpPr>
          <p:spPr bwMode="auto">
            <a:xfrm>
              <a:off x="7305675" y="42672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08" name="Rectangle 1064"/>
            <p:cNvSpPr>
              <a:spLocks noChangeArrowheads="1"/>
            </p:cNvSpPr>
            <p:nvPr/>
          </p:nvSpPr>
          <p:spPr bwMode="auto">
            <a:xfrm>
              <a:off x="6226175" y="42672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09" name="Rectangle 1065"/>
            <p:cNvSpPr>
              <a:spLocks noChangeArrowheads="1"/>
            </p:cNvSpPr>
            <p:nvPr/>
          </p:nvSpPr>
          <p:spPr bwMode="auto">
            <a:xfrm>
              <a:off x="5146675" y="42672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10" name="Rectangle 1066"/>
            <p:cNvSpPr>
              <a:spLocks noChangeArrowheads="1"/>
            </p:cNvSpPr>
            <p:nvPr/>
          </p:nvSpPr>
          <p:spPr bwMode="auto">
            <a:xfrm>
              <a:off x="4057650" y="42672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11" name="Rectangle 1067"/>
            <p:cNvSpPr>
              <a:spLocks noChangeArrowheads="1"/>
            </p:cNvSpPr>
            <p:nvPr/>
          </p:nvSpPr>
          <p:spPr bwMode="auto">
            <a:xfrm>
              <a:off x="2989263" y="4267200"/>
              <a:ext cx="1084262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12" name="Rectangle 1068"/>
            <p:cNvSpPr>
              <a:spLocks noChangeArrowheads="1"/>
            </p:cNvSpPr>
            <p:nvPr/>
          </p:nvSpPr>
          <p:spPr bwMode="auto">
            <a:xfrm>
              <a:off x="1254125" y="4267200"/>
              <a:ext cx="1739900" cy="503238"/>
            </a:xfrm>
            <a:prstGeom prst="rect">
              <a:avLst/>
            </a:prstGeom>
            <a:gradFill rotWithShape="0">
              <a:gsLst>
                <a:gs pos="0">
                  <a:srgbClr val="0066CC"/>
                </a:gs>
                <a:gs pos="100000">
                  <a:srgbClr val="0066CC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73152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pt-BR" sz="13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Replacement</a:t>
              </a:r>
            </a:p>
          </p:txBody>
        </p:sp>
        <p:sp>
          <p:nvSpPr>
            <p:cNvPr id="213" name="Rectangle 1069"/>
            <p:cNvSpPr>
              <a:spLocks noChangeArrowheads="1"/>
            </p:cNvSpPr>
            <p:nvPr/>
          </p:nvSpPr>
          <p:spPr bwMode="auto">
            <a:xfrm>
              <a:off x="7305675" y="37719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14" name="Rectangle 1070"/>
            <p:cNvSpPr>
              <a:spLocks noChangeArrowheads="1"/>
            </p:cNvSpPr>
            <p:nvPr/>
          </p:nvSpPr>
          <p:spPr bwMode="auto">
            <a:xfrm>
              <a:off x="6226175" y="37719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15" name="Rectangle 1071"/>
            <p:cNvSpPr>
              <a:spLocks noChangeArrowheads="1"/>
            </p:cNvSpPr>
            <p:nvPr/>
          </p:nvSpPr>
          <p:spPr bwMode="auto">
            <a:xfrm>
              <a:off x="5146675" y="37719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16" name="Rectangle 1072"/>
            <p:cNvSpPr>
              <a:spLocks noChangeArrowheads="1"/>
            </p:cNvSpPr>
            <p:nvPr/>
          </p:nvSpPr>
          <p:spPr bwMode="auto">
            <a:xfrm>
              <a:off x="4057650" y="37719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17" name="Rectangle 1073"/>
            <p:cNvSpPr>
              <a:spLocks noChangeArrowheads="1"/>
            </p:cNvSpPr>
            <p:nvPr/>
          </p:nvSpPr>
          <p:spPr bwMode="auto">
            <a:xfrm>
              <a:off x="2989263" y="3771900"/>
              <a:ext cx="1084262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18" name="Rectangle 1074"/>
            <p:cNvSpPr>
              <a:spLocks noChangeArrowheads="1"/>
            </p:cNvSpPr>
            <p:nvPr/>
          </p:nvSpPr>
          <p:spPr bwMode="auto">
            <a:xfrm>
              <a:off x="1254125" y="3771900"/>
              <a:ext cx="1739900" cy="503238"/>
            </a:xfrm>
            <a:prstGeom prst="rect">
              <a:avLst/>
            </a:prstGeom>
            <a:gradFill rotWithShape="0">
              <a:gsLst>
                <a:gs pos="0">
                  <a:srgbClr val="0066CC"/>
                </a:gs>
                <a:gs pos="100000">
                  <a:srgbClr val="0066CC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73152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pt-BR" sz="13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Exchanges</a:t>
              </a:r>
            </a:p>
          </p:txBody>
        </p:sp>
        <p:sp>
          <p:nvSpPr>
            <p:cNvPr id="219" name="Rectangle 1075"/>
            <p:cNvSpPr>
              <a:spLocks noChangeArrowheads="1"/>
            </p:cNvSpPr>
            <p:nvPr/>
          </p:nvSpPr>
          <p:spPr bwMode="auto">
            <a:xfrm>
              <a:off x="7305675" y="32893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20" name="Rectangle 1076"/>
            <p:cNvSpPr>
              <a:spLocks noChangeArrowheads="1"/>
            </p:cNvSpPr>
            <p:nvPr/>
          </p:nvSpPr>
          <p:spPr bwMode="auto">
            <a:xfrm>
              <a:off x="6226175" y="32893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21" name="Rectangle 1077"/>
            <p:cNvSpPr>
              <a:spLocks noChangeArrowheads="1"/>
            </p:cNvSpPr>
            <p:nvPr/>
          </p:nvSpPr>
          <p:spPr bwMode="auto">
            <a:xfrm>
              <a:off x="5146675" y="32893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22" name="Rectangle 1078"/>
            <p:cNvSpPr>
              <a:spLocks noChangeArrowheads="1"/>
            </p:cNvSpPr>
            <p:nvPr/>
          </p:nvSpPr>
          <p:spPr bwMode="auto">
            <a:xfrm>
              <a:off x="4057650" y="3289300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23" name="Rectangle 1079"/>
            <p:cNvSpPr>
              <a:spLocks noChangeArrowheads="1"/>
            </p:cNvSpPr>
            <p:nvPr/>
          </p:nvSpPr>
          <p:spPr bwMode="auto">
            <a:xfrm>
              <a:off x="2989263" y="3289300"/>
              <a:ext cx="1084262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24" name="Rectangle 1080"/>
            <p:cNvSpPr>
              <a:spLocks noChangeArrowheads="1"/>
            </p:cNvSpPr>
            <p:nvPr/>
          </p:nvSpPr>
          <p:spPr bwMode="auto">
            <a:xfrm>
              <a:off x="1254125" y="3289300"/>
              <a:ext cx="1739900" cy="503238"/>
            </a:xfrm>
            <a:prstGeom prst="rect">
              <a:avLst/>
            </a:prstGeom>
            <a:gradFill rotWithShape="0">
              <a:gsLst>
                <a:gs pos="0">
                  <a:srgbClr val="0066CC"/>
                </a:gs>
                <a:gs pos="100000">
                  <a:srgbClr val="0066CC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73152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pt-BR" sz="13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Loaner, Repair </a:t>
              </a:r>
              <a:br>
                <a:rPr lang="en-US" altLang="pt-BR" sz="13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</a:br>
              <a:r>
                <a:rPr lang="en-US" altLang="pt-BR" sz="13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and Return</a:t>
              </a:r>
            </a:p>
          </p:txBody>
        </p:sp>
        <p:sp>
          <p:nvSpPr>
            <p:cNvPr id="225" name="Rectangle 1081"/>
            <p:cNvSpPr>
              <a:spLocks noChangeArrowheads="1"/>
            </p:cNvSpPr>
            <p:nvPr/>
          </p:nvSpPr>
          <p:spPr bwMode="auto">
            <a:xfrm>
              <a:off x="7305675" y="2790825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26" name="Rectangle 1082"/>
            <p:cNvSpPr>
              <a:spLocks noChangeArrowheads="1"/>
            </p:cNvSpPr>
            <p:nvPr/>
          </p:nvSpPr>
          <p:spPr bwMode="auto">
            <a:xfrm>
              <a:off x="6226175" y="2790825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27" name="Rectangle 1083"/>
            <p:cNvSpPr>
              <a:spLocks noChangeArrowheads="1"/>
            </p:cNvSpPr>
            <p:nvPr/>
          </p:nvSpPr>
          <p:spPr bwMode="auto">
            <a:xfrm>
              <a:off x="5146675" y="2790825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28" name="Rectangle 1084"/>
            <p:cNvSpPr>
              <a:spLocks noChangeArrowheads="1"/>
            </p:cNvSpPr>
            <p:nvPr/>
          </p:nvSpPr>
          <p:spPr bwMode="auto">
            <a:xfrm>
              <a:off x="4057650" y="2790825"/>
              <a:ext cx="1084263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29" name="Rectangle 1085"/>
            <p:cNvSpPr>
              <a:spLocks noChangeArrowheads="1"/>
            </p:cNvSpPr>
            <p:nvPr/>
          </p:nvSpPr>
          <p:spPr bwMode="auto">
            <a:xfrm>
              <a:off x="2989263" y="2790825"/>
              <a:ext cx="1084262" cy="503238"/>
            </a:xfrm>
            <a:prstGeom prst="rect">
              <a:avLst/>
            </a:prstGeom>
            <a:gradFill rotWithShape="0">
              <a:gsLst>
                <a:gs pos="0">
                  <a:srgbClr val="868686"/>
                </a:gs>
                <a:gs pos="100000">
                  <a:srgbClr val="868686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endParaRPr lang="pt-BR" altLang="pt-BR" sz="18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endParaRPr>
            </a:p>
          </p:txBody>
        </p:sp>
        <p:sp>
          <p:nvSpPr>
            <p:cNvPr id="230" name="Rectangle 1086"/>
            <p:cNvSpPr>
              <a:spLocks noChangeArrowheads="1"/>
            </p:cNvSpPr>
            <p:nvPr/>
          </p:nvSpPr>
          <p:spPr bwMode="auto">
            <a:xfrm>
              <a:off x="1254125" y="2790825"/>
              <a:ext cx="1739900" cy="503238"/>
            </a:xfrm>
            <a:prstGeom prst="rect">
              <a:avLst/>
            </a:prstGeom>
            <a:gradFill rotWithShape="0">
              <a:gsLst>
                <a:gs pos="0">
                  <a:srgbClr val="0066CC"/>
                </a:gs>
                <a:gs pos="100000">
                  <a:srgbClr val="0066CC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137160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pt-BR" sz="13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Repair and Return</a:t>
              </a:r>
            </a:p>
          </p:txBody>
        </p:sp>
        <p:sp>
          <p:nvSpPr>
            <p:cNvPr id="231" name="Rectangle 1087"/>
            <p:cNvSpPr>
              <a:spLocks noChangeArrowheads="1"/>
            </p:cNvSpPr>
            <p:nvPr/>
          </p:nvSpPr>
          <p:spPr bwMode="auto">
            <a:xfrm>
              <a:off x="7305675" y="2130425"/>
              <a:ext cx="1084263" cy="669925"/>
            </a:xfrm>
            <a:prstGeom prst="rect">
              <a:avLst/>
            </a:prstGeom>
            <a:gradFill rotWithShape="0">
              <a:gsLst>
                <a:gs pos="0">
                  <a:srgbClr val="0066CC"/>
                </a:gs>
                <a:gs pos="100000">
                  <a:srgbClr val="0066CC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0" tIns="46038" rIns="0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pt-BR" sz="13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Short Customer Repair Cycle</a:t>
              </a:r>
            </a:p>
          </p:txBody>
        </p:sp>
        <p:sp>
          <p:nvSpPr>
            <p:cNvPr id="232" name="Rectangle 1088"/>
            <p:cNvSpPr>
              <a:spLocks noChangeArrowheads="1"/>
            </p:cNvSpPr>
            <p:nvPr/>
          </p:nvSpPr>
          <p:spPr bwMode="auto">
            <a:xfrm>
              <a:off x="6226175" y="2130425"/>
              <a:ext cx="1084263" cy="669925"/>
            </a:xfrm>
            <a:prstGeom prst="rect">
              <a:avLst/>
            </a:prstGeom>
            <a:gradFill rotWithShape="0">
              <a:gsLst>
                <a:gs pos="0">
                  <a:srgbClr val="0066CC"/>
                </a:gs>
                <a:gs pos="100000">
                  <a:srgbClr val="0066CC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0" tIns="46038" rIns="0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pt-BR" sz="13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Long Customer Repair Cycle</a:t>
              </a:r>
            </a:p>
          </p:txBody>
        </p:sp>
        <p:sp>
          <p:nvSpPr>
            <p:cNvPr id="233" name="Rectangle 1089"/>
            <p:cNvSpPr>
              <a:spLocks noChangeArrowheads="1"/>
            </p:cNvSpPr>
            <p:nvPr/>
          </p:nvSpPr>
          <p:spPr bwMode="auto">
            <a:xfrm>
              <a:off x="5146675" y="2130425"/>
              <a:ext cx="1084263" cy="669925"/>
            </a:xfrm>
            <a:prstGeom prst="rect">
              <a:avLst/>
            </a:prstGeom>
            <a:gradFill rotWithShape="0">
              <a:gsLst>
                <a:gs pos="0">
                  <a:srgbClr val="0066CC"/>
                </a:gs>
                <a:gs pos="100000">
                  <a:srgbClr val="0066CC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pt-BR" sz="13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Internal Repair</a:t>
              </a:r>
            </a:p>
          </p:txBody>
        </p:sp>
        <p:sp>
          <p:nvSpPr>
            <p:cNvPr id="234" name="Rectangle 1090"/>
            <p:cNvSpPr>
              <a:spLocks noChangeArrowheads="1"/>
            </p:cNvSpPr>
            <p:nvPr/>
          </p:nvSpPr>
          <p:spPr bwMode="auto">
            <a:xfrm>
              <a:off x="4057650" y="2130425"/>
              <a:ext cx="1084263" cy="669925"/>
            </a:xfrm>
            <a:prstGeom prst="rect">
              <a:avLst/>
            </a:prstGeom>
            <a:gradFill rotWithShape="0">
              <a:gsLst>
                <a:gs pos="0">
                  <a:srgbClr val="0066CC"/>
                </a:gs>
                <a:gs pos="100000">
                  <a:srgbClr val="0066CC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pt-BR" sz="13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No</a:t>
              </a:r>
              <a:br>
                <a:rPr lang="en-US" altLang="pt-BR" sz="13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</a:br>
              <a:r>
                <a:rPr lang="en-US" altLang="pt-BR" sz="13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Repair</a:t>
              </a:r>
            </a:p>
          </p:txBody>
        </p:sp>
        <p:sp>
          <p:nvSpPr>
            <p:cNvPr id="235" name="Rectangle 1091"/>
            <p:cNvSpPr>
              <a:spLocks noChangeArrowheads="1"/>
            </p:cNvSpPr>
            <p:nvPr/>
          </p:nvSpPr>
          <p:spPr bwMode="auto">
            <a:xfrm>
              <a:off x="2989263" y="2130425"/>
              <a:ext cx="1084262" cy="669925"/>
            </a:xfrm>
            <a:prstGeom prst="rect">
              <a:avLst/>
            </a:prstGeom>
            <a:gradFill rotWithShape="0">
              <a:gsLst>
                <a:gs pos="0">
                  <a:srgbClr val="0066CC"/>
                </a:gs>
                <a:gs pos="100000">
                  <a:srgbClr val="0066CC">
                    <a:gamma/>
                    <a:shade val="33333"/>
                    <a:invGamma/>
                  </a:srgbClr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algn="l">
                <a:defRPr sz="2400">
                  <a:solidFill>
                    <a:schemeClr val="tx1"/>
                  </a:solidFill>
                  <a:latin typeface="Times New Roman" charset="0"/>
                </a:defRPr>
              </a:lvl1pPr>
              <a:lvl2pPr marL="628650" algn="l">
                <a:defRPr sz="2400">
                  <a:solidFill>
                    <a:schemeClr val="tx1"/>
                  </a:solidFill>
                  <a:latin typeface="Times New Roman" charset="0"/>
                </a:defRPr>
              </a:lvl2pPr>
              <a:lvl3pPr marL="1143000" algn="l">
                <a:defRPr sz="2400">
                  <a:solidFill>
                    <a:schemeClr val="tx1"/>
                  </a:solidFill>
                  <a:latin typeface="Times New Roman" charset="0"/>
                </a:defRPr>
              </a:lvl3pPr>
              <a:lvl4pPr marL="1543050" algn="l">
                <a:defRPr sz="2400">
                  <a:solidFill>
                    <a:schemeClr val="tx1"/>
                  </a:solidFill>
                  <a:latin typeface="Times New Roman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pt-BR" sz="13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Arial" charset="0"/>
                </a:rPr>
                <a:t>Customer Repair</a:t>
              </a:r>
            </a:p>
          </p:txBody>
        </p:sp>
        <p:sp>
          <p:nvSpPr>
            <p:cNvPr id="236" name="Text Box 1100"/>
            <p:cNvSpPr txBox="1">
              <a:spLocks noChangeArrowheads="1"/>
            </p:cNvSpPr>
            <p:nvPr/>
          </p:nvSpPr>
          <p:spPr bwMode="auto">
            <a:xfrm>
              <a:off x="3260725" y="2806700"/>
              <a:ext cx="484188" cy="549275"/>
            </a:xfrm>
            <a:prstGeom prst="rect">
              <a:avLst/>
            </a:prstGeom>
            <a:noFill/>
            <a:ln>
              <a:noFill/>
            </a:ln>
            <a:effectLst>
              <a:outerShdw blurRad="63500" dist="17961" dir="2700000" algn="ctr" rotWithShape="0">
                <a:schemeClr val="bg1">
                  <a:alpha val="74998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pt-BR" sz="3000">
                  <a:solidFill>
                    <a:schemeClr val="hlink"/>
                  </a:solidFill>
                  <a:sym typeface="Wingdings" charset="2"/>
                </a:rPr>
                <a:t></a:t>
              </a:r>
              <a:endParaRPr lang="en-US" altLang="pt-BR" sz="3000">
                <a:solidFill>
                  <a:schemeClr val="hlink"/>
                </a:solidFill>
              </a:endParaRPr>
            </a:p>
          </p:txBody>
        </p:sp>
        <p:sp>
          <p:nvSpPr>
            <p:cNvPr id="237" name="Text Box 1101"/>
            <p:cNvSpPr txBox="1">
              <a:spLocks noChangeArrowheads="1"/>
            </p:cNvSpPr>
            <p:nvPr/>
          </p:nvSpPr>
          <p:spPr bwMode="auto">
            <a:xfrm>
              <a:off x="3260725" y="3302000"/>
              <a:ext cx="484188" cy="549275"/>
            </a:xfrm>
            <a:prstGeom prst="rect">
              <a:avLst/>
            </a:prstGeom>
            <a:noFill/>
            <a:ln>
              <a:noFill/>
            </a:ln>
            <a:effectLst>
              <a:outerShdw blurRad="63500" dist="17961" dir="2700000" algn="ctr" rotWithShape="0">
                <a:schemeClr val="bg1">
                  <a:alpha val="74998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pt-BR" sz="3000">
                  <a:solidFill>
                    <a:schemeClr val="hlink"/>
                  </a:solidFill>
                  <a:sym typeface="Wingdings" charset="2"/>
                </a:rPr>
                <a:t></a:t>
              </a:r>
              <a:endParaRPr lang="en-US" altLang="pt-BR" sz="3000">
                <a:solidFill>
                  <a:schemeClr val="hlink"/>
                </a:solidFill>
              </a:endParaRPr>
            </a:p>
          </p:txBody>
        </p:sp>
        <p:sp>
          <p:nvSpPr>
            <p:cNvPr id="238" name="Text Box 1102"/>
            <p:cNvSpPr txBox="1">
              <a:spLocks noChangeArrowheads="1"/>
            </p:cNvSpPr>
            <p:nvPr/>
          </p:nvSpPr>
          <p:spPr bwMode="auto">
            <a:xfrm>
              <a:off x="4340225" y="3797300"/>
              <a:ext cx="484188" cy="549275"/>
            </a:xfrm>
            <a:prstGeom prst="rect">
              <a:avLst/>
            </a:prstGeom>
            <a:noFill/>
            <a:ln>
              <a:noFill/>
            </a:ln>
            <a:effectLst>
              <a:outerShdw blurRad="63500" dist="17961" dir="2700000" algn="ctr" rotWithShape="0">
                <a:schemeClr val="bg1">
                  <a:alpha val="74998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pt-BR" sz="3000">
                  <a:solidFill>
                    <a:schemeClr val="hlink"/>
                  </a:solidFill>
                  <a:sym typeface="Wingdings" charset="2"/>
                </a:rPr>
                <a:t></a:t>
              </a:r>
              <a:endParaRPr lang="en-US" altLang="pt-BR" sz="3000">
                <a:solidFill>
                  <a:schemeClr val="hlink"/>
                </a:solidFill>
              </a:endParaRPr>
            </a:p>
          </p:txBody>
        </p:sp>
        <p:sp>
          <p:nvSpPr>
            <p:cNvPr id="239" name="Text Box 1103"/>
            <p:cNvSpPr txBox="1">
              <a:spLocks noChangeArrowheads="1"/>
            </p:cNvSpPr>
            <p:nvPr/>
          </p:nvSpPr>
          <p:spPr bwMode="auto">
            <a:xfrm>
              <a:off x="4340225" y="4292600"/>
              <a:ext cx="484188" cy="549275"/>
            </a:xfrm>
            <a:prstGeom prst="rect">
              <a:avLst/>
            </a:prstGeom>
            <a:noFill/>
            <a:ln>
              <a:noFill/>
            </a:ln>
            <a:effectLst>
              <a:outerShdw blurRad="63500" dist="17961" dir="2700000" algn="ctr" rotWithShape="0">
                <a:schemeClr val="bg1">
                  <a:alpha val="74998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pt-BR" sz="3000">
                  <a:solidFill>
                    <a:schemeClr val="hlink"/>
                  </a:solidFill>
                  <a:sym typeface="Wingdings" charset="2"/>
                </a:rPr>
                <a:t></a:t>
              </a:r>
              <a:endParaRPr lang="en-US" altLang="pt-BR" sz="3000">
                <a:solidFill>
                  <a:schemeClr val="hlink"/>
                </a:solidFill>
              </a:endParaRPr>
            </a:p>
          </p:txBody>
        </p:sp>
        <p:sp>
          <p:nvSpPr>
            <p:cNvPr id="240" name="Text Box 1104"/>
            <p:cNvSpPr txBox="1">
              <a:spLocks noChangeArrowheads="1"/>
            </p:cNvSpPr>
            <p:nvPr/>
          </p:nvSpPr>
          <p:spPr bwMode="auto">
            <a:xfrm>
              <a:off x="5432425" y="3797300"/>
              <a:ext cx="484188" cy="549275"/>
            </a:xfrm>
            <a:prstGeom prst="rect">
              <a:avLst/>
            </a:prstGeom>
            <a:noFill/>
            <a:ln>
              <a:noFill/>
            </a:ln>
            <a:effectLst>
              <a:outerShdw blurRad="63500" dist="17961" dir="2700000" algn="ctr" rotWithShape="0">
                <a:schemeClr val="bg1">
                  <a:alpha val="74998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pt-BR" sz="3000">
                  <a:solidFill>
                    <a:schemeClr val="hlink"/>
                  </a:solidFill>
                  <a:sym typeface="Wingdings" charset="2"/>
                </a:rPr>
                <a:t></a:t>
              </a:r>
              <a:endParaRPr lang="en-US" altLang="pt-BR" sz="3000">
                <a:solidFill>
                  <a:schemeClr val="hlink"/>
                </a:solidFill>
              </a:endParaRPr>
            </a:p>
          </p:txBody>
        </p:sp>
        <p:sp>
          <p:nvSpPr>
            <p:cNvPr id="241" name="Text Box 1105"/>
            <p:cNvSpPr txBox="1">
              <a:spLocks noChangeArrowheads="1"/>
            </p:cNvSpPr>
            <p:nvPr/>
          </p:nvSpPr>
          <p:spPr bwMode="auto">
            <a:xfrm>
              <a:off x="5432425" y="4787900"/>
              <a:ext cx="484188" cy="549275"/>
            </a:xfrm>
            <a:prstGeom prst="rect">
              <a:avLst/>
            </a:prstGeom>
            <a:noFill/>
            <a:ln>
              <a:noFill/>
            </a:ln>
            <a:effectLst>
              <a:outerShdw blurRad="63500" dist="17961" dir="2700000" algn="ctr" rotWithShape="0">
                <a:schemeClr val="bg1">
                  <a:alpha val="74998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pt-BR" sz="3000">
                  <a:solidFill>
                    <a:schemeClr val="hlink"/>
                  </a:solidFill>
                  <a:sym typeface="Wingdings" charset="2"/>
                </a:rPr>
                <a:t></a:t>
              </a:r>
              <a:endParaRPr lang="en-US" altLang="pt-BR" sz="3000">
                <a:solidFill>
                  <a:schemeClr val="hlink"/>
                </a:solidFill>
              </a:endParaRPr>
            </a:p>
          </p:txBody>
        </p:sp>
        <p:sp>
          <p:nvSpPr>
            <p:cNvPr id="242" name="Text Box 1106"/>
            <p:cNvSpPr txBox="1">
              <a:spLocks noChangeArrowheads="1"/>
            </p:cNvSpPr>
            <p:nvPr/>
          </p:nvSpPr>
          <p:spPr bwMode="auto">
            <a:xfrm>
              <a:off x="6497638" y="3306763"/>
              <a:ext cx="484187" cy="549275"/>
            </a:xfrm>
            <a:prstGeom prst="rect">
              <a:avLst/>
            </a:prstGeom>
            <a:noFill/>
            <a:ln>
              <a:noFill/>
            </a:ln>
            <a:effectLst>
              <a:outerShdw blurRad="63500" dist="17961" dir="2700000" algn="ctr" rotWithShape="0">
                <a:schemeClr val="bg1">
                  <a:alpha val="74998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pt-BR" sz="3000">
                  <a:solidFill>
                    <a:schemeClr val="hlink"/>
                  </a:solidFill>
                  <a:sym typeface="Wingdings" charset="2"/>
                </a:rPr>
                <a:t></a:t>
              </a:r>
              <a:endParaRPr lang="en-US" altLang="pt-BR" sz="3000">
                <a:solidFill>
                  <a:schemeClr val="hlink"/>
                </a:solidFill>
              </a:endParaRPr>
            </a:p>
          </p:txBody>
        </p:sp>
        <p:sp>
          <p:nvSpPr>
            <p:cNvPr id="243" name="Text Box 1107"/>
            <p:cNvSpPr txBox="1">
              <a:spLocks noChangeArrowheads="1"/>
            </p:cNvSpPr>
            <p:nvPr/>
          </p:nvSpPr>
          <p:spPr bwMode="auto">
            <a:xfrm>
              <a:off x="7597775" y="2824163"/>
              <a:ext cx="484188" cy="549275"/>
            </a:xfrm>
            <a:prstGeom prst="rect">
              <a:avLst/>
            </a:prstGeom>
            <a:noFill/>
            <a:ln>
              <a:noFill/>
            </a:ln>
            <a:effectLst>
              <a:outerShdw blurRad="63500" dist="17961" dir="2700000" algn="ctr" rotWithShape="0">
                <a:schemeClr val="bg1">
                  <a:alpha val="74998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altLang="pt-BR" sz="3000">
                  <a:solidFill>
                    <a:schemeClr val="hlink"/>
                  </a:solidFill>
                  <a:sym typeface="Wingdings" charset="2"/>
                </a:rPr>
                <a:t></a:t>
              </a:r>
              <a:endParaRPr lang="en-US" altLang="pt-BR" sz="3000">
                <a:solidFill>
                  <a:schemeClr val="hlin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4908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REPARO </a:t>
            </a:r>
            <a:r>
              <a:rPr lang="mr-IN" dirty="0" smtClean="0"/>
              <a:t>–</a:t>
            </a:r>
            <a:r>
              <a:rPr lang="pt-BR" dirty="0" smtClean="0"/>
              <a:t> LOANER, REPAIR AND RETURN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AutoShape 23"/>
          <p:cNvSpPr>
            <a:spLocks noChangeArrowheads="1"/>
          </p:cNvSpPr>
          <p:nvPr/>
        </p:nvSpPr>
        <p:spPr bwMode="auto">
          <a:xfrm>
            <a:off x="7319963" y="2530475"/>
            <a:ext cx="1323975" cy="169386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69696"/>
              </a:gs>
              <a:gs pos="100000">
                <a:srgbClr val="969696">
                  <a:gamma/>
                  <a:shade val="45490"/>
                  <a:invGamma/>
                </a:srgbClr>
              </a:gs>
            </a:gsLst>
            <a:lin ang="2700000" scaled="1"/>
          </a:gradFill>
          <a:ln w="12700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00000" contourW="127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/>
          </a:p>
        </p:txBody>
      </p:sp>
      <p:sp>
        <p:nvSpPr>
          <p:cNvPr id="6" name="AutoShape 24"/>
          <p:cNvSpPr>
            <a:spLocks noChangeArrowheads="1"/>
          </p:cNvSpPr>
          <p:nvPr/>
        </p:nvSpPr>
        <p:spPr bwMode="auto">
          <a:xfrm>
            <a:off x="946150" y="2530475"/>
            <a:ext cx="1323975" cy="169386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69696"/>
              </a:gs>
              <a:gs pos="100000">
                <a:srgbClr val="969696">
                  <a:gamma/>
                  <a:shade val="45490"/>
                  <a:invGamma/>
                </a:srgbClr>
              </a:gs>
            </a:gsLst>
            <a:lin ang="2700000" scaled="1"/>
          </a:gradFill>
          <a:ln w="12700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00000" contourW="127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/>
          </a:p>
        </p:txBody>
      </p:sp>
      <p:sp>
        <p:nvSpPr>
          <p:cNvPr id="7" name="Text Box 25"/>
          <p:cNvSpPr txBox="1">
            <a:spLocks noChangeArrowheads="1"/>
          </p:cNvSpPr>
          <p:nvPr/>
        </p:nvSpPr>
        <p:spPr bwMode="auto">
          <a:xfrm>
            <a:off x="1149350" y="3476625"/>
            <a:ext cx="860425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Ship</a:t>
            </a:r>
            <a:b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Loaner</a:t>
            </a:r>
          </a:p>
        </p:txBody>
      </p:sp>
      <p:sp>
        <p:nvSpPr>
          <p:cNvPr id="8" name="Text Box 26"/>
          <p:cNvSpPr txBox="1">
            <a:spLocks noChangeArrowheads="1"/>
          </p:cNvSpPr>
          <p:nvPr/>
        </p:nvSpPr>
        <p:spPr bwMode="auto">
          <a:xfrm>
            <a:off x="7513638" y="3476625"/>
            <a:ext cx="95091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Receive</a:t>
            </a:r>
            <a:b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Loaner</a:t>
            </a:r>
          </a:p>
        </p:txBody>
      </p:sp>
      <p:sp>
        <p:nvSpPr>
          <p:cNvPr id="9" name="AutoShape 28"/>
          <p:cNvSpPr>
            <a:spLocks noChangeArrowheads="1"/>
          </p:cNvSpPr>
          <p:nvPr/>
        </p:nvSpPr>
        <p:spPr bwMode="auto">
          <a:xfrm>
            <a:off x="4132263" y="2530475"/>
            <a:ext cx="1323975" cy="169386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69696"/>
              </a:gs>
              <a:gs pos="100000">
                <a:srgbClr val="969696">
                  <a:gamma/>
                  <a:shade val="45490"/>
                  <a:invGamma/>
                </a:srgbClr>
              </a:gs>
            </a:gsLst>
            <a:lin ang="2700000" scaled="1"/>
          </a:gradFill>
          <a:ln w="12700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00000" contourW="127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/>
          </a:p>
        </p:txBody>
      </p:sp>
      <p:sp>
        <p:nvSpPr>
          <p:cNvPr id="10" name="Text Box 29"/>
          <p:cNvSpPr txBox="1">
            <a:spLocks noChangeArrowheads="1"/>
          </p:cNvSpPr>
          <p:nvPr/>
        </p:nvSpPr>
        <p:spPr bwMode="auto">
          <a:xfrm>
            <a:off x="4233863" y="3476625"/>
            <a:ext cx="109855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Inspect &amp;</a:t>
            </a:r>
            <a:b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Repair</a:t>
            </a:r>
          </a:p>
        </p:txBody>
      </p:sp>
      <p:sp>
        <p:nvSpPr>
          <p:cNvPr id="11" name="AutoShape 30"/>
          <p:cNvSpPr>
            <a:spLocks noChangeArrowheads="1"/>
          </p:cNvSpPr>
          <p:nvPr/>
        </p:nvSpPr>
        <p:spPr bwMode="auto">
          <a:xfrm>
            <a:off x="2538413" y="2530475"/>
            <a:ext cx="1323975" cy="169386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69696"/>
              </a:gs>
              <a:gs pos="100000">
                <a:srgbClr val="969696">
                  <a:gamma/>
                  <a:shade val="45490"/>
                  <a:invGamma/>
                </a:srgbClr>
              </a:gs>
            </a:gsLst>
            <a:lin ang="2700000" scaled="1"/>
          </a:gradFill>
          <a:ln w="12700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00000" contourW="127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/>
          </a:p>
        </p:txBody>
      </p:sp>
      <p:sp>
        <p:nvSpPr>
          <p:cNvPr id="12" name="Text Box 32"/>
          <p:cNvSpPr txBox="1">
            <a:spLocks noChangeArrowheads="1"/>
          </p:cNvSpPr>
          <p:nvPr/>
        </p:nvSpPr>
        <p:spPr bwMode="auto">
          <a:xfrm>
            <a:off x="2632075" y="3367088"/>
            <a:ext cx="1087438" cy="75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Receive</a:t>
            </a:r>
            <a:b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Defective</a:t>
            </a:r>
            <a:b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Product</a:t>
            </a:r>
          </a:p>
        </p:txBody>
      </p:sp>
      <p:sp>
        <p:nvSpPr>
          <p:cNvPr id="13" name="AutoShape 33"/>
          <p:cNvSpPr>
            <a:spLocks noChangeArrowheads="1"/>
          </p:cNvSpPr>
          <p:nvPr/>
        </p:nvSpPr>
        <p:spPr bwMode="auto">
          <a:xfrm>
            <a:off x="5726113" y="2530475"/>
            <a:ext cx="1323975" cy="1693863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969696"/>
              </a:gs>
              <a:gs pos="100000">
                <a:srgbClr val="969696">
                  <a:gamma/>
                  <a:shade val="45490"/>
                  <a:invGamma/>
                </a:srgbClr>
              </a:gs>
            </a:gsLst>
            <a:lin ang="2700000" scaled="1"/>
          </a:gradFill>
          <a:ln w="12700">
            <a:round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00000" contourW="12700" prstMaterial="legacyMatte">
            <a:bevelT w="13500" h="13500" prst="angle"/>
            <a:bevelB w="13500" h="13500" prst="angle"/>
            <a:extrusionClr>
              <a:srgbClr val="969696"/>
            </a:extrusionClr>
            <a:contourClr>
              <a:srgbClr val="969696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/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5900738" y="3476625"/>
            <a:ext cx="950912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Ship</a:t>
            </a:r>
            <a:b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</a:br>
            <a: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Product</a:t>
            </a:r>
          </a:p>
        </p:txBody>
      </p:sp>
      <p:sp>
        <p:nvSpPr>
          <p:cNvPr id="16" name="AutoShape 39"/>
          <p:cNvSpPr>
            <a:spLocks noChangeArrowheads="1"/>
          </p:cNvSpPr>
          <p:nvPr/>
        </p:nvSpPr>
        <p:spPr bwMode="auto">
          <a:xfrm>
            <a:off x="892175" y="1849438"/>
            <a:ext cx="7832725" cy="444500"/>
          </a:xfrm>
          <a:prstGeom prst="leftRightArrow">
            <a:avLst>
              <a:gd name="adj1" fmla="val 93574"/>
              <a:gd name="adj2" fmla="val 41035"/>
            </a:avLst>
          </a:prstGeom>
          <a:gradFill rotWithShape="0">
            <a:gsLst>
              <a:gs pos="0">
                <a:srgbClr val="0066CC"/>
              </a:gs>
              <a:gs pos="100000">
                <a:srgbClr val="0066CC">
                  <a:gamma/>
                  <a:shade val="45490"/>
                  <a:invGamma/>
                </a:srgbClr>
              </a:gs>
            </a:gsLst>
            <a:lin ang="2700000" scaled="1"/>
          </a:gradFill>
          <a:ln w="12700">
            <a:miter lim="800000"/>
            <a:headEnd type="none" w="sm" len="sm"/>
            <a:tailEnd type="none" w="sm" len="sm"/>
          </a:ln>
          <a:effectLst/>
          <a:scene3d>
            <a:camera prst="legacyObliqueTopRight"/>
            <a:lightRig rig="legacyFlat3" dir="b"/>
          </a:scene3d>
          <a:sp3d extrusionH="100000" contourW="12700" prstMaterial="legacyMatte">
            <a:bevelT w="13500" h="13500" prst="angle"/>
            <a:bevelB w="13500" h="13500" prst="angle"/>
            <a:extrusionClr>
              <a:srgbClr val="0066CC"/>
            </a:extrusionClr>
            <a:contourClr>
              <a:srgbClr val="0066CC"/>
            </a:contourClr>
          </a:sp3d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flatTx/>
          </a:bodyPr>
          <a:lstStyle/>
          <a:p>
            <a:endParaRPr lang="pt-BR"/>
          </a:p>
        </p:txBody>
      </p:sp>
      <p:sp>
        <p:nvSpPr>
          <p:cNvPr id="17" name="Text Box 40"/>
          <p:cNvSpPr txBox="1">
            <a:spLocks noChangeArrowheads="1"/>
          </p:cNvSpPr>
          <p:nvPr/>
        </p:nvSpPr>
        <p:spPr bwMode="auto">
          <a:xfrm>
            <a:off x="1589088" y="1912938"/>
            <a:ext cx="6340475" cy="312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pt-BR" sz="1600" b="1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rPr>
              <a:t>Track Promise Date, Manage Issues</a:t>
            </a:r>
          </a:p>
        </p:txBody>
      </p:sp>
      <p:grpSp>
        <p:nvGrpSpPr>
          <p:cNvPr id="18" name="Group 77"/>
          <p:cNvGrpSpPr>
            <a:grpSpLocks/>
          </p:cNvGrpSpPr>
          <p:nvPr/>
        </p:nvGrpSpPr>
        <p:grpSpPr bwMode="auto">
          <a:xfrm>
            <a:off x="2857500" y="2698750"/>
            <a:ext cx="609600" cy="620713"/>
            <a:chOff x="1584" y="1776"/>
            <a:chExt cx="416" cy="440"/>
          </a:xfrm>
        </p:grpSpPr>
        <p:grpSp>
          <p:nvGrpSpPr>
            <p:cNvPr id="19" name="Group 48"/>
            <p:cNvGrpSpPr>
              <a:grpSpLocks/>
            </p:cNvGrpSpPr>
            <p:nvPr/>
          </p:nvGrpSpPr>
          <p:grpSpPr bwMode="auto">
            <a:xfrm>
              <a:off x="1584" y="1776"/>
              <a:ext cx="416" cy="432"/>
              <a:chOff x="1182" y="2268"/>
              <a:chExt cx="268" cy="384"/>
            </a:xfrm>
          </p:grpSpPr>
          <p:sp>
            <p:nvSpPr>
              <p:cNvPr id="21" name="Freeform 49"/>
              <p:cNvSpPr>
                <a:spLocks/>
              </p:cNvSpPr>
              <p:nvPr/>
            </p:nvSpPr>
            <p:spPr bwMode="auto">
              <a:xfrm>
                <a:off x="1395" y="2295"/>
                <a:ext cx="55" cy="205"/>
              </a:xfrm>
              <a:custGeom>
                <a:avLst/>
                <a:gdLst>
                  <a:gd name="T0" fmla="*/ 26 w 213"/>
                  <a:gd name="T1" fmla="*/ 0 h 604"/>
                  <a:gd name="T2" fmla="*/ 212 w 213"/>
                  <a:gd name="T3" fmla="*/ 178 h 604"/>
                  <a:gd name="T4" fmla="*/ 185 w 213"/>
                  <a:gd name="T5" fmla="*/ 558 h 604"/>
                  <a:gd name="T6" fmla="*/ 0 w 213"/>
                  <a:gd name="T7" fmla="*/ 603 h 604"/>
                  <a:gd name="T8" fmla="*/ 26 w 213"/>
                  <a:gd name="T9" fmla="*/ 0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3" h="604">
                    <a:moveTo>
                      <a:pt x="26" y="0"/>
                    </a:moveTo>
                    <a:lnTo>
                      <a:pt x="212" y="178"/>
                    </a:lnTo>
                    <a:lnTo>
                      <a:pt x="185" y="558"/>
                    </a:lnTo>
                    <a:lnTo>
                      <a:pt x="0" y="603"/>
                    </a:lnTo>
                    <a:lnTo>
                      <a:pt x="26" y="0"/>
                    </a:lnTo>
                  </a:path>
                </a:pathLst>
              </a:custGeom>
              <a:gradFill rotWithShape="0">
                <a:gsLst>
                  <a:gs pos="0">
                    <a:schemeClr val="folHlink">
                      <a:gamma/>
                      <a:shade val="40000"/>
                      <a:invGamma/>
                    </a:schemeClr>
                  </a:gs>
                  <a:gs pos="100000">
                    <a:schemeClr val="folHlink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2" name="Freeform 50"/>
              <p:cNvSpPr>
                <a:spLocks/>
              </p:cNvSpPr>
              <p:nvPr/>
            </p:nvSpPr>
            <p:spPr bwMode="auto">
              <a:xfrm>
                <a:off x="1188" y="2523"/>
                <a:ext cx="184" cy="129"/>
              </a:xfrm>
              <a:custGeom>
                <a:avLst/>
                <a:gdLst>
                  <a:gd name="T0" fmla="*/ 0 w 712"/>
                  <a:gd name="T1" fmla="*/ 0 h 379"/>
                  <a:gd name="T2" fmla="*/ 711 w 712"/>
                  <a:gd name="T3" fmla="*/ 118 h 379"/>
                  <a:gd name="T4" fmla="*/ 711 w 712"/>
                  <a:gd name="T5" fmla="*/ 378 h 379"/>
                  <a:gd name="T6" fmla="*/ 0 w 712"/>
                  <a:gd name="T7" fmla="*/ 141 h 379"/>
                  <a:gd name="T8" fmla="*/ 0 w 712"/>
                  <a:gd name="T9" fmla="*/ 0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2" h="379">
                    <a:moveTo>
                      <a:pt x="0" y="0"/>
                    </a:moveTo>
                    <a:lnTo>
                      <a:pt x="711" y="118"/>
                    </a:lnTo>
                    <a:lnTo>
                      <a:pt x="711" y="378"/>
                    </a:lnTo>
                    <a:lnTo>
                      <a:pt x="0" y="141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rgbClr val="969696">
                      <a:gamma/>
                      <a:shade val="40000"/>
                      <a:invGamma/>
                    </a:srgbClr>
                  </a:gs>
                  <a:gs pos="100000">
                    <a:srgbClr val="969696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3" name="Freeform 51"/>
              <p:cNvSpPr>
                <a:spLocks/>
              </p:cNvSpPr>
              <p:nvPr/>
            </p:nvSpPr>
            <p:spPr bwMode="auto">
              <a:xfrm>
                <a:off x="1372" y="2523"/>
                <a:ext cx="78" cy="129"/>
              </a:xfrm>
              <a:custGeom>
                <a:avLst/>
                <a:gdLst>
                  <a:gd name="T0" fmla="*/ 0 w 301"/>
                  <a:gd name="T1" fmla="*/ 120 h 380"/>
                  <a:gd name="T2" fmla="*/ 0 w 301"/>
                  <a:gd name="T3" fmla="*/ 379 h 380"/>
                  <a:gd name="T4" fmla="*/ 300 w 301"/>
                  <a:gd name="T5" fmla="*/ 178 h 380"/>
                  <a:gd name="T6" fmla="*/ 300 w 301"/>
                  <a:gd name="T7" fmla="*/ 0 h 380"/>
                  <a:gd name="T8" fmla="*/ 0 w 301"/>
                  <a:gd name="T9" fmla="*/ 120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1" h="380">
                    <a:moveTo>
                      <a:pt x="0" y="120"/>
                    </a:moveTo>
                    <a:lnTo>
                      <a:pt x="0" y="379"/>
                    </a:lnTo>
                    <a:lnTo>
                      <a:pt x="300" y="178"/>
                    </a:lnTo>
                    <a:lnTo>
                      <a:pt x="300" y="0"/>
                    </a:lnTo>
                    <a:lnTo>
                      <a:pt x="0" y="12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shade val="40000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4" name="Freeform 52"/>
              <p:cNvSpPr>
                <a:spLocks/>
              </p:cNvSpPr>
              <p:nvPr/>
            </p:nvSpPr>
            <p:spPr bwMode="auto">
              <a:xfrm>
                <a:off x="1188" y="2507"/>
                <a:ext cx="262" cy="57"/>
              </a:xfrm>
              <a:custGeom>
                <a:avLst/>
                <a:gdLst>
                  <a:gd name="T0" fmla="*/ 0 w 1012"/>
                  <a:gd name="T1" fmla="*/ 47 h 167"/>
                  <a:gd name="T2" fmla="*/ 409 w 1012"/>
                  <a:gd name="T3" fmla="*/ 0 h 167"/>
                  <a:gd name="T4" fmla="*/ 1011 w 1012"/>
                  <a:gd name="T5" fmla="*/ 44 h 167"/>
                  <a:gd name="T6" fmla="*/ 710 w 1012"/>
                  <a:gd name="T7" fmla="*/ 166 h 167"/>
                  <a:gd name="T8" fmla="*/ 0 w 1012"/>
                  <a:gd name="T9" fmla="*/ 4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2" h="167">
                    <a:moveTo>
                      <a:pt x="0" y="47"/>
                    </a:moveTo>
                    <a:lnTo>
                      <a:pt x="409" y="0"/>
                    </a:lnTo>
                    <a:lnTo>
                      <a:pt x="1011" y="44"/>
                    </a:lnTo>
                    <a:lnTo>
                      <a:pt x="710" y="166"/>
                    </a:lnTo>
                    <a:lnTo>
                      <a:pt x="0" y="47"/>
                    </a:lnTo>
                  </a:path>
                </a:pathLst>
              </a:custGeom>
              <a:gradFill rotWithShape="0">
                <a:gsLst>
                  <a:gs pos="0">
                    <a:srgbClr val="969696">
                      <a:gamma/>
                      <a:shade val="0"/>
                      <a:invGamma/>
                    </a:srgbClr>
                  </a:gs>
                  <a:gs pos="100000">
                    <a:srgbClr val="969696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5" name="Oval 53"/>
              <p:cNvSpPr>
                <a:spLocks noChangeArrowheads="1"/>
              </p:cNvSpPr>
              <p:nvPr/>
            </p:nvSpPr>
            <p:spPr bwMode="auto">
              <a:xfrm rot="180000">
                <a:off x="1220" y="2483"/>
                <a:ext cx="163" cy="48"/>
              </a:xfrm>
              <a:prstGeom prst="ellipse">
                <a:avLst/>
              </a:prstGeom>
              <a:gradFill rotWithShape="0">
                <a:gsLst>
                  <a:gs pos="0">
                    <a:schemeClr val="folHlink">
                      <a:gamma/>
                      <a:shade val="40000"/>
                      <a:invGamma/>
                    </a:schemeClr>
                  </a:gs>
                  <a:gs pos="50000">
                    <a:schemeClr val="folHlink"/>
                  </a:gs>
                  <a:gs pos="100000">
                    <a:schemeClr val="folHlink">
                      <a:gamma/>
                      <a:shade val="4000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6" name="Oval 54"/>
              <p:cNvSpPr>
                <a:spLocks noChangeArrowheads="1"/>
              </p:cNvSpPr>
              <p:nvPr/>
            </p:nvSpPr>
            <p:spPr bwMode="auto">
              <a:xfrm rot="180000">
                <a:off x="1220" y="2476"/>
                <a:ext cx="164" cy="48"/>
              </a:xfrm>
              <a:prstGeom prst="ellipse">
                <a:avLst/>
              </a:prstGeom>
              <a:gradFill rotWithShape="0">
                <a:gsLst>
                  <a:gs pos="0">
                    <a:schemeClr val="folHlink">
                      <a:gamma/>
                      <a:shade val="0"/>
                      <a:invGamma/>
                    </a:schemeClr>
                  </a:gs>
                  <a:gs pos="100000">
                    <a:schemeClr val="folHlink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27" name="Freeform 55"/>
              <p:cNvSpPr>
                <a:spLocks/>
              </p:cNvSpPr>
              <p:nvPr/>
            </p:nvSpPr>
            <p:spPr bwMode="auto">
              <a:xfrm>
                <a:off x="1182" y="2268"/>
                <a:ext cx="202" cy="250"/>
              </a:xfrm>
              <a:custGeom>
                <a:avLst/>
                <a:gdLst>
                  <a:gd name="T0" fmla="*/ 753 w 779"/>
                  <a:gd name="T1" fmla="*/ 733 h 734"/>
                  <a:gd name="T2" fmla="*/ 778 w 779"/>
                  <a:gd name="T3" fmla="*/ 0 h 734"/>
                  <a:gd name="T4" fmla="*/ 778 w 779"/>
                  <a:gd name="T5" fmla="*/ 0 h 734"/>
                  <a:gd name="T6" fmla="*/ 0 w 779"/>
                  <a:gd name="T7" fmla="*/ 122 h 734"/>
                  <a:gd name="T8" fmla="*/ 48 w 779"/>
                  <a:gd name="T9" fmla="*/ 671 h 734"/>
                  <a:gd name="T10" fmla="*/ 753 w 779"/>
                  <a:gd name="T11" fmla="*/ 733 h 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9" h="734">
                    <a:moveTo>
                      <a:pt x="753" y="733"/>
                    </a:moveTo>
                    <a:lnTo>
                      <a:pt x="778" y="0"/>
                    </a:lnTo>
                    <a:lnTo>
                      <a:pt x="778" y="0"/>
                    </a:lnTo>
                    <a:lnTo>
                      <a:pt x="0" y="122"/>
                    </a:lnTo>
                    <a:lnTo>
                      <a:pt x="48" y="671"/>
                    </a:lnTo>
                    <a:lnTo>
                      <a:pt x="753" y="733"/>
                    </a:lnTo>
                  </a:path>
                </a:pathLst>
              </a:custGeom>
              <a:gradFill rotWithShape="0">
                <a:gsLst>
                  <a:gs pos="0">
                    <a:srgbClr val="969696">
                      <a:gamma/>
                      <a:shade val="40000"/>
                      <a:invGamma/>
                    </a:srgbClr>
                  </a:gs>
                  <a:gs pos="100000">
                    <a:srgbClr val="969696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8" name="Freeform 56"/>
              <p:cNvSpPr>
                <a:spLocks/>
              </p:cNvSpPr>
              <p:nvPr/>
            </p:nvSpPr>
            <p:spPr bwMode="auto">
              <a:xfrm>
                <a:off x="1377" y="2268"/>
                <a:ext cx="46" cy="250"/>
              </a:xfrm>
              <a:custGeom>
                <a:avLst/>
                <a:gdLst>
                  <a:gd name="T0" fmla="*/ 24 w 176"/>
                  <a:gd name="T1" fmla="*/ 0 h 734"/>
                  <a:gd name="T2" fmla="*/ 175 w 176"/>
                  <a:gd name="T3" fmla="*/ 100 h 734"/>
                  <a:gd name="T4" fmla="*/ 175 w 176"/>
                  <a:gd name="T5" fmla="*/ 680 h 734"/>
                  <a:gd name="T6" fmla="*/ 0 w 176"/>
                  <a:gd name="T7" fmla="*/ 733 h 734"/>
                  <a:gd name="T8" fmla="*/ 24 w 176"/>
                  <a:gd name="T9" fmla="*/ 0 h 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734">
                    <a:moveTo>
                      <a:pt x="24" y="0"/>
                    </a:moveTo>
                    <a:lnTo>
                      <a:pt x="175" y="100"/>
                    </a:lnTo>
                    <a:lnTo>
                      <a:pt x="175" y="680"/>
                    </a:lnTo>
                    <a:lnTo>
                      <a:pt x="0" y="733"/>
                    </a:lnTo>
                    <a:lnTo>
                      <a:pt x="24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shade val="40000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29" name="Freeform 57"/>
              <p:cNvSpPr>
                <a:spLocks/>
              </p:cNvSpPr>
              <p:nvPr/>
            </p:nvSpPr>
            <p:spPr bwMode="auto">
              <a:xfrm>
                <a:off x="1207" y="2289"/>
                <a:ext cx="158" cy="208"/>
              </a:xfrm>
              <a:custGeom>
                <a:avLst/>
                <a:gdLst>
                  <a:gd name="T0" fmla="*/ 0 w 610"/>
                  <a:gd name="T1" fmla="*/ 122 h 612"/>
                  <a:gd name="T2" fmla="*/ 0 w 610"/>
                  <a:gd name="T3" fmla="*/ 570 h 612"/>
                  <a:gd name="T4" fmla="*/ 584 w 610"/>
                  <a:gd name="T5" fmla="*/ 611 h 612"/>
                  <a:gd name="T6" fmla="*/ 609 w 610"/>
                  <a:gd name="T7" fmla="*/ 0 h 612"/>
                  <a:gd name="T8" fmla="*/ 0 w 610"/>
                  <a:gd name="T9" fmla="*/ 122 h 6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0" h="612">
                    <a:moveTo>
                      <a:pt x="0" y="122"/>
                    </a:moveTo>
                    <a:lnTo>
                      <a:pt x="0" y="570"/>
                    </a:lnTo>
                    <a:lnTo>
                      <a:pt x="584" y="611"/>
                    </a:lnTo>
                    <a:lnTo>
                      <a:pt x="609" y="0"/>
                    </a:lnTo>
                    <a:lnTo>
                      <a:pt x="0" y="122"/>
                    </a:lnTo>
                  </a:path>
                </a:pathLst>
              </a:custGeom>
              <a:gradFill rotWithShape="0">
                <a:gsLst>
                  <a:gs pos="0">
                    <a:srgbClr val="3366FF"/>
                  </a:gs>
                  <a:gs pos="100000">
                    <a:srgbClr val="3366FF">
                      <a:gamma/>
                      <a:shade val="40000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0" name="Freeform 58"/>
              <p:cNvSpPr>
                <a:spLocks/>
              </p:cNvSpPr>
              <p:nvPr/>
            </p:nvSpPr>
            <p:spPr bwMode="auto">
              <a:xfrm>
                <a:off x="1201" y="2289"/>
                <a:ext cx="164" cy="194"/>
              </a:xfrm>
              <a:custGeom>
                <a:avLst/>
                <a:gdLst>
                  <a:gd name="T0" fmla="*/ 24 w 634"/>
                  <a:gd name="T1" fmla="*/ 571 h 572"/>
                  <a:gd name="T2" fmla="*/ 0 w 634"/>
                  <a:gd name="T3" fmla="*/ 101 h 572"/>
                  <a:gd name="T4" fmla="*/ 633 w 634"/>
                  <a:gd name="T5" fmla="*/ 0 h 572"/>
                  <a:gd name="T6" fmla="*/ 24 w 634"/>
                  <a:gd name="T7" fmla="*/ 122 h 572"/>
                  <a:gd name="T8" fmla="*/ 24 w 634"/>
                  <a:gd name="T9" fmla="*/ 571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4" h="572">
                    <a:moveTo>
                      <a:pt x="24" y="571"/>
                    </a:moveTo>
                    <a:lnTo>
                      <a:pt x="0" y="101"/>
                    </a:lnTo>
                    <a:lnTo>
                      <a:pt x="633" y="0"/>
                    </a:lnTo>
                    <a:lnTo>
                      <a:pt x="24" y="122"/>
                    </a:lnTo>
                    <a:lnTo>
                      <a:pt x="24" y="571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1" name="Oval 59"/>
              <p:cNvSpPr>
                <a:spLocks noChangeArrowheads="1"/>
              </p:cNvSpPr>
              <p:nvPr/>
            </p:nvSpPr>
            <p:spPr bwMode="auto">
              <a:xfrm rot="21300000">
                <a:off x="1342" y="2583"/>
                <a:ext cx="15" cy="5"/>
              </a:xfrm>
              <a:prstGeom prst="ellipse">
                <a:avLst/>
              </a:prstGeom>
              <a:gradFill rotWithShape="0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000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2" name="Oval 60"/>
              <p:cNvSpPr>
                <a:spLocks noChangeArrowheads="1"/>
              </p:cNvSpPr>
              <p:nvPr/>
            </p:nvSpPr>
            <p:spPr bwMode="auto">
              <a:xfrm rot="21300000">
                <a:off x="1342" y="2597"/>
                <a:ext cx="15" cy="5"/>
              </a:xfrm>
              <a:prstGeom prst="ellipse">
                <a:avLst/>
              </a:prstGeom>
              <a:gradFill rotWithShape="0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000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33" name="Rectangle 61"/>
              <p:cNvSpPr>
                <a:spLocks noChangeArrowheads="1"/>
              </p:cNvSpPr>
              <p:nvPr/>
            </p:nvSpPr>
            <p:spPr bwMode="auto">
              <a:xfrm rot="780000">
                <a:off x="1277" y="2576"/>
                <a:ext cx="63" cy="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20" name="Freeform 62"/>
            <p:cNvSpPr>
              <a:spLocks/>
            </p:cNvSpPr>
            <p:nvPr/>
          </p:nvSpPr>
          <p:spPr bwMode="auto">
            <a:xfrm>
              <a:off x="1679" y="1802"/>
              <a:ext cx="185" cy="414"/>
            </a:xfrm>
            <a:custGeom>
              <a:avLst/>
              <a:gdLst>
                <a:gd name="T0" fmla="*/ 0 w 208"/>
                <a:gd name="T1" fmla="*/ 0 h 448"/>
                <a:gd name="T2" fmla="*/ 120 w 208"/>
                <a:gd name="T3" fmla="*/ 88 h 448"/>
                <a:gd name="T4" fmla="*/ 40 w 208"/>
                <a:gd name="T5" fmla="*/ 152 h 448"/>
                <a:gd name="T6" fmla="*/ 136 w 208"/>
                <a:gd name="T7" fmla="*/ 232 h 448"/>
                <a:gd name="T8" fmla="*/ 56 w 208"/>
                <a:gd name="T9" fmla="*/ 320 h 448"/>
                <a:gd name="T10" fmla="*/ 208 w 208"/>
                <a:gd name="T11" fmla="*/ 448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8" h="448">
                  <a:moveTo>
                    <a:pt x="0" y="0"/>
                  </a:moveTo>
                  <a:cubicBezTo>
                    <a:pt x="56" y="31"/>
                    <a:pt x="113" y="63"/>
                    <a:pt x="120" y="88"/>
                  </a:cubicBezTo>
                  <a:cubicBezTo>
                    <a:pt x="127" y="113"/>
                    <a:pt x="37" y="128"/>
                    <a:pt x="40" y="152"/>
                  </a:cubicBezTo>
                  <a:cubicBezTo>
                    <a:pt x="43" y="176"/>
                    <a:pt x="133" y="204"/>
                    <a:pt x="136" y="232"/>
                  </a:cubicBezTo>
                  <a:cubicBezTo>
                    <a:pt x="139" y="260"/>
                    <a:pt x="44" y="284"/>
                    <a:pt x="56" y="320"/>
                  </a:cubicBezTo>
                  <a:cubicBezTo>
                    <a:pt x="68" y="356"/>
                    <a:pt x="187" y="429"/>
                    <a:pt x="208" y="448"/>
                  </a:cubicBezTo>
                </a:path>
              </a:pathLst>
            </a:custGeom>
            <a:noFill/>
            <a:ln w="7620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4" name="Group 95"/>
          <p:cNvGrpSpPr>
            <a:grpSpLocks/>
          </p:cNvGrpSpPr>
          <p:nvPr/>
        </p:nvGrpSpPr>
        <p:grpSpPr bwMode="auto">
          <a:xfrm>
            <a:off x="7670800" y="2805113"/>
            <a:ext cx="609600" cy="609600"/>
            <a:chOff x="528" y="1776"/>
            <a:chExt cx="432" cy="424"/>
          </a:xfrm>
        </p:grpSpPr>
        <p:sp>
          <p:nvSpPr>
            <p:cNvPr id="35" name="Freeform 96"/>
            <p:cNvSpPr>
              <a:spLocks/>
            </p:cNvSpPr>
            <p:nvPr/>
          </p:nvSpPr>
          <p:spPr bwMode="auto">
            <a:xfrm>
              <a:off x="871" y="1806"/>
              <a:ext cx="89" cy="226"/>
            </a:xfrm>
            <a:custGeom>
              <a:avLst/>
              <a:gdLst>
                <a:gd name="T0" fmla="*/ 26 w 213"/>
                <a:gd name="T1" fmla="*/ 0 h 604"/>
                <a:gd name="T2" fmla="*/ 212 w 213"/>
                <a:gd name="T3" fmla="*/ 178 h 604"/>
                <a:gd name="T4" fmla="*/ 185 w 213"/>
                <a:gd name="T5" fmla="*/ 558 h 604"/>
                <a:gd name="T6" fmla="*/ 0 w 213"/>
                <a:gd name="T7" fmla="*/ 603 h 604"/>
                <a:gd name="T8" fmla="*/ 26 w 213"/>
                <a:gd name="T9" fmla="*/ 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" h="604">
                  <a:moveTo>
                    <a:pt x="26" y="0"/>
                  </a:moveTo>
                  <a:lnTo>
                    <a:pt x="212" y="178"/>
                  </a:lnTo>
                  <a:lnTo>
                    <a:pt x="185" y="558"/>
                  </a:lnTo>
                  <a:lnTo>
                    <a:pt x="0" y="603"/>
                  </a:lnTo>
                  <a:lnTo>
                    <a:pt x="26" y="0"/>
                  </a:lnTo>
                </a:path>
              </a:pathLst>
            </a:custGeom>
            <a:gradFill rotWithShape="0">
              <a:gsLst>
                <a:gs pos="0">
                  <a:schemeClr val="folHlink">
                    <a:gamma/>
                    <a:shade val="40000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97"/>
            <p:cNvSpPr>
              <a:spLocks/>
            </p:cNvSpPr>
            <p:nvPr/>
          </p:nvSpPr>
          <p:spPr bwMode="auto">
            <a:xfrm>
              <a:off x="538" y="2058"/>
              <a:ext cx="296" cy="142"/>
            </a:xfrm>
            <a:custGeom>
              <a:avLst/>
              <a:gdLst>
                <a:gd name="T0" fmla="*/ 0 w 712"/>
                <a:gd name="T1" fmla="*/ 0 h 379"/>
                <a:gd name="T2" fmla="*/ 711 w 712"/>
                <a:gd name="T3" fmla="*/ 118 h 379"/>
                <a:gd name="T4" fmla="*/ 711 w 712"/>
                <a:gd name="T5" fmla="*/ 378 h 379"/>
                <a:gd name="T6" fmla="*/ 0 w 712"/>
                <a:gd name="T7" fmla="*/ 141 h 379"/>
                <a:gd name="T8" fmla="*/ 0 w 712"/>
                <a:gd name="T9" fmla="*/ 0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2" h="379">
                  <a:moveTo>
                    <a:pt x="0" y="0"/>
                  </a:moveTo>
                  <a:lnTo>
                    <a:pt x="711" y="118"/>
                  </a:lnTo>
                  <a:lnTo>
                    <a:pt x="711" y="378"/>
                  </a:lnTo>
                  <a:lnTo>
                    <a:pt x="0" y="141"/>
                  </a:ln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rgbClr val="969696">
                    <a:gamma/>
                    <a:shade val="40000"/>
                    <a:invGamma/>
                  </a:srgbClr>
                </a:gs>
                <a:gs pos="100000">
                  <a:srgbClr val="969696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98"/>
            <p:cNvSpPr>
              <a:spLocks/>
            </p:cNvSpPr>
            <p:nvPr/>
          </p:nvSpPr>
          <p:spPr bwMode="auto">
            <a:xfrm>
              <a:off x="834" y="2058"/>
              <a:ext cx="126" cy="142"/>
            </a:xfrm>
            <a:custGeom>
              <a:avLst/>
              <a:gdLst>
                <a:gd name="T0" fmla="*/ 0 w 301"/>
                <a:gd name="T1" fmla="*/ 120 h 380"/>
                <a:gd name="T2" fmla="*/ 0 w 301"/>
                <a:gd name="T3" fmla="*/ 379 h 380"/>
                <a:gd name="T4" fmla="*/ 300 w 301"/>
                <a:gd name="T5" fmla="*/ 178 h 380"/>
                <a:gd name="T6" fmla="*/ 300 w 301"/>
                <a:gd name="T7" fmla="*/ 0 h 380"/>
                <a:gd name="T8" fmla="*/ 0 w 301"/>
                <a:gd name="T9" fmla="*/ 120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1" h="380">
                  <a:moveTo>
                    <a:pt x="0" y="120"/>
                  </a:moveTo>
                  <a:lnTo>
                    <a:pt x="0" y="379"/>
                  </a:lnTo>
                  <a:lnTo>
                    <a:pt x="300" y="178"/>
                  </a:lnTo>
                  <a:lnTo>
                    <a:pt x="300" y="0"/>
                  </a:lnTo>
                  <a:lnTo>
                    <a:pt x="0" y="120"/>
                  </a:lnTo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0000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99"/>
            <p:cNvSpPr>
              <a:spLocks/>
            </p:cNvSpPr>
            <p:nvPr/>
          </p:nvSpPr>
          <p:spPr bwMode="auto">
            <a:xfrm>
              <a:off x="538" y="2040"/>
              <a:ext cx="422" cy="63"/>
            </a:xfrm>
            <a:custGeom>
              <a:avLst/>
              <a:gdLst>
                <a:gd name="T0" fmla="*/ 0 w 1012"/>
                <a:gd name="T1" fmla="*/ 47 h 167"/>
                <a:gd name="T2" fmla="*/ 409 w 1012"/>
                <a:gd name="T3" fmla="*/ 0 h 167"/>
                <a:gd name="T4" fmla="*/ 1011 w 1012"/>
                <a:gd name="T5" fmla="*/ 44 h 167"/>
                <a:gd name="T6" fmla="*/ 710 w 1012"/>
                <a:gd name="T7" fmla="*/ 166 h 167"/>
                <a:gd name="T8" fmla="*/ 0 w 1012"/>
                <a:gd name="T9" fmla="*/ 4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2" h="167">
                  <a:moveTo>
                    <a:pt x="0" y="47"/>
                  </a:moveTo>
                  <a:lnTo>
                    <a:pt x="409" y="0"/>
                  </a:lnTo>
                  <a:lnTo>
                    <a:pt x="1011" y="44"/>
                  </a:lnTo>
                  <a:lnTo>
                    <a:pt x="710" y="166"/>
                  </a:lnTo>
                  <a:lnTo>
                    <a:pt x="0" y="47"/>
                  </a:lnTo>
                </a:path>
              </a:pathLst>
            </a:custGeom>
            <a:gradFill rotWithShape="0">
              <a:gsLst>
                <a:gs pos="0">
                  <a:srgbClr val="969696">
                    <a:gamma/>
                    <a:shade val="0"/>
                    <a:invGamma/>
                  </a:srgbClr>
                </a:gs>
                <a:gs pos="100000">
                  <a:srgbClr val="969696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AutoShape 100"/>
            <p:cNvSpPr>
              <a:spLocks noChangeArrowheads="1"/>
            </p:cNvSpPr>
            <p:nvPr/>
          </p:nvSpPr>
          <p:spPr bwMode="auto">
            <a:xfrm rot="180000">
              <a:off x="589" y="2013"/>
              <a:ext cx="263" cy="53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>
                    <a:gamma/>
                    <a:shade val="40000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40000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0" name="AutoShape 101"/>
            <p:cNvSpPr>
              <a:spLocks noChangeArrowheads="1"/>
            </p:cNvSpPr>
            <p:nvPr/>
          </p:nvSpPr>
          <p:spPr bwMode="auto">
            <a:xfrm rot="180000">
              <a:off x="589" y="2006"/>
              <a:ext cx="265" cy="53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>
                    <a:gamma/>
                    <a:shade val="0"/>
                    <a:invGamma/>
                  </a:schemeClr>
                </a:gs>
                <a:gs pos="100000">
                  <a:schemeClr val="fol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" name="Freeform 102"/>
            <p:cNvSpPr>
              <a:spLocks/>
            </p:cNvSpPr>
            <p:nvPr/>
          </p:nvSpPr>
          <p:spPr bwMode="auto">
            <a:xfrm>
              <a:off x="528" y="1776"/>
              <a:ext cx="326" cy="276"/>
            </a:xfrm>
            <a:custGeom>
              <a:avLst/>
              <a:gdLst>
                <a:gd name="T0" fmla="*/ 753 w 779"/>
                <a:gd name="T1" fmla="*/ 733 h 734"/>
                <a:gd name="T2" fmla="*/ 778 w 779"/>
                <a:gd name="T3" fmla="*/ 0 h 734"/>
                <a:gd name="T4" fmla="*/ 778 w 779"/>
                <a:gd name="T5" fmla="*/ 0 h 734"/>
                <a:gd name="T6" fmla="*/ 0 w 779"/>
                <a:gd name="T7" fmla="*/ 122 h 734"/>
                <a:gd name="T8" fmla="*/ 48 w 779"/>
                <a:gd name="T9" fmla="*/ 671 h 734"/>
                <a:gd name="T10" fmla="*/ 753 w 779"/>
                <a:gd name="T11" fmla="*/ 733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9" h="734">
                  <a:moveTo>
                    <a:pt x="753" y="733"/>
                  </a:moveTo>
                  <a:lnTo>
                    <a:pt x="778" y="0"/>
                  </a:lnTo>
                  <a:lnTo>
                    <a:pt x="778" y="0"/>
                  </a:lnTo>
                  <a:lnTo>
                    <a:pt x="0" y="122"/>
                  </a:lnTo>
                  <a:lnTo>
                    <a:pt x="48" y="671"/>
                  </a:lnTo>
                  <a:lnTo>
                    <a:pt x="753" y="733"/>
                  </a:lnTo>
                </a:path>
              </a:pathLst>
            </a:custGeom>
            <a:gradFill rotWithShape="0">
              <a:gsLst>
                <a:gs pos="0">
                  <a:srgbClr val="969696">
                    <a:gamma/>
                    <a:shade val="40000"/>
                    <a:invGamma/>
                  </a:srgbClr>
                </a:gs>
                <a:gs pos="100000">
                  <a:srgbClr val="969696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Freeform 103"/>
            <p:cNvSpPr>
              <a:spLocks/>
            </p:cNvSpPr>
            <p:nvPr/>
          </p:nvSpPr>
          <p:spPr bwMode="auto">
            <a:xfrm>
              <a:off x="842" y="1776"/>
              <a:ext cx="74" cy="276"/>
            </a:xfrm>
            <a:custGeom>
              <a:avLst/>
              <a:gdLst>
                <a:gd name="T0" fmla="*/ 24 w 176"/>
                <a:gd name="T1" fmla="*/ 0 h 734"/>
                <a:gd name="T2" fmla="*/ 175 w 176"/>
                <a:gd name="T3" fmla="*/ 100 h 734"/>
                <a:gd name="T4" fmla="*/ 175 w 176"/>
                <a:gd name="T5" fmla="*/ 680 h 734"/>
                <a:gd name="T6" fmla="*/ 0 w 176"/>
                <a:gd name="T7" fmla="*/ 733 h 734"/>
                <a:gd name="T8" fmla="*/ 24 w 176"/>
                <a:gd name="T9" fmla="*/ 0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6" h="734">
                  <a:moveTo>
                    <a:pt x="24" y="0"/>
                  </a:moveTo>
                  <a:lnTo>
                    <a:pt x="175" y="100"/>
                  </a:lnTo>
                  <a:lnTo>
                    <a:pt x="175" y="680"/>
                  </a:lnTo>
                  <a:lnTo>
                    <a:pt x="0" y="733"/>
                  </a:lnTo>
                  <a:lnTo>
                    <a:pt x="24" y="0"/>
                  </a:lnTo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0000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Freeform 104"/>
            <p:cNvSpPr>
              <a:spLocks/>
            </p:cNvSpPr>
            <p:nvPr/>
          </p:nvSpPr>
          <p:spPr bwMode="auto">
            <a:xfrm>
              <a:off x="568" y="1799"/>
              <a:ext cx="255" cy="230"/>
            </a:xfrm>
            <a:custGeom>
              <a:avLst/>
              <a:gdLst>
                <a:gd name="T0" fmla="*/ 0 w 610"/>
                <a:gd name="T1" fmla="*/ 122 h 612"/>
                <a:gd name="T2" fmla="*/ 0 w 610"/>
                <a:gd name="T3" fmla="*/ 570 h 612"/>
                <a:gd name="T4" fmla="*/ 584 w 610"/>
                <a:gd name="T5" fmla="*/ 611 h 612"/>
                <a:gd name="T6" fmla="*/ 609 w 610"/>
                <a:gd name="T7" fmla="*/ 0 h 612"/>
                <a:gd name="T8" fmla="*/ 0 w 610"/>
                <a:gd name="T9" fmla="*/ 122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0" h="612">
                  <a:moveTo>
                    <a:pt x="0" y="122"/>
                  </a:moveTo>
                  <a:lnTo>
                    <a:pt x="0" y="570"/>
                  </a:lnTo>
                  <a:lnTo>
                    <a:pt x="584" y="611"/>
                  </a:lnTo>
                  <a:lnTo>
                    <a:pt x="609" y="0"/>
                  </a:lnTo>
                  <a:lnTo>
                    <a:pt x="0" y="122"/>
                  </a:lnTo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Freeform 105"/>
            <p:cNvSpPr>
              <a:spLocks/>
            </p:cNvSpPr>
            <p:nvPr/>
          </p:nvSpPr>
          <p:spPr bwMode="auto">
            <a:xfrm>
              <a:off x="559" y="1799"/>
              <a:ext cx="264" cy="214"/>
            </a:xfrm>
            <a:custGeom>
              <a:avLst/>
              <a:gdLst>
                <a:gd name="T0" fmla="*/ 24 w 634"/>
                <a:gd name="T1" fmla="*/ 571 h 572"/>
                <a:gd name="T2" fmla="*/ 0 w 634"/>
                <a:gd name="T3" fmla="*/ 101 h 572"/>
                <a:gd name="T4" fmla="*/ 633 w 634"/>
                <a:gd name="T5" fmla="*/ 0 h 572"/>
                <a:gd name="T6" fmla="*/ 24 w 634"/>
                <a:gd name="T7" fmla="*/ 122 h 572"/>
                <a:gd name="T8" fmla="*/ 24 w 634"/>
                <a:gd name="T9" fmla="*/ 571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4" h="572">
                  <a:moveTo>
                    <a:pt x="24" y="571"/>
                  </a:moveTo>
                  <a:lnTo>
                    <a:pt x="0" y="101"/>
                  </a:lnTo>
                  <a:lnTo>
                    <a:pt x="633" y="0"/>
                  </a:lnTo>
                  <a:lnTo>
                    <a:pt x="24" y="122"/>
                  </a:lnTo>
                  <a:lnTo>
                    <a:pt x="24" y="571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AutoShape 106"/>
            <p:cNvSpPr>
              <a:spLocks noChangeArrowheads="1"/>
            </p:cNvSpPr>
            <p:nvPr/>
          </p:nvSpPr>
          <p:spPr bwMode="auto">
            <a:xfrm rot="21300000">
              <a:off x="786" y="2124"/>
              <a:ext cx="24" cy="5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0000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6" name="AutoShape 107"/>
            <p:cNvSpPr>
              <a:spLocks noChangeArrowheads="1"/>
            </p:cNvSpPr>
            <p:nvPr/>
          </p:nvSpPr>
          <p:spPr bwMode="auto">
            <a:xfrm rot="21300000">
              <a:off x="786" y="2139"/>
              <a:ext cx="24" cy="6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0000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7" name="AutoShape 108"/>
            <p:cNvSpPr>
              <a:spLocks noChangeArrowheads="1"/>
            </p:cNvSpPr>
            <p:nvPr/>
          </p:nvSpPr>
          <p:spPr bwMode="auto">
            <a:xfrm rot="780000">
              <a:off x="681" y="2116"/>
              <a:ext cx="102" cy="8"/>
            </a:xfrm>
            <a:custGeom>
              <a:avLst/>
              <a:gdLst>
                <a:gd name="G0" fmla="+- 5400 0 0"/>
                <a:gd name="G1" fmla="+- 21600 0 5400"/>
                <a:gd name="G2" fmla="*/ 5400 1 2"/>
                <a:gd name="G3" fmla="+- 21600 0 G2"/>
                <a:gd name="G4" fmla="+/ 5400 21600 2"/>
                <a:gd name="G5" fmla="+/ G1 0 2"/>
                <a:gd name="G6" fmla="*/ 21600 21600 5400"/>
                <a:gd name="G7" fmla="*/ G6 1 2"/>
                <a:gd name="G8" fmla="+- 21600 0 G7"/>
                <a:gd name="G9" fmla="*/ 21600 1 2"/>
                <a:gd name="G10" fmla="+- 5400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grpSp>
        <p:nvGrpSpPr>
          <p:cNvPr id="48" name="Group 125"/>
          <p:cNvGrpSpPr>
            <a:grpSpLocks/>
          </p:cNvGrpSpPr>
          <p:nvPr/>
        </p:nvGrpSpPr>
        <p:grpSpPr bwMode="auto">
          <a:xfrm>
            <a:off x="5908675" y="2709863"/>
            <a:ext cx="1000125" cy="801687"/>
            <a:chOff x="3438" y="1752"/>
            <a:chExt cx="630" cy="505"/>
          </a:xfrm>
        </p:grpSpPr>
        <p:pic>
          <p:nvPicPr>
            <p:cNvPr id="49" name="Picture 45" descr="fulfillment.gif                                                00013781Mac HD                         B90A631B: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38" y="1752"/>
              <a:ext cx="630" cy="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0" name="Group 111"/>
            <p:cNvGrpSpPr>
              <a:grpSpLocks/>
            </p:cNvGrpSpPr>
            <p:nvPr/>
          </p:nvGrpSpPr>
          <p:grpSpPr bwMode="auto">
            <a:xfrm>
              <a:off x="3528" y="1998"/>
              <a:ext cx="120" cy="120"/>
              <a:chOff x="1182" y="2268"/>
              <a:chExt cx="268" cy="384"/>
            </a:xfrm>
          </p:grpSpPr>
          <p:sp>
            <p:nvSpPr>
              <p:cNvPr id="51" name="Freeform 112"/>
              <p:cNvSpPr>
                <a:spLocks/>
              </p:cNvSpPr>
              <p:nvPr/>
            </p:nvSpPr>
            <p:spPr bwMode="auto">
              <a:xfrm>
                <a:off x="1395" y="2295"/>
                <a:ext cx="55" cy="205"/>
              </a:xfrm>
              <a:custGeom>
                <a:avLst/>
                <a:gdLst>
                  <a:gd name="T0" fmla="*/ 26 w 213"/>
                  <a:gd name="T1" fmla="*/ 0 h 604"/>
                  <a:gd name="T2" fmla="*/ 212 w 213"/>
                  <a:gd name="T3" fmla="*/ 178 h 604"/>
                  <a:gd name="T4" fmla="*/ 185 w 213"/>
                  <a:gd name="T5" fmla="*/ 558 h 604"/>
                  <a:gd name="T6" fmla="*/ 0 w 213"/>
                  <a:gd name="T7" fmla="*/ 603 h 604"/>
                  <a:gd name="T8" fmla="*/ 26 w 213"/>
                  <a:gd name="T9" fmla="*/ 0 h 6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3" h="604">
                    <a:moveTo>
                      <a:pt x="26" y="0"/>
                    </a:moveTo>
                    <a:lnTo>
                      <a:pt x="212" y="178"/>
                    </a:lnTo>
                    <a:lnTo>
                      <a:pt x="185" y="558"/>
                    </a:lnTo>
                    <a:lnTo>
                      <a:pt x="0" y="603"/>
                    </a:lnTo>
                    <a:lnTo>
                      <a:pt x="26" y="0"/>
                    </a:lnTo>
                  </a:path>
                </a:pathLst>
              </a:custGeom>
              <a:gradFill rotWithShape="0">
                <a:gsLst>
                  <a:gs pos="0">
                    <a:schemeClr val="folHlink">
                      <a:gamma/>
                      <a:shade val="40000"/>
                      <a:invGamma/>
                    </a:schemeClr>
                  </a:gs>
                  <a:gs pos="100000">
                    <a:schemeClr val="folHlink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2" name="Freeform 113"/>
              <p:cNvSpPr>
                <a:spLocks/>
              </p:cNvSpPr>
              <p:nvPr/>
            </p:nvSpPr>
            <p:spPr bwMode="auto">
              <a:xfrm>
                <a:off x="1188" y="2523"/>
                <a:ext cx="184" cy="129"/>
              </a:xfrm>
              <a:custGeom>
                <a:avLst/>
                <a:gdLst>
                  <a:gd name="T0" fmla="*/ 0 w 712"/>
                  <a:gd name="T1" fmla="*/ 0 h 379"/>
                  <a:gd name="T2" fmla="*/ 711 w 712"/>
                  <a:gd name="T3" fmla="*/ 118 h 379"/>
                  <a:gd name="T4" fmla="*/ 711 w 712"/>
                  <a:gd name="T5" fmla="*/ 378 h 379"/>
                  <a:gd name="T6" fmla="*/ 0 w 712"/>
                  <a:gd name="T7" fmla="*/ 141 h 379"/>
                  <a:gd name="T8" fmla="*/ 0 w 712"/>
                  <a:gd name="T9" fmla="*/ 0 h 3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12" h="379">
                    <a:moveTo>
                      <a:pt x="0" y="0"/>
                    </a:moveTo>
                    <a:lnTo>
                      <a:pt x="711" y="118"/>
                    </a:lnTo>
                    <a:lnTo>
                      <a:pt x="711" y="378"/>
                    </a:lnTo>
                    <a:lnTo>
                      <a:pt x="0" y="141"/>
                    </a:lnTo>
                    <a:lnTo>
                      <a:pt x="0" y="0"/>
                    </a:lnTo>
                  </a:path>
                </a:pathLst>
              </a:custGeom>
              <a:gradFill rotWithShape="0">
                <a:gsLst>
                  <a:gs pos="0">
                    <a:srgbClr val="969696">
                      <a:gamma/>
                      <a:shade val="40000"/>
                      <a:invGamma/>
                    </a:srgbClr>
                  </a:gs>
                  <a:gs pos="100000">
                    <a:srgbClr val="969696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3" name="Freeform 114"/>
              <p:cNvSpPr>
                <a:spLocks/>
              </p:cNvSpPr>
              <p:nvPr/>
            </p:nvSpPr>
            <p:spPr bwMode="auto">
              <a:xfrm>
                <a:off x="1372" y="2523"/>
                <a:ext cx="78" cy="129"/>
              </a:xfrm>
              <a:custGeom>
                <a:avLst/>
                <a:gdLst>
                  <a:gd name="T0" fmla="*/ 0 w 301"/>
                  <a:gd name="T1" fmla="*/ 120 h 380"/>
                  <a:gd name="T2" fmla="*/ 0 w 301"/>
                  <a:gd name="T3" fmla="*/ 379 h 380"/>
                  <a:gd name="T4" fmla="*/ 300 w 301"/>
                  <a:gd name="T5" fmla="*/ 178 h 380"/>
                  <a:gd name="T6" fmla="*/ 300 w 301"/>
                  <a:gd name="T7" fmla="*/ 0 h 380"/>
                  <a:gd name="T8" fmla="*/ 0 w 301"/>
                  <a:gd name="T9" fmla="*/ 120 h 3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1" h="380">
                    <a:moveTo>
                      <a:pt x="0" y="120"/>
                    </a:moveTo>
                    <a:lnTo>
                      <a:pt x="0" y="379"/>
                    </a:lnTo>
                    <a:lnTo>
                      <a:pt x="300" y="178"/>
                    </a:lnTo>
                    <a:lnTo>
                      <a:pt x="300" y="0"/>
                    </a:lnTo>
                    <a:lnTo>
                      <a:pt x="0" y="12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shade val="40000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4" name="Freeform 115"/>
              <p:cNvSpPr>
                <a:spLocks/>
              </p:cNvSpPr>
              <p:nvPr/>
            </p:nvSpPr>
            <p:spPr bwMode="auto">
              <a:xfrm>
                <a:off x="1188" y="2507"/>
                <a:ext cx="262" cy="57"/>
              </a:xfrm>
              <a:custGeom>
                <a:avLst/>
                <a:gdLst>
                  <a:gd name="T0" fmla="*/ 0 w 1012"/>
                  <a:gd name="T1" fmla="*/ 47 h 167"/>
                  <a:gd name="T2" fmla="*/ 409 w 1012"/>
                  <a:gd name="T3" fmla="*/ 0 h 167"/>
                  <a:gd name="T4" fmla="*/ 1011 w 1012"/>
                  <a:gd name="T5" fmla="*/ 44 h 167"/>
                  <a:gd name="T6" fmla="*/ 710 w 1012"/>
                  <a:gd name="T7" fmla="*/ 166 h 167"/>
                  <a:gd name="T8" fmla="*/ 0 w 1012"/>
                  <a:gd name="T9" fmla="*/ 4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2" h="167">
                    <a:moveTo>
                      <a:pt x="0" y="47"/>
                    </a:moveTo>
                    <a:lnTo>
                      <a:pt x="409" y="0"/>
                    </a:lnTo>
                    <a:lnTo>
                      <a:pt x="1011" y="44"/>
                    </a:lnTo>
                    <a:lnTo>
                      <a:pt x="710" y="166"/>
                    </a:lnTo>
                    <a:lnTo>
                      <a:pt x="0" y="47"/>
                    </a:lnTo>
                  </a:path>
                </a:pathLst>
              </a:custGeom>
              <a:gradFill rotWithShape="0">
                <a:gsLst>
                  <a:gs pos="0">
                    <a:srgbClr val="969696">
                      <a:gamma/>
                      <a:shade val="0"/>
                      <a:invGamma/>
                    </a:srgbClr>
                  </a:gs>
                  <a:gs pos="100000">
                    <a:srgbClr val="969696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5" name="Oval 116"/>
              <p:cNvSpPr>
                <a:spLocks noChangeArrowheads="1"/>
              </p:cNvSpPr>
              <p:nvPr/>
            </p:nvSpPr>
            <p:spPr bwMode="auto">
              <a:xfrm rot="180000">
                <a:off x="1220" y="2483"/>
                <a:ext cx="163" cy="48"/>
              </a:xfrm>
              <a:prstGeom prst="ellipse">
                <a:avLst/>
              </a:prstGeom>
              <a:gradFill rotWithShape="0">
                <a:gsLst>
                  <a:gs pos="0">
                    <a:schemeClr val="folHlink">
                      <a:gamma/>
                      <a:shade val="40000"/>
                      <a:invGamma/>
                    </a:schemeClr>
                  </a:gs>
                  <a:gs pos="50000">
                    <a:schemeClr val="folHlink"/>
                  </a:gs>
                  <a:gs pos="100000">
                    <a:schemeClr val="folHlink">
                      <a:gamma/>
                      <a:shade val="40000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6" name="Oval 117"/>
              <p:cNvSpPr>
                <a:spLocks noChangeArrowheads="1"/>
              </p:cNvSpPr>
              <p:nvPr/>
            </p:nvSpPr>
            <p:spPr bwMode="auto">
              <a:xfrm rot="180000">
                <a:off x="1220" y="2476"/>
                <a:ext cx="164" cy="48"/>
              </a:xfrm>
              <a:prstGeom prst="ellipse">
                <a:avLst/>
              </a:prstGeom>
              <a:gradFill rotWithShape="0">
                <a:gsLst>
                  <a:gs pos="0">
                    <a:schemeClr val="folHlink">
                      <a:gamma/>
                      <a:shade val="0"/>
                      <a:invGamma/>
                    </a:schemeClr>
                  </a:gs>
                  <a:gs pos="100000">
                    <a:schemeClr val="folHlink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57" name="Freeform 118"/>
              <p:cNvSpPr>
                <a:spLocks/>
              </p:cNvSpPr>
              <p:nvPr/>
            </p:nvSpPr>
            <p:spPr bwMode="auto">
              <a:xfrm>
                <a:off x="1182" y="2268"/>
                <a:ext cx="202" cy="250"/>
              </a:xfrm>
              <a:custGeom>
                <a:avLst/>
                <a:gdLst>
                  <a:gd name="T0" fmla="*/ 753 w 779"/>
                  <a:gd name="T1" fmla="*/ 733 h 734"/>
                  <a:gd name="T2" fmla="*/ 778 w 779"/>
                  <a:gd name="T3" fmla="*/ 0 h 734"/>
                  <a:gd name="T4" fmla="*/ 778 w 779"/>
                  <a:gd name="T5" fmla="*/ 0 h 734"/>
                  <a:gd name="T6" fmla="*/ 0 w 779"/>
                  <a:gd name="T7" fmla="*/ 122 h 734"/>
                  <a:gd name="T8" fmla="*/ 48 w 779"/>
                  <a:gd name="T9" fmla="*/ 671 h 734"/>
                  <a:gd name="T10" fmla="*/ 753 w 779"/>
                  <a:gd name="T11" fmla="*/ 733 h 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79" h="734">
                    <a:moveTo>
                      <a:pt x="753" y="733"/>
                    </a:moveTo>
                    <a:lnTo>
                      <a:pt x="778" y="0"/>
                    </a:lnTo>
                    <a:lnTo>
                      <a:pt x="778" y="0"/>
                    </a:lnTo>
                    <a:lnTo>
                      <a:pt x="0" y="122"/>
                    </a:lnTo>
                    <a:lnTo>
                      <a:pt x="48" y="671"/>
                    </a:lnTo>
                    <a:lnTo>
                      <a:pt x="753" y="733"/>
                    </a:lnTo>
                  </a:path>
                </a:pathLst>
              </a:custGeom>
              <a:gradFill rotWithShape="0">
                <a:gsLst>
                  <a:gs pos="0">
                    <a:srgbClr val="969696">
                      <a:gamma/>
                      <a:shade val="40000"/>
                      <a:invGamma/>
                    </a:srgbClr>
                  </a:gs>
                  <a:gs pos="100000">
                    <a:srgbClr val="969696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8" name="Freeform 119"/>
              <p:cNvSpPr>
                <a:spLocks/>
              </p:cNvSpPr>
              <p:nvPr/>
            </p:nvSpPr>
            <p:spPr bwMode="auto">
              <a:xfrm>
                <a:off x="1377" y="2268"/>
                <a:ext cx="46" cy="250"/>
              </a:xfrm>
              <a:custGeom>
                <a:avLst/>
                <a:gdLst>
                  <a:gd name="T0" fmla="*/ 24 w 176"/>
                  <a:gd name="T1" fmla="*/ 0 h 734"/>
                  <a:gd name="T2" fmla="*/ 175 w 176"/>
                  <a:gd name="T3" fmla="*/ 100 h 734"/>
                  <a:gd name="T4" fmla="*/ 175 w 176"/>
                  <a:gd name="T5" fmla="*/ 680 h 734"/>
                  <a:gd name="T6" fmla="*/ 0 w 176"/>
                  <a:gd name="T7" fmla="*/ 733 h 734"/>
                  <a:gd name="T8" fmla="*/ 24 w 176"/>
                  <a:gd name="T9" fmla="*/ 0 h 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6" h="734">
                    <a:moveTo>
                      <a:pt x="24" y="0"/>
                    </a:moveTo>
                    <a:lnTo>
                      <a:pt x="175" y="100"/>
                    </a:lnTo>
                    <a:lnTo>
                      <a:pt x="175" y="680"/>
                    </a:lnTo>
                    <a:lnTo>
                      <a:pt x="0" y="733"/>
                    </a:lnTo>
                    <a:lnTo>
                      <a:pt x="24" y="0"/>
                    </a:lnTo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shade val="40000"/>
                      <a:invGamma/>
                    </a:schemeClr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9" name="Freeform 120"/>
              <p:cNvSpPr>
                <a:spLocks/>
              </p:cNvSpPr>
              <p:nvPr/>
            </p:nvSpPr>
            <p:spPr bwMode="auto">
              <a:xfrm>
                <a:off x="1207" y="2289"/>
                <a:ext cx="158" cy="208"/>
              </a:xfrm>
              <a:custGeom>
                <a:avLst/>
                <a:gdLst>
                  <a:gd name="T0" fmla="*/ 0 w 610"/>
                  <a:gd name="T1" fmla="*/ 122 h 612"/>
                  <a:gd name="T2" fmla="*/ 0 w 610"/>
                  <a:gd name="T3" fmla="*/ 570 h 612"/>
                  <a:gd name="T4" fmla="*/ 584 w 610"/>
                  <a:gd name="T5" fmla="*/ 611 h 612"/>
                  <a:gd name="T6" fmla="*/ 609 w 610"/>
                  <a:gd name="T7" fmla="*/ 0 h 612"/>
                  <a:gd name="T8" fmla="*/ 0 w 610"/>
                  <a:gd name="T9" fmla="*/ 122 h 6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10" h="612">
                    <a:moveTo>
                      <a:pt x="0" y="122"/>
                    </a:moveTo>
                    <a:lnTo>
                      <a:pt x="0" y="570"/>
                    </a:lnTo>
                    <a:lnTo>
                      <a:pt x="584" y="611"/>
                    </a:lnTo>
                    <a:lnTo>
                      <a:pt x="609" y="0"/>
                    </a:lnTo>
                    <a:lnTo>
                      <a:pt x="0" y="122"/>
                    </a:lnTo>
                  </a:path>
                </a:pathLst>
              </a:custGeom>
              <a:gradFill rotWithShape="0">
                <a:gsLst>
                  <a:gs pos="0">
                    <a:srgbClr val="3366FF"/>
                  </a:gs>
                  <a:gs pos="100000">
                    <a:srgbClr val="3366FF">
                      <a:gamma/>
                      <a:shade val="40000"/>
                      <a:invGamma/>
                    </a:srgbClr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0" name="Freeform 121"/>
              <p:cNvSpPr>
                <a:spLocks/>
              </p:cNvSpPr>
              <p:nvPr/>
            </p:nvSpPr>
            <p:spPr bwMode="auto">
              <a:xfrm>
                <a:off x="1201" y="2289"/>
                <a:ext cx="164" cy="194"/>
              </a:xfrm>
              <a:custGeom>
                <a:avLst/>
                <a:gdLst>
                  <a:gd name="T0" fmla="*/ 24 w 634"/>
                  <a:gd name="T1" fmla="*/ 571 h 572"/>
                  <a:gd name="T2" fmla="*/ 0 w 634"/>
                  <a:gd name="T3" fmla="*/ 101 h 572"/>
                  <a:gd name="T4" fmla="*/ 633 w 634"/>
                  <a:gd name="T5" fmla="*/ 0 h 572"/>
                  <a:gd name="T6" fmla="*/ 24 w 634"/>
                  <a:gd name="T7" fmla="*/ 122 h 572"/>
                  <a:gd name="T8" fmla="*/ 24 w 634"/>
                  <a:gd name="T9" fmla="*/ 571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4" h="572">
                    <a:moveTo>
                      <a:pt x="24" y="571"/>
                    </a:moveTo>
                    <a:lnTo>
                      <a:pt x="0" y="101"/>
                    </a:lnTo>
                    <a:lnTo>
                      <a:pt x="633" y="0"/>
                    </a:lnTo>
                    <a:lnTo>
                      <a:pt x="24" y="122"/>
                    </a:lnTo>
                    <a:lnTo>
                      <a:pt x="24" y="571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61" name="Oval 122"/>
              <p:cNvSpPr>
                <a:spLocks noChangeArrowheads="1"/>
              </p:cNvSpPr>
              <p:nvPr/>
            </p:nvSpPr>
            <p:spPr bwMode="auto">
              <a:xfrm rot="21300000">
                <a:off x="1342" y="2583"/>
                <a:ext cx="15" cy="5"/>
              </a:xfrm>
              <a:prstGeom prst="ellipse">
                <a:avLst/>
              </a:prstGeom>
              <a:gradFill rotWithShape="0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000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2" name="Oval 123"/>
              <p:cNvSpPr>
                <a:spLocks noChangeArrowheads="1"/>
              </p:cNvSpPr>
              <p:nvPr/>
            </p:nvSpPr>
            <p:spPr bwMode="auto">
              <a:xfrm rot="21300000">
                <a:off x="1342" y="2597"/>
                <a:ext cx="15" cy="5"/>
              </a:xfrm>
              <a:prstGeom prst="ellipse">
                <a:avLst/>
              </a:prstGeom>
              <a:gradFill rotWithShape="0">
                <a:gsLst>
                  <a:gs pos="0">
                    <a:schemeClr val="hlink"/>
                  </a:gs>
                  <a:gs pos="100000">
                    <a:schemeClr val="hlink">
                      <a:gamma/>
                      <a:shade val="4000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12700">
                <a:solidFill>
                  <a:schemeClr val="hlink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  <p:sp>
            <p:nvSpPr>
              <p:cNvPr id="63" name="Rectangle 124"/>
              <p:cNvSpPr>
                <a:spLocks noChangeArrowheads="1"/>
              </p:cNvSpPr>
              <p:nvPr/>
            </p:nvSpPr>
            <p:spPr bwMode="auto">
              <a:xfrm rot="780000">
                <a:off x="1277" y="2576"/>
                <a:ext cx="63" cy="7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</p:grpSp>
      <p:grpSp>
        <p:nvGrpSpPr>
          <p:cNvPr id="64" name="Group 142"/>
          <p:cNvGrpSpPr>
            <a:grpSpLocks/>
          </p:cNvGrpSpPr>
          <p:nvPr/>
        </p:nvGrpSpPr>
        <p:grpSpPr bwMode="auto">
          <a:xfrm>
            <a:off x="1114425" y="2709863"/>
            <a:ext cx="1000125" cy="801687"/>
            <a:chOff x="486" y="1800"/>
            <a:chExt cx="630" cy="505"/>
          </a:xfrm>
        </p:grpSpPr>
        <p:pic>
          <p:nvPicPr>
            <p:cNvPr id="65" name="Picture 127" descr="fulfillment.gif                                                00013781Mac HD                         B90A631B: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" y="1800"/>
              <a:ext cx="630" cy="5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6" name="Freeform 129"/>
            <p:cNvSpPr>
              <a:spLocks/>
            </p:cNvSpPr>
            <p:nvPr/>
          </p:nvSpPr>
          <p:spPr bwMode="auto">
            <a:xfrm>
              <a:off x="671" y="2054"/>
              <a:ext cx="25" cy="65"/>
            </a:xfrm>
            <a:custGeom>
              <a:avLst/>
              <a:gdLst>
                <a:gd name="T0" fmla="*/ 26 w 213"/>
                <a:gd name="T1" fmla="*/ 0 h 604"/>
                <a:gd name="T2" fmla="*/ 212 w 213"/>
                <a:gd name="T3" fmla="*/ 178 h 604"/>
                <a:gd name="T4" fmla="*/ 185 w 213"/>
                <a:gd name="T5" fmla="*/ 558 h 604"/>
                <a:gd name="T6" fmla="*/ 0 w 213"/>
                <a:gd name="T7" fmla="*/ 603 h 604"/>
                <a:gd name="T8" fmla="*/ 26 w 213"/>
                <a:gd name="T9" fmla="*/ 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3" h="604">
                  <a:moveTo>
                    <a:pt x="26" y="0"/>
                  </a:moveTo>
                  <a:lnTo>
                    <a:pt x="212" y="178"/>
                  </a:lnTo>
                  <a:lnTo>
                    <a:pt x="185" y="558"/>
                  </a:lnTo>
                  <a:lnTo>
                    <a:pt x="0" y="603"/>
                  </a:lnTo>
                  <a:lnTo>
                    <a:pt x="26" y="0"/>
                  </a:lnTo>
                </a:path>
              </a:pathLst>
            </a:custGeom>
            <a:gradFill rotWithShape="0">
              <a:gsLst>
                <a:gs pos="0">
                  <a:schemeClr val="folHlink">
                    <a:gamma/>
                    <a:shade val="40000"/>
                    <a:invGamma/>
                  </a:schemeClr>
                </a:gs>
                <a:gs pos="100000">
                  <a:schemeClr val="folHlink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7" name="Freeform 130"/>
            <p:cNvSpPr>
              <a:spLocks/>
            </p:cNvSpPr>
            <p:nvPr/>
          </p:nvSpPr>
          <p:spPr bwMode="auto">
            <a:xfrm>
              <a:off x="579" y="2126"/>
              <a:ext cx="82" cy="40"/>
            </a:xfrm>
            <a:custGeom>
              <a:avLst/>
              <a:gdLst>
                <a:gd name="T0" fmla="*/ 0 w 712"/>
                <a:gd name="T1" fmla="*/ 0 h 379"/>
                <a:gd name="T2" fmla="*/ 711 w 712"/>
                <a:gd name="T3" fmla="*/ 118 h 379"/>
                <a:gd name="T4" fmla="*/ 711 w 712"/>
                <a:gd name="T5" fmla="*/ 378 h 379"/>
                <a:gd name="T6" fmla="*/ 0 w 712"/>
                <a:gd name="T7" fmla="*/ 141 h 379"/>
                <a:gd name="T8" fmla="*/ 0 w 712"/>
                <a:gd name="T9" fmla="*/ 0 h 3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2" h="379">
                  <a:moveTo>
                    <a:pt x="0" y="0"/>
                  </a:moveTo>
                  <a:lnTo>
                    <a:pt x="711" y="118"/>
                  </a:lnTo>
                  <a:lnTo>
                    <a:pt x="711" y="378"/>
                  </a:lnTo>
                  <a:lnTo>
                    <a:pt x="0" y="141"/>
                  </a:ln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rgbClr val="969696">
                    <a:gamma/>
                    <a:shade val="40000"/>
                    <a:invGamma/>
                  </a:srgbClr>
                </a:gs>
                <a:gs pos="100000">
                  <a:srgbClr val="969696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8" name="Freeform 131"/>
            <p:cNvSpPr>
              <a:spLocks/>
            </p:cNvSpPr>
            <p:nvPr/>
          </p:nvSpPr>
          <p:spPr bwMode="auto">
            <a:xfrm>
              <a:off x="661" y="2126"/>
              <a:ext cx="35" cy="40"/>
            </a:xfrm>
            <a:custGeom>
              <a:avLst/>
              <a:gdLst>
                <a:gd name="T0" fmla="*/ 0 w 301"/>
                <a:gd name="T1" fmla="*/ 120 h 380"/>
                <a:gd name="T2" fmla="*/ 0 w 301"/>
                <a:gd name="T3" fmla="*/ 379 h 380"/>
                <a:gd name="T4" fmla="*/ 300 w 301"/>
                <a:gd name="T5" fmla="*/ 178 h 380"/>
                <a:gd name="T6" fmla="*/ 300 w 301"/>
                <a:gd name="T7" fmla="*/ 0 h 380"/>
                <a:gd name="T8" fmla="*/ 0 w 301"/>
                <a:gd name="T9" fmla="*/ 120 h 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1" h="380">
                  <a:moveTo>
                    <a:pt x="0" y="120"/>
                  </a:moveTo>
                  <a:lnTo>
                    <a:pt x="0" y="379"/>
                  </a:lnTo>
                  <a:lnTo>
                    <a:pt x="300" y="178"/>
                  </a:lnTo>
                  <a:lnTo>
                    <a:pt x="300" y="0"/>
                  </a:lnTo>
                  <a:lnTo>
                    <a:pt x="0" y="120"/>
                  </a:lnTo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0000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9" name="Freeform 132"/>
            <p:cNvSpPr>
              <a:spLocks/>
            </p:cNvSpPr>
            <p:nvPr/>
          </p:nvSpPr>
          <p:spPr bwMode="auto">
            <a:xfrm>
              <a:off x="579" y="2121"/>
              <a:ext cx="117" cy="18"/>
            </a:xfrm>
            <a:custGeom>
              <a:avLst/>
              <a:gdLst>
                <a:gd name="T0" fmla="*/ 0 w 1012"/>
                <a:gd name="T1" fmla="*/ 47 h 167"/>
                <a:gd name="T2" fmla="*/ 409 w 1012"/>
                <a:gd name="T3" fmla="*/ 0 h 167"/>
                <a:gd name="T4" fmla="*/ 1011 w 1012"/>
                <a:gd name="T5" fmla="*/ 44 h 167"/>
                <a:gd name="T6" fmla="*/ 710 w 1012"/>
                <a:gd name="T7" fmla="*/ 166 h 167"/>
                <a:gd name="T8" fmla="*/ 0 w 1012"/>
                <a:gd name="T9" fmla="*/ 4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2" h="167">
                  <a:moveTo>
                    <a:pt x="0" y="47"/>
                  </a:moveTo>
                  <a:lnTo>
                    <a:pt x="409" y="0"/>
                  </a:lnTo>
                  <a:lnTo>
                    <a:pt x="1011" y="44"/>
                  </a:lnTo>
                  <a:lnTo>
                    <a:pt x="710" y="166"/>
                  </a:lnTo>
                  <a:lnTo>
                    <a:pt x="0" y="47"/>
                  </a:lnTo>
                </a:path>
              </a:pathLst>
            </a:custGeom>
            <a:gradFill rotWithShape="0">
              <a:gsLst>
                <a:gs pos="0">
                  <a:srgbClr val="969696">
                    <a:gamma/>
                    <a:shade val="0"/>
                    <a:invGamma/>
                  </a:srgbClr>
                </a:gs>
                <a:gs pos="100000">
                  <a:srgbClr val="969696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0" name="Oval 133"/>
            <p:cNvSpPr>
              <a:spLocks noChangeArrowheads="1"/>
            </p:cNvSpPr>
            <p:nvPr/>
          </p:nvSpPr>
          <p:spPr bwMode="auto">
            <a:xfrm rot="180000">
              <a:off x="593" y="2113"/>
              <a:ext cx="73" cy="15"/>
            </a:xfrm>
            <a:prstGeom prst="ellipse">
              <a:avLst/>
            </a:prstGeom>
            <a:gradFill rotWithShape="0">
              <a:gsLst>
                <a:gs pos="0">
                  <a:schemeClr val="folHlink">
                    <a:gamma/>
                    <a:shade val="40000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40000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1" name="Oval 134"/>
            <p:cNvSpPr>
              <a:spLocks noChangeArrowheads="1"/>
            </p:cNvSpPr>
            <p:nvPr/>
          </p:nvSpPr>
          <p:spPr bwMode="auto">
            <a:xfrm rot="180000">
              <a:off x="593" y="2111"/>
              <a:ext cx="73" cy="15"/>
            </a:xfrm>
            <a:prstGeom prst="ellipse">
              <a:avLst/>
            </a:prstGeom>
            <a:gradFill rotWithShape="0">
              <a:gsLst>
                <a:gs pos="0">
                  <a:schemeClr val="folHlink">
                    <a:gamma/>
                    <a:shade val="0"/>
                    <a:invGamma/>
                  </a:schemeClr>
                </a:gs>
                <a:gs pos="100000">
                  <a:schemeClr val="fol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2" name="Freeform 135"/>
            <p:cNvSpPr>
              <a:spLocks/>
            </p:cNvSpPr>
            <p:nvPr/>
          </p:nvSpPr>
          <p:spPr bwMode="auto">
            <a:xfrm>
              <a:off x="576" y="2046"/>
              <a:ext cx="90" cy="78"/>
            </a:xfrm>
            <a:custGeom>
              <a:avLst/>
              <a:gdLst>
                <a:gd name="T0" fmla="*/ 753 w 779"/>
                <a:gd name="T1" fmla="*/ 733 h 734"/>
                <a:gd name="T2" fmla="*/ 778 w 779"/>
                <a:gd name="T3" fmla="*/ 0 h 734"/>
                <a:gd name="T4" fmla="*/ 778 w 779"/>
                <a:gd name="T5" fmla="*/ 0 h 734"/>
                <a:gd name="T6" fmla="*/ 0 w 779"/>
                <a:gd name="T7" fmla="*/ 122 h 734"/>
                <a:gd name="T8" fmla="*/ 48 w 779"/>
                <a:gd name="T9" fmla="*/ 671 h 734"/>
                <a:gd name="T10" fmla="*/ 753 w 779"/>
                <a:gd name="T11" fmla="*/ 733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9" h="734">
                  <a:moveTo>
                    <a:pt x="753" y="733"/>
                  </a:moveTo>
                  <a:lnTo>
                    <a:pt x="778" y="0"/>
                  </a:lnTo>
                  <a:lnTo>
                    <a:pt x="778" y="0"/>
                  </a:lnTo>
                  <a:lnTo>
                    <a:pt x="0" y="122"/>
                  </a:lnTo>
                  <a:lnTo>
                    <a:pt x="48" y="671"/>
                  </a:lnTo>
                  <a:lnTo>
                    <a:pt x="753" y="733"/>
                  </a:lnTo>
                </a:path>
              </a:pathLst>
            </a:custGeom>
            <a:gradFill rotWithShape="0">
              <a:gsLst>
                <a:gs pos="0">
                  <a:srgbClr val="969696">
                    <a:gamma/>
                    <a:shade val="40000"/>
                    <a:invGamma/>
                  </a:srgbClr>
                </a:gs>
                <a:gs pos="100000">
                  <a:srgbClr val="969696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Freeform 136"/>
            <p:cNvSpPr>
              <a:spLocks/>
            </p:cNvSpPr>
            <p:nvPr/>
          </p:nvSpPr>
          <p:spPr bwMode="auto">
            <a:xfrm>
              <a:off x="663" y="2046"/>
              <a:ext cx="21" cy="78"/>
            </a:xfrm>
            <a:custGeom>
              <a:avLst/>
              <a:gdLst>
                <a:gd name="T0" fmla="*/ 24 w 176"/>
                <a:gd name="T1" fmla="*/ 0 h 734"/>
                <a:gd name="T2" fmla="*/ 175 w 176"/>
                <a:gd name="T3" fmla="*/ 100 h 734"/>
                <a:gd name="T4" fmla="*/ 175 w 176"/>
                <a:gd name="T5" fmla="*/ 680 h 734"/>
                <a:gd name="T6" fmla="*/ 0 w 176"/>
                <a:gd name="T7" fmla="*/ 733 h 734"/>
                <a:gd name="T8" fmla="*/ 24 w 176"/>
                <a:gd name="T9" fmla="*/ 0 h 7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6" h="734">
                  <a:moveTo>
                    <a:pt x="24" y="0"/>
                  </a:moveTo>
                  <a:lnTo>
                    <a:pt x="175" y="100"/>
                  </a:lnTo>
                  <a:lnTo>
                    <a:pt x="175" y="680"/>
                  </a:lnTo>
                  <a:lnTo>
                    <a:pt x="0" y="733"/>
                  </a:lnTo>
                  <a:lnTo>
                    <a:pt x="24" y="0"/>
                  </a:lnTo>
                </a:path>
              </a:pathLst>
            </a:cu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shade val="40000"/>
                    <a:invGamma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Freeform 137"/>
            <p:cNvSpPr>
              <a:spLocks/>
            </p:cNvSpPr>
            <p:nvPr/>
          </p:nvSpPr>
          <p:spPr bwMode="auto">
            <a:xfrm>
              <a:off x="587" y="2053"/>
              <a:ext cx="71" cy="65"/>
            </a:xfrm>
            <a:custGeom>
              <a:avLst/>
              <a:gdLst>
                <a:gd name="T0" fmla="*/ 0 w 610"/>
                <a:gd name="T1" fmla="*/ 122 h 612"/>
                <a:gd name="T2" fmla="*/ 0 w 610"/>
                <a:gd name="T3" fmla="*/ 570 h 612"/>
                <a:gd name="T4" fmla="*/ 584 w 610"/>
                <a:gd name="T5" fmla="*/ 611 h 612"/>
                <a:gd name="T6" fmla="*/ 609 w 610"/>
                <a:gd name="T7" fmla="*/ 0 h 612"/>
                <a:gd name="T8" fmla="*/ 0 w 610"/>
                <a:gd name="T9" fmla="*/ 122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0" h="612">
                  <a:moveTo>
                    <a:pt x="0" y="122"/>
                  </a:moveTo>
                  <a:lnTo>
                    <a:pt x="0" y="570"/>
                  </a:lnTo>
                  <a:lnTo>
                    <a:pt x="584" y="611"/>
                  </a:lnTo>
                  <a:lnTo>
                    <a:pt x="609" y="0"/>
                  </a:lnTo>
                  <a:lnTo>
                    <a:pt x="0" y="122"/>
                  </a:lnTo>
                </a:path>
              </a:pathLst>
            </a:cu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0000"/>
                    <a:invGamma/>
                  </a:scheme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Freeform 138"/>
            <p:cNvSpPr>
              <a:spLocks/>
            </p:cNvSpPr>
            <p:nvPr/>
          </p:nvSpPr>
          <p:spPr bwMode="auto">
            <a:xfrm>
              <a:off x="585" y="2053"/>
              <a:ext cx="73" cy="60"/>
            </a:xfrm>
            <a:custGeom>
              <a:avLst/>
              <a:gdLst>
                <a:gd name="T0" fmla="*/ 24 w 634"/>
                <a:gd name="T1" fmla="*/ 571 h 572"/>
                <a:gd name="T2" fmla="*/ 0 w 634"/>
                <a:gd name="T3" fmla="*/ 101 h 572"/>
                <a:gd name="T4" fmla="*/ 633 w 634"/>
                <a:gd name="T5" fmla="*/ 0 h 572"/>
                <a:gd name="T6" fmla="*/ 24 w 634"/>
                <a:gd name="T7" fmla="*/ 122 h 572"/>
                <a:gd name="T8" fmla="*/ 24 w 634"/>
                <a:gd name="T9" fmla="*/ 571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4" h="572">
                  <a:moveTo>
                    <a:pt x="24" y="571"/>
                  </a:moveTo>
                  <a:lnTo>
                    <a:pt x="0" y="101"/>
                  </a:lnTo>
                  <a:lnTo>
                    <a:pt x="633" y="0"/>
                  </a:lnTo>
                  <a:lnTo>
                    <a:pt x="24" y="122"/>
                  </a:lnTo>
                  <a:lnTo>
                    <a:pt x="24" y="571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rnd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Oval 139"/>
            <p:cNvSpPr>
              <a:spLocks noChangeArrowheads="1"/>
            </p:cNvSpPr>
            <p:nvPr/>
          </p:nvSpPr>
          <p:spPr bwMode="auto">
            <a:xfrm rot="21300000">
              <a:off x="648" y="2144"/>
              <a:ext cx="6" cy="2"/>
            </a:xfrm>
            <a:prstGeom prst="ellipse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0000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7" name="Oval 140"/>
            <p:cNvSpPr>
              <a:spLocks noChangeArrowheads="1"/>
            </p:cNvSpPr>
            <p:nvPr/>
          </p:nvSpPr>
          <p:spPr bwMode="auto">
            <a:xfrm rot="21300000">
              <a:off x="648" y="2149"/>
              <a:ext cx="6" cy="1"/>
            </a:xfrm>
            <a:prstGeom prst="ellipse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0000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78" name="Rectangle 141"/>
            <p:cNvSpPr>
              <a:spLocks noChangeArrowheads="1"/>
            </p:cNvSpPr>
            <p:nvPr/>
          </p:nvSpPr>
          <p:spPr bwMode="auto">
            <a:xfrm rot="780000">
              <a:off x="619" y="2142"/>
              <a:ext cx="28" cy="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pic>
        <p:nvPicPr>
          <p:cNvPr id="81" name="Picture 280" descr="C:\Documents and Settings\nmcferra\Application Data\Microsoft\Media Catalog\Downloaded Clips\cl64\j0252113.wm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1163" y="2844800"/>
            <a:ext cx="577850" cy="44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AutoShape 283"/>
          <p:cNvSpPr>
            <a:spLocks noChangeArrowheads="1"/>
          </p:cNvSpPr>
          <p:nvPr/>
        </p:nvSpPr>
        <p:spPr bwMode="auto">
          <a:xfrm rot="5400000">
            <a:off x="2132013" y="3319463"/>
            <a:ext cx="568325" cy="117475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66">
                  <a:gamma/>
                  <a:shade val="0"/>
                  <a:invGamma/>
                </a:srgbClr>
              </a:gs>
              <a:gs pos="100000">
                <a:srgbClr val="FFFF66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3" name="AutoShape 284"/>
          <p:cNvSpPr>
            <a:spLocks noChangeArrowheads="1"/>
          </p:cNvSpPr>
          <p:nvPr/>
        </p:nvSpPr>
        <p:spPr bwMode="auto">
          <a:xfrm rot="5400000">
            <a:off x="6923088" y="3317875"/>
            <a:ext cx="568325" cy="117475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66">
                  <a:gamma/>
                  <a:shade val="0"/>
                  <a:invGamma/>
                </a:srgbClr>
              </a:gs>
              <a:gs pos="100000">
                <a:srgbClr val="FFFF66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4" name="AutoShape 285"/>
          <p:cNvSpPr>
            <a:spLocks noChangeArrowheads="1"/>
          </p:cNvSpPr>
          <p:nvPr/>
        </p:nvSpPr>
        <p:spPr bwMode="auto">
          <a:xfrm rot="5400000">
            <a:off x="3716338" y="3319463"/>
            <a:ext cx="568325" cy="117475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66">
                  <a:gamma/>
                  <a:shade val="0"/>
                  <a:invGamma/>
                </a:srgbClr>
              </a:gs>
              <a:gs pos="100000">
                <a:srgbClr val="FFFF66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5" name="AutoShape 286"/>
          <p:cNvSpPr>
            <a:spLocks noChangeArrowheads="1"/>
          </p:cNvSpPr>
          <p:nvPr/>
        </p:nvSpPr>
        <p:spPr bwMode="auto">
          <a:xfrm rot="5400000">
            <a:off x="5332413" y="3319463"/>
            <a:ext cx="568325" cy="117475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FFFF66">
                  <a:gamma/>
                  <a:shade val="0"/>
                  <a:invGamma/>
                </a:srgbClr>
              </a:gs>
              <a:gs pos="100000">
                <a:srgbClr val="FFFF66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grpSp>
        <p:nvGrpSpPr>
          <p:cNvPr id="86" name="Group 287"/>
          <p:cNvGrpSpPr>
            <a:grpSpLocks/>
          </p:cNvGrpSpPr>
          <p:nvPr/>
        </p:nvGrpSpPr>
        <p:grpSpPr bwMode="auto">
          <a:xfrm>
            <a:off x="4810125" y="2781300"/>
            <a:ext cx="568325" cy="450850"/>
            <a:chOff x="4228" y="447"/>
            <a:chExt cx="654" cy="378"/>
          </a:xfrm>
        </p:grpSpPr>
        <p:pic>
          <p:nvPicPr>
            <p:cNvPr id="87" name="Picture 288" descr="Household: Wrench, Tool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9" y="466"/>
              <a:ext cx="572" cy="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88" name="Object 289"/>
            <p:cNvGraphicFramePr>
              <a:graphicFrameLocks noChangeAspect="1"/>
            </p:cNvGraphicFramePr>
            <p:nvPr/>
          </p:nvGraphicFramePr>
          <p:xfrm>
            <a:off x="4228" y="447"/>
            <a:ext cx="654" cy="3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5" name="Photo Editor Photo" r:id="rId6" imgW="1038370" imgH="600159" progId="MSPhotoEd.3">
                    <p:embed/>
                  </p:oleObj>
                </mc:Choice>
                <mc:Fallback>
                  <p:oleObj name="Photo Editor Photo" r:id="rId6" imgW="1038370" imgH="600159" progId="MSPhotoEd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8" y="447"/>
                          <a:ext cx="654" cy="3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blurRad="63500" dist="38099" dir="2700000" algn="ctr" rotWithShape="0">
                                  <a:schemeClr val="bg2">
                                    <a:alpha val="74998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53178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Mudanças/Dúvidas Identificadas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t-BR" dirty="0" smtClean="0"/>
              <a:t>Alguns pontos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89745" y="1203483"/>
            <a:ext cx="469192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dirty="0" err="1" smtClean="0"/>
              <a:t>eRat</a:t>
            </a:r>
            <a:endParaRPr lang="pt-BR" dirty="0" smtClean="0"/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Atual</a:t>
            </a:r>
          </a:p>
          <a:p>
            <a:pPr marL="1200150" lvl="2" indent="-285750">
              <a:buFont typeface="Arial" charset="0"/>
              <a:buChar char="•"/>
            </a:pPr>
            <a:r>
              <a:rPr lang="pt-BR" dirty="0" smtClean="0"/>
              <a:t>Receptor de uma única forma</a:t>
            </a:r>
          </a:p>
          <a:p>
            <a:pPr marL="1200150" lvl="2" indent="-285750">
              <a:buFont typeface="Arial" charset="0"/>
              <a:buChar char="•"/>
            </a:pPr>
            <a:r>
              <a:rPr lang="pt-BR" dirty="0" smtClean="0"/>
              <a:t>Possui Lógica</a:t>
            </a:r>
          </a:p>
          <a:p>
            <a:pPr marL="1657350" lvl="3" indent="-285750">
              <a:buFont typeface="Arial" charset="0"/>
              <a:buChar char="•"/>
            </a:pPr>
            <a:r>
              <a:rPr lang="pt-BR" dirty="0" smtClean="0"/>
              <a:t>Entre sistemas (Valida, Encaminha, Transforma)</a:t>
            </a:r>
          </a:p>
          <a:p>
            <a:pPr marL="1200150" lvl="2" indent="-285750">
              <a:buFont typeface="Arial" charset="0"/>
              <a:buChar char="•"/>
            </a:pPr>
            <a:r>
              <a:rPr lang="pt-BR" dirty="0" smtClean="0"/>
              <a:t>Entregador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418295" y="1205983"/>
            <a:ext cx="46919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dirty="0" err="1" smtClean="0"/>
              <a:t>eRat</a:t>
            </a:r>
            <a:endParaRPr lang="pt-BR" dirty="0" smtClean="0"/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Proposto</a:t>
            </a:r>
          </a:p>
          <a:p>
            <a:pPr marL="1200150" lvl="2" indent="-285750">
              <a:buFont typeface="Arial" charset="0"/>
              <a:buChar char="•"/>
            </a:pPr>
            <a:r>
              <a:rPr lang="pt-BR" dirty="0" smtClean="0"/>
              <a:t>Receptor de múltiplos</a:t>
            </a:r>
          </a:p>
          <a:p>
            <a:pPr marL="1200150" lvl="2" indent="-285750">
              <a:buFont typeface="Arial" charset="0"/>
              <a:buChar char="•"/>
            </a:pPr>
            <a:r>
              <a:rPr lang="pt-BR" dirty="0" smtClean="0"/>
              <a:t>Transformar em </a:t>
            </a:r>
            <a:r>
              <a:rPr lang="pt-BR" dirty="0" err="1" smtClean="0"/>
              <a:t>representacao</a:t>
            </a:r>
            <a:r>
              <a:rPr lang="pt-BR" dirty="0" smtClean="0"/>
              <a:t> alternativa</a:t>
            </a:r>
          </a:p>
          <a:p>
            <a:pPr marL="1200150" lvl="2" indent="-285750">
              <a:buFont typeface="Arial" charset="0"/>
              <a:buChar char="•"/>
            </a:pPr>
            <a:r>
              <a:rPr lang="pt-BR" dirty="0" smtClean="0"/>
              <a:t>Entregador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2245" y="3709344"/>
            <a:ext cx="4691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dirty="0" smtClean="0"/>
              <a:t>Integração com OTL</a:t>
            </a:r>
          </a:p>
          <a:p>
            <a:pPr marL="1200150" lvl="2" indent="-285750">
              <a:buFont typeface="Arial" charset="0"/>
              <a:buChar char="•"/>
            </a:pPr>
            <a:r>
              <a:rPr lang="pt-BR" dirty="0" err="1" smtClean="0"/>
              <a:t>Payroll</a:t>
            </a:r>
            <a:endParaRPr lang="pt-BR" dirty="0" smtClean="0"/>
          </a:p>
          <a:p>
            <a:pPr marL="1657350" lvl="3" indent="-285750">
              <a:buFont typeface="Arial" charset="0"/>
              <a:buChar char="•"/>
            </a:pPr>
            <a:r>
              <a:rPr lang="pt-BR" dirty="0" smtClean="0"/>
              <a:t>Time</a:t>
            </a:r>
          </a:p>
          <a:p>
            <a:pPr marL="1657350" lvl="3" indent="-285750">
              <a:buFont typeface="Arial" charset="0"/>
              <a:buChar char="•"/>
            </a:pPr>
            <a:r>
              <a:rPr lang="pt-BR" dirty="0" err="1" smtClean="0"/>
              <a:t>Expenses</a:t>
            </a:r>
            <a:endParaRPr lang="pt-BR" dirty="0" smtClean="0"/>
          </a:p>
        </p:txBody>
      </p:sp>
      <p:sp>
        <p:nvSpPr>
          <p:cNvPr id="7" name="CaixaDeTexto 6"/>
          <p:cNvSpPr txBox="1"/>
          <p:nvPr/>
        </p:nvSpPr>
        <p:spPr>
          <a:xfrm>
            <a:off x="6405809" y="3711844"/>
            <a:ext cx="4691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dirty="0" smtClean="0"/>
              <a:t>Integração People e </a:t>
            </a:r>
            <a:r>
              <a:rPr lang="pt-BR" dirty="0" err="1" smtClean="0"/>
              <a:t>Payables</a:t>
            </a:r>
            <a:endParaRPr lang="pt-BR" dirty="0" smtClean="0"/>
          </a:p>
          <a:p>
            <a:pPr marL="1200150" lvl="2" indent="-285750">
              <a:buFont typeface="Arial" charset="0"/>
              <a:buChar char="•"/>
            </a:pPr>
            <a:r>
              <a:rPr lang="pt-BR" dirty="0" smtClean="0"/>
              <a:t>Time</a:t>
            </a:r>
          </a:p>
          <a:p>
            <a:pPr marL="1200150" lvl="2" indent="-285750">
              <a:buFont typeface="Arial" charset="0"/>
              <a:buChar char="•"/>
            </a:pPr>
            <a:r>
              <a:rPr lang="pt-BR" dirty="0" err="1" smtClean="0"/>
              <a:t>Expenses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676651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Mudanças/Dúvidas Identificadas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pt-BR" dirty="0" smtClean="0"/>
              <a:t>Alguns pontos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389745" y="1203483"/>
            <a:ext cx="4691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dirty="0" smtClean="0"/>
              <a:t>OKS</a:t>
            </a:r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Digitação de Fatura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418295" y="1205983"/>
            <a:ext cx="46919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dirty="0" smtClean="0"/>
              <a:t>OKS</a:t>
            </a:r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Regras de SLA</a:t>
            </a:r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Regras/Calculo de Faturamento</a:t>
            </a:r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Reconciliação</a:t>
            </a:r>
          </a:p>
          <a:p>
            <a:pPr marL="1200150" lvl="2" indent="-285750">
              <a:buFont typeface="Arial" charset="0"/>
              <a:buChar char="•"/>
            </a:pPr>
            <a:r>
              <a:rPr lang="pt-BR" dirty="0" smtClean="0"/>
              <a:t>OKS com o OKC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92245" y="3709344"/>
            <a:ext cx="46919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dirty="0" smtClean="0"/>
              <a:t>Transporte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TOA</a:t>
            </a:r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GAC</a:t>
            </a:r>
          </a:p>
          <a:p>
            <a:pPr marL="1200150" lvl="2" indent="-285750">
              <a:buFont typeface="Arial" charset="0"/>
              <a:buChar char="•"/>
            </a:pPr>
            <a:r>
              <a:rPr lang="pt-BR" dirty="0" smtClean="0"/>
              <a:t>Integração não nativa</a:t>
            </a:r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Serviço de Integração ORACLE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405809" y="3711844"/>
            <a:ext cx="46919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pt-BR" dirty="0" smtClean="0"/>
              <a:t>Transporte</a:t>
            </a:r>
          </a:p>
          <a:p>
            <a:pPr marL="285750" indent="-285750">
              <a:buFont typeface="Arial" charset="0"/>
              <a:buChar char="•"/>
            </a:pPr>
            <a:r>
              <a:rPr lang="pt-BR" dirty="0" smtClean="0"/>
              <a:t>Mobile Field Service</a:t>
            </a:r>
          </a:p>
          <a:p>
            <a:pPr marL="742950" lvl="1" indent="-285750">
              <a:buFont typeface="Arial" charset="0"/>
              <a:buChar char="•"/>
            </a:pPr>
            <a:r>
              <a:rPr lang="pt-BR" dirty="0" smtClean="0"/>
              <a:t>Licenciamento</a:t>
            </a:r>
          </a:p>
        </p:txBody>
      </p:sp>
    </p:spTree>
    <p:extLst>
      <p:ext uri="{BB962C8B-B14F-4D97-AF65-F5344CB8AC3E}">
        <p14:creationId xmlns:p14="http://schemas.microsoft.com/office/powerpoint/2010/main" val="606581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sz="6000" dirty="0"/>
              <a:t>Obrigado</a:t>
            </a:r>
          </a:p>
        </p:txBody>
      </p:sp>
    </p:spTree>
    <p:extLst>
      <p:ext uri="{BB962C8B-B14F-4D97-AF65-F5344CB8AC3E}">
        <p14:creationId xmlns:p14="http://schemas.microsoft.com/office/powerpoint/2010/main" val="886855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iva">
  <a:themeElements>
    <a:clrScheme name="Personalizada 2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002060"/>
      </a:accent1>
      <a:accent2>
        <a:srgbClr val="002060"/>
      </a:accent2>
      <a:accent3>
        <a:srgbClr val="1C6294"/>
      </a:accent3>
      <a:accent4>
        <a:srgbClr val="1C6294"/>
      </a:accent4>
      <a:accent5>
        <a:srgbClr val="2683C6"/>
      </a:accent5>
      <a:accent6>
        <a:srgbClr val="2683C6"/>
      </a:accent6>
      <a:hlink>
        <a:srgbClr val="1CADE4"/>
      </a:hlink>
      <a:folHlink>
        <a:srgbClr val="FFC00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659</TotalTime>
  <Words>364</Words>
  <Application>Microsoft Office PowerPoint</Application>
  <PresentationFormat>Widescreen</PresentationFormat>
  <Paragraphs>190</Paragraphs>
  <Slides>11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Mangal</vt:lpstr>
      <vt:lpstr>Wingdings</vt:lpstr>
      <vt:lpstr>Retrospectiva</vt:lpstr>
      <vt:lpstr>Photo Editor Photo</vt:lpstr>
      <vt:lpstr>Resumo Visão Geral Onda 3</vt:lpstr>
      <vt:lpstr>Visão Geral</vt:lpstr>
      <vt:lpstr>Reuniões</vt:lpstr>
      <vt:lpstr>Apresentação do PowerPoint</vt:lpstr>
      <vt:lpstr>BBTS Integrator</vt:lpstr>
      <vt:lpstr>Apresentação do PowerPoint</vt:lpstr>
      <vt:lpstr>DEPÓSITO DE REPARO</vt:lpstr>
      <vt:lpstr>REPARO – LOANER, REPAIR AND RETURN</vt:lpstr>
      <vt:lpstr>Mudanças/Dúvidas Identificadas</vt:lpstr>
      <vt:lpstr>Mudanças/Dúvidas Identificadas</vt:lpstr>
      <vt:lpstr>Obrigado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Pollyanna Rissatto</dc:creator>
  <cp:lastModifiedBy>Horácio Vasconcelos</cp:lastModifiedBy>
  <cp:revision>51</cp:revision>
  <dcterms:created xsi:type="dcterms:W3CDTF">2016-11-22T18:38:19Z</dcterms:created>
  <dcterms:modified xsi:type="dcterms:W3CDTF">2017-08-28T13:15:33Z</dcterms:modified>
</cp:coreProperties>
</file>