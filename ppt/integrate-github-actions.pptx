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emf" ContentType="image/x-e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5D5"/>
    <a:srgbClr val="F1F1F1"/>
    <a:srgbClr val="EDEDED"/>
    <a:srgbClr val="D0D0D0"/>
    <a:srgbClr val="E4E5E5"/>
    <a:srgbClr val="DCDDDD"/>
    <a:srgbClr val="F8F8F8"/>
    <a:srgbClr val="FBFBFB"/>
    <a:srgbClr val="F3F3F3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7" d="100"/>
          <a:sy n="87" d="100"/>
        </p:scale>
        <p:origin x="6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We’ll</a:t>
            </a:r>
            <a:r>
              <a:rPr/>
              <a:t> </a:t>
            </a:r>
            <a:r>
              <a:rPr/>
              <a:t>show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implement</a:t>
            </a:r>
            <a:r>
              <a:rPr/>
              <a:t> </a:t>
            </a:r>
            <a:r>
              <a:rPr/>
              <a:t>continuous</a:t>
            </a:r>
            <a:r>
              <a:rPr/>
              <a:t> </a:t>
            </a:r>
            <a:r>
              <a:rPr/>
              <a:t>integration</a:t>
            </a:r>
            <a:r>
              <a:rPr/>
              <a:t> </a:t>
            </a:r>
            <a:r>
              <a:rPr/>
              <a:t>(CI)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maintained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repositories.</a:t>
            </a:r>
            <a:r>
              <a:rPr/>
              <a:t> </a:t>
            </a:r>
            <a:r>
              <a:rPr/>
              <a:t>You’ll</a:t>
            </a:r>
            <a:r>
              <a:rPr/>
              <a:t> </a:t>
            </a:r>
            <a:r>
              <a:rPr/>
              <a:t>learn</a:t>
            </a:r>
            <a:r>
              <a:rPr/>
              <a:t> </a:t>
            </a:r>
            <a:r>
              <a:rPr/>
              <a:t>to:</a:t>
            </a:r>
          </a:p>
          <a:p>
            <a:pPr lvl="0" marL="0" indent="0">
              <a:buNone/>
            </a:pPr>
          </a:p>
          <a:p>
            <a:pPr lvl="1"/>
            <a:r>
              <a:rPr/>
              <a:t>Build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  <a:p>
            <a:pPr lvl="0" marL="0" indent="0">
              <a:buNone/>
            </a:pPr>
          </a:p>
          <a:p>
            <a:pPr lvl="1"/>
            <a:r>
              <a:rPr/>
              <a:t>Create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assets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deployment</a:t>
            </a:r>
          </a:p>
          <a:p>
            <a:pPr lvl="0" marL="0" indent="0">
              <a:buNone/>
            </a:pPr>
          </a:p>
          <a:p>
            <a:pPr lvl="1"/>
            <a:r>
              <a:rPr/>
              <a:t>Distribute</a:t>
            </a:r>
            <a:r>
              <a:rPr/>
              <a:t> </a:t>
            </a:r>
            <a:r>
              <a:rPr/>
              <a:t>builds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packages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single</a:t>
            </a:r>
            <a:r>
              <a:rPr/>
              <a:t> </a:t>
            </a:r>
            <a:r>
              <a:rPr/>
              <a:t>README</a:t>
            </a:r>
            <a:r>
              <a:rPr/>
              <a:t> </a:t>
            </a:r>
            <a:r>
              <a:rPr/>
              <a:t>file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Use</a:t>
            </a:r>
            <a:r>
              <a:rPr/>
              <a:t> </a:t>
            </a:r>
            <a:r>
              <a:rPr/>
              <a:t>Visual</a:t>
            </a:r>
            <a:r>
              <a:rPr/>
              <a:t> </a:t>
            </a:r>
            <a:r>
              <a:rPr/>
              <a:t>Studio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simple</a:t>
            </a:r>
            <a:r>
              <a:rPr/>
              <a:t> </a:t>
            </a:r>
            <a:r>
              <a:rPr/>
              <a:t>node</a:t>
            </a:r>
            <a:r>
              <a:rPr/>
              <a:t> </a:t>
            </a:r>
            <a:r>
              <a:rPr/>
              <a:t>project: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node_modules/
package-lock.json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{</a:t>
            </a:r>
            <a:br/>
            <a:r>
              <a:rPr>
                <a:latin typeface="Cascadia Code"/>
              </a:rPr>
              <a:t>  </a:t>
            </a:r>
            <a:r>
              <a:rPr>
                <a:solidFill>
                  <a:srgbClr val="902000"/>
                </a:solidFill>
                <a:latin typeface="Cascadia Code"/>
              </a:rPr>
              <a:t>"name"</a:t>
            </a:r>
            <a:r>
              <a:rPr>
                <a:solidFill>
                  <a:srgbClr val="7A0000"/>
                </a:solidFill>
                <a:latin typeface="Cascadia Code"/>
              </a:rPr>
              <a:t>:</a:t>
            </a:r>
            <a:r>
              <a:rPr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"simple"</a:t>
            </a:r>
            <a:r>
              <a:rPr>
                <a:solidFill>
                  <a:srgbClr val="7A0000"/>
                </a:solidFill>
                <a:latin typeface="Cascadia Code"/>
              </a:rPr>
              <a:t>,</a:t>
            </a:r>
            <a:br/>
            <a:r>
              <a:rPr>
                <a:latin typeface="Cascadia Code"/>
              </a:rPr>
              <a:t>  </a:t>
            </a:r>
            <a:r>
              <a:rPr>
                <a:solidFill>
                  <a:srgbClr val="902000"/>
                </a:solidFill>
                <a:latin typeface="Cascadia Code"/>
              </a:rPr>
              <a:t>"main"</a:t>
            </a:r>
            <a:r>
              <a:rPr>
                <a:solidFill>
                  <a:srgbClr val="7A0000"/>
                </a:solidFill>
                <a:latin typeface="Cascadia Code"/>
              </a:rPr>
              <a:t>:</a:t>
            </a:r>
            <a:r>
              <a:rPr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"app.js"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}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npm</a:t>
            </a:r>
            <a:r>
              <a:rPr>
                <a:latin typeface="Cascadia Code"/>
              </a:rPr>
              <a:t> install --save moment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console</a:t>
            </a:r>
            <a:r>
              <a:rPr>
                <a:solidFill>
                  <a:srgbClr val="666666"/>
                </a:solidFill>
                <a:latin typeface="Cascadia Code"/>
              </a:rPr>
              <a:t>.</a:t>
            </a:r>
            <a:r>
              <a:rPr>
                <a:solidFill>
                  <a:srgbClr val="7A0000"/>
                </a:solidFill>
                <a:latin typeface="Cascadia Code"/>
              </a:rPr>
              <a:t>log</a:t>
            </a:r>
            <a:r>
              <a:rPr>
                <a:latin typeface="Cascadia Code"/>
              </a:rPr>
              <a:t>(</a:t>
            </a:r>
            <a:r>
              <a:rPr>
                <a:solidFill>
                  <a:srgbClr val="4070A0"/>
                </a:solidFill>
                <a:latin typeface="Cascadia Code"/>
              </a:rPr>
              <a:t>'Hello, world!'</a:t>
            </a:r>
            <a:r>
              <a:rPr>
                <a:latin typeface="Cascadia Code"/>
              </a:rPr>
              <a:t>)</a:t>
            </a:r>
            <a:r>
              <a:rPr>
                <a:solidFill>
                  <a:srgbClr val="666666"/>
                </a:solidFill>
                <a:latin typeface="Cascadia Code"/>
              </a:rPr>
              <a:t>;</a:t>
            </a:r>
            <a:br/>
            <a:br/>
            <a:r>
              <a:rPr b="1">
                <a:solidFill>
                  <a:srgbClr val="000000"/>
                </a:solidFill>
                <a:latin typeface="Cascadia Code"/>
              </a:rPr>
              <a:t>var</a:t>
            </a:r>
            <a:r>
              <a:rPr>
                <a:latin typeface="Cascadia Code"/>
              </a:rPr>
              <a:t> moment </a:t>
            </a:r>
            <a:r>
              <a:rPr>
                <a:solidFill>
                  <a:srgbClr val="666666"/>
                </a:solidFill>
                <a:latin typeface="Cascadia Code"/>
              </a:rPr>
              <a:t>=</a:t>
            </a:r>
            <a:r>
              <a:rPr>
                <a:latin typeface="Cascadia Code"/>
              </a:rPr>
              <a:t> </a:t>
            </a:r>
            <a:r>
              <a:rPr>
                <a:solidFill>
                  <a:srgbClr val="BC7A00"/>
                </a:solidFill>
                <a:latin typeface="Cascadia Code"/>
              </a:rPr>
              <a:t>require</a:t>
            </a:r>
            <a:r>
              <a:rPr>
                <a:latin typeface="Cascadia Code"/>
              </a:rPr>
              <a:t>(</a:t>
            </a:r>
            <a:r>
              <a:rPr>
                <a:solidFill>
                  <a:srgbClr val="4070A0"/>
                </a:solidFill>
                <a:latin typeface="Cascadia Code"/>
              </a:rPr>
              <a:t>'moment'</a:t>
            </a:r>
            <a:r>
              <a:rPr>
                <a:latin typeface="Cascadia Code"/>
              </a:rPr>
              <a:t>)</a:t>
            </a:r>
            <a:r>
              <a:rPr>
                <a:solidFill>
                  <a:srgbClr val="666666"/>
                </a:solidFill>
                <a:latin typeface="Cascadia Code"/>
              </a:rPr>
              <a:t>;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var</a:t>
            </a:r>
            <a:r>
              <a:rPr>
                <a:latin typeface="Cascadia Code"/>
              </a:rPr>
              <a:t> date </a:t>
            </a:r>
            <a:r>
              <a:rPr>
                <a:solidFill>
                  <a:srgbClr val="666666"/>
                </a:solidFill>
                <a:latin typeface="Cascadia Code"/>
              </a:rPr>
              <a:t>=</a:t>
            </a:r>
            <a:r>
              <a:rPr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moment</a:t>
            </a:r>
            <a:r>
              <a:rPr>
                <a:latin typeface="Cascadia Code"/>
              </a:rPr>
              <a:t>()</a:t>
            </a:r>
            <a:r>
              <a:rPr>
                <a:solidFill>
                  <a:srgbClr val="666666"/>
                </a:solidFill>
                <a:latin typeface="Cascadia Code"/>
              </a:rPr>
              <a:t>.</a:t>
            </a:r>
            <a:r>
              <a:rPr>
                <a:solidFill>
                  <a:srgbClr val="7A0000"/>
                </a:solidFill>
                <a:latin typeface="Cascadia Code"/>
              </a:rPr>
              <a:t>format</a:t>
            </a:r>
            <a:r>
              <a:rPr>
                <a:latin typeface="Cascadia Code"/>
              </a:rPr>
              <a:t>(</a:t>
            </a:r>
            <a:r>
              <a:rPr>
                <a:solidFill>
                  <a:srgbClr val="4070A0"/>
                </a:solidFill>
                <a:latin typeface="Cascadia Code"/>
              </a:rPr>
              <a:t>'LL'</a:t>
            </a:r>
            <a:r>
              <a:rPr>
                <a:latin typeface="Cascadia Code"/>
              </a:rPr>
              <a:t>)</a:t>
            </a:r>
            <a:r>
              <a:rPr>
                <a:solidFill>
                  <a:srgbClr val="666666"/>
                </a:solidFill>
                <a:latin typeface="Cascadia Code"/>
              </a:rPr>
              <a:t>;</a:t>
            </a:r>
            <a:br/>
            <a:r>
              <a:rPr>
                <a:latin typeface="Cascadia Code"/>
              </a:rPr>
              <a:t>console</a:t>
            </a:r>
            <a:r>
              <a:rPr>
                <a:solidFill>
                  <a:srgbClr val="666666"/>
                </a:solidFill>
                <a:latin typeface="Cascadia Code"/>
              </a:rPr>
              <a:t>.</a:t>
            </a:r>
            <a:r>
              <a:rPr>
                <a:solidFill>
                  <a:srgbClr val="7A0000"/>
                </a:solidFill>
                <a:latin typeface="Cascadia Code"/>
              </a:rPr>
              <a:t>log</a:t>
            </a:r>
            <a:r>
              <a:rPr>
                <a:latin typeface="Cascadia Code"/>
              </a:rPr>
              <a:t>(date)</a:t>
            </a:r>
            <a:r>
              <a:rPr>
                <a:solidFill>
                  <a:srgbClr val="666666"/>
                </a:solidFill>
                <a:latin typeface="Cascadia Code"/>
              </a:rPr>
              <a:t>;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can</a:t>
            </a:r>
            <a:r>
              <a:rPr sz="2000"/>
              <a:t> </a:t>
            </a:r>
            <a:r>
              <a:rPr sz="2000"/>
              <a:t>use</a:t>
            </a:r>
            <a:r>
              <a:rPr sz="2000"/>
              <a:t> </a:t>
            </a:r>
            <a:r>
              <a:rPr sz="2000"/>
              <a:t>GitHub</a:t>
            </a:r>
            <a:r>
              <a:rPr sz="2000"/>
              <a:t> </a:t>
            </a:r>
            <a:r>
              <a:rPr sz="2000"/>
              <a:t>Codespaces</a:t>
            </a:r>
            <a:r>
              <a:rPr sz="2000"/>
              <a:t> </a:t>
            </a:r>
            <a:r>
              <a:rPr sz="2000"/>
              <a:t>to</a:t>
            </a:r>
            <a:r>
              <a:rPr sz="2000"/>
              <a:t> </a:t>
            </a:r>
            <a:r>
              <a:rPr sz="2000"/>
              <a:t>perform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task</a:t>
            </a:r>
            <a:r>
              <a:rPr sz="2000"/>
              <a:t> </a:t>
            </a:r>
            <a:r>
              <a:rPr sz="2000"/>
              <a:t>quickly.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 b="1"/>
              <a:t>.github/workflows/build.yml</a:t>
            </a:r>
            <a:r>
              <a:rPr/>
              <a:t> </a:t>
            </a:r>
            <a:r>
              <a:rPr/>
              <a:t>file.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name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file</a:t>
            </a:r>
            <a:r>
              <a:rPr sz="2000"/>
              <a:t> </a:t>
            </a:r>
            <a:r>
              <a:rPr sz="2000"/>
              <a:t>is</a:t>
            </a:r>
            <a:r>
              <a:rPr sz="2000"/>
              <a:t> </a:t>
            </a:r>
            <a:r>
              <a:rPr sz="2000"/>
              <a:t>arbitrary.</a:t>
            </a:r>
            <a:r>
              <a:rPr sz="2000"/>
              <a:t> </a:t>
            </a:r>
            <a:r>
              <a:rPr sz="2000"/>
              <a:t>For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remainder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demo,</a:t>
            </a:r>
            <a:r>
              <a:rPr sz="2000"/>
              <a:t> </a:t>
            </a:r>
            <a:r>
              <a:rPr sz="2000"/>
              <a:t>we</a:t>
            </a:r>
            <a:r>
              <a:rPr sz="2000"/>
              <a:t> </a:t>
            </a:r>
            <a:r>
              <a:rPr sz="2000"/>
              <a:t>will</a:t>
            </a:r>
            <a:r>
              <a:rPr sz="2000"/>
              <a:t> </a:t>
            </a:r>
            <a:r>
              <a:rPr sz="2000"/>
              <a:t>assume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named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file</a:t>
            </a:r>
            <a:r>
              <a:rPr sz="2000"/>
              <a:t> </a:t>
            </a:r>
            <a:r>
              <a:rPr sz="2000" b="1"/>
              <a:t>build.yml</a:t>
            </a:r>
            <a:r>
              <a:rPr sz="2000"/>
              <a:t>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 b="1"/>
              <a:t>build.yml</a:t>
            </a:r>
            <a:r>
              <a:rPr/>
              <a:t> </a:t>
            </a:r>
            <a:r>
              <a:rPr/>
              <a:t>file,</a:t>
            </a:r>
            <a:r>
              <a:rPr/>
              <a:t> </a:t>
            </a:r>
            <a:r>
              <a:rPr/>
              <a:t>add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Continuous Integration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build-node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Node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node:14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 Node 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 NPM 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actions/checkout@v2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Checkout Code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install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Install NPM Packages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node app.js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Run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msusdev-examples/contoso-spaces-next-web-app</a:t>
            </a:r>
            <a:r>
              <a:rPr/>
              <a:t> </a:t>
            </a:r>
            <a:r>
              <a:rPr/>
              <a:t>template.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Test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web</a:t>
            </a:r>
            <a:r>
              <a:rPr/>
              <a:t> </a:t>
            </a:r>
            <a:r>
              <a:rPr/>
              <a:t>app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commands: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npm</a:t>
            </a:r>
            <a:r>
              <a:rPr>
                <a:latin typeface="Cascadia Code"/>
              </a:rPr>
              <a:t> install</a:t>
            </a:r>
            <a:br/>
            <a:r>
              <a:rPr>
                <a:latin typeface="Cascadia Code"/>
              </a:rPr>
              <a:t>npm</a:t>
            </a:r>
            <a:r>
              <a:rPr>
                <a:latin typeface="Cascadia Code"/>
              </a:rPr>
              <a:t> run dev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can</a:t>
            </a:r>
            <a:r>
              <a:rPr sz="2000"/>
              <a:t> </a:t>
            </a:r>
            <a:r>
              <a:rPr sz="2000"/>
              <a:t>use</a:t>
            </a:r>
            <a:r>
              <a:rPr sz="2000"/>
              <a:t> </a:t>
            </a:r>
            <a:r>
              <a:rPr sz="2000"/>
              <a:t>GitHub</a:t>
            </a:r>
            <a:r>
              <a:rPr sz="2000"/>
              <a:t> </a:t>
            </a:r>
            <a:r>
              <a:rPr sz="2000"/>
              <a:t>Codespaces</a:t>
            </a:r>
            <a:r>
              <a:rPr sz="2000"/>
              <a:t> </a:t>
            </a:r>
            <a:r>
              <a:rPr sz="2000"/>
              <a:t>to</a:t>
            </a:r>
            <a:r>
              <a:rPr sz="2000"/>
              <a:t> </a:t>
            </a:r>
            <a:r>
              <a:rPr sz="2000"/>
              <a:t>perform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task</a:t>
            </a:r>
            <a:r>
              <a:rPr sz="2000"/>
              <a:t> </a:t>
            </a:r>
            <a:r>
              <a:rPr sz="2000"/>
              <a:t>quickly.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Terminate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running</a:t>
            </a:r>
            <a:r>
              <a:rPr/>
              <a:t> </a:t>
            </a:r>
            <a:r>
              <a:rPr>
                <a:latin typeface="Cascadia Code"/>
              </a:rPr>
              <a:t>dev</a:t>
            </a:r>
            <a:r>
              <a:rPr/>
              <a:t> </a:t>
            </a:r>
            <a:r>
              <a:rPr/>
              <a:t>command.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latin typeface="Cascadia Code"/>
              </a:rPr>
              <a:t>scripts.build</a:t>
            </a:r>
            <a:r>
              <a:rPr/>
              <a:t> </a:t>
            </a:r>
            <a:r>
              <a:rPr/>
              <a:t>property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 b="1"/>
              <a:t>package.json</a:t>
            </a:r>
            <a:r>
              <a:rPr/>
              <a:t> </a:t>
            </a:r>
            <a:r>
              <a:rPr/>
              <a:t>file.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 b="1"/>
              <a:t>.github/workflows/integration.yml</a:t>
            </a:r>
            <a:r>
              <a:rPr/>
              <a:t> </a:t>
            </a:r>
            <a:r>
              <a:rPr/>
              <a:t>file.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name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file</a:t>
            </a:r>
            <a:r>
              <a:rPr sz="2000"/>
              <a:t> </a:t>
            </a:r>
            <a:r>
              <a:rPr sz="2000"/>
              <a:t>is</a:t>
            </a:r>
            <a:r>
              <a:rPr sz="2000"/>
              <a:t> </a:t>
            </a:r>
            <a:r>
              <a:rPr sz="2000"/>
              <a:t>arbitrary.</a:t>
            </a:r>
            <a:r>
              <a:rPr sz="2000"/>
              <a:t> </a:t>
            </a:r>
            <a:r>
              <a:rPr sz="2000"/>
              <a:t>For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remainder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demo,</a:t>
            </a:r>
            <a:r>
              <a:rPr sz="2000"/>
              <a:t> </a:t>
            </a:r>
            <a:r>
              <a:rPr sz="2000"/>
              <a:t>we</a:t>
            </a:r>
            <a:r>
              <a:rPr sz="2000"/>
              <a:t> </a:t>
            </a:r>
            <a:r>
              <a:rPr sz="2000"/>
              <a:t>will</a:t>
            </a:r>
            <a:r>
              <a:rPr sz="2000"/>
              <a:t> </a:t>
            </a:r>
            <a:r>
              <a:rPr sz="2000"/>
              <a:t>assume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named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file</a:t>
            </a:r>
            <a:r>
              <a:rPr sz="2000"/>
              <a:t> </a:t>
            </a:r>
            <a:r>
              <a:rPr sz="2000" b="1"/>
              <a:t>integration.yml</a:t>
            </a:r>
            <a:r>
              <a:rPr sz="2000"/>
              <a:t>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 b="1"/>
              <a:t>integration.yml</a:t>
            </a:r>
            <a:r>
              <a:rPr/>
              <a:t> </a:t>
            </a:r>
            <a:r>
              <a:rPr/>
              <a:t>file,</a:t>
            </a:r>
            <a:r>
              <a:rPr/>
              <a:t> </a:t>
            </a: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Next.js web application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push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build-project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Project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runs-on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Checkout code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actions/checkout@v2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Install NPM dependencies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install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project assets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run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npm run build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Upload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- name: Upload static site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uses: actions/upload-artifact@v2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with: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name: static-site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path: .next/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release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release-project: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name: Release Project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runs-on: ubuntu-latest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needs: build-project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Download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release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steps: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- name: Download site content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uses: actions/download-artifact@v2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with: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name: static-site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View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contents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- name: View content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run: ls -R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Compress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folder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Archive site content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thedoctor0/zip-release@master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filename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site.zip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release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Create GitHub release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actions/create-release@v1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env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GITHUB_TOKEN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secrets.GITHUB_TOKEN }}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tag_name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github.run_number }}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release_name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Release ${{ github.run_number }}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Upload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final</a:t>
            </a:r>
            <a:r>
              <a:rPr/>
              <a:t> </a:t>
            </a:r>
            <a:r>
              <a:rPr/>
              <a:t>asset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release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Create GitHub release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id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create-new-release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actions/create-release@v1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env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GITHUB_TOKEN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secrets.GITHUB_TOKEN }}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tag_name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github.run_number }}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release_name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Release ${{ github.run_number }}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Upload release asset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uses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actions/upload-release-asset@v1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env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GITHUB_TOKEN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secrets.GITHUB_TOKEN }}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with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upload_url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${{ steps.create-new-release.outputs.upload_url }}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asset_path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./site.zip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asset_name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site-v${{ github.run_number }}.zip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asset_content_type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application/zip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Background">
            <a:extLst>
              <a:ext uri="{FF2B5EF4-FFF2-40B4-BE49-F238E27FC236}">
                <a16:creationId xmlns:a16="http://schemas.microsoft.com/office/drawing/2014/main" id="{8C8262D6-A8A0-4E0D-A458-02086C99A36D}"/>
              </a:ext>
            </a:extLst>
          </p:cNvPr>
          <p:cNvGrpSpPr/>
          <p:nvPr userDrawn="1"/>
        </p:nvGrpSpPr>
        <p:grpSpPr>
          <a:xfrm>
            <a:off x="457200" y="0"/>
            <a:ext cx="11734801" cy="6013450"/>
            <a:chOff x="457200" y="0"/>
            <a:chExt cx="11734801" cy="6013450"/>
          </a:xfrm>
        </p:grpSpPr>
        <p:grpSp>
          <p:nvGrpSpPr>
            <p:cNvPr id="4" name="Microsoft Logo">
              <a:extLst>
                <a:ext uri="{FF2B5EF4-FFF2-40B4-BE49-F238E27FC236}">
                  <a16:creationId xmlns:a16="http://schemas.microsoft.com/office/drawing/2014/main" id="{7A2E9D9F-6007-4D09-8838-5F0698AEF4A3}"/>
                </a:ext>
              </a:extLst>
            </p:cNvPr>
            <p:cNvGrpSpPr/>
            <p:nvPr/>
          </p:nvGrpSpPr>
          <p:grpSpPr>
            <a:xfrm>
              <a:off x="457200" y="463327"/>
              <a:ext cx="365760" cy="365760"/>
              <a:chOff x="457200" y="463327"/>
              <a:chExt cx="365760" cy="365760"/>
            </a:xfrm>
          </p:grpSpPr>
          <p:sp>
            <p:nvSpPr>
              <p:cNvPr id="5" name="Red">
                <a:extLst>
                  <a:ext uri="{FF2B5EF4-FFF2-40B4-BE49-F238E27FC236}">
                    <a16:creationId xmlns:a16="http://schemas.microsoft.com/office/drawing/2014/main" id="{36466782-B63B-4CB7-B4F3-0A80597799CB}"/>
                  </a:ext>
                </a:extLst>
              </p:cNvPr>
              <p:cNvSpPr/>
              <p:nvPr/>
            </p:nvSpPr>
            <p:spPr>
              <a:xfrm>
                <a:off x="466344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25022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een">
                <a:extLst>
                  <a:ext uri="{FF2B5EF4-FFF2-40B4-BE49-F238E27FC236}">
                    <a16:creationId xmlns:a16="http://schemas.microsoft.com/office/drawing/2014/main" id="{4E930D80-F690-47F5-AEDB-B0EB7116938F}"/>
                  </a:ext>
                </a:extLst>
              </p:cNvPr>
              <p:cNvSpPr/>
              <p:nvPr/>
            </p:nvSpPr>
            <p:spPr>
              <a:xfrm>
                <a:off x="648699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7FBA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Blue">
                <a:extLst>
                  <a:ext uri="{FF2B5EF4-FFF2-40B4-BE49-F238E27FC236}">
                    <a16:creationId xmlns:a16="http://schemas.microsoft.com/office/drawing/2014/main" id="{5DF4B9D0-9757-4A7A-98C1-AC0DA51E6C26}"/>
                  </a:ext>
                </a:extLst>
              </p:cNvPr>
              <p:cNvSpPr/>
              <p:nvPr/>
            </p:nvSpPr>
            <p:spPr>
              <a:xfrm>
                <a:off x="466344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00A4EF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Yellow">
                <a:extLst>
                  <a:ext uri="{FF2B5EF4-FFF2-40B4-BE49-F238E27FC236}">
                    <a16:creationId xmlns:a16="http://schemas.microsoft.com/office/drawing/2014/main" id="{A2DBD94A-546C-45BA-98BD-2AC246826FE3}"/>
                  </a:ext>
                </a:extLst>
              </p:cNvPr>
              <p:cNvSpPr/>
              <p:nvPr/>
            </p:nvSpPr>
            <p:spPr>
              <a:xfrm>
                <a:off x="648699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FB9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eometry">
              <a:extLst>
                <a:ext uri="{FF2B5EF4-FFF2-40B4-BE49-F238E27FC236}">
                  <a16:creationId xmlns:a16="http://schemas.microsoft.com/office/drawing/2014/main" id="{B3AA8525-9932-415C-A770-7A0D36403C24}"/>
                </a:ext>
              </a:extLst>
            </p:cNvPr>
            <p:cNvGrpSpPr/>
            <p:nvPr userDrawn="1"/>
          </p:nvGrpSpPr>
          <p:grpSpPr>
            <a:xfrm>
              <a:off x="5776913" y="0"/>
              <a:ext cx="6415088" cy="6013450"/>
              <a:chOff x="5776913" y="0"/>
              <a:chExt cx="6415088" cy="601345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C73B88AE-70DB-49CE-9A3C-00E2F9CFDB9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76913" y="1481138"/>
                <a:ext cx="2438400" cy="2274888"/>
              </a:xfrm>
              <a:custGeom>
                <a:avLst/>
                <a:gdLst>
                  <a:gd name="T0" fmla="*/ 0 w 2675"/>
                  <a:gd name="T1" fmla="*/ 2498 h 2498"/>
                  <a:gd name="T2" fmla="*/ 0 w 2675"/>
                  <a:gd name="T3" fmla="*/ 2498 h 2498"/>
                  <a:gd name="T4" fmla="*/ 2675 w 2675"/>
                  <a:gd name="T5" fmla="*/ 2156 h 2498"/>
                  <a:gd name="T6" fmla="*/ 1054 w 2675"/>
                  <a:gd name="T7" fmla="*/ 0 h 2498"/>
                  <a:gd name="T8" fmla="*/ 0 w 2675"/>
                  <a:gd name="T9" fmla="*/ 2498 h 2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5" h="2498">
                    <a:moveTo>
                      <a:pt x="0" y="2498"/>
                    </a:moveTo>
                    <a:lnTo>
                      <a:pt x="0" y="2498"/>
                    </a:lnTo>
                    <a:lnTo>
                      <a:pt x="2675" y="2156"/>
                    </a:lnTo>
                    <a:lnTo>
                      <a:pt x="1054" y="0"/>
                    </a:lnTo>
                    <a:lnTo>
                      <a:pt x="0" y="2498"/>
                    </a:lnTo>
                    <a:close/>
                  </a:path>
                </a:pathLst>
              </a:custGeom>
              <a:solidFill>
                <a:srgbClr val="D4D5D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F3DE9D65-7E4E-418B-8573-F27D313DCD5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5313" y="0"/>
                <a:ext cx="3976688" cy="3444875"/>
              </a:xfrm>
              <a:custGeom>
                <a:avLst/>
                <a:gdLst>
                  <a:gd name="T0" fmla="*/ 1964 w 5067"/>
                  <a:gd name="T1" fmla="*/ 0 h 4720"/>
                  <a:gd name="T2" fmla="*/ 1964 w 5067"/>
                  <a:gd name="T3" fmla="*/ 0 h 4720"/>
                  <a:gd name="T4" fmla="*/ 0 w 5067"/>
                  <a:gd name="T5" fmla="*/ 4720 h 4720"/>
                  <a:gd name="T6" fmla="*/ 5067 w 5067"/>
                  <a:gd name="T7" fmla="*/ 4065 h 4720"/>
                  <a:gd name="T8" fmla="*/ 1964 w 5067"/>
                  <a:gd name="T9" fmla="*/ 0 h 4720"/>
                  <a:gd name="connsiteX0" fmla="*/ 3876 w 10000"/>
                  <a:gd name="connsiteY0" fmla="*/ 0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876 w 10000"/>
                  <a:gd name="connsiteY5" fmla="*/ 0 h 10000"/>
                  <a:gd name="connsiteX0" fmla="*/ 3130 w 10000"/>
                  <a:gd name="connsiteY0" fmla="*/ 1943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130 w 10000"/>
                  <a:gd name="connsiteY5" fmla="*/ 1943 h 10000"/>
                  <a:gd name="connsiteX0" fmla="*/ 3130 w 10000"/>
                  <a:gd name="connsiteY0" fmla="*/ 0 h 8057"/>
                  <a:gd name="connsiteX1" fmla="*/ 0 w 10000"/>
                  <a:gd name="connsiteY1" fmla="*/ 8057 h 8057"/>
                  <a:gd name="connsiteX2" fmla="*/ 10000 w 10000"/>
                  <a:gd name="connsiteY2" fmla="*/ 6669 h 8057"/>
                  <a:gd name="connsiteX3" fmla="*/ 5270 w 10000"/>
                  <a:gd name="connsiteY3" fmla="*/ 10 h 8057"/>
                  <a:gd name="connsiteX4" fmla="*/ 3130 w 10000"/>
                  <a:gd name="connsiteY4" fmla="*/ 0 h 8057"/>
                  <a:gd name="connsiteX0" fmla="*/ 3130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277 h 10000"/>
                  <a:gd name="connsiteX3" fmla="*/ 8600 w 10000"/>
                  <a:gd name="connsiteY3" fmla="*/ 5849 h 10000"/>
                  <a:gd name="connsiteX4" fmla="*/ 5270 w 10000"/>
                  <a:gd name="connsiteY4" fmla="*/ 12 h 10000"/>
                  <a:gd name="connsiteX5" fmla="*/ 3130 w 10000"/>
                  <a:gd name="connsiteY5" fmla="*/ 0 h 10000"/>
                  <a:gd name="connsiteX0" fmla="*/ 3130 w 8622"/>
                  <a:gd name="connsiteY0" fmla="*/ 0 h 10000"/>
                  <a:gd name="connsiteX1" fmla="*/ 0 w 8622"/>
                  <a:gd name="connsiteY1" fmla="*/ 10000 h 10000"/>
                  <a:gd name="connsiteX2" fmla="*/ 8622 w 8622"/>
                  <a:gd name="connsiteY2" fmla="*/ 8507 h 10000"/>
                  <a:gd name="connsiteX3" fmla="*/ 8600 w 8622"/>
                  <a:gd name="connsiteY3" fmla="*/ 5849 h 10000"/>
                  <a:gd name="connsiteX4" fmla="*/ 5270 w 8622"/>
                  <a:gd name="connsiteY4" fmla="*/ 12 h 10000"/>
                  <a:gd name="connsiteX5" fmla="*/ 3130 w 8622"/>
                  <a:gd name="connsiteY5" fmla="*/ 0 h 10000"/>
                  <a:gd name="connsiteX0" fmla="*/ 3563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507 h 10000"/>
                  <a:gd name="connsiteX3" fmla="*/ 9974 w 10000"/>
                  <a:gd name="connsiteY3" fmla="*/ 5849 h 10000"/>
                  <a:gd name="connsiteX4" fmla="*/ 6112 w 10000"/>
                  <a:gd name="connsiteY4" fmla="*/ 12 h 10000"/>
                  <a:gd name="connsiteX5" fmla="*/ 3563 w 10000"/>
                  <a:gd name="connsiteY5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3563" y="0"/>
                    </a:moveTo>
                    <a:lnTo>
                      <a:pt x="0" y="10000"/>
                    </a:lnTo>
                    <a:lnTo>
                      <a:pt x="10000" y="8507"/>
                    </a:lnTo>
                    <a:cubicBezTo>
                      <a:pt x="9992" y="7621"/>
                      <a:pt x="9983" y="6735"/>
                      <a:pt x="9974" y="5849"/>
                    </a:cubicBezTo>
                    <a:lnTo>
                      <a:pt x="6112" y="12"/>
                    </a:lnTo>
                    <a:lnTo>
                      <a:pt x="3563" y="0"/>
                    </a:lnTo>
                    <a:close/>
                  </a:path>
                </a:pathLst>
              </a:custGeom>
              <a:solidFill>
                <a:srgbClr val="F1F1F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8CBD47FD-4E51-4AEC-B6A4-5EB3AC57432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3725" y="3211513"/>
                <a:ext cx="1808162" cy="1693863"/>
              </a:xfrm>
              <a:custGeom>
                <a:avLst/>
                <a:gdLst>
                  <a:gd name="T0" fmla="*/ 0 w 1985"/>
                  <a:gd name="T1" fmla="*/ 257 h 1861"/>
                  <a:gd name="T2" fmla="*/ 0 w 1985"/>
                  <a:gd name="T3" fmla="*/ 257 h 1861"/>
                  <a:gd name="T4" fmla="*/ 1985 w 1985"/>
                  <a:gd name="T5" fmla="*/ 0 h 1861"/>
                  <a:gd name="T6" fmla="*/ 1206 w 1985"/>
                  <a:gd name="T7" fmla="*/ 1861 h 1861"/>
                  <a:gd name="T8" fmla="*/ 0 w 1985"/>
                  <a:gd name="T9" fmla="*/ 25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5" h="1861">
                    <a:moveTo>
                      <a:pt x="0" y="257"/>
                    </a:moveTo>
                    <a:lnTo>
                      <a:pt x="0" y="257"/>
                    </a:lnTo>
                    <a:lnTo>
                      <a:pt x="1985" y="0"/>
                    </a:lnTo>
                    <a:lnTo>
                      <a:pt x="1206" y="1861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EDEDE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7A8AC249-C002-4DEF-A4C7-F4F627714DB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588125" y="3443288"/>
                <a:ext cx="1627187" cy="1525588"/>
              </a:xfrm>
              <a:custGeom>
                <a:avLst/>
                <a:gdLst>
                  <a:gd name="T0" fmla="*/ 0 w 1785"/>
                  <a:gd name="T1" fmla="*/ 231 h 1676"/>
                  <a:gd name="T2" fmla="*/ 0 w 1785"/>
                  <a:gd name="T3" fmla="*/ 231 h 1676"/>
                  <a:gd name="T4" fmla="*/ 1785 w 1785"/>
                  <a:gd name="T5" fmla="*/ 0 h 1676"/>
                  <a:gd name="T6" fmla="*/ 1087 w 1785"/>
                  <a:gd name="T7" fmla="*/ 1676 h 1676"/>
                  <a:gd name="T8" fmla="*/ 0 w 1785"/>
                  <a:gd name="T9" fmla="*/ 231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5" h="1676">
                    <a:moveTo>
                      <a:pt x="0" y="231"/>
                    </a:moveTo>
                    <a:lnTo>
                      <a:pt x="0" y="231"/>
                    </a:lnTo>
                    <a:lnTo>
                      <a:pt x="1785" y="0"/>
                    </a:lnTo>
                    <a:lnTo>
                      <a:pt x="1087" y="1676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FDD6CC8C-E210-4702-B45C-2DE90A9BCDB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43650" y="576263"/>
                <a:ext cx="3065462" cy="2867025"/>
              </a:xfrm>
              <a:custGeom>
                <a:avLst/>
                <a:gdLst>
                  <a:gd name="T0" fmla="*/ 3364 w 3364"/>
                  <a:gd name="T1" fmla="*/ 0 h 3150"/>
                  <a:gd name="T2" fmla="*/ 3364 w 3364"/>
                  <a:gd name="T3" fmla="*/ 0 h 3150"/>
                  <a:gd name="T4" fmla="*/ 2053 w 3364"/>
                  <a:gd name="T5" fmla="*/ 3150 h 3150"/>
                  <a:gd name="T6" fmla="*/ 0 w 3364"/>
                  <a:gd name="T7" fmla="*/ 428 h 3150"/>
                  <a:gd name="T8" fmla="*/ 3364 w 3364"/>
                  <a:gd name="T9" fmla="*/ 0 h 3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4" h="3150">
                    <a:moveTo>
                      <a:pt x="3364" y="0"/>
                    </a:moveTo>
                    <a:lnTo>
                      <a:pt x="3364" y="0"/>
                    </a:lnTo>
                    <a:lnTo>
                      <a:pt x="2053" y="3150"/>
                    </a:lnTo>
                    <a:lnTo>
                      <a:pt x="0" y="428"/>
                    </a:lnTo>
                    <a:lnTo>
                      <a:pt x="3364" y="0"/>
                    </a:lnTo>
                    <a:close/>
                  </a:path>
                </a:pathLst>
              </a:custGeom>
              <a:solidFill>
                <a:srgbClr val="E4E5E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6ADBE84F-E790-42AD-B844-0201AFE752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143750" y="3444875"/>
                <a:ext cx="2744787" cy="2568575"/>
              </a:xfrm>
              <a:custGeom>
                <a:avLst/>
                <a:gdLst>
                  <a:gd name="T0" fmla="*/ 0 w 3012"/>
                  <a:gd name="T1" fmla="*/ 2823 h 2823"/>
                  <a:gd name="T2" fmla="*/ 0 w 3012"/>
                  <a:gd name="T3" fmla="*/ 2823 h 2823"/>
                  <a:gd name="T4" fmla="*/ 3012 w 3012"/>
                  <a:gd name="T5" fmla="*/ 2448 h 2823"/>
                  <a:gd name="T6" fmla="*/ 1175 w 3012"/>
                  <a:gd name="T7" fmla="*/ 0 h 2823"/>
                  <a:gd name="T8" fmla="*/ 0 w 3012"/>
                  <a:gd name="T9" fmla="*/ 2823 h 2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12" h="2823">
                    <a:moveTo>
                      <a:pt x="0" y="2823"/>
                    </a:moveTo>
                    <a:lnTo>
                      <a:pt x="0" y="2823"/>
                    </a:lnTo>
                    <a:lnTo>
                      <a:pt x="3012" y="2448"/>
                    </a:lnTo>
                    <a:lnTo>
                      <a:pt x="1175" y="0"/>
                    </a:lnTo>
                    <a:lnTo>
                      <a:pt x="0" y="2823"/>
                    </a:lnTo>
                    <a:close/>
                  </a:path>
                </a:pathLst>
              </a:custGeom>
              <a:solidFill>
                <a:srgbClr val="DCDDD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Azure">
              <a:extLst>
                <a:ext uri="{FF2B5EF4-FFF2-40B4-BE49-F238E27FC236}">
                  <a16:creationId xmlns:a16="http://schemas.microsoft.com/office/drawing/2014/main" id="{F96A3B00-E57B-4D1C-9DF0-FDEB63488325}"/>
                </a:ext>
              </a:extLst>
            </p:cNvPr>
            <p:cNvSpPr txBox="1"/>
            <p:nvPr userDrawn="1"/>
          </p:nvSpPr>
          <p:spPr>
            <a:xfrm>
              <a:off x="10830643" y="425961"/>
              <a:ext cx="904157" cy="430887"/>
            </a:xfrm>
            <a:prstGeom prst="rect">
              <a:avLst/>
            </a:prstGeom>
          </p:spPr>
          <p:txBody>
            <a:bodyPr wrap="none" lIns="0" tIns="0" rIns="0" bIns="0" rtlCol="0" anchor="t" anchorCtr="0">
              <a:spAutoFit/>
            </a:bodyPr>
            <a:lstStyle/>
            <a:p>
              <a:pPr algn="r"/>
              <a:r>
                <a:rPr lang="en-US" sz="2800" dirty="0"/>
                <a:t>Azure</a:t>
              </a:r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>
            <a:noAutofit/>
          </a:bodyPr>
          <a:lstStyle>
            <a:lvl1pPr>
              <a:defRPr sz="6000" b="1">
                <a:solidFill>
                  <a:srgbClr val="75757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lang="en-US" dirty="0"/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9ACAF72-8D37-41B4-AEF0-4DC63E36E079}"/>
              </a:ext>
            </a:extLst>
          </p:cNvPr>
          <p:cNvSpPr>
            <a:spLocks noGrp="1"/>
          </p:cNvSpPr>
          <p:nvPr userDrawn="1">
            <p:ph type="dt" sz="quarter" idx="10"/>
          </p:nvPr>
        </p:nvSpPr>
        <p:spPr>
          <a:xfrm>
            <a:off x="365760" y="6446520"/>
            <a:ext cx="11585448" cy="118872"/>
          </a:xfrm>
        </p:spPr>
        <p:txBody>
          <a:bodyPr anchor="ctr" anchorCtr="0"/>
          <a:lstStyle>
            <a:lvl1pPr>
              <a:defRPr sz="700"/>
            </a:lvl1pPr>
          </a:lstStyle>
          <a:p>
            <a:pPr defTabSz="914367">
              <a:defRPr/>
            </a:pPr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rgbClr val="3C3C41"/>
                </a:solidFill>
              </a:defRPr>
            </a:lvl1pPr>
            <a:lvl2pPr marL="457200" indent="0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rgbClr val="3C3C41"/>
                </a:solidFill>
              </a:defRPr>
            </a:lvl2pPr>
            <a:lvl3pPr>
              <a:lnSpc>
                <a:spcPct val="150000"/>
              </a:lnSpc>
              <a:defRPr>
                <a:solidFill>
                  <a:srgbClr val="3C3C41"/>
                </a:solidFill>
              </a:defRPr>
            </a:lvl3pPr>
            <a:lvl4pPr>
              <a:lnSpc>
                <a:spcPct val="150000"/>
              </a:lnSpc>
              <a:defRPr>
                <a:solidFill>
                  <a:srgbClr val="3C3C41"/>
                </a:solidFill>
              </a:defRPr>
            </a:lvl4pPr>
            <a:lvl5pPr>
              <a:defRPr>
                <a:solidFill>
                  <a:srgbClr val="3C3C41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Background">
            <a:extLst>
              <a:ext uri="{FF2B5EF4-FFF2-40B4-BE49-F238E27FC236}">
                <a16:creationId xmlns:a16="http://schemas.microsoft.com/office/drawing/2014/main" id="{4AFAF3EF-A3E6-48C0-B006-575F17F52FF7}"/>
              </a:ext>
            </a:extLst>
          </p:cNvPr>
          <p:cNvGrpSpPr/>
          <p:nvPr userDrawn="1"/>
        </p:nvGrpSpPr>
        <p:grpSpPr>
          <a:xfrm>
            <a:off x="5813425" y="107951"/>
            <a:ext cx="6042026" cy="6462713"/>
            <a:chOff x="5813425" y="107951"/>
            <a:chExt cx="6042026" cy="6462713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61974C7-D894-4341-BC5D-AC2DFC329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13425" y="414339"/>
              <a:ext cx="803275" cy="801688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4A60574-E19A-4BAF-9E7C-CF674A2469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47313" y="3287714"/>
              <a:ext cx="676275" cy="673100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5DDA30A4-295D-4EF5-977F-7B2F6C4DA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61588" y="812801"/>
              <a:ext cx="423863" cy="420688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1809334-CDFD-44D1-9935-F91F969DDC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31588" y="2546351"/>
              <a:ext cx="423863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89A1EFB-8C57-42A9-80A7-D15FD2F70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74413" y="4341814"/>
              <a:ext cx="425450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10CA6BF-CB36-429E-95DC-13765F1EA4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12188" y="51577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79D3785-2D6C-4217-96F6-4A2AB920F3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19850" y="30368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25481ADA-5601-4082-8A26-B5AD5BB7A6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53238" y="107951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8363102F-20D9-4FAF-855D-3A4C1A1A0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737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5E20D402-107A-43FC-AD2E-C7D5288F40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5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0464AA9E-89D5-401F-9A12-ADDDEAE2E6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52226" y="3560764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8CACD166-9BCA-4C50-82AD-5B1EB990D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40625" y="3136901"/>
              <a:ext cx="1489075" cy="1487488"/>
            </a:xfrm>
            <a:prstGeom prst="ellipse">
              <a:avLst/>
            </a:pr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352E4FD-C573-4D46-B131-501BD09824DD}"/>
                </a:ext>
              </a:extLst>
            </p:cNvPr>
            <p:cNvCxnSpPr>
              <a:stCxn id="29" idx="7"/>
              <a:endCxn id="20" idx="3"/>
            </p:cNvCxnSpPr>
            <p:nvPr userDrawn="1"/>
          </p:nvCxnSpPr>
          <p:spPr>
            <a:xfrm flipV="1">
              <a:off x="8811630" y="1171881"/>
              <a:ext cx="1412031" cy="2182858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8E5AB79-EC48-4C72-A1F6-337CF4348083}"/>
                </a:ext>
              </a:extLst>
            </p:cNvPr>
            <p:cNvCxnSpPr>
              <a:cxnSpLocks/>
              <a:stCxn id="29" idx="6"/>
              <a:endCxn id="19" idx="2"/>
            </p:cNvCxnSpPr>
            <p:nvPr userDrawn="1"/>
          </p:nvCxnSpPr>
          <p:spPr>
            <a:xfrm flipV="1">
              <a:off x="9029700" y="3624264"/>
              <a:ext cx="1217613" cy="25638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9C1AF26-7ACF-47B7-B9BC-45DFFBFC565C}"/>
                </a:ext>
              </a:extLst>
            </p:cNvPr>
            <p:cNvCxnSpPr>
              <a:cxnSpLocks/>
              <a:stCxn id="19" idx="7"/>
              <a:endCxn id="21" idx="3"/>
            </p:cNvCxnSpPr>
            <p:nvPr userDrawn="1"/>
          </p:nvCxnSpPr>
          <p:spPr>
            <a:xfrm flipV="1">
              <a:off x="10824550" y="2908141"/>
              <a:ext cx="669111" cy="4781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07708F8-7B41-48E9-BDB6-49DD653319FD}"/>
                </a:ext>
              </a:extLst>
            </p:cNvPr>
            <p:cNvCxnSpPr>
              <a:cxnSpLocks/>
              <a:stCxn id="19" idx="5"/>
              <a:endCxn id="22" idx="1"/>
            </p:cNvCxnSpPr>
            <p:nvPr userDrawn="1"/>
          </p:nvCxnSpPr>
          <p:spPr>
            <a:xfrm>
              <a:off x="10824550" y="3862241"/>
              <a:ext cx="412169" cy="5416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BF777CF-BB26-4923-B28A-0317850BE3F4}"/>
                </a:ext>
              </a:extLst>
            </p:cNvPr>
            <p:cNvCxnSpPr>
              <a:cxnSpLocks/>
              <a:stCxn id="19" idx="6"/>
              <a:endCxn id="28" idx="2"/>
            </p:cNvCxnSpPr>
            <p:nvPr userDrawn="1"/>
          </p:nvCxnSpPr>
          <p:spPr>
            <a:xfrm>
              <a:off x="10923588" y="3624264"/>
              <a:ext cx="528638" cy="12779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989151D-DB71-49D0-8D3D-FC1922F146EF}"/>
                </a:ext>
              </a:extLst>
            </p:cNvPr>
            <p:cNvCxnSpPr>
              <a:cxnSpLocks/>
              <a:stCxn id="29" idx="4"/>
              <a:endCxn id="23" idx="1"/>
            </p:cNvCxnSpPr>
            <p:nvPr userDrawn="1"/>
          </p:nvCxnSpPr>
          <p:spPr>
            <a:xfrm>
              <a:off x="8285163" y="4624389"/>
              <a:ext cx="388866" cy="59524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666876-40F5-4937-8C7D-3ED499621F15}"/>
                </a:ext>
              </a:extLst>
            </p:cNvPr>
            <p:cNvCxnSpPr>
              <a:cxnSpLocks/>
              <a:stCxn id="29" idx="3"/>
              <a:endCxn id="27" idx="0"/>
            </p:cNvCxnSpPr>
            <p:nvPr userDrawn="1"/>
          </p:nvCxnSpPr>
          <p:spPr>
            <a:xfrm flipH="1">
              <a:off x="6877844" y="4406551"/>
              <a:ext cx="880851" cy="1781525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BB890B9-831E-49FC-AF78-9D8324F851DC}"/>
                </a:ext>
              </a:extLst>
            </p:cNvPr>
            <p:cNvCxnSpPr>
              <a:cxnSpLocks/>
              <a:stCxn id="26" idx="6"/>
              <a:endCxn id="27" idx="2"/>
            </p:cNvCxnSpPr>
            <p:nvPr userDrawn="1"/>
          </p:nvCxnSpPr>
          <p:spPr>
            <a:xfrm>
              <a:off x="6256338" y="6379370"/>
              <a:ext cx="430212" cy="0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3F0A2CB-59FE-4E9F-9186-CFF91582C83C}"/>
                </a:ext>
              </a:extLst>
            </p:cNvPr>
            <p:cNvCxnSpPr>
              <a:cxnSpLocks/>
              <a:stCxn id="24" idx="5"/>
              <a:endCxn id="29" idx="2"/>
            </p:cNvCxnSpPr>
            <p:nvPr userDrawn="1"/>
          </p:nvCxnSpPr>
          <p:spPr>
            <a:xfrm>
              <a:off x="6780284" y="3397323"/>
              <a:ext cx="760341" cy="483322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22AE6D2-BD9C-4921-BC1B-B2BBA2FE2690}"/>
                </a:ext>
              </a:extLst>
            </p:cNvPr>
            <p:cNvCxnSpPr>
              <a:cxnSpLocks/>
              <a:stCxn id="18" idx="5"/>
              <a:endCxn id="29" idx="1"/>
            </p:cNvCxnSpPr>
            <p:nvPr userDrawn="1"/>
          </p:nvCxnSpPr>
          <p:spPr>
            <a:xfrm>
              <a:off x="6499063" y="1098623"/>
              <a:ext cx="1259632" cy="225611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C83EC02-2D58-4C10-AEA8-56E5EDD75B47}"/>
                </a:ext>
              </a:extLst>
            </p:cNvPr>
            <p:cNvCxnSpPr>
              <a:cxnSpLocks/>
              <a:stCxn id="25" idx="2"/>
              <a:endCxn id="18" idx="7"/>
            </p:cNvCxnSpPr>
            <p:nvPr userDrawn="1"/>
          </p:nvCxnSpPr>
          <p:spPr>
            <a:xfrm flipH="1">
              <a:off x="6499063" y="319089"/>
              <a:ext cx="354175" cy="21265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3273551"/>
            <a:ext cx="9198864" cy="1399032"/>
          </a:xfrm>
          <a:prstGeom prst="rect">
            <a:avLst/>
          </a:prstGeom>
        </p:spPr>
        <p:txBody>
          <a:bodyPr anchor="t"/>
          <a:lstStyle>
            <a:lvl1pPr algn="l">
              <a:defRPr lang="en-US" sz="5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44" y="2587752"/>
            <a:ext cx="8449056" cy="685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en-US" dirty="0">
                <a:solidFill>
                  <a:srgbClr val="0078D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616" y="1042288"/>
            <a:ext cx="6931152" cy="2792436"/>
          </a:xfrm>
          <a:prstGeom prst="rect">
            <a:avLst/>
          </a:prstGeom>
        </p:spPr>
        <p:txBody>
          <a:bodyPr tIns="182880" rIns="0" bIns="0" anchor="b"/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3834724"/>
            <a:ext cx="6931152" cy="1569380"/>
          </a:xfrm>
          <a:prstGeom prst="rect">
            <a:avLst/>
          </a:prstGeom>
        </p:spPr>
        <p:txBody>
          <a:bodyPr tIns="0" rIns="0" bIns="182880" anchor="t" anchorCtr="0">
            <a:noAutofit/>
          </a:bodyPr>
          <a:lstStyle>
            <a:lvl1pPr marL="0" indent="0" algn="l">
              <a:buNone/>
              <a:defRPr sz="3500">
                <a:solidFill>
                  <a:srgbClr val="50E6FF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DE2AD2-FA34-4F9F-8F3B-8CF1A151A3B8}"/>
              </a:ext>
            </a:extLst>
          </p:cNvPr>
          <p:cNvGrpSpPr/>
          <p:nvPr userDrawn="1"/>
        </p:nvGrpSpPr>
        <p:grpSpPr>
          <a:xfrm>
            <a:off x="8481525" y="1834556"/>
            <a:ext cx="2844162" cy="3775004"/>
            <a:chOff x="8481525" y="1834556"/>
            <a:chExt cx="2844162" cy="3775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FB4E5D-C916-4292-9D1E-424AAB99F6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633198" y="3834724"/>
              <a:ext cx="594360" cy="59436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88429F-3598-4BCB-9325-E57B4AD300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731327" y="1834556"/>
              <a:ext cx="594360" cy="5943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7744BC-8E11-47AF-B612-421BAD3F1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81525" y="2834640"/>
              <a:ext cx="594360" cy="5943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22389B-4353-48A5-871C-A26AD0E45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633198" y="2867584"/>
              <a:ext cx="594360" cy="49317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DAA3AD-75EF-477D-9C89-C5EEE3AD0A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9633198" y="1834556"/>
              <a:ext cx="594360" cy="59436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8C08AE-63F3-48C9-AE03-2C396CCCEF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8481525" y="1834556"/>
              <a:ext cx="594360" cy="59436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E95B63-4907-4136-B75B-1F2095C4C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490069" y="3834724"/>
              <a:ext cx="594360" cy="59436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5E5964-93CB-4179-8DAF-F8604310AC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10731327" y="2972070"/>
              <a:ext cx="594360" cy="25978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B1294E-7E3B-478F-8FBA-4FB997113E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0731327" y="4000752"/>
              <a:ext cx="594360" cy="26230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EECF2E-AC85-4A5D-A24E-4B862927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582907" y="5015200"/>
              <a:ext cx="408683" cy="59436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EF01517-EACA-45CE-AC32-348F4AEFD7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9633198" y="5089372"/>
              <a:ext cx="594360" cy="44601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E5B0CF2-4DF7-44E9-A991-3B85AD8824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731327" y="5054172"/>
              <a:ext cx="594360" cy="446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3391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1BAEB-AF98-4F23-8387-36941468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3"/>
            <a:ext cx="11311128" cy="813816"/>
          </a:xfrm>
          <a:prstGeom prst="rect">
            <a:avLst/>
          </a:prstGeom>
        </p:spPr>
        <p:txBody>
          <a:bodyPr vert="horz" wrap="square" lIns="0" tIns="91440" rIns="146304" bIns="9144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C3C4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BBBB1-68FD-49A4-9F5B-D5330EF9D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74" y="6446519"/>
            <a:ext cx="11585448" cy="118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defTabSz="914367">
              <a:defRPr/>
            </a:pPr>
            <a:r>
              <a:rPr lang="en-US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ECA1A2-5C6A-4F77-B317-E5A533F00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kumimoji="0" lang="en-US" sz="2750" b="0" i="0" u="none" strike="noStrike" kern="1200" cap="none" spc="0" normalizeH="0" baseline="0" dirty="0" smtClean="0">
          <a:ln>
            <a:noFill/>
          </a:ln>
          <a:solidFill>
            <a:srgbClr val="3C3C4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+mj-lt"/>
        <a:buNone/>
        <a:defRPr sz="2400" b="1" kern="1200">
          <a:solidFill>
            <a:srgbClr val="3C3C4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000" b="1" kern="1200">
          <a:solidFill>
            <a:srgbClr val="0078D3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github.com/msusdev/end-to-end-ci-cd" TargetMode="External" /><Relationship Id="rId3" Type="http://schemas.openxmlformats.org/officeDocument/2006/relationships/hyperlink" Target="https://github.com/msusdev/end-to-end-ci-cd" TargetMode="External" /><Relationship Id="rId4" Type="http://schemas.openxmlformats.org/officeDocument/2006/relationships/hyperlink" Target="https://github.com/msusdev/end-to-end-ci-cd" TargetMode="External" /><Relationship Id="rId5" Type="http://schemas.openxmlformats.org/officeDocument/2006/relationships/hyperlink" Target="https://github.com/msusdev/end-to-end-ci-cd" TargetMode="External" /><Relationship Id="rId6" Type="http://schemas.openxmlformats.org/officeDocument/2006/relationships/hyperlink" Target="https://github.com/msusdev/end-to-end-ci-cd" TargetMode="External" /><Relationship Id="rId7" Type="http://schemas.openxmlformats.org/officeDocument/2006/relationships/hyperlink" Target="https://github.com/msusdev/end-to-end-ci-cd" TargetMode="External" /><Relationship Id="rId8" Type="http://schemas.openxmlformats.org/officeDocument/2006/relationships/hyperlink" Target="https://github.com/msusdev/end-to-end-ci-cd" TargetMode="External" /><Relationship Id="rId9" Type="http://schemas.openxmlformats.org/officeDocument/2006/relationships/hyperlink" Target="https://github.com/msusdev/end-to-end-ci-cd" TargetMode="External" /><Relationship Id="rId10" Type="http://schemas.openxmlformats.org/officeDocument/2006/relationships/hyperlink" Target="https://github.com/msusdev/end-to-end-ci-cd" TargetMode="External" /><Relationship Id="rId11" Type="http://schemas.openxmlformats.org/officeDocument/2006/relationships/hyperlink" Target="https://github.com/msusdev/end-to-end-ci-cd" TargetMode="External" /><Relationship Id="rId12" Type="http://schemas.openxmlformats.org/officeDocument/2006/relationships/hyperlink" Target="https://github.com/msusdev/end-to-end-ci-cd" TargetMode="External" /><Relationship Id="rId13" Type="http://schemas.openxmlformats.org/officeDocument/2006/relationships/hyperlink" Target="https://github.com/msusdev/end-to-end-ci-cd" TargetMode="External" /><Relationship Id="rId14" Type="http://schemas.openxmlformats.org/officeDocument/2006/relationships/hyperlink" Target="https://github.com/msusdev/end-to-end-ci-cd" TargetMode="Externa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msusdev@microsoft.com" TargetMode="External" /><Relationship Id="rId3" Type="http://schemas.openxmlformats.org/officeDocument/2006/relationships/hyperlink" Target="https://github.com/msusdev/end-to-end-ci-cd" TargetMode="Externa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actions/upload-artifact" TargetMode="External" /><Relationship Id="rId3" Type="http://schemas.openxmlformats.org/officeDocument/2006/relationships/hyperlink" Target="https://github.com/actions/download-artifact" TargetMode="External" /><Relationship Id="rId4" Type="http://schemas.openxmlformats.org/officeDocument/2006/relationships/hyperlink" Target="https://github.com/actions/create-release" TargetMode="External" /><Relationship Id="rId5" Type="http://schemas.openxmlformats.org/officeDocument/2006/relationships/hyperlink" Target="https://github.com/actions/upload-release-asset" TargetMode="External" /><Relationship Id="rId6" Type="http://schemas.openxmlformats.org/officeDocument/2006/relationships/hyperlink" Target="https://github.com/marketplace/actions/zip-release" TargetMode="Externa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github.com/actions/reference/workflow-syntax-for-github-actions" TargetMode="External" /><Relationship Id="rId3" Type="http://schemas.openxmlformats.org/officeDocument/2006/relationships/hyperlink" Target="https://docs.github.com/actions/reference/context-and-expression-syntax-for-github-actions" TargetMode="External" /><Relationship Id="rId4" Type="http://schemas.openxmlformats.org/officeDocument/2006/relationships/hyperlink" Target="https://docs.github.com/actions/guides/publishing-docker-images" TargetMode="External" /><Relationship Id="rId5" Type="http://schemas.openxmlformats.org/officeDocument/2006/relationships/hyperlink" Target="https://github.com/docker/build-push-action/" TargetMode="Externa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microsoft.com/learn/paths/automate-workflow-github-actions/" TargetMode="Externa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/>
          <a:lstStyle/>
          <a:p>
            <a:pPr lvl="0" marL="0" indent="0">
              <a:buNone/>
            </a:pPr>
            <a:r>
              <a:rPr/>
              <a:t>Automatically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Actions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Part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hlinkClick r:id="rId2"/>
              </a:rPr>
              <a:t>Build</a:t>
            </a:r>
            <a:r>
              <a:rPr>
                <a:hlinkClick r:id="rId3"/>
              </a:rPr>
              <a:t> </a:t>
            </a:r>
            <a:r>
              <a:rPr>
                <a:hlinkClick r:id="rId4"/>
              </a:rPr>
              <a:t>end-to-end</a:t>
            </a:r>
            <a:r>
              <a:rPr>
                <a:hlinkClick r:id="rId5"/>
              </a:rPr>
              <a:t> </a:t>
            </a:r>
            <a:r>
              <a:rPr>
                <a:hlinkClick r:id="rId6"/>
              </a:rPr>
              <a:t>CI/CD</a:t>
            </a:r>
            <a:r>
              <a:rPr>
                <a:hlinkClick r:id="rId7"/>
              </a:rPr>
              <a:t> </a:t>
            </a:r>
            <a:r>
              <a:rPr>
                <a:hlinkClick r:id="rId8"/>
              </a:rPr>
              <a:t>capabilities</a:t>
            </a:r>
            <a:r>
              <a:rPr>
                <a:hlinkClick r:id="rId9"/>
              </a:rPr>
              <a:t> </a:t>
            </a:r>
            <a:r>
              <a:rPr>
                <a:hlinkClick r:id="rId10"/>
              </a:rPr>
              <a:t>with</a:t>
            </a:r>
            <a:r>
              <a:rPr>
                <a:hlinkClick r:id="rId11"/>
              </a:rPr>
              <a:t> </a:t>
            </a:r>
            <a:r>
              <a:rPr>
                <a:hlinkClick r:id="rId12"/>
              </a:rPr>
              <a:t>GitHub</a:t>
            </a:r>
            <a:r>
              <a:rPr>
                <a:hlinkClick r:id="rId13"/>
              </a:rPr>
              <a:t> </a:t>
            </a:r>
            <a:r>
              <a:rPr>
                <a:hlinkClick r:id="rId14"/>
              </a:rPr>
              <a:t>Actions</a:t>
            </a:r>
            <a:r>
              <a:rPr/>
              <a:t> </a:t>
            </a:r>
            <a:r>
              <a:rPr/>
              <a:t>series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About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presenter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Presenter Name</a:t>
            </a:r>
          </a:p>
          <a:p>
            <a:pPr lvl="0" marL="0" indent="0">
              <a:buNone/>
            </a:pPr>
            <a:r>
              <a:rPr/>
              <a:t>☁️ </a:t>
            </a:r>
            <a:r>
              <a:rPr i="1"/>
              <a:t>Presenter Title</a:t>
            </a:r>
          </a:p>
          <a:p>
            <a:pPr lvl="0" marL="1270000" indent="0">
              <a:buNone/>
            </a:pPr>
            <a:r>
              <a:rPr sz="2000"/>
              <a:t>For questions or help with this series: </a:t>
            </a:r>
            <a:r>
              <a:rPr sz="2000">
                <a:hlinkClick r:id="rId2"/>
              </a:rPr>
              <a:t>msusdev@microsoft.com</a:t>
            </a:r>
          </a:p>
          <a:p>
            <a:pPr lvl="0" marL="0" indent="0">
              <a:buNone/>
            </a:pPr>
            <a:r>
              <a:rPr/>
              <a:t>All demos and source code available on </a:t>
            </a:r>
            <a:r>
              <a:rPr b="1"/>
              <a:t>GitHub</a:t>
            </a:r>
            <a:r>
              <a:rPr/>
              <a:t>:</a:t>
            </a:r>
          </a:p>
          <a:p>
            <a:pPr lvl="0" marL="1270000" indent="0">
              <a:buNone/>
            </a:pPr>
            <a:r>
              <a:rPr sz="2000">
                <a:hlinkClick r:id="rId3"/>
              </a:rPr>
              <a:t>github.com/msusdev/end-to-end-ci-cd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Series</a:t>
            </a:r>
            <a:r>
              <a:rPr/>
              <a:t> </a:t>
            </a:r>
            <a:r>
              <a:rPr/>
              <a:t>road</a:t>
            </a:r>
            <a:r>
              <a:rPr/>
              <a:t> </a:t>
            </a:r>
            <a:r>
              <a:rPr/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strike="sngStrike"/>
              <a:t>Session 1:</a:t>
            </a:r>
          </a:p>
          <a:p>
            <a:pPr lvl="2"/>
            <a:r>
              <a:rPr strike="sngStrike"/>
              <a:t>Introduction to GitHub Actions</a:t>
            </a:r>
          </a:p>
          <a:p>
            <a:pPr lvl="1"/>
            <a:r>
              <a:rPr b="1"/>
              <a:t>Session 2:</a:t>
            </a:r>
          </a:p>
          <a:p>
            <a:pPr lvl="2"/>
            <a:r>
              <a:rPr b="1"/>
              <a:t>↪️ Automatically build and test your code with GitHub Actions</a:t>
            </a:r>
          </a:p>
          <a:p>
            <a:pPr lvl="1"/>
            <a:r>
              <a:rPr/>
              <a:t>Session 3:</a:t>
            </a:r>
          </a:p>
          <a:p>
            <a:pPr lvl="2"/>
            <a:r>
              <a:rPr/>
              <a:t>Deploy your code to Azure with GitHub Actions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Review GitHub Actions</a:t>
            </a:r>
          </a:p>
          <a:p>
            <a:pPr lvl="1"/>
            <a:r>
              <a:rPr/>
              <a:t>Automate build for a web app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Review: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Actions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Automate</a:t>
            </a:r>
            <a:r>
              <a:rPr/>
              <a:t> </a:t>
            </a:r>
            <a:r>
              <a:rPr/>
              <a:t>Build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Reviewing</a:t>
            </a:r>
            <a:r>
              <a:rPr/>
              <a:t> </a:t>
            </a:r>
            <a:r>
              <a:rPr/>
              <a:t>today’s</a:t>
            </a:r>
            <a:r>
              <a:rPr/>
              <a:t> </a:t>
            </a:r>
            <a:r>
              <a:rPr/>
              <a:t>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Review GitHub Actions</a:t>
            </a:r>
          </a:p>
          <a:p>
            <a:pPr lvl="1"/>
            <a:r>
              <a:rPr/>
              <a:t>Automate build for a web app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Reference</a:t>
            </a:r>
            <a:r>
              <a:rPr/>
              <a:t> </a:t>
            </a:r>
            <a:r>
              <a:rPr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https://github.com/actions/upload-artifact</a:t>
            </a:r>
          </a:p>
          <a:p>
            <a:pPr lvl="1"/>
            <a:r>
              <a:rPr>
                <a:hlinkClick r:id="rId3"/>
              </a:rPr>
              <a:t>https://github.com/actions/download-artifact</a:t>
            </a:r>
          </a:p>
          <a:p>
            <a:pPr lvl="1"/>
            <a:r>
              <a:rPr>
                <a:hlinkClick r:id="rId4"/>
              </a:rPr>
              <a:t>https://github.com/actions/create-release</a:t>
            </a:r>
          </a:p>
          <a:p>
            <a:pPr lvl="1"/>
            <a:r>
              <a:rPr>
                <a:hlinkClick r:id="rId5"/>
              </a:rPr>
              <a:t>https://github.com/actions/upload-release-asset</a:t>
            </a:r>
          </a:p>
          <a:p>
            <a:pPr lvl="1"/>
            <a:r>
              <a:rPr>
                <a:hlinkClick r:id="rId6"/>
              </a:rPr>
              <a:t>https://github.com/marketplace/actions/zip-release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Reference</a:t>
            </a:r>
            <a:r>
              <a:rPr/>
              <a:t> </a:t>
            </a:r>
            <a:r>
              <a:rPr/>
              <a:t>Links</a:t>
            </a:r>
            <a:r>
              <a:rPr/>
              <a:t> </a:t>
            </a:r>
            <a:r>
              <a:rPr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https://docs.github.com/actions/reference/workflow-syntax-for-github-actions</a:t>
            </a:r>
          </a:p>
          <a:p>
            <a:pPr lvl="1"/>
            <a:r>
              <a:rPr>
                <a:hlinkClick r:id="rId3"/>
              </a:rPr>
              <a:t>https://docs.github.com/actions/reference/context-and-expression-syntax-for-github-actions</a:t>
            </a:r>
          </a:p>
          <a:p>
            <a:pPr lvl="1"/>
            <a:r>
              <a:rPr>
                <a:hlinkClick r:id="rId4"/>
              </a:rPr>
              <a:t>https://docs.github.com/actions/guides/publishing-docker-images</a:t>
            </a:r>
          </a:p>
          <a:p>
            <a:pPr lvl="1"/>
            <a:r>
              <a:rPr>
                <a:hlinkClick r:id="rId5"/>
              </a:rPr>
              <a:t>https://github.com/docker/build-push-action/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Microsoft</a:t>
            </a:r>
            <a:r>
              <a:rPr/>
              <a:t> </a:t>
            </a:r>
            <a:r>
              <a:rPr/>
              <a:t>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https://docs.microsoft.com/learn/paths/automate-workflow-github-actions/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You!</a:t>
            </a:r>
            <a:r>
              <a:rPr/>
              <a:t> </a:t>
            </a: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Bond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Segoe UI</vt:lpstr>
      <vt:lpstr>Segoe UI Semibold</vt:lpstr>
      <vt:lpstr>Office Theme</vt:lpstr>
      <vt:lpstr>Title</vt:lpstr>
      <vt:lpstr>Title</vt:lpstr>
      <vt:lpstr>Title</vt:lpstr>
      <vt:lpstr>Section Header</vt:lpstr>
      <vt:lpstr>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Automatically build and test your code with GitHub Actions</dc:title>
  <dc:creator>Part 2 of 3 in the Build end-to-end CI/CD capabilities with GitHub Actions series</dc:creator>
  <cp:keywords/>
  <dcterms:created xsi:type="dcterms:W3CDTF">2022-03-23T22:36:14Z</dcterms:created>
  <dcterms:modified xsi:type="dcterms:W3CDTF">2022-03-23T22:36:14Z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