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465" r:id="rId3"/>
    <p:sldId id="466" r:id="rId4"/>
    <p:sldId id="467" r:id="rId5"/>
    <p:sldId id="468" r:id="rId6"/>
    <p:sldId id="407" r:id="rId7"/>
    <p:sldId id="532" r:id="rId8"/>
    <p:sldId id="495" r:id="rId9"/>
    <p:sldId id="496" r:id="rId10"/>
    <p:sldId id="497" r:id="rId11"/>
    <p:sldId id="498" r:id="rId12"/>
    <p:sldId id="499" r:id="rId13"/>
    <p:sldId id="500" r:id="rId14"/>
    <p:sldId id="501" r:id="rId15"/>
    <p:sldId id="502" r:id="rId16"/>
    <p:sldId id="503" r:id="rId17"/>
    <p:sldId id="504" r:id="rId18"/>
    <p:sldId id="505" r:id="rId19"/>
    <p:sldId id="506" r:id="rId20"/>
    <p:sldId id="507" r:id="rId21"/>
    <p:sldId id="317" r:id="rId22"/>
    <p:sldId id="487" r:id="rId23"/>
    <p:sldId id="488" r:id="rId24"/>
    <p:sldId id="489" r:id="rId25"/>
    <p:sldId id="490" r:id="rId26"/>
    <p:sldId id="491" r:id="rId27"/>
    <p:sldId id="492" r:id="rId28"/>
    <p:sldId id="494" r:id="rId29"/>
    <p:sldId id="511" r:id="rId30"/>
    <p:sldId id="508" r:id="rId31"/>
    <p:sldId id="512" r:id="rId32"/>
    <p:sldId id="513" r:id="rId33"/>
    <p:sldId id="514" r:id="rId34"/>
    <p:sldId id="515" r:id="rId35"/>
    <p:sldId id="516" r:id="rId36"/>
    <p:sldId id="517" r:id="rId37"/>
    <p:sldId id="518" r:id="rId38"/>
    <p:sldId id="412" r:id="rId39"/>
    <p:sldId id="413" r:id="rId40"/>
    <p:sldId id="430" r:id="rId41"/>
    <p:sldId id="437" r:id="rId42"/>
    <p:sldId id="438" r:id="rId43"/>
    <p:sldId id="431" r:id="rId44"/>
    <p:sldId id="432" r:id="rId45"/>
    <p:sldId id="433" r:id="rId46"/>
    <p:sldId id="434" r:id="rId47"/>
    <p:sldId id="435" r:id="rId48"/>
    <p:sldId id="553" r:id="rId49"/>
    <p:sldId id="554" r:id="rId50"/>
    <p:sldId id="531" r:id="rId51"/>
    <p:sldId id="540" r:id="rId52"/>
    <p:sldId id="541" r:id="rId53"/>
    <p:sldId id="542" r:id="rId54"/>
    <p:sldId id="543" r:id="rId55"/>
    <p:sldId id="544" r:id="rId56"/>
    <p:sldId id="545" r:id="rId57"/>
  </p:sldIdLst>
  <p:sldSz cx="9144000" cy="6858000" type="screen4x3"/>
  <p:notesSz cx="7102475" cy="10234613"/>
  <p:defaultTextStyle>
    <a:defPPr>
      <a:defRPr lang="pt-BR"/>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3223">
          <p15:clr>
            <a:srgbClr val="A4A3A4"/>
          </p15:clr>
        </p15:guide>
        <p15:guide id="2" pos="223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0000"/>
    <a:srgbClr val="FF6600"/>
    <a:srgbClr val="B2B2B2"/>
    <a:srgbClr val="DDDDDD"/>
    <a:srgbClr val="0099FF"/>
    <a:srgbClr val="4D4D4D"/>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édio 2 - Ênfas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Estilo Médio 2 - Ênfas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63" autoAdjust="0"/>
    <p:restoredTop sz="94656"/>
  </p:normalViewPr>
  <p:slideViewPr>
    <p:cSldViewPr>
      <p:cViewPr varScale="1">
        <p:scale>
          <a:sx n="111" d="100"/>
          <a:sy n="111" d="100"/>
        </p:scale>
        <p:origin x="-1602" y="-66"/>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4" d="100"/>
          <a:sy n="64" d="100"/>
        </p:scale>
        <p:origin x="2488" y="168"/>
      </p:cViewPr>
      <p:guideLst>
        <p:guide orient="horz" pos="3223"/>
        <p:guide pos="223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3E8A95-2FDC-482D-ACA2-6E14F7453E4A}" type="doc">
      <dgm:prSet loTypeId="urn:microsoft.com/office/officeart/2009/layout/CircleArrowProcess" loCatId="cycle" qsTypeId="urn:microsoft.com/office/officeart/2005/8/quickstyle/simple1" qsCatId="simple" csTypeId="urn:microsoft.com/office/officeart/2005/8/colors/accent1_2" csCatId="accent1" phldr="1"/>
      <dgm:spPr/>
      <dgm:t>
        <a:bodyPr/>
        <a:lstStyle/>
        <a:p>
          <a:endParaRPr lang="en-US"/>
        </a:p>
      </dgm:t>
    </dgm:pt>
    <dgm:pt modelId="{05FDB4C9-21C7-4F29-A91B-3A2568DD9BDA}">
      <dgm:prSet phldrT="[Text]"/>
      <dgm:spPr/>
      <dgm:t>
        <a:bodyPr/>
        <a:lstStyle/>
        <a:p>
          <a:r>
            <a:rPr lang="pt-BR" dirty="0" smtClean="0"/>
            <a:t>Aprenda</a:t>
          </a:r>
          <a:endParaRPr lang="en-US" dirty="0"/>
        </a:p>
      </dgm:t>
    </dgm:pt>
    <dgm:pt modelId="{5155E83B-8E45-4465-B5E2-0525C74BBE61}" type="parTrans" cxnId="{9FC04307-02A8-4691-A06A-00D2A21183F8}">
      <dgm:prSet/>
      <dgm:spPr/>
      <dgm:t>
        <a:bodyPr/>
        <a:lstStyle/>
        <a:p>
          <a:endParaRPr lang="en-US"/>
        </a:p>
      </dgm:t>
    </dgm:pt>
    <dgm:pt modelId="{FAD4202C-319E-4E9B-B82F-D8A582C1ADFB}" type="sibTrans" cxnId="{9FC04307-02A8-4691-A06A-00D2A21183F8}">
      <dgm:prSet/>
      <dgm:spPr/>
      <dgm:t>
        <a:bodyPr/>
        <a:lstStyle/>
        <a:p>
          <a:endParaRPr lang="en-US"/>
        </a:p>
      </dgm:t>
    </dgm:pt>
    <dgm:pt modelId="{35DFB9D0-91A9-4F05-8226-3370BD563A99}">
      <dgm:prSet phldrT="[Text]"/>
      <dgm:spPr/>
      <dgm:t>
        <a:bodyPr/>
        <a:lstStyle/>
        <a:p>
          <a:r>
            <a:rPr lang="pt-BR" dirty="0" smtClean="0"/>
            <a:t>Divulgue</a:t>
          </a:r>
          <a:endParaRPr lang="en-US" dirty="0"/>
        </a:p>
      </dgm:t>
    </dgm:pt>
    <dgm:pt modelId="{401D25C7-AB76-43AA-BF68-FA3CEFBA44C1}" type="parTrans" cxnId="{D5F8FFE8-9D00-4890-B0A7-1B29FC9FA3A2}">
      <dgm:prSet/>
      <dgm:spPr/>
      <dgm:t>
        <a:bodyPr/>
        <a:lstStyle/>
        <a:p>
          <a:endParaRPr lang="en-US"/>
        </a:p>
      </dgm:t>
    </dgm:pt>
    <dgm:pt modelId="{CB229540-0F3D-4722-93FB-2506C5EA4EE0}" type="sibTrans" cxnId="{D5F8FFE8-9D00-4890-B0A7-1B29FC9FA3A2}">
      <dgm:prSet/>
      <dgm:spPr/>
      <dgm:t>
        <a:bodyPr/>
        <a:lstStyle/>
        <a:p>
          <a:endParaRPr lang="en-US"/>
        </a:p>
      </dgm:t>
    </dgm:pt>
    <dgm:pt modelId="{8C504CF2-BEBD-472B-BEF7-7DD3E47F7CEA}">
      <dgm:prSet phldrT="[Text]"/>
      <dgm:spPr/>
      <dgm:t>
        <a:bodyPr/>
        <a:lstStyle/>
        <a:p>
          <a:r>
            <a:rPr lang="pt-BR" dirty="0" smtClean="0"/>
            <a:t>Satisfasa</a:t>
          </a:r>
          <a:endParaRPr lang="en-US" dirty="0"/>
        </a:p>
      </dgm:t>
    </dgm:pt>
    <dgm:pt modelId="{3F2C6910-0392-4BB5-8F2A-C3C5E4A45D61}" type="parTrans" cxnId="{C37FE98F-95BF-4D30-B94F-59D122688A19}">
      <dgm:prSet/>
      <dgm:spPr/>
      <dgm:t>
        <a:bodyPr/>
        <a:lstStyle/>
        <a:p>
          <a:endParaRPr lang="en-US"/>
        </a:p>
      </dgm:t>
    </dgm:pt>
    <dgm:pt modelId="{3A9C9713-E2BE-4296-BF92-B1E9CA4801CB}" type="sibTrans" cxnId="{C37FE98F-95BF-4D30-B94F-59D122688A19}">
      <dgm:prSet/>
      <dgm:spPr/>
      <dgm:t>
        <a:bodyPr/>
        <a:lstStyle/>
        <a:p>
          <a:endParaRPr lang="en-US"/>
        </a:p>
      </dgm:t>
    </dgm:pt>
    <dgm:pt modelId="{3FAC6FD9-D163-4E4C-B9CE-03C5E49410DA}" type="pres">
      <dgm:prSet presAssocID="{CE3E8A95-2FDC-482D-ACA2-6E14F7453E4A}" presName="Name0" presStyleCnt="0">
        <dgm:presLayoutVars>
          <dgm:chMax val="7"/>
          <dgm:chPref val="7"/>
          <dgm:dir/>
          <dgm:animLvl val="lvl"/>
        </dgm:presLayoutVars>
      </dgm:prSet>
      <dgm:spPr/>
      <dgm:t>
        <a:bodyPr/>
        <a:lstStyle/>
        <a:p>
          <a:endParaRPr lang="en-US"/>
        </a:p>
      </dgm:t>
    </dgm:pt>
    <dgm:pt modelId="{52F74034-24B9-463F-A01D-C018CE9EEAAD}" type="pres">
      <dgm:prSet presAssocID="{05FDB4C9-21C7-4F29-A91B-3A2568DD9BDA}" presName="Accent1" presStyleCnt="0"/>
      <dgm:spPr/>
    </dgm:pt>
    <dgm:pt modelId="{F0DFAC92-8E78-443D-92ED-547321BA8265}" type="pres">
      <dgm:prSet presAssocID="{05FDB4C9-21C7-4F29-A91B-3A2568DD9BDA}" presName="Accent" presStyleLbl="node1" presStyleIdx="0" presStyleCnt="3"/>
      <dgm:spPr/>
    </dgm:pt>
    <dgm:pt modelId="{EFCD1C8D-72B4-4835-9B7D-B38E720F354F}" type="pres">
      <dgm:prSet presAssocID="{05FDB4C9-21C7-4F29-A91B-3A2568DD9BDA}" presName="Parent1" presStyleLbl="revTx" presStyleIdx="0" presStyleCnt="3">
        <dgm:presLayoutVars>
          <dgm:chMax val="1"/>
          <dgm:chPref val="1"/>
          <dgm:bulletEnabled val="1"/>
        </dgm:presLayoutVars>
      </dgm:prSet>
      <dgm:spPr/>
      <dgm:t>
        <a:bodyPr/>
        <a:lstStyle/>
        <a:p>
          <a:endParaRPr lang="en-US"/>
        </a:p>
      </dgm:t>
    </dgm:pt>
    <dgm:pt modelId="{87104418-0402-417E-8BCB-4D248FDF8152}" type="pres">
      <dgm:prSet presAssocID="{35DFB9D0-91A9-4F05-8226-3370BD563A99}" presName="Accent2" presStyleCnt="0"/>
      <dgm:spPr/>
    </dgm:pt>
    <dgm:pt modelId="{D5DB8C53-AE9A-49E2-94F5-A497AC74FEE5}" type="pres">
      <dgm:prSet presAssocID="{35DFB9D0-91A9-4F05-8226-3370BD563A99}" presName="Accent" presStyleLbl="node1" presStyleIdx="1" presStyleCnt="3"/>
      <dgm:spPr/>
    </dgm:pt>
    <dgm:pt modelId="{78301E8A-9823-40E7-9818-426D294BC45D}" type="pres">
      <dgm:prSet presAssocID="{35DFB9D0-91A9-4F05-8226-3370BD563A99}" presName="Parent2" presStyleLbl="revTx" presStyleIdx="1" presStyleCnt="3">
        <dgm:presLayoutVars>
          <dgm:chMax val="1"/>
          <dgm:chPref val="1"/>
          <dgm:bulletEnabled val="1"/>
        </dgm:presLayoutVars>
      </dgm:prSet>
      <dgm:spPr/>
      <dgm:t>
        <a:bodyPr/>
        <a:lstStyle/>
        <a:p>
          <a:endParaRPr lang="en-US"/>
        </a:p>
      </dgm:t>
    </dgm:pt>
    <dgm:pt modelId="{1DF74E8D-001B-400A-8872-23FF19CDF493}" type="pres">
      <dgm:prSet presAssocID="{8C504CF2-BEBD-472B-BEF7-7DD3E47F7CEA}" presName="Accent3" presStyleCnt="0"/>
      <dgm:spPr/>
    </dgm:pt>
    <dgm:pt modelId="{41224DB0-C937-4ED5-B51F-FBD218F92366}" type="pres">
      <dgm:prSet presAssocID="{8C504CF2-BEBD-472B-BEF7-7DD3E47F7CEA}" presName="Accent" presStyleLbl="node1" presStyleIdx="2" presStyleCnt="3"/>
      <dgm:spPr/>
    </dgm:pt>
    <dgm:pt modelId="{282B46DA-D57F-4EBE-9549-6631DE29ED57}" type="pres">
      <dgm:prSet presAssocID="{8C504CF2-BEBD-472B-BEF7-7DD3E47F7CEA}" presName="Parent3" presStyleLbl="revTx" presStyleIdx="2" presStyleCnt="3">
        <dgm:presLayoutVars>
          <dgm:chMax val="1"/>
          <dgm:chPref val="1"/>
          <dgm:bulletEnabled val="1"/>
        </dgm:presLayoutVars>
      </dgm:prSet>
      <dgm:spPr/>
      <dgm:t>
        <a:bodyPr/>
        <a:lstStyle/>
        <a:p>
          <a:endParaRPr lang="en-US"/>
        </a:p>
      </dgm:t>
    </dgm:pt>
  </dgm:ptLst>
  <dgm:cxnLst>
    <dgm:cxn modelId="{A10C660B-AFE7-455D-B7F0-A8369CAD8AD8}" type="presOf" srcId="{8C504CF2-BEBD-472B-BEF7-7DD3E47F7CEA}" destId="{282B46DA-D57F-4EBE-9549-6631DE29ED57}" srcOrd="0" destOrd="0" presId="urn:microsoft.com/office/officeart/2009/layout/CircleArrowProcess"/>
    <dgm:cxn modelId="{6493BB59-C226-41D8-BEDD-374382CC6564}" type="presOf" srcId="{05FDB4C9-21C7-4F29-A91B-3A2568DD9BDA}" destId="{EFCD1C8D-72B4-4835-9B7D-B38E720F354F}" srcOrd="0" destOrd="0" presId="urn:microsoft.com/office/officeart/2009/layout/CircleArrowProcess"/>
    <dgm:cxn modelId="{CBF8178B-816F-4F28-917F-5A956CE73E2C}" type="presOf" srcId="{CE3E8A95-2FDC-482D-ACA2-6E14F7453E4A}" destId="{3FAC6FD9-D163-4E4C-B9CE-03C5E49410DA}" srcOrd="0" destOrd="0" presId="urn:microsoft.com/office/officeart/2009/layout/CircleArrowProcess"/>
    <dgm:cxn modelId="{D5F8FFE8-9D00-4890-B0A7-1B29FC9FA3A2}" srcId="{CE3E8A95-2FDC-482D-ACA2-6E14F7453E4A}" destId="{35DFB9D0-91A9-4F05-8226-3370BD563A99}" srcOrd="1" destOrd="0" parTransId="{401D25C7-AB76-43AA-BF68-FA3CEFBA44C1}" sibTransId="{CB229540-0F3D-4722-93FB-2506C5EA4EE0}"/>
    <dgm:cxn modelId="{C37FE98F-95BF-4D30-B94F-59D122688A19}" srcId="{CE3E8A95-2FDC-482D-ACA2-6E14F7453E4A}" destId="{8C504CF2-BEBD-472B-BEF7-7DD3E47F7CEA}" srcOrd="2" destOrd="0" parTransId="{3F2C6910-0392-4BB5-8F2A-C3C5E4A45D61}" sibTransId="{3A9C9713-E2BE-4296-BF92-B1E9CA4801CB}"/>
    <dgm:cxn modelId="{9FC04307-02A8-4691-A06A-00D2A21183F8}" srcId="{CE3E8A95-2FDC-482D-ACA2-6E14F7453E4A}" destId="{05FDB4C9-21C7-4F29-A91B-3A2568DD9BDA}" srcOrd="0" destOrd="0" parTransId="{5155E83B-8E45-4465-B5E2-0525C74BBE61}" sibTransId="{FAD4202C-319E-4E9B-B82F-D8A582C1ADFB}"/>
    <dgm:cxn modelId="{0E30FD0F-7008-457D-A33D-192200AB4A83}" type="presOf" srcId="{35DFB9D0-91A9-4F05-8226-3370BD563A99}" destId="{78301E8A-9823-40E7-9818-426D294BC45D}" srcOrd="0" destOrd="0" presId="urn:microsoft.com/office/officeart/2009/layout/CircleArrowProcess"/>
    <dgm:cxn modelId="{910FFCCD-6A29-4DAD-A719-1CEF4F4D8536}" type="presParOf" srcId="{3FAC6FD9-D163-4E4C-B9CE-03C5E49410DA}" destId="{52F74034-24B9-463F-A01D-C018CE9EEAAD}" srcOrd="0" destOrd="0" presId="urn:microsoft.com/office/officeart/2009/layout/CircleArrowProcess"/>
    <dgm:cxn modelId="{FB52815A-8E4D-4825-9640-EC24250777E9}" type="presParOf" srcId="{52F74034-24B9-463F-A01D-C018CE9EEAAD}" destId="{F0DFAC92-8E78-443D-92ED-547321BA8265}" srcOrd="0" destOrd="0" presId="urn:microsoft.com/office/officeart/2009/layout/CircleArrowProcess"/>
    <dgm:cxn modelId="{4A383ED5-672E-49F5-879B-61EA5A139C15}" type="presParOf" srcId="{3FAC6FD9-D163-4E4C-B9CE-03C5E49410DA}" destId="{EFCD1C8D-72B4-4835-9B7D-B38E720F354F}" srcOrd="1" destOrd="0" presId="urn:microsoft.com/office/officeart/2009/layout/CircleArrowProcess"/>
    <dgm:cxn modelId="{68ABE1B0-C62C-4FFE-AD98-68A00C3BD359}" type="presParOf" srcId="{3FAC6FD9-D163-4E4C-B9CE-03C5E49410DA}" destId="{87104418-0402-417E-8BCB-4D248FDF8152}" srcOrd="2" destOrd="0" presId="urn:microsoft.com/office/officeart/2009/layout/CircleArrowProcess"/>
    <dgm:cxn modelId="{B331B598-EDFA-4495-A128-E1EACEBF25A4}" type="presParOf" srcId="{87104418-0402-417E-8BCB-4D248FDF8152}" destId="{D5DB8C53-AE9A-49E2-94F5-A497AC74FEE5}" srcOrd="0" destOrd="0" presId="urn:microsoft.com/office/officeart/2009/layout/CircleArrowProcess"/>
    <dgm:cxn modelId="{0263E8F4-C31E-47EF-AD1A-88A7C997D4E0}" type="presParOf" srcId="{3FAC6FD9-D163-4E4C-B9CE-03C5E49410DA}" destId="{78301E8A-9823-40E7-9818-426D294BC45D}" srcOrd="3" destOrd="0" presId="urn:microsoft.com/office/officeart/2009/layout/CircleArrowProcess"/>
    <dgm:cxn modelId="{20FF431E-1C0D-4C30-8349-55D176568554}" type="presParOf" srcId="{3FAC6FD9-D163-4E4C-B9CE-03C5E49410DA}" destId="{1DF74E8D-001B-400A-8872-23FF19CDF493}" srcOrd="4" destOrd="0" presId="urn:microsoft.com/office/officeart/2009/layout/CircleArrowProcess"/>
    <dgm:cxn modelId="{C1444726-512E-4397-8335-BFCEA75E4CAA}" type="presParOf" srcId="{1DF74E8D-001B-400A-8872-23FF19CDF493}" destId="{41224DB0-C937-4ED5-B51F-FBD218F92366}" srcOrd="0" destOrd="0" presId="urn:microsoft.com/office/officeart/2009/layout/CircleArrowProcess"/>
    <dgm:cxn modelId="{E011CF31-81A0-4C7F-BBF1-C139C2F97750}" type="presParOf" srcId="{3FAC6FD9-D163-4E4C-B9CE-03C5E49410DA}" destId="{282B46DA-D57F-4EBE-9549-6631DE29ED57}" srcOrd="5"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1175"/>
          </a:xfrm>
          <a:prstGeom prst="rect">
            <a:avLst/>
          </a:prstGeom>
        </p:spPr>
        <p:txBody>
          <a:bodyPr vert="horz" wrap="square" lIns="91440" tIns="45720" rIns="91440" bIns="45720" numCol="1" anchor="t" anchorCtr="0" compatLnSpc="1">
            <a:prstTxWarp prst="textNoShape">
              <a:avLst/>
            </a:prstTxWarp>
          </a:bodyPr>
          <a:lstStyle>
            <a:lvl1pPr eaLnBrk="1" hangingPunct="1">
              <a:lnSpc>
                <a:spcPct val="120000"/>
              </a:lnSpc>
              <a:spcBef>
                <a:spcPct val="20000"/>
              </a:spcBef>
              <a:spcAft>
                <a:spcPct val="50000"/>
              </a:spcAft>
              <a:defRPr sz="1200"/>
            </a:lvl1pPr>
          </a:lstStyle>
          <a:p>
            <a:pPr>
              <a:defRPr/>
            </a:pPr>
            <a:endParaRPr lang="en-US" altLang="en-US"/>
          </a:p>
        </p:txBody>
      </p:sp>
      <p:sp>
        <p:nvSpPr>
          <p:cNvPr id="3" name="Date Placeholder 2"/>
          <p:cNvSpPr>
            <a:spLocks noGrp="1"/>
          </p:cNvSpPr>
          <p:nvPr>
            <p:ph type="dt" idx="1"/>
          </p:nvPr>
        </p:nvSpPr>
        <p:spPr>
          <a:xfrm>
            <a:off x="4022725" y="0"/>
            <a:ext cx="3078163" cy="511175"/>
          </a:xfrm>
          <a:prstGeom prst="rect">
            <a:avLst/>
          </a:prstGeom>
        </p:spPr>
        <p:txBody>
          <a:bodyPr vert="horz" wrap="square" lIns="91440" tIns="45720" rIns="91440" bIns="45720" numCol="1" anchor="t" anchorCtr="0" compatLnSpc="1">
            <a:prstTxWarp prst="textNoShape">
              <a:avLst/>
            </a:prstTxWarp>
          </a:bodyPr>
          <a:lstStyle>
            <a:lvl1pPr algn="r" eaLnBrk="1" hangingPunct="1">
              <a:lnSpc>
                <a:spcPct val="120000"/>
              </a:lnSpc>
              <a:spcBef>
                <a:spcPct val="20000"/>
              </a:spcBef>
              <a:spcAft>
                <a:spcPct val="50000"/>
              </a:spcAft>
              <a:defRPr sz="1200">
                <a:latin typeface="Arial" panose="020B0604020202020204" pitchFamily="34" charset="0"/>
                <a:ea typeface="MS PGothic" panose="020B0600070205080204" pitchFamily="34" charset="-128"/>
                <a:cs typeface="Arial" panose="020B0604020202020204" pitchFamily="34" charset="0"/>
              </a:defRPr>
            </a:lvl1pPr>
          </a:lstStyle>
          <a:p>
            <a:pPr>
              <a:defRPr/>
            </a:pPr>
            <a:fld id="{45F40363-D5E1-4C8C-AF7E-280DBB148933}" type="datetimeFigureOut">
              <a:rPr lang="en-US" altLang="pt-BR"/>
              <a:pPr>
                <a:defRPr/>
              </a:pPr>
              <a:t>10/25/2018</a:t>
            </a:fld>
            <a:endParaRPr lang="en-US" altLang="pt-BR"/>
          </a:p>
        </p:txBody>
      </p:sp>
      <p:sp>
        <p:nvSpPr>
          <p:cNvPr id="4" name="Slide Image Placeholder 3"/>
          <p:cNvSpPr>
            <a:spLocks noGrp="1" noRot="1" noChangeAspect="1"/>
          </p:cNvSpPr>
          <p:nvPr>
            <p:ph type="sldImg" idx="2"/>
          </p:nvPr>
        </p:nvSpPr>
        <p:spPr>
          <a:xfrm>
            <a:off x="993775" y="768350"/>
            <a:ext cx="5114925" cy="3836988"/>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709613" y="4860925"/>
            <a:ext cx="5683250" cy="4605338"/>
          </a:xfrm>
          <a:prstGeom prst="rect">
            <a:avLst/>
          </a:prstGeom>
        </p:spPr>
        <p:txBody>
          <a:bodyPr vert="horz" lIns="91440" tIns="45720" rIns="91440" bIns="45720" rtlCol="0"/>
          <a:lstStyle/>
          <a:p>
            <a:pPr lvl="0"/>
            <a:r>
              <a:rPr lang="x-none" noProof="0" smtClean="0"/>
              <a:t>Click to edit Master text styles</a:t>
            </a:r>
          </a:p>
          <a:p>
            <a:pPr lvl="1"/>
            <a:r>
              <a:rPr lang="x-none" noProof="0" smtClean="0"/>
              <a:t>Second level</a:t>
            </a:r>
          </a:p>
          <a:p>
            <a:pPr lvl="2"/>
            <a:r>
              <a:rPr lang="x-none" noProof="0" smtClean="0"/>
              <a:t>Third level</a:t>
            </a:r>
          </a:p>
          <a:p>
            <a:pPr lvl="3"/>
            <a:r>
              <a:rPr lang="x-none" noProof="0" smtClean="0"/>
              <a:t>Fourth level</a:t>
            </a:r>
          </a:p>
          <a:p>
            <a:pPr lvl="4"/>
            <a:r>
              <a:rPr lang="x-none" noProof="0" smtClean="0"/>
              <a:t>Fifth level</a:t>
            </a:r>
            <a:endParaRPr lang="en-US" noProof="0" smtClean="0"/>
          </a:p>
        </p:txBody>
      </p:sp>
      <p:sp>
        <p:nvSpPr>
          <p:cNvPr id="6" name="Footer Placeholder 5"/>
          <p:cNvSpPr>
            <a:spLocks noGrp="1"/>
          </p:cNvSpPr>
          <p:nvPr>
            <p:ph type="ftr" sz="quarter" idx="4"/>
          </p:nvPr>
        </p:nvSpPr>
        <p:spPr>
          <a:xfrm>
            <a:off x="0" y="9721850"/>
            <a:ext cx="3078163" cy="511175"/>
          </a:xfrm>
          <a:prstGeom prst="rect">
            <a:avLst/>
          </a:prstGeom>
        </p:spPr>
        <p:txBody>
          <a:bodyPr vert="horz" wrap="square" lIns="91440" tIns="45720" rIns="91440" bIns="45720" numCol="1" anchor="b" anchorCtr="0" compatLnSpc="1">
            <a:prstTxWarp prst="textNoShape">
              <a:avLst/>
            </a:prstTxWarp>
          </a:bodyPr>
          <a:lstStyle>
            <a:lvl1pPr eaLnBrk="1" hangingPunct="1">
              <a:lnSpc>
                <a:spcPct val="120000"/>
              </a:lnSpc>
              <a:spcBef>
                <a:spcPct val="20000"/>
              </a:spcBef>
              <a:spcAft>
                <a:spcPct val="50000"/>
              </a:spcAft>
              <a:defRPr sz="1200"/>
            </a:lvl1pPr>
          </a:lstStyle>
          <a:p>
            <a:pPr>
              <a:defRPr/>
            </a:pPr>
            <a:endParaRPr lang="en-US" altLang="en-US"/>
          </a:p>
        </p:txBody>
      </p:sp>
      <p:sp>
        <p:nvSpPr>
          <p:cNvPr id="7" name="Slide Number Placeholder 6"/>
          <p:cNvSpPr>
            <a:spLocks noGrp="1"/>
          </p:cNvSpPr>
          <p:nvPr>
            <p:ph type="sldNum" sz="quarter" idx="5"/>
          </p:nvPr>
        </p:nvSpPr>
        <p:spPr>
          <a:xfrm>
            <a:off x="4022725" y="9721850"/>
            <a:ext cx="3078163" cy="511175"/>
          </a:xfrm>
          <a:prstGeom prst="rect">
            <a:avLst/>
          </a:prstGeom>
        </p:spPr>
        <p:txBody>
          <a:bodyPr vert="horz" wrap="square" lIns="91440" tIns="45720" rIns="91440" bIns="45720" numCol="1" anchor="b" anchorCtr="0" compatLnSpc="1">
            <a:prstTxWarp prst="textNoShape">
              <a:avLst/>
            </a:prstTxWarp>
          </a:bodyPr>
          <a:lstStyle>
            <a:lvl1pPr algn="r" eaLnBrk="1" hangingPunct="1">
              <a:lnSpc>
                <a:spcPct val="120000"/>
              </a:lnSpc>
              <a:spcBef>
                <a:spcPct val="20000"/>
              </a:spcBef>
              <a:spcAft>
                <a:spcPct val="50000"/>
              </a:spcAft>
              <a:defRPr sz="1200">
                <a:latin typeface="Arial" panose="020B0604020202020204" pitchFamily="34" charset="0"/>
                <a:ea typeface="MS PGothic" panose="020B0600070205080204" pitchFamily="34" charset="-128"/>
                <a:cs typeface="Arial" panose="020B0604020202020204" pitchFamily="34" charset="0"/>
              </a:defRPr>
            </a:lvl1pPr>
          </a:lstStyle>
          <a:p>
            <a:pPr>
              <a:defRPr/>
            </a:pPr>
            <a:fld id="{9D3F0872-8FD9-42D6-819D-0FD59D2BD92B}" type="slidenum">
              <a:rPr lang="en-US" altLang="pt-BR"/>
              <a:pPr>
                <a:defRPr/>
              </a:pPr>
              <a:t>‹nº›</a:t>
            </a:fld>
            <a:endParaRPr lang="en-US" altLang="pt-BR"/>
          </a:p>
        </p:txBody>
      </p:sp>
    </p:spTree>
    <p:extLst>
      <p:ext uri="{BB962C8B-B14F-4D97-AF65-F5344CB8AC3E}">
        <p14:creationId xmlns:p14="http://schemas.microsoft.com/office/powerpoint/2010/main" val="2950814861"/>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panose="020B0600070205080204" pitchFamily="34" charset="-128"/>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pt-BR" smtClean="0"/>
              <a:t>http://www.carlosble.com/2010/12/%C2%BFesta-mi-codigo-bien-hecho/</a:t>
            </a:r>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20000"/>
              </a:spcBef>
            </a:pPr>
            <a:fld id="{42468A95-61CE-48B4-A6A8-2E4324F07902}" type="slidenum">
              <a:rPr lang="en-US" altLang="pt-BR" smtClean="0">
                <a:latin typeface="Arial" panose="020B0604020202020204" pitchFamily="34" charset="0"/>
              </a:rPr>
              <a:pPr>
                <a:spcBef>
                  <a:spcPct val="20000"/>
                </a:spcBef>
              </a:pPr>
              <a:t>1</a:t>
            </a:fld>
            <a:endParaRPr lang="en-US" altLang="pt-BR" smtClean="0">
              <a:latin typeface="Arial" panose="020B0604020202020204" pitchFamily="34" charset="0"/>
            </a:endParaRPr>
          </a:p>
        </p:txBody>
      </p:sp>
    </p:spTree>
    <p:extLst>
      <p:ext uri="{BB962C8B-B14F-4D97-AF65-F5344CB8AC3E}">
        <p14:creationId xmlns:p14="http://schemas.microsoft.com/office/powerpoint/2010/main" val="1132669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MS PGothic" panose="020B0600070205080204" pitchFamily="34" charset="-128"/>
              </a:defRPr>
            </a:lvl1pPr>
            <a:lvl2pPr marL="742950" indent="-285750">
              <a:spcBef>
                <a:spcPct val="30000"/>
              </a:spcBef>
              <a:defRPr sz="1200">
                <a:solidFill>
                  <a:schemeClr val="tx1"/>
                </a:solidFill>
                <a:latin typeface="Calibri" panose="020F0502020204030204" pitchFamily="34" charset="0"/>
                <a:ea typeface="MS PGothic" panose="020B0600070205080204" pitchFamily="34" charset="-128"/>
              </a:defRPr>
            </a:lvl2pPr>
            <a:lvl3pPr marL="1143000" indent="-228600">
              <a:spcBef>
                <a:spcPct val="30000"/>
              </a:spcBef>
              <a:defRPr sz="1200">
                <a:solidFill>
                  <a:schemeClr val="tx1"/>
                </a:solidFill>
                <a:latin typeface="Calibri" panose="020F0502020204030204" pitchFamily="34" charset="0"/>
                <a:ea typeface="MS PGothic" panose="020B0600070205080204" pitchFamily="34" charset="-128"/>
              </a:defRPr>
            </a:lvl3pPr>
            <a:lvl4pPr marL="1600200" indent="-228600">
              <a:spcBef>
                <a:spcPct val="30000"/>
              </a:spcBef>
              <a:defRPr sz="1200">
                <a:solidFill>
                  <a:schemeClr val="tx1"/>
                </a:solidFill>
                <a:latin typeface="Calibri" panose="020F0502020204030204" pitchFamily="34" charset="0"/>
                <a:ea typeface="MS PGothic" panose="020B0600070205080204" pitchFamily="34" charset="-128"/>
              </a:defRPr>
            </a:lvl4pPr>
            <a:lvl5pPr marL="2057400" indent="-228600">
              <a:spcBef>
                <a:spcPct val="30000"/>
              </a:spcBef>
              <a:defRPr sz="1200">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MS PGothic" panose="020B0600070205080204" pitchFamily="34" charset="-128"/>
              </a:defRPr>
            </a:lvl9pPr>
          </a:lstStyle>
          <a:p>
            <a:pPr>
              <a:spcBef>
                <a:spcPct val="0"/>
              </a:spcBef>
            </a:pPr>
            <a:fld id="{12FCF8ED-CB4A-4E5D-95C6-5D6F6DC437E2}" type="slidenum">
              <a:rPr lang="fr-FR" altLang="pt-BR" smtClean="0">
                <a:latin typeface="Times New Roman" panose="02020603050405020304" pitchFamily="18" charset="0"/>
                <a:cs typeface="Times New Roman" panose="02020603050405020304" pitchFamily="18" charset="0"/>
              </a:rPr>
              <a:pPr>
                <a:spcBef>
                  <a:spcPct val="0"/>
                </a:spcBef>
              </a:pPr>
              <a:t>2</a:t>
            </a:fld>
            <a:endParaRPr lang="fr-FR" altLang="pt-BR" smtClean="0">
              <a:latin typeface="Times New Roman" panose="02020603050405020304" pitchFamily="18" charset="0"/>
              <a:cs typeface="Times New Roman" panose="02020603050405020304" pitchFamily="18" charset="0"/>
            </a:endParaRPr>
          </a:p>
        </p:txBody>
      </p:sp>
      <p:sp>
        <p:nvSpPr>
          <p:cNvPr id="1034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pt-BR" smtClean="0"/>
          </a:p>
        </p:txBody>
      </p:sp>
    </p:spTree>
    <p:extLst>
      <p:ext uri="{BB962C8B-B14F-4D97-AF65-F5344CB8AC3E}">
        <p14:creationId xmlns:p14="http://schemas.microsoft.com/office/powerpoint/2010/main" val="58696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8BD69C63-2358-4A2A-8B09-75201D0D4ED7}" type="slidenum">
              <a:rPr lang="en-US" altLang="en-US" smtClean="0"/>
              <a:pPr/>
              <a:t>8</a:t>
            </a:fld>
            <a:endParaRPr lang="en-US" altLang="en-US" smtClean="0"/>
          </a:p>
        </p:txBody>
      </p:sp>
      <p:sp>
        <p:nvSpPr>
          <p:cNvPr id="110595"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6"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en-US" smtClean="0"/>
          </a:p>
        </p:txBody>
      </p:sp>
    </p:spTree>
    <p:extLst>
      <p:ext uri="{BB962C8B-B14F-4D97-AF65-F5344CB8AC3E}">
        <p14:creationId xmlns:p14="http://schemas.microsoft.com/office/powerpoint/2010/main" val="1596382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6A008F24-7DC6-4AE8-9D90-0C3CDD82AD25}" type="slidenum">
              <a:rPr lang="en-US" altLang="en-US" smtClean="0"/>
              <a:pPr/>
              <a:t>9</a:t>
            </a:fld>
            <a:endParaRPr lang="en-US" altLang="en-US" smtClean="0"/>
          </a:p>
        </p:txBody>
      </p:sp>
      <p:sp>
        <p:nvSpPr>
          <p:cNvPr id="112643"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4"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Forecast to Plan </a:t>
            </a:r>
          </a:p>
          <a:p>
            <a:pPr lvl="1"/>
            <a:r>
              <a:rPr lang="pt-BR" altLang="en-US" smtClean="0"/>
              <a:t>Este fluxo de negócios descreve como uma empresa usa o histórico de ordens de venda para obter uma previsão, criar um plano de produção, fabricação ou distribuição com base nessa previsão e mostra como analisar, revisar e simular alterações nesse plano. </a:t>
            </a:r>
            <a:r>
              <a:rPr lang="en-US" altLang="en-US" smtClean="0"/>
              <a:t> </a:t>
            </a:r>
          </a:p>
          <a:p>
            <a:pPr lvl="1"/>
            <a:r>
              <a:rPr lang="pt-BR" altLang="en-US" smtClean="0"/>
              <a:t>O fluxo envolve os seguintes produtos:</a:t>
            </a:r>
            <a:r>
              <a:rPr lang="en-US" altLang="en-US" smtClean="0"/>
              <a:t> </a:t>
            </a:r>
          </a:p>
          <a:p>
            <a:pPr lvl="2"/>
            <a:r>
              <a:rPr lang="pt-BR" altLang="en-US" b="1" smtClean="0"/>
              <a:t>Demand Planning:</a:t>
            </a:r>
            <a:r>
              <a:rPr lang="pt-BR" altLang="en-US" smtClean="0"/>
              <a:t> Cria previsões consolidadas com base em marketing, vendas e fabricação.</a:t>
            </a:r>
            <a:r>
              <a:rPr lang="en-US" altLang="en-US" b="1" smtClean="0"/>
              <a:t> </a:t>
            </a:r>
          </a:p>
          <a:p>
            <a:pPr lvl="2"/>
            <a:r>
              <a:rPr lang="pt-BR" altLang="en-US" b="1" smtClean="0"/>
              <a:t>Order Management:</a:t>
            </a:r>
            <a:r>
              <a:rPr lang="pt-BR" altLang="en-US" smtClean="0"/>
              <a:t> Fornece informações sobre ordens de venda.</a:t>
            </a:r>
            <a:r>
              <a:rPr lang="en-US" altLang="en-US" b="1" smtClean="0"/>
              <a:t> </a:t>
            </a:r>
          </a:p>
          <a:p>
            <a:pPr lvl="2"/>
            <a:r>
              <a:rPr lang="en-US" altLang="en-US" b="1" smtClean="0"/>
              <a:t>ASCP (Advanced Supply Chain Planning):</a:t>
            </a:r>
            <a:r>
              <a:rPr lang="pt-BR" altLang="en-US" smtClean="0"/>
              <a:t> Cria planos otimizados ou baseados em restrições.</a:t>
            </a:r>
            <a:endParaRPr lang="en-US" altLang="en-US" b="1" smtClean="0"/>
          </a:p>
        </p:txBody>
      </p:sp>
    </p:spTree>
    <p:extLst>
      <p:ext uri="{BB962C8B-B14F-4D97-AF65-F5344CB8AC3E}">
        <p14:creationId xmlns:p14="http://schemas.microsoft.com/office/powerpoint/2010/main" val="1524205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4AE76E06-EBBA-41BA-A8F9-7394E17623AA}" type="slidenum">
              <a:rPr lang="en-US" altLang="en-US" smtClean="0"/>
              <a:pPr/>
              <a:t>10</a:t>
            </a:fld>
            <a:endParaRPr lang="en-US" altLang="en-US" smtClean="0"/>
          </a:p>
        </p:txBody>
      </p:sp>
      <p:sp>
        <p:nvSpPr>
          <p:cNvPr id="114691"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2"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Procure to Pay </a:t>
            </a:r>
          </a:p>
          <a:p>
            <a:pPr lvl="1"/>
            <a:r>
              <a:rPr lang="pt-BR" altLang="en-US" smtClean="0"/>
              <a:t>Este fluxo de negócios descreve como uma empresa cria ordens de compra para a aquisição de mercadorias ou serviços e, em seguida, processa NFFs associadas para pagamento, transferências para o General Ledger e reconciliações com demonstrativos bancários.</a:t>
            </a:r>
            <a:r>
              <a:rPr lang="en-US" altLang="en-US" smtClean="0"/>
              <a:t> </a:t>
            </a:r>
          </a:p>
          <a:p>
            <a:pPr lvl="1"/>
            <a:r>
              <a:rPr lang="pt-BR" altLang="en-US" smtClean="0"/>
              <a:t>O fluxo envolve os seguintes produtos:</a:t>
            </a:r>
            <a:r>
              <a:rPr lang="en-US" altLang="en-US" smtClean="0"/>
              <a:t> </a:t>
            </a:r>
          </a:p>
          <a:p>
            <a:pPr lvl="2"/>
            <a:r>
              <a:rPr lang="pt-BR" altLang="en-US" b="1" smtClean="0"/>
              <a:t>General Ledger:</a:t>
            </a:r>
            <a:r>
              <a:rPr lang="pt-BR" altLang="en-US" smtClean="0"/>
              <a:t> O General Ledger recebe informações contábeis de vários Aplicativos Oracle. Depois que as informações contábeis são importadas, os lançamentos podem ser contabilizados e os saldos das contas, atualizados.</a:t>
            </a:r>
            <a:r>
              <a:rPr lang="en-US" altLang="en-US" b="1" smtClean="0"/>
              <a:t> </a:t>
            </a:r>
          </a:p>
          <a:p>
            <a:pPr lvl="2"/>
            <a:r>
              <a:rPr lang="pt-BR" altLang="en-US" b="1" smtClean="0"/>
              <a:t>Cash Management:</a:t>
            </a:r>
            <a:r>
              <a:rPr lang="pt-BR" altLang="en-US" smtClean="0"/>
              <a:t> Reconcilia pagamentos em dinheiro, bem como ajustes e correções desses pagamentos.</a:t>
            </a:r>
            <a:r>
              <a:rPr lang="en-US" altLang="en-US" b="1" smtClean="0"/>
              <a:t> </a:t>
            </a:r>
          </a:p>
          <a:p>
            <a:pPr lvl="2"/>
            <a:r>
              <a:rPr lang="pt-BR" altLang="en-US" b="1" smtClean="0"/>
              <a:t>Payables/</a:t>
            </a:r>
            <a:r>
              <a:rPr lang="pt-BR" altLang="en-US" b="1" i="1" smtClean="0"/>
              <a:t>i</a:t>
            </a:r>
            <a:r>
              <a:rPr lang="pt-BR" altLang="en-US" b="1" smtClean="0"/>
              <a:t>Expenses:</a:t>
            </a:r>
            <a:r>
              <a:rPr lang="pt-BR" altLang="en-US" smtClean="0"/>
              <a:t> As NFFs do fornecedor são lançadas no Payables e, se apropriado, vinculadas às ordens de compra correspondentes do Purchasing. Durante o processo de vinculação, a classificação contábil da NFF é copiada da ordem de compra (no caso de uma despesa) ou da conta de passivo apropriada (no caso de um item de inventário). As atividades de contas a pagar, despesas e pagamentos têm uma interface com o General Ledger. As NFFs para compras de ativos podem ter interface com o Assets.</a:t>
            </a:r>
            <a:r>
              <a:rPr lang="en-US" altLang="en-US" b="1" smtClean="0"/>
              <a:t> </a:t>
            </a:r>
          </a:p>
          <a:p>
            <a:pPr lvl="2"/>
            <a:r>
              <a:rPr lang="pt-BR" altLang="en-US" b="1" smtClean="0"/>
              <a:t>Purchasing/</a:t>
            </a:r>
            <a:r>
              <a:rPr lang="pt-BR" altLang="en-US" b="1" i="1" smtClean="0"/>
              <a:t>i</a:t>
            </a:r>
            <a:r>
              <a:rPr lang="pt-BR" altLang="en-US" b="1" smtClean="0"/>
              <a:t>Procurement:</a:t>
            </a:r>
            <a:r>
              <a:rPr lang="pt-BR" altLang="en-US" smtClean="0"/>
              <a:t> O Purchasing captura as informações contábeis sobre requisições e ordens de compra. As ordens de compra são enviadas aos fornecedores, que, por sua vez, respondem distribuindo mercadorias ou serviços e enviando NFFs que serão processadas no Payables. Durante o período contábil, as provisões de mercadorias definidas para contabilização de passivo mediante recebimento são enviadas para o General Ledger. Os fornecedores configurados no Purchasing são compartilhados pelo Payables e vice-versa.</a:t>
            </a:r>
            <a:r>
              <a:rPr lang="en-US" altLang="en-US" b="1" smtClean="0"/>
              <a:t> </a:t>
            </a:r>
          </a:p>
          <a:p>
            <a:pPr lvl="2"/>
            <a:r>
              <a:rPr lang="pt-BR" altLang="en-US" b="1" smtClean="0"/>
              <a:t>Inventory:</a:t>
            </a:r>
            <a:r>
              <a:rPr lang="pt-BR" altLang="en-US" smtClean="0"/>
              <a:t> O Oracle Purchasing, bem como outros Aplicativos Oracle, usa itens definidos no Oracle Inventory. Se o item for designado como planejado, a demanda poderá ser gerada na forma de requisição e enviada para o Purchasing, onde poderão ser criadas ordens de compra ou OCs parceladas em aberto para repor os níveis do inventário.</a:t>
            </a:r>
            <a:r>
              <a:rPr lang="en-US" altLang="en-US" b="1" smtClean="0"/>
              <a:t> </a:t>
            </a:r>
          </a:p>
        </p:txBody>
      </p:sp>
    </p:spTree>
    <p:extLst>
      <p:ext uri="{BB962C8B-B14F-4D97-AF65-F5344CB8AC3E}">
        <p14:creationId xmlns:p14="http://schemas.microsoft.com/office/powerpoint/2010/main" val="2375226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772C591F-5F88-494F-87CF-FFA084014ED7}" type="slidenum">
              <a:rPr lang="en-US" altLang="en-US" smtClean="0"/>
              <a:pPr/>
              <a:t>11</a:t>
            </a:fld>
            <a:endParaRPr lang="en-US" altLang="en-US" smtClean="0"/>
          </a:p>
        </p:txBody>
      </p:sp>
      <p:sp>
        <p:nvSpPr>
          <p:cNvPr id="116739"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40"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Demand to Build </a:t>
            </a:r>
          </a:p>
          <a:p>
            <a:pPr lvl="1"/>
            <a:r>
              <a:rPr lang="pt-BR" altLang="en-US" smtClean="0"/>
              <a:t>Este fluxo de negócios descreve como uma empresa analisa ou prevê a demanda, e converte essa demanda em plano de produção.</a:t>
            </a:r>
            <a:r>
              <a:rPr lang="en-US" altLang="en-US" smtClean="0"/>
              <a:t> </a:t>
            </a:r>
          </a:p>
          <a:p>
            <a:pPr lvl="1"/>
            <a:r>
              <a:rPr lang="pt-BR" altLang="en-US" smtClean="0"/>
              <a:t>O fluxo envolve os seguintes produtos:</a:t>
            </a:r>
            <a:r>
              <a:rPr lang="en-US" altLang="en-US" smtClean="0"/>
              <a:t> </a:t>
            </a:r>
          </a:p>
          <a:p>
            <a:pPr lvl="2"/>
            <a:r>
              <a:rPr lang="en-US" altLang="en-US" b="1" smtClean="0"/>
              <a:t>ASCP (Advanced Supply Chain Planning)/MRP (Material Requirements Planning):</a:t>
            </a:r>
            <a:r>
              <a:rPr lang="pt-BR" altLang="en-US" smtClean="0"/>
              <a:t> Cria planos otimizados ou baseados em restrições e requisições (de compra ou internas) para repor o inventário.</a:t>
            </a:r>
            <a:r>
              <a:rPr lang="en-US" altLang="en-US" b="1" smtClean="0"/>
              <a:t> </a:t>
            </a:r>
          </a:p>
          <a:p>
            <a:pPr lvl="2"/>
            <a:r>
              <a:rPr lang="pt-BR" altLang="en-US" b="1" smtClean="0"/>
              <a:t>Cost Management:</a:t>
            </a:r>
            <a:r>
              <a:rPr lang="pt-BR" altLang="en-US" smtClean="0"/>
              <a:t> Fornece informações sobre custo para o planejamento otimizado.</a:t>
            </a:r>
            <a:r>
              <a:rPr lang="en-US" altLang="en-US" b="1" smtClean="0"/>
              <a:t> </a:t>
            </a:r>
          </a:p>
          <a:p>
            <a:pPr lvl="2"/>
            <a:r>
              <a:rPr lang="en-US" altLang="en-US" b="1" smtClean="0"/>
              <a:t>Oracle WIP (Work in Progress):</a:t>
            </a:r>
            <a:r>
              <a:rPr lang="pt-BR" altLang="en-US" smtClean="0"/>
              <a:t> Usa fabricação discreta, de projeto, repetitiva, de montagem sob encomenda, sem ordem de produção, ou uma combinação dos métodos de fabricação. As pesquisas e os relatórios oferecem uma noção completa das transações, dos materiais, dos recursos, dos custos e do andamento das ordens de produção e programações.</a:t>
            </a:r>
            <a:r>
              <a:rPr lang="en-US" altLang="en-US" b="1" smtClean="0"/>
              <a:t> </a:t>
            </a:r>
          </a:p>
          <a:p>
            <a:pPr lvl="2"/>
            <a:r>
              <a:rPr lang="pt-BR" altLang="en-US" b="1" smtClean="0"/>
              <a:t>Capacity:</a:t>
            </a:r>
            <a:r>
              <a:rPr lang="pt-BR" altLang="en-US" smtClean="0"/>
              <a:t> Calcula a proporção entre carga e capacidade por recurso ou linha de produção, garantindo que você terá capacidade suficiente para atender às necessidades de produção.</a:t>
            </a:r>
            <a:r>
              <a:rPr lang="en-US" altLang="en-US" b="1" smtClean="0"/>
              <a:t> </a:t>
            </a:r>
          </a:p>
          <a:p>
            <a:pPr lvl="2"/>
            <a:r>
              <a:rPr lang="pt-BR" altLang="en-US" b="1" smtClean="0"/>
              <a:t>BOM (Bills of Material):</a:t>
            </a:r>
            <a:r>
              <a:rPr lang="pt-BR" altLang="en-US" smtClean="0"/>
              <a:t> Armazena listas de itens associados a um item-pai e informações sobre como cada item está relacionado com o respectivo pai.</a:t>
            </a:r>
            <a:r>
              <a:rPr lang="en-US" altLang="en-US" b="1" smtClean="0"/>
              <a:t> </a:t>
            </a:r>
          </a:p>
          <a:p>
            <a:pPr lvl="2"/>
            <a:r>
              <a:rPr lang="pt-BR" altLang="en-US" b="1" smtClean="0"/>
              <a:t>Purchasing/</a:t>
            </a:r>
            <a:r>
              <a:rPr lang="pt-BR" altLang="en-US" b="1" i="1" smtClean="0"/>
              <a:t>i</a:t>
            </a:r>
            <a:r>
              <a:rPr lang="pt-BR" altLang="en-US" b="1" smtClean="0"/>
              <a:t>Procurement:</a:t>
            </a:r>
            <a:r>
              <a:rPr lang="pt-BR" altLang="en-US" smtClean="0"/>
              <a:t> As requisições são recebidas do Inventory e do ASCP/MRP. Adquire mercadorias e serviços, e registra provisões periódicas e permanentes</a:t>
            </a:r>
            <a:r>
              <a:rPr lang="en-US" altLang="en-US" b="1" smtClean="0"/>
              <a:t> </a:t>
            </a:r>
          </a:p>
          <a:p>
            <a:pPr lvl="2"/>
            <a:r>
              <a:rPr lang="pt-BR" altLang="en-US" b="1" smtClean="0"/>
              <a:t>Inventory:</a:t>
            </a:r>
            <a:r>
              <a:rPr lang="pt-BR" altLang="en-US" smtClean="0"/>
              <a:t> Configura itens de inventário/despesa e registra atividades de inventário, como recebimentos, devoluções e correções.</a:t>
            </a:r>
            <a:r>
              <a:rPr lang="en-US" altLang="en-US" b="1" smtClean="0"/>
              <a:t> </a:t>
            </a:r>
          </a:p>
          <a:p>
            <a:pPr lvl="2"/>
            <a:r>
              <a:rPr lang="pt-BR" altLang="en-US" b="1" smtClean="0"/>
              <a:t>Order Management:</a:t>
            </a:r>
            <a:r>
              <a:rPr lang="pt-BR" altLang="en-US" smtClean="0"/>
              <a:t> A demanda baseia-se nas ordens de venda.</a:t>
            </a:r>
            <a:r>
              <a:rPr lang="en-US" altLang="en-US" b="1" smtClean="0"/>
              <a:t> </a:t>
            </a:r>
          </a:p>
        </p:txBody>
      </p:sp>
    </p:spTree>
    <p:extLst>
      <p:ext uri="{BB962C8B-B14F-4D97-AF65-F5344CB8AC3E}">
        <p14:creationId xmlns:p14="http://schemas.microsoft.com/office/powerpoint/2010/main" val="1583336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7022C899-E6E1-4461-A727-04DA23E357BE}" type="slidenum">
              <a:rPr lang="en-US" altLang="en-US" smtClean="0"/>
              <a:pPr/>
              <a:t>12</a:t>
            </a:fld>
            <a:endParaRPr lang="en-US" altLang="en-US" smtClean="0"/>
          </a:p>
        </p:txBody>
      </p:sp>
      <p:sp>
        <p:nvSpPr>
          <p:cNvPr id="118787"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8"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Campaign to Order </a:t>
            </a:r>
          </a:p>
          <a:p>
            <a:pPr lvl="1"/>
            <a:r>
              <a:rPr lang="pt-BR" altLang="en-US" smtClean="0"/>
              <a:t>Este fluxo de negócios descreve como uma empresa inicia, executa e rastreia uma campanha de mercado para atrair e assegurar mais ordens. O fluxo de negócios exibido no slide não reflete toda a integração back-end com muitas das entidades compartilhadas, mas retrata boa parte da funcionalidade front-end.</a:t>
            </a:r>
            <a:r>
              <a:rPr lang="en-US" altLang="en-US" smtClean="0"/>
              <a:t> </a:t>
            </a:r>
          </a:p>
          <a:p>
            <a:pPr lvl="1"/>
            <a:r>
              <a:rPr lang="pt-BR" altLang="en-US" smtClean="0"/>
              <a:t>O fluxo envolve os seguintes produtos:</a:t>
            </a:r>
            <a:r>
              <a:rPr lang="en-US" altLang="en-US" smtClean="0"/>
              <a:t> </a:t>
            </a:r>
          </a:p>
          <a:p>
            <a:pPr lvl="2"/>
            <a:r>
              <a:rPr lang="pt-BR" altLang="en-US" b="1" smtClean="0"/>
              <a:t>Discoverer:</a:t>
            </a:r>
            <a:r>
              <a:rPr lang="pt-BR" altLang="en-US" smtClean="0"/>
              <a:t> Os segmentos de mercado da base de clientes são criados com o Discoverer. No segmento de mercado, é criado um segmento-alvo (por exemplo, Market Segment = All Repeat Customers, Target Segment = Males over the age of 35).</a:t>
            </a:r>
            <a:r>
              <a:rPr lang="en-US" altLang="en-US" b="1" smtClean="0"/>
              <a:t> </a:t>
            </a:r>
          </a:p>
          <a:p>
            <a:pPr lvl="2"/>
            <a:r>
              <a:rPr lang="pt-BR" altLang="en-US" b="1" smtClean="0"/>
              <a:t>Marketing:</a:t>
            </a:r>
            <a:r>
              <a:rPr lang="pt-BR" altLang="en-US" smtClean="0"/>
              <a:t> No Marketing, uma campanha de marketing é criada para um público específico. As campanhas são executadas por meio de vários canais (por exemplo, Web, e-mail, chamadas de vendas etc.).</a:t>
            </a:r>
            <a:r>
              <a:rPr lang="en-US" altLang="en-US" b="1" smtClean="0"/>
              <a:t> </a:t>
            </a:r>
          </a:p>
          <a:p>
            <a:pPr lvl="2"/>
            <a:r>
              <a:rPr lang="pt-BR" altLang="en-US" b="1" smtClean="0"/>
              <a:t>Scripting:</a:t>
            </a:r>
            <a:r>
              <a:rPr lang="pt-BR" altLang="en-US" smtClean="0"/>
              <a:t> Um script para orientar o agente de vendas em determinada oferta é criado e disponibilizado para todos os agentes receptivos. É possível ativar esse script a partir do aplicativo Sales.</a:t>
            </a:r>
            <a:r>
              <a:rPr lang="en-US" altLang="en-US" b="1" smtClean="0"/>
              <a:t> </a:t>
            </a:r>
          </a:p>
          <a:p>
            <a:pPr lvl="2"/>
            <a:r>
              <a:rPr lang="pt-BR" altLang="en-US" b="1" smtClean="0"/>
              <a:t>Audience:</a:t>
            </a:r>
            <a:r>
              <a:rPr lang="pt-BR" altLang="en-US" smtClean="0"/>
              <a:t> O público recebe e-mails, chamadas telefônicas, lê um anúncio etc.</a:t>
            </a:r>
            <a:r>
              <a:rPr lang="en-US" altLang="en-US" b="1" smtClean="0"/>
              <a:t> </a:t>
            </a:r>
          </a:p>
          <a:p>
            <a:pPr lvl="2"/>
            <a:r>
              <a:rPr lang="pt-BR" altLang="en-US" b="1" smtClean="0"/>
              <a:t>Advanced Inbound:</a:t>
            </a:r>
            <a:r>
              <a:rPr lang="pt-BR" altLang="en-US" smtClean="0"/>
              <a:t> Neste cenário, uma chamada é feita para o número 1-800, direcionada para o call center (chamadas recebidas) e encaminhada para um agente de vendas apropriado.</a:t>
            </a:r>
            <a:r>
              <a:rPr lang="en-US" altLang="en-US" b="1" smtClean="0"/>
              <a:t> </a:t>
            </a:r>
          </a:p>
          <a:p>
            <a:pPr lvl="2"/>
            <a:r>
              <a:rPr lang="pt-BR" altLang="en-US" b="1" smtClean="0"/>
              <a:t>Sales:</a:t>
            </a:r>
            <a:r>
              <a:rPr lang="pt-BR" altLang="en-US" smtClean="0"/>
              <a:t> O agente de vendas ativa um script contendo os detalhes da oferta sobre a qual cliente está fazendo a consulta.</a:t>
            </a:r>
            <a:r>
              <a:rPr lang="en-US" altLang="en-US" b="1" smtClean="0"/>
              <a:t> </a:t>
            </a:r>
          </a:p>
          <a:p>
            <a:pPr lvl="2"/>
            <a:r>
              <a:rPr lang="pt-BR" altLang="en-US" b="1" smtClean="0"/>
              <a:t>Order to Cash Flow:</a:t>
            </a:r>
            <a:r>
              <a:rPr lang="pt-BR" altLang="en-US" smtClean="0"/>
              <a:t> O agente de vendas cria uma cotação, que é transmitida para o Order Management ou para o fluxo de negócios Order to Cash.</a:t>
            </a:r>
            <a:r>
              <a:rPr lang="en-US" altLang="en-US" b="1" smtClean="0"/>
              <a:t> </a:t>
            </a:r>
          </a:p>
        </p:txBody>
      </p:sp>
    </p:spTree>
    <p:extLst>
      <p:ext uri="{BB962C8B-B14F-4D97-AF65-F5344CB8AC3E}">
        <p14:creationId xmlns:p14="http://schemas.microsoft.com/office/powerpoint/2010/main" val="3106887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B2B0D2A5-3A23-4545-8E30-094F9F24AFBE}" type="slidenum">
              <a:rPr lang="en-US" altLang="en-US" smtClean="0"/>
              <a:pPr/>
              <a:t>13</a:t>
            </a:fld>
            <a:endParaRPr lang="en-US" altLang="en-US" smtClean="0"/>
          </a:p>
        </p:txBody>
      </p:sp>
      <p:sp>
        <p:nvSpPr>
          <p:cNvPr id="120835"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6"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Click to Order </a:t>
            </a:r>
          </a:p>
          <a:p>
            <a:pPr lvl="1"/>
            <a:r>
              <a:rPr lang="pt-BR" altLang="en-US" smtClean="0"/>
              <a:t>Este fluxo de negócios está relacionado a uma empresa que especifica sua configuração de vendas on-line. O fluxo abrange o registro do cliente, a configuração dos catálogos de produtos e das vitrines de loja e, por fim, a captura da ordem. No entanto, o fluxo de negócios exibido no slide não reflete toda a integração back-end com muitas das entidades compartilhadas. Os módulos exibidos retratam boa parte da funcionalidade front-end.</a:t>
            </a:r>
            <a:r>
              <a:rPr lang="en-US" altLang="en-US" smtClean="0"/>
              <a:t> </a:t>
            </a:r>
          </a:p>
          <a:p>
            <a:pPr lvl="1"/>
            <a:r>
              <a:rPr lang="pt-BR" altLang="en-US" smtClean="0"/>
              <a:t>O fluxo envolve os seguintes produtos:</a:t>
            </a:r>
            <a:r>
              <a:rPr lang="en-US" altLang="en-US" smtClean="0"/>
              <a:t> </a:t>
            </a:r>
          </a:p>
          <a:p>
            <a:pPr lvl="2"/>
            <a:r>
              <a:rPr lang="pt-BR" altLang="en-US" b="1" i="1" smtClean="0"/>
              <a:t>i</a:t>
            </a:r>
            <a:r>
              <a:rPr lang="pt-BR" altLang="en-US" b="1" smtClean="0">
                <a:latin typeface="Arial" panose="020B0604020202020204" pitchFamily="34" charset="0"/>
              </a:rPr>
              <a:t>Store:</a:t>
            </a:r>
            <a:r>
              <a:rPr lang="pt-BR" altLang="en-US" smtClean="0"/>
              <a:t> O </a:t>
            </a:r>
            <a:r>
              <a:rPr lang="pt-BR" altLang="en-US" i="1" smtClean="0"/>
              <a:t>i</a:t>
            </a:r>
            <a:r>
              <a:rPr lang="pt-BR" altLang="en-US" smtClean="0"/>
              <a:t>Store é o ponto focal do fluxo Click to Order. Ele permite que uma empresa faça negócios na Web usando os modelos B2C (Business-to-Consumer) e/ou B2B (Business-to-Business).</a:t>
            </a:r>
            <a:r>
              <a:rPr lang="en-US" altLang="en-US" b="1" i="1" smtClean="0"/>
              <a:t> </a:t>
            </a:r>
          </a:p>
          <a:p>
            <a:pPr lvl="2"/>
            <a:r>
              <a:rPr lang="pt-BR" altLang="en-US" b="1" smtClean="0"/>
              <a:t>Java Transaction API (JTA):</a:t>
            </a:r>
            <a:r>
              <a:rPr lang="pt-BR" altLang="en-US" smtClean="0"/>
              <a:t> A JTA fornece a funcionalidade de gerenciamento de usuários à loja para permitir a criação e o gerenciamento de usuários.</a:t>
            </a:r>
            <a:r>
              <a:rPr lang="en-US" altLang="en-US" b="1" smtClean="0"/>
              <a:t> </a:t>
            </a:r>
          </a:p>
          <a:p>
            <a:pPr lvl="2"/>
            <a:r>
              <a:rPr lang="pt-BR" altLang="en-US" b="1" smtClean="0"/>
              <a:t>Inventory:</a:t>
            </a:r>
            <a:r>
              <a:rPr lang="pt-BR" altLang="en-US" smtClean="0"/>
              <a:t> Os produtos ou serviços vendidos na loja são itens do inventário.</a:t>
            </a:r>
            <a:r>
              <a:rPr lang="en-US" altLang="en-US" b="1" smtClean="0"/>
              <a:t> </a:t>
            </a:r>
          </a:p>
          <a:p>
            <a:pPr lvl="2"/>
            <a:r>
              <a:rPr lang="pt-BR" altLang="en-US" b="1" smtClean="0"/>
              <a:t>Marketing:</a:t>
            </a:r>
            <a:r>
              <a:rPr lang="pt-BR" altLang="en-US" smtClean="0"/>
              <a:t> É possível usar o módulo eMerchandizing do Marketing para anunciar produtos e fazer recomendações sobre eles na loja. Além disso, as campanhas que envolvem descontos são criadas no Marketing e os descontos são criados no Pricing.</a:t>
            </a:r>
            <a:r>
              <a:rPr lang="en-US" altLang="en-US" b="1" smtClean="0"/>
              <a:t> </a:t>
            </a:r>
          </a:p>
          <a:p>
            <a:pPr lvl="2"/>
            <a:r>
              <a:rPr lang="pt-BR" altLang="en-US" b="1" smtClean="0"/>
              <a:t>Sales:</a:t>
            </a:r>
            <a:r>
              <a:rPr lang="pt-BR" altLang="en-US" smtClean="0"/>
              <a:t> Os carrinhos de compras salvos que foram usados durante um período predeterminado são disponibilizados para o Sales como leads.</a:t>
            </a:r>
            <a:r>
              <a:rPr lang="en-US" altLang="en-US" b="1" smtClean="0"/>
              <a:t> </a:t>
            </a:r>
          </a:p>
          <a:p>
            <a:pPr lvl="2"/>
            <a:r>
              <a:rPr lang="pt-BR" altLang="en-US" b="1" smtClean="0"/>
              <a:t>Pricing:</a:t>
            </a:r>
            <a:r>
              <a:rPr lang="pt-BR" altLang="en-US" smtClean="0"/>
              <a:t> O </a:t>
            </a:r>
            <a:r>
              <a:rPr lang="pt-BR" altLang="en-US" i="1" smtClean="0"/>
              <a:t>i</a:t>
            </a:r>
            <a:r>
              <a:rPr lang="pt-BR" altLang="en-US" smtClean="0"/>
              <a:t>Store pode acionar o mecanismo de precificação para determinar o preço de um item e verificar se há modificadores que possam ser aplicados ao preço. O Quoting também pode acionar o Pricing para determinar o preço. </a:t>
            </a:r>
            <a:r>
              <a:rPr lang="en-US" altLang="en-US" b="1" smtClean="0"/>
              <a:t> </a:t>
            </a:r>
          </a:p>
          <a:p>
            <a:pPr lvl="2"/>
            <a:r>
              <a:rPr lang="pt-BR" altLang="en-US" b="1" smtClean="0"/>
              <a:t>Quoting:</a:t>
            </a:r>
            <a:r>
              <a:rPr lang="pt-BR" altLang="en-US" smtClean="0"/>
              <a:t> Um carrinho de compras salvo é, na verdade, uma cotação no Quoting.</a:t>
            </a:r>
            <a:r>
              <a:rPr lang="en-US" altLang="en-US" b="1" smtClean="0"/>
              <a:t> </a:t>
            </a:r>
          </a:p>
          <a:p>
            <a:pPr lvl="2"/>
            <a:r>
              <a:rPr lang="pt-BR" altLang="en-US" b="1" smtClean="0"/>
              <a:t>Order to Cash:</a:t>
            </a:r>
            <a:r>
              <a:rPr lang="pt-BR" altLang="en-US" smtClean="0"/>
              <a:t> O </a:t>
            </a:r>
            <a:r>
              <a:rPr lang="pt-BR" altLang="en-US" i="1" smtClean="0"/>
              <a:t>i</a:t>
            </a:r>
            <a:r>
              <a:rPr lang="pt-BR" altLang="en-US" smtClean="0"/>
              <a:t>Store se comunica com o Order Management (Order Fulfillment) por meio das APIs do Order Capture Foundation. O fluxo seguinte é o Order to Cash.</a:t>
            </a:r>
            <a:r>
              <a:rPr lang="en-US" altLang="en-US" b="1" smtClean="0"/>
              <a:t> </a:t>
            </a:r>
          </a:p>
        </p:txBody>
      </p:sp>
    </p:spTree>
    <p:extLst>
      <p:ext uri="{BB962C8B-B14F-4D97-AF65-F5344CB8AC3E}">
        <p14:creationId xmlns:p14="http://schemas.microsoft.com/office/powerpoint/2010/main" val="2245544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328FB4EC-3C38-4855-A9C9-DF9EB9C00E82}" type="slidenum">
              <a:rPr lang="en-US" altLang="en-US" smtClean="0"/>
              <a:pPr/>
              <a:t>14</a:t>
            </a:fld>
            <a:endParaRPr lang="en-US" altLang="en-US" smtClean="0"/>
          </a:p>
        </p:txBody>
      </p:sp>
      <p:sp>
        <p:nvSpPr>
          <p:cNvPr id="122883"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4"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Order to Cash </a:t>
            </a:r>
          </a:p>
          <a:p>
            <a:pPr lvl="1"/>
            <a:r>
              <a:rPr lang="pt-BR" altLang="en-US" smtClean="0"/>
              <a:t>Este fluxo de negócios abrange a entrada da ordem, a verificação/registro dos itens no inventário, a entrega das mercadorias, a emissão das NFFs, a reconciliação dos demonstrativos bancários e a transferência dos lançamentos contábeis para o General Ledger.	</a:t>
            </a:r>
            <a:r>
              <a:rPr lang="en-US" altLang="en-US" smtClean="0"/>
              <a:t> </a:t>
            </a:r>
          </a:p>
          <a:p>
            <a:pPr lvl="1"/>
            <a:r>
              <a:rPr lang="pt-BR" altLang="en-US" smtClean="0"/>
              <a:t>O fluxo envolve os seguintes produtos:</a:t>
            </a:r>
            <a:r>
              <a:rPr lang="en-US" altLang="en-US" smtClean="0"/>
              <a:t> </a:t>
            </a:r>
          </a:p>
          <a:p>
            <a:pPr lvl="2"/>
            <a:r>
              <a:rPr lang="pt-BR" altLang="en-US" b="1" smtClean="0"/>
              <a:t>General Ledger:</a:t>
            </a:r>
            <a:r>
              <a:rPr lang="pt-BR" altLang="en-US" smtClean="0"/>
              <a:t> Importa os lançamentos referentes a transações de inventário, NFFs de contas a receber, ajustes, créditos e recebimentos.</a:t>
            </a:r>
            <a:r>
              <a:rPr lang="en-US" altLang="en-US" b="1" smtClean="0"/>
              <a:t> </a:t>
            </a:r>
          </a:p>
          <a:p>
            <a:pPr lvl="2"/>
            <a:r>
              <a:rPr lang="pt-BR" altLang="en-US" b="1" smtClean="0"/>
              <a:t>Receivables/</a:t>
            </a:r>
            <a:r>
              <a:rPr lang="pt-BR" altLang="en-US" b="1" i="1" smtClean="0"/>
              <a:t>i</a:t>
            </a:r>
            <a:r>
              <a:rPr lang="pt-BR" altLang="en-US" b="1" smtClean="0"/>
              <a:t>Receivables:</a:t>
            </a:r>
            <a:r>
              <a:rPr lang="pt-BR" altLang="en-US" smtClean="0"/>
              <a:t> Cria NFFs e registra contas a receber relativas a mercadorias entregues, serviços etc. Corrige NFFs, gerencia cobranças e registra/gera pagamentos de clientes.</a:t>
            </a:r>
            <a:r>
              <a:rPr lang="en-US" altLang="en-US" b="1" smtClean="0"/>
              <a:t> </a:t>
            </a:r>
          </a:p>
          <a:p>
            <a:pPr lvl="2"/>
            <a:r>
              <a:rPr lang="en-US" altLang="en-US" b="1" smtClean="0"/>
              <a:t>Purchasing/</a:t>
            </a:r>
            <a:r>
              <a:rPr lang="en-US" altLang="en-US" b="1" i="1" smtClean="0"/>
              <a:t>i</a:t>
            </a:r>
            <a:r>
              <a:rPr lang="en-US" altLang="en-US" b="1" smtClean="0"/>
              <a:t>Procurement:</a:t>
            </a:r>
            <a:r>
              <a:rPr lang="en-US" altLang="en-US" smtClean="0"/>
              <a:t> Gera requisições/entregas diretas</a:t>
            </a:r>
            <a:r>
              <a:rPr lang="en-US" altLang="en-US" b="1" smtClean="0"/>
              <a:t> </a:t>
            </a:r>
          </a:p>
          <a:p>
            <a:pPr lvl="2"/>
            <a:r>
              <a:rPr lang="pt-BR" altLang="en-US" b="1" smtClean="0"/>
              <a:t>Inventory:</a:t>
            </a:r>
            <a:r>
              <a:rPr lang="pt-BR" altLang="en-US" smtClean="0"/>
              <a:t> Fornece itens ou registra abatimentos no inventário.</a:t>
            </a:r>
            <a:r>
              <a:rPr lang="en-US" altLang="en-US" b="1" smtClean="0"/>
              <a:t> </a:t>
            </a:r>
          </a:p>
          <a:p>
            <a:pPr lvl="2"/>
            <a:r>
              <a:rPr lang="pt-BR" altLang="en-US" b="1" smtClean="0"/>
              <a:t>Order Management:</a:t>
            </a:r>
            <a:r>
              <a:rPr lang="pt-BR" altLang="en-US" smtClean="0"/>
              <a:t> Especifica ordens, entrega mercadorias e fornece serviços.</a:t>
            </a:r>
            <a:r>
              <a:rPr lang="en-US" altLang="en-US" b="1" smtClean="0"/>
              <a:t> </a:t>
            </a:r>
          </a:p>
          <a:p>
            <a:pPr lvl="2"/>
            <a:r>
              <a:rPr lang="pt-BR" altLang="en-US" b="1" smtClean="0"/>
              <a:t>Cash Management:</a:t>
            </a:r>
            <a:r>
              <a:rPr lang="pt-BR" altLang="en-US" smtClean="0"/>
              <a:t> Reconcilia pagamentos de cliente e transações diversas com demonstrativos bancários.</a:t>
            </a:r>
            <a:r>
              <a:rPr lang="en-US" altLang="en-US" b="1" smtClean="0"/>
              <a:t> </a:t>
            </a:r>
          </a:p>
        </p:txBody>
      </p:sp>
    </p:spTree>
    <p:extLst>
      <p:ext uri="{BB962C8B-B14F-4D97-AF65-F5344CB8AC3E}">
        <p14:creationId xmlns:p14="http://schemas.microsoft.com/office/powerpoint/2010/main" val="1719877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74B1FD53-90E6-430B-9E30-9688E70F0A5E}" type="slidenum">
              <a:rPr lang="en-US" altLang="en-US" smtClean="0"/>
              <a:pPr/>
              <a:t>15</a:t>
            </a:fld>
            <a:endParaRPr lang="en-US" altLang="en-US" smtClean="0"/>
          </a:p>
        </p:txBody>
      </p:sp>
      <p:sp>
        <p:nvSpPr>
          <p:cNvPr id="124931"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2"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Contract to Renewal </a:t>
            </a:r>
          </a:p>
          <a:p>
            <a:pPr lvl="1"/>
            <a:r>
              <a:rPr lang="pt-BR" altLang="en-US" smtClean="0"/>
              <a:t>Este fluxo de negócios abrange atividades como o gerenciamento e a renovação de contratos (manual e automaticamente), e a criação de novos contratos de serviço para clientes existentes ou potenciais. No entanto, o fluxo de negócios exibido no slide não reflete toda a integração back-end com muitas das entidades compartilhadas. Os módulos exibidos nos slides retratam boa parte da funcionalidade front-end.</a:t>
            </a:r>
            <a:r>
              <a:rPr lang="en-US" altLang="en-US" smtClean="0"/>
              <a:t> </a:t>
            </a:r>
          </a:p>
          <a:p>
            <a:pPr lvl="1"/>
            <a:r>
              <a:rPr lang="pt-BR" altLang="en-US" smtClean="0"/>
              <a:t>O fluxo envolve os seguintes produtos:</a:t>
            </a:r>
            <a:r>
              <a:rPr lang="en-US" altLang="en-US" smtClean="0"/>
              <a:t> </a:t>
            </a:r>
          </a:p>
          <a:p>
            <a:pPr lvl="2"/>
            <a:r>
              <a:rPr lang="pt-BR" altLang="en-US" b="1" i="1" smtClean="0"/>
              <a:t>i</a:t>
            </a:r>
            <a:r>
              <a:rPr lang="pt-BR" altLang="en-US" b="1" smtClean="0">
                <a:latin typeface="Arial" panose="020B0604020202020204" pitchFamily="34" charset="0"/>
              </a:rPr>
              <a:t>Store:</a:t>
            </a:r>
            <a:r>
              <a:rPr lang="pt-BR" altLang="en-US" smtClean="0"/>
              <a:t> É possível criar um contrato de venda para uma ordem encaminhada ao </a:t>
            </a:r>
            <a:r>
              <a:rPr lang="pt-BR" altLang="en-US" i="1" smtClean="0"/>
              <a:t>i</a:t>
            </a:r>
            <a:r>
              <a:rPr lang="pt-BR" altLang="en-US" smtClean="0"/>
              <a:t>Store. Durante o processo de finalização da compra, o cliente tem a opção de aceitar ou negociar as condições do contrato.</a:t>
            </a:r>
            <a:r>
              <a:rPr lang="en-US" altLang="en-US" b="1" i="1" smtClean="0"/>
              <a:t> </a:t>
            </a:r>
          </a:p>
          <a:p>
            <a:pPr lvl="2"/>
            <a:r>
              <a:rPr lang="pt-BR" altLang="en-US" b="1" smtClean="0"/>
              <a:t>Quoting: </a:t>
            </a:r>
            <a:r>
              <a:rPr lang="pt-BR" altLang="en-US" smtClean="0"/>
              <a:t>No Quoting, um representante de vendas pode criar uma cotação para um cliente e, em seguida, criar um contrato de venda a partir da cotação para negociação futura.</a:t>
            </a:r>
            <a:r>
              <a:rPr lang="en-US" altLang="en-US" b="1" smtClean="0"/>
              <a:t> </a:t>
            </a:r>
          </a:p>
          <a:p>
            <a:pPr lvl="2"/>
            <a:r>
              <a:rPr lang="pt-BR" altLang="en-US" b="1" smtClean="0"/>
              <a:t>Sales Contracts: </a:t>
            </a:r>
            <a:r>
              <a:rPr lang="pt-BR" altLang="en-US" smtClean="0"/>
              <a:t>Os contratos de venda são criados neste módulo.</a:t>
            </a:r>
            <a:r>
              <a:rPr lang="en-US" altLang="en-US" b="1" smtClean="0"/>
              <a:t> </a:t>
            </a:r>
          </a:p>
          <a:p>
            <a:pPr lvl="2"/>
            <a:r>
              <a:rPr lang="pt-BR" altLang="en-US" b="1" smtClean="0"/>
              <a:t>Quoting:</a:t>
            </a:r>
            <a:r>
              <a:rPr lang="pt-BR" altLang="en-US" smtClean="0"/>
              <a:t> No Quoting, a cotação é enviada ao fluxo Order to Cash para registro e atendimento das ordens. Se o item comprado vier com uma garantia ou se uma garantia estendida for adquirida, um contrato de serviço será criado quando o item for instanciado na base de instalação do cliente.</a:t>
            </a:r>
            <a:r>
              <a:rPr lang="en-US" altLang="en-US" b="1" smtClean="0"/>
              <a:t> </a:t>
            </a:r>
          </a:p>
          <a:p>
            <a:pPr lvl="2"/>
            <a:r>
              <a:rPr lang="pt-BR" altLang="en-US" b="1" smtClean="0"/>
              <a:t>Service Contracts:</a:t>
            </a:r>
            <a:r>
              <a:rPr lang="pt-BR" altLang="en-US" smtClean="0"/>
              <a:t> Se o item cuja garantia o cliente deseja não tiver sido comprado do comerciante responsável por sua disponibilização, será possível adquirir e faturar um contrato de serviço ou uma garantia com o Service Contracts.</a:t>
            </a:r>
            <a:r>
              <a:rPr lang="en-US" altLang="en-US" b="1" smtClean="0"/>
              <a:t> </a:t>
            </a:r>
          </a:p>
          <a:p>
            <a:pPr lvl="2"/>
            <a:r>
              <a:rPr lang="pt-BR" altLang="en-US" b="1" smtClean="0"/>
              <a:t>Accounts Receivable:</a:t>
            </a:r>
            <a:r>
              <a:rPr lang="pt-BR" altLang="en-US" smtClean="0"/>
              <a:t> NFFs do Accounts Receivable referentes ao item, ao item com garantia estendida ou apenas ao contrato de serviço.</a:t>
            </a:r>
            <a:r>
              <a:rPr lang="en-US" altLang="en-US" b="1" smtClean="0"/>
              <a:t> </a:t>
            </a:r>
          </a:p>
        </p:txBody>
      </p:sp>
    </p:spTree>
    <p:extLst>
      <p:ext uri="{BB962C8B-B14F-4D97-AF65-F5344CB8AC3E}">
        <p14:creationId xmlns:p14="http://schemas.microsoft.com/office/powerpoint/2010/main" val="3983174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19DFDACE-C2A6-4A47-A5B9-111175419580}" type="slidenum">
              <a:rPr lang="en-US" altLang="en-US" smtClean="0"/>
              <a:pPr/>
              <a:t>16</a:t>
            </a:fld>
            <a:endParaRPr lang="en-US" altLang="en-US" smtClean="0"/>
          </a:p>
        </p:txBody>
      </p:sp>
      <p:sp>
        <p:nvSpPr>
          <p:cNvPr id="126979"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80"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Request to Resolution </a:t>
            </a:r>
          </a:p>
          <a:p>
            <a:pPr lvl="1"/>
            <a:r>
              <a:rPr lang="pt-BR" altLang="en-US" smtClean="0"/>
              <a:t>O procedimento de negócios Request to Resolution permite que um cliente ou um representante de serviços ao cliente crie uma solicitação de serviço, procure uma solução no Knowledge Management, resolva e feche essa solicitação. Este fluxo de negócios permite que empresas gerenciem o ciclo de vida da solicitação de serviço, incluindo a escalação da solicitação e os encargos do serviço fornecido. No entanto, o fluxo de negócios exibido no slide não reflete toda a integração back-end com muitas das entidades compartilhadas. Os módulos exibidos no slide retratam boa parte da funcionalidade front-end. As linhas pontilhadas (- - - - - ) no slide mostram algumas das opções adicionais para resolver uma solicitação de serviço.</a:t>
            </a:r>
            <a:r>
              <a:rPr lang="en-US" altLang="en-US" smtClean="0"/>
              <a:t> </a:t>
            </a:r>
          </a:p>
          <a:p>
            <a:pPr lvl="2"/>
            <a:r>
              <a:rPr lang="pt-BR" altLang="en-US" b="1" smtClean="0"/>
              <a:t>Customer:</a:t>
            </a:r>
            <a:r>
              <a:rPr lang="pt-BR" altLang="en-US" smtClean="0"/>
              <a:t> Um cliente comprou um produto de um comerciante que implementou o </a:t>
            </a:r>
            <a:r>
              <a:rPr lang="en-US" altLang="en-US" i="1" smtClean="0"/>
              <a:t>i</a:t>
            </a:r>
            <a:r>
              <a:rPr lang="en-US" altLang="en-US" smtClean="0"/>
              <a:t>Support. O cliente efetua log-in no </a:t>
            </a:r>
            <a:r>
              <a:rPr lang="en-US" altLang="en-US" i="1" smtClean="0"/>
              <a:t>i</a:t>
            </a:r>
            <a:r>
              <a:rPr lang="en-US" altLang="en-US" smtClean="0"/>
              <a:t>Support.</a:t>
            </a:r>
            <a:r>
              <a:rPr lang="en-US" altLang="en-US" b="1" smtClean="0"/>
              <a:t> </a:t>
            </a:r>
          </a:p>
          <a:p>
            <a:pPr lvl="2"/>
            <a:r>
              <a:rPr lang="pt-BR" altLang="en-US" b="1" i="1" smtClean="0"/>
              <a:t>i</a:t>
            </a:r>
            <a:r>
              <a:rPr lang="pt-BR" altLang="en-US" b="1" smtClean="0"/>
              <a:t>Support:</a:t>
            </a:r>
            <a:r>
              <a:rPr lang="pt-BR" altLang="en-US" smtClean="0"/>
              <a:t> Depois que o cliente efetua log-in no </a:t>
            </a:r>
            <a:r>
              <a:rPr lang="pt-BR" altLang="en-US" i="1" smtClean="0"/>
              <a:t>i</a:t>
            </a:r>
            <a:r>
              <a:rPr lang="pt-BR" altLang="en-US" smtClean="0"/>
              <a:t>Support, ele pode exibir e atualizar a base instalada.</a:t>
            </a:r>
            <a:r>
              <a:rPr lang="en-US" altLang="en-US" b="1" i="1" smtClean="0"/>
              <a:t> </a:t>
            </a:r>
          </a:p>
          <a:p>
            <a:pPr lvl="2"/>
            <a:r>
              <a:rPr lang="pt-BR" altLang="en-US" b="1" smtClean="0"/>
              <a:t>Installed Base:</a:t>
            </a:r>
            <a:r>
              <a:rPr lang="pt-BR" altLang="en-US" smtClean="0"/>
              <a:t> Os produtos pertencentes à conta do cliente. É possível fazer isso de forma automática ou manual.</a:t>
            </a:r>
            <a:r>
              <a:rPr lang="en-US" altLang="en-US" b="1" smtClean="0"/>
              <a:t> </a:t>
            </a:r>
          </a:p>
          <a:p>
            <a:pPr lvl="2"/>
            <a:r>
              <a:rPr lang="pt-BR" altLang="en-US" b="1" smtClean="0"/>
              <a:t>Inventory:</a:t>
            </a:r>
            <a:r>
              <a:rPr lang="pt-BR" altLang="en-US" smtClean="0"/>
              <a:t> Somente os produtos contidos no Inventory podem ser adicionados automática ou manualmente.</a:t>
            </a:r>
            <a:r>
              <a:rPr lang="en-US" altLang="en-US" b="1" smtClean="0"/>
              <a:t> </a:t>
            </a:r>
          </a:p>
          <a:p>
            <a:pPr lvl="2"/>
            <a:r>
              <a:rPr lang="pt-BR" altLang="en-US" b="1" smtClean="0"/>
              <a:t>Knowledge Management:</a:t>
            </a:r>
            <a:r>
              <a:rPr lang="pt-BR" altLang="en-US" smtClean="0"/>
              <a:t> Procure soluções usando o Knowledge Management. Caso não encontre a solução desejada, submeta uma solicitação de serviço.</a:t>
            </a:r>
            <a:r>
              <a:rPr lang="en-US" altLang="en-US" b="1" smtClean="0"/>
              <a:t> </a:t>
            </a:r>
          </a:p>
          <a:p>
            <a:pPr lvl="2"/>
            <a:r>
              <a:rPr lang="pt-BR" altLang="en-US" b="1" smtClean="0"/>
              <a:t>Teleservice:</a:t>
            </a:r>
            <a:r>
              <a:rPr lang="pt-BR" altLang="en-US" smtClean="0"/>
              <a:t> Aplicativo usado pelo pessoal de suporte do comerciante.</a:t>
            </a:r>
            <a:r>
              <a:rPr lang="en-US" altLang="en-US" b="1" smtClean="0"/>
              <a:t> </a:t>
            </a:r>
          </a:p>
          <a:p>
            <a:pPr lvl="2"/>
            <a:r>
              <a:rPr lang="en-US" altLang="en-US" b="1" smtClean="0"/>
              <a:t>APIs do Order Capture Foundation:</a:t>
            </a:r>
            <a:r>
              <a:rPr lang="pt-BR" altLang="en-US" smtClean="0"/>
              <a:t> No </a:t>
            </a:r>
            <a:r>
              <a:rPr lang="pt-BR" altLang="en-US" i="1" smtClean="0"/>
              <a:t>i</a:t>
            </a:r>
            <a:r>
              <a:rPr lang="pt-BR" altLang="en-US" smtClean="0"/>
              <a:t>Support ou no Teleservice, um cliente também pode criar uma RMA (Return Material Authorization). Quando criada, uma RMA é submetida ao ciclo de Atendimento de Ordens.</a:t>
            </a:r>
            <a:r>
              <a:rPr lang="en-US" altLang="en-US" b="1" smtClean="0"/>
              <a:t> </a:t>
            </a:r>
          </a:p>
          <a:p>
            <a:pPr lvl="2"/>
            <a:r>
              <a:rPr lang="pt-BR" altLang="en-US" b="1" smtClean="0"/>
              <a:t>Order to Cash:</a:t>
            </a:r>
            <a:r>
              <a:rPr lang="pt-BR" altLang="en-US" smtClean="0"/>
              <a:t> O Atendimento de Ordens também pode fazer referência ao fluxo Order to Cash. Depois que a ordem estiver no fluxo, tipos de linha de devolução serão atribuídos a ela.</a:t>
            </a:r>
            <a:r>
              <a:rPr lang="en-US" altLang="en-US" b="1" smtClean="0"/>
              <a:t> </a:t>
            </a:r>
          </a:p>
        </p:txBody>
      </p:sp>
    </p:spTree>
    <p:extLst>
      <p:ext uri="{BB962C8B-B14F-4D97-AF65-F5344CB8AC3E}">
        <p14:creationId xmlns:p14="http://schemas.microsoft.com/office/powerpoint/2010/main" val="167328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778344D7-0419-423E-A91F-CE4AA378ED5A}" type="slidenum">
              <a:rPr lang="en-US" altLang="en-US" smtClean="0"/>
              <a:pPr/>
              <a:t>17</a:t>
            </a:fld>
            <a:endParaRPr lang="en-US" altLang="en-US" smtClean="0"/>
          </a:p>
        </p:txBody>
      </p:sp>
      <p:sp>
        <p:nvSpPr>
          <p:cNvPr id="129027"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8"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Project to Profit </a:t>
            </a:r>
          </a:p>
          <a:p>
            <a:pPr lvl="1"/>
            <a:r>
              <a:rPr lang="pt-BR" altLang="en-US" smtClean="0"/>
              <a:t>O fluxo de negócios Project to Profit abrange as atividades de início, planejamento, programação e escopo de projeto. Ele também aborda o gerenciamento de recursos, e define a estrutura analítica do projeto e a cobrança de despesas.</a:t>
            </a:r>
            <a:r>
              <a:rPr lang="en-US" altLang="en-US" smtClean="0"/>
              <a:t> </a:t>
            </a:r>
          </a:p>
          <a:p>
            <a:pPr lvl="1"/>
            <a:r>
              <a:rPr lang="pt-BR" altLang="en-US" smtClean="0"/>
              <a:t>O fluxo envolve os seguintes produtos:</a:t>
            </a:r>
            <a:r>
              <a:rPr lang="en-US" altLang="en-US" smtClean="0"/>
              <a:t> </a:t>
            </a:r>
          </a:p>
          <a:p>
            <a:pPr lvl="2"/>
            <a:r>
              <a:rPr lang="en-US" altLang="en-US" b="1" smtClean="0"/>
              <a:t>General Ledger:</a:t>
            </a:r>
            <a:r>
              <a:rPr lang="en-US" altLang="en-US" smtClean="0"/>
              <a:t> Recebe lançamentos.</a:t>
            </a:r>
            <a:r>
              <a:rPr lang="en-US" altLang="en-US" b="1" smtClean="0"/>
              <a:t> </a:t>
            </a:r>
          </a:p>
          <a:p>
            <a:pPr lvl="2"/>
            <a:r>
              <a:rPr lang="pt-BR" altLang="en-US" b="1" smtClean="0"/>
              <a:t>Payables/</a:t>
            </a:r>
            <a:r>
              <a:rPr lang="pt-BR" altLang="en-US" b="1" i="1" smtClean="0"/>
              <a:t>i</a:t>
            </a:r>
            <a:r>
              <a:rPr lang="pt-BR" altLang="en-US" b="1" smtClean="0"/>
              <a:t>Expenses:</a:t>
            </a:r>
            <a:r>
              <a:rPr lang="pt-BR" altLang="en-US" smtClean="0"/>
              <a:t> Registra NFFs relacionadas a projetos.</a:t>
            </a:r>
            <a:r>
              <a:rPr lang="en-US" altLang="en-US" b="1" smtClean="0"/>
              <a:t> </a:t>
            </a:r>
          </a:p>
          <a:p>
            <a:pPr lvl="2"/>
            <a:r>
              <a:rPr lang="en-US" altLang="en-US" b="1" smtClean="0"/>
              <a:t>Receivables/</a:t>
            </a:r>
            <a:r>
              <a:rPr lang="en-US" altLang="en-US" b="1" i="1" smtClean="0"/>
              <a:t>i</a:t>
            </a:r>
            <a:r>
              <a:rPr lang="en-US" altLang="en-US" b="1" smtClean="0"/>
              <a:t>Receivables:</a:t>
            </a:r>
            <a:r>
              <a:rPr lang="en-US" altLang="en-US" smtClean="0"/>
              <a:t> Registra faturamentos em andamento.</a:t>
            </a:r>
            <a:r>
              <a:rPr lang="en-US" altLang="en-US" b="1" smtClean="0"/>
              <a:t> </a:t>
            </a:r>
          </a:p>
          <a:p>
            <a:pPr lvl="2"/>
            <a:r>
              <a:rPr lang="en-US" altLang="en-US" b="1" smtClean="0"/>
              <a:t>Purchasing/</a:t>
            </a:r>
            <a:r>
              <a:rPr lang="en-US" altLang="en-US" b="1" i="1" smtClean="0"/>
              <a:t>i</a:t>
            </a:r>
            <a:r>
              <a:rPr lang="en-US" altLang="en-US" b="1" smtClean="0"/>
              <a:t>Procurement:</a:t>
            </a:r>
            <a:r>
              <a:rPr lang="en-US" altLang="en-US" smtClean="0"/>
              <a:t> Registra custos confirmados.</a:t>
            </a:r>
            <a:r>
              <a:rPr lang="en-US" altLang="en-US" b="1" smtClean="0"/>
              <a:t> </a:t>
            </a:r>
          </a:p>
          <a:p>
            <a:pPr lvl="2"/>
            <a:r>
              <a:rPr lang="en-US" altLang="en-US" b="1" smtClean="0"/>
              <a:t>Assets:</a:t>
            </a:r>
            <a:r>
              <a:rPr lang="en-US" altLang="en-US" smtClean="0"/>
              <a:t> Capitaliza ativos.</a:t>
            </a:r>
            <a:r>
              <a:rPr lang="en-US" altLang="en-US" b="1" smtClean="0"/>
              <a:t> </a:t>
            </a:r>
          </a:p>
          <a:p>
            <a:pPr lvl="2"/>
            <a:r>
              <a:rPr lang="pt-BR" altLang="en-US" b="1" smtClean="0"/>
              <a:t>Payroll:</a:t>
            </a:r>
            <a:r>
              <a:rPr lang="pt-BR" altLang="en-US" smtClean="0"/>
              <a:t> Registra a mão-de-obra relacionada a projetos.</a:t>
            </a:r>
            <a:r>
              <a:rPr lang="en-US" altLang="en-US" b="1" smtClean="0"/>
              <a:t> </a:t>
            </a:r>
          </a:p>
          <a:p>
            <a:pPr lvl="2"/>
            <a:r>
              <a:rPr lang="pt-BR" altLang="en-US" b="1" smtClean="0"/>
              <a:t>Projects:</a:t>
            </a:r>
            <a:r>
              <a:rPr lang="pt-BR" altLang="en-US" smtClean="0"/>
              <a:t> Define e rastreia projetos juntamente com recursos.</a:t>
            </a:r>
            <a:r>
              <a:rPr lang="en-US" altLang="en-US" b="1" smtClean="0"/>
              <a:t> </a:t>
            </a:r>
          </a:p>
        </p:txBody>
      </p:sp>
    </p:spTree>
    <p:extLst>
      <p:ext uri="{BB962C8B-B14F-4D97-AF65-F5344CB8AC3E}">
        <p14:creationId xmlns:p14="http://schemas.microsoft.com/office/powerpoint/2010/main" val="1860283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ABFD46D0-0632-4AA5-989C-B643BFFA2038}" type="slidenum">
              <a:rPr lang="en-US" altLang="en-US" smtClean="0"/>
              <a:pPr/>
              <a:t>18</a:t>
            </a:fld>
            <a:endParaRPr lang="en-US" altLang="en-US" smtClean="0"/>
          </a:p>
        </p:txBody>
      </p:sp>
      <p:sp>
        <p:nvSpPr>
          <p:cNvPr id="131075"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6"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People to Paycheck </a:t>
            </a:r>
          </a:p>
          <a:p>
            <a:pPr lvl="1"/>
            <a:r>
              <a:rPr lang="pt-BR" altLang="en-US" smtClean="0"/>
              <a:t>Este processo de negócios envolve atividades relacionadas a cálculo e geração de pagamentos da folha de pagamento a funcionários. Este fluxo permite que os usuários configurem os elementos e métodos da folha de pagamento necessários para determinados funcionários, executem o processamento da folha de pagamento (padrão, periódico, complementar e com desconto para um único funcionário), paguem funcionários em cheque ou por depósito direto, solicitem vários relatórios relacionados, e executem o custo e a transferência dos dados completos de folha de pagamento para o General Ledger.</a:t>
            </a:r>
            <a:r>
              <a:rPr lang="en-US" altLang="en-US" smtClean="0"/>
              <a:t> </a:t>
            </a:r>
          </a:p>
          <a:p>
            <a:pPr lvl="1"/>
            <a:r>
              <a:rPr lang="pt-BR" altLang="en-US" smtClean="0"/>
              <a:t>O fluxo envolve os seguintes produtos:</a:t>
            </a:r>
            <a:r>
              <a:rPr lang="en-US" altLang="en-US" smtClean="0"/>
              <a:t> </a:t>
            </a:r>
          </a:p>
          <a:p>
            <a:pPr lvl="2"/>
            <a:r>
              <a:rPr lang="pt-BR" altLang="en-US" b="1" smtClean="0"/>
              <a:t>HRMS:</a:t>
            </a:r>
            <a:r>
              <a:rPr lang="pt-BR" altLang="en-US" smtClean="0"/>
              <a:t> Gerencia atividades relacionadas a RH.</a:t>
            </a:r>
            <a:r>
              <a:rPr lang="en-US" altLang="en-US" b="1" smtClean="0"/>
              <a:t> </a:t>
            </a:r>
          </a:p>
          <a:p>
            <a:pPr lvl="2"/>
            <a:r>
              <a:rPr lang="pt-BR" altLang="en-US" b="1" smtClean="0"/>
              <a:t>Payroll:</a:t>
            </a:r>
            <a:r>
              <a:rPr lang="pt-BR" altLang="en-US" smtClean="0"/>
              <a:t> Gerencia a folha de pagamento.</a:t>
            </a:r>
            <a:r>
              <a:rPr lang="en-US" altLang="en-US" b="1" smtClean="0"/>
              <a:t> </a:t>
            </a:r>
          </a:p>
          <a:p>
            <a:pPr lvl="2"/>
            <a:r>
              <a:rPr lang="pt-BR" altLang="en-US" b="1" smtClean="0"/>
              <a:t>Cash Management:</a:t>
            </a:r>
            <a:r>
              <a:rPr lang="pt-BR" altLang="en-US" smtClean="0"/>
              <a:t> Reconcilia a folha de pagamento.</a:t>
            </a:r>
            <a:r>
              <a:rPr lang="en-US" altLang="en-US" b="1" smtClean="0"/>
              <a:t> </a:t>
            </a:r>
          </a:p>
          <a:p>
            <a:pPr lvl="2"/>
            <a:r>
              <a:rPr lang="en-US" altLang="en-US" b="1" smtClean="0"/>
              <a:t>General Ledger:</a:t>
            </a:r>
            <a:r>
              <a:rPr lang="en-US" altLang="en-US" smtClean="0"/>
              <a:t> Registra despesas com mão-de-obra.</a:t>
            </a:r>
            <a:r>
              <a:rPr lang="en-US" altLang="en-US" b="1" smtClean="0"/>
              <a:t> </a:t>
            </a:r>
          </a:p>
        </p:txBody>
      </p:sp>
    </p:spTree>
    <p:extLst>
      <p:ext uri="{BB962C8B-B14F-4D97-AF65-F5344CB8AC3E}">
        <p14:creationId xmlns:p14="http://schemas.microsoft.com/office/powerpoint/2010/main" val="1709168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39290D49-871E-4E19-9B04-BE3DD6EA0DF5}" type="slidenum">
              <a:rPr lang="en-US" altLang="en-US" smtClean="0"/>
              <a:pPr/>
              <a:t>19</a:t>
            </a:fld>
            <a:endParaRPr lang="en-US" altLang="en-US" smtClean="0"/>
          </a:p>
        </p:txBody>
      </p:sp>
      <p:sp>
        <p:nvSpPr>
          <p:cNvPr id="133123"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4"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Plan to Replenish </a:t>
            </a:r>
          </a:p>
          <a:p>
            <a:pPr lvl="1"/>
            <a:r>
              <a:rPr lang="pt-BR" altLang="en-US" b="1" smtClean="0">
                <a:cs typeface="Times New Roman" panose="02020603050405020304" pitchFamily="18" charset="0"/>
              </a:rPr>
              <a:t>Purchasing, Inventory: Executar o Planejamento Mín./Máx.</a:t>
            </a:r>
            <a:r>
              <a:rPr lang="en-US" altLang="en-US" b="1" smtClean="0">
                <a:cs typeface="Times New Roman" panose="02020603050405020304" pitchFamily="18" charset="0"/>
              </a:rPr>
              <a:t> </a:t>
            </a:r>
          </a:p>
          <a:p>
            <a:pPr lvl="1"/>
            <a:r>
              <a:rPr lang="pt-BR" altLang="en-US" b="1" smtClean="0">
                <a:cs typeface="Times New Roman" panose="02020603050405020304" pitchFamily="18" charset="0"/>
              </a:rPr>
              <a:t>Estabelecer Políticas de Planejamento de Inventário</a:t>
            </a:r>
            <a:r>
              <a:rPr lang="en-US" altLang="en-US" b="1" smtClean="0">
                <a:cs typeface="Times New Roman" panose="02020603050405020304" pitchFamily="18" charset="0"/>
              </a:rPr>
              <a:t> </a:t>
            </a:r>
          </a:p>
          <a:p>
            <a:pPr lvl="2"/>
            <a:r>
              <a:rPr lang="pt-BR" altLang="en-US" smtClean="0">
                <a:cs typeface="Times New Roman" panose="02020603050405020304" pitchFamily="18" charset="0"/>
              </a:rPr>
              <a:t>Define a política das diretrizes de gerenciamento para planejamento da compra ou montagem do material fora do plano ASP; por exemplo, os níveis de estoque de segurança e as quantidades da ordem por item.</a:t>
            </a:r>
            <a:r>
              <a:rPr lang="en-US" altLang="en-US" smtClean="0">
                <a:cs typeface="Times New Roman" panose="02020603050405020304" pitchFamily="18" charset="0"/>
              </a:rPr>
              <a:t> </a:t>
            </a:r>
          </a:p>
          <a:p>
            <a:pPr lvl="2"/>
            <a:r>
              <a:rPr lang="pt-BR" altLang="en-US" smtClean="0">
                <a:cs typeface="Times New Roman" panose="02020603050405020304" pitchFamily="18" charset="0"/>
              </a:rPr>
              <a:t>Determina o nível Mín./Máx. do item.</a:t>
            </a:r>
            <a:r>
              <a:rPr lang="en-US" altLang="en-US" smtClean="0">
                <a:cs typeface="Times New Roman" panose="02020603050405020304" pitchFamily="18" charset="0"/>
              </a:rPr>
              <a:t> </a:t>
            </a:r>
          </a:p>
          <a:p>
            <a:pPr lvl="1"/>
            <a:r>
              <a:rPr lang="en-US" altLang="en-US" b="1" smtClean="0">
                <a:cs typeface="Times New Roman" panose="02020603050405020304" pitchFamily="18" charset="0"/>
              </a:rPr>
              <a:t>Planejar Material Mín./Máx. </a:t>
            </a:r>
          </a:p>
          <a:p>
            <a:pPr lvl="2"/>
            <a:r>
              <a:rPr lang="pt-BR" altLang="en-US" smtClean="0">
                <a:cs typeface="Times New Roman" panose="02020603050405020304" pitchFamily="18" charset="0"/>
              </a:rPr>
              <a:t>Planeja a reposição do Inventário usando os níveis Mín./Máx.</a:t>
            </a:r>
            <a:r>
              <a:rPr lang="en-US" altLang="en-US" smtClean="0">
                <a:cs typeface="Times New Roman" panose="02020603050405020304" pitchFamily="18" charset="0"/>
              </a:rPr>
              <a:t> </a:t>
            </a:r>
          </a:p>
          <a:p>
            <a:pPr lvl="1"/>
            <a:r>
              <a:rPr lang="en-US" altLang="en-US" b="1" smtClean="0">
                <a:cs typeface="Times New Roman" panose="02020603050405020304" pitchFamily="18" charset="0"/>
              </a:rPr>
              <a:t>Requisição até Recebimento </a:t>
            </a:r>
          </a:p>
          <a:p>
            <a:pPr lvl="2"/>
            <a:r>
              <a:rPr lang="pt-BR" altLang="en-US" smtClean="0">
                <a:cs typeface="Times New Roman" panose="02020603050405020304" pitchFamily="18" charset="0"/>
              </a:rPr>
              <a:t>Executa transações diretas como requisições, emite ordens de compra e recebimentos usando o Purchasing ou emite recebimentos usando o Inventory.</a:t>
            </a:r>
            <a:r>
              <a:rPr lang="en-US" altLang="en-US" smtClean="0">
                <a:cs typeface="Times New Roman" panose="02020603050405020304" pitchFamily="18" charset="0"/>
              </a:rPr>
              <a:t> </a:t>
            </a:r>
          </a:p>
          <a:p>
            <a:pPr lvl="1"/>
            <a:r>
              <a:rPr lang="en-US" altLang="en-US" b="1" smtClean="0">
                <a:cs typeface="Times New Roman" panose="02020603050405020304" pitchFamily="18" charset="0"/>
              </a:rPr>
              <a:t>Purchasing: Gerar Requisições </a:t>
            </a:r>
          </a:p>
          <a:p>
            <a:pPr lvl="2"/>
            <a:r>
              <a:rPr lang="en-US" altLang="en-US" smtClean="0">
                <a:cs typeface="Times New Roman" panose="02020603050405020304" pitchFamily="18" charset="0"/>
              </a:rPr>
              <a:t>Importa e cria requisições. </a:t>
            </a:r>
          </a:p>
          <a:p>
            <a:pPr lvl="2"/>
            <a:r>
              <a:rPr lang="pt-BR" altLang="en-US" smtClean="0">
                <a:cs typeface="Times New Roman" panose="02020603050405020304" pitchFamily="18" charset="0"/>
              </a:rPr>
              <a:t>Este programa concorrente pode ser programado para ser executado automaticamente.</a:t>
            </a:r>
            <a:r>
              <a:rPr lang="en-US" altLang="en-US" smtClean="0">
                <a:cs typeface="Times New Roman" panose="02020603050405020304" pitchFamily="18" charset="0"/>
              </a:rPr>
              <a:t> </a:t>
            </a:r>
          </a:p>
        </p:txBody>
      </p:sp>
    </p:spTree>
    <p:extLst>
      <p:ext uri="{BB962C8B-B14F-4D97-AF65-F5344CB8AC3E}">
        <p14:creationId xmlns:p14="http://schemas.microsoft.com/office/powerpoint/2010/main" val="550436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674804DC-783D-43EF-9511-4D2CF3864B29}" type="slidenum">
              <a:rPr lang="en-US" altLang="en-US" smtClean="0"/>
              <a:pPr/>
              <a:t>20</a:t>
            </a:fld>
            <a:endParaRPr lang="en-US" altLang="en-US" smtClean="0"/>
          </a:p>
        </p:txBody>
      </p:sp>
      <p:sp>
        <p:nvSpPr>
          <p:cNvPr id="135171"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2"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Benefits to Payroll </a:t>
            </a:r>
          </a:p>
          <a:p>
            <a:pPr lvl="1"/>
            <a:r>
              <a:rPr lang="pt-BR" altLang="en-US" b="1" smtClean="0">
                <a:cs typeface="Times New Roman" panose="02020603050405020304" pitchFamily="18" charset="0"/>
              </a:rPr>
              <a:t>Administrar os Benefícios do Funcionário</a:t>
            </a:r>
            <a:r>
              <a:rPr lang="en-US" altLang="en-US" b="1" smtClean="0">
                <a:cs typeface="Times New Roman" panose="02020603050405020304" pitchFamily="18" charset="0"/>
              </a:rPr>
              <a:t> </a:t>
            </a:r>
          </a:p>
          <a:p>
            <a:pPr lvl="2"/>
            <a:r>
              <a:rPr lang="pt-BR" altLang="en-US" smtClean="0">
                <a:cs typeface="Times New Roman" panose="02020603050405020304" pitchFamily="18" charset="0"/>
              </a:rPr>
              <a:t>Os funcionários recebem as informações sobre benefícios para avaliar as ofertas do plano de benefícios da inscrição anual aberta.</a:t>
            </a:r>
            <a:r>
              <a:rPr lang="en-US" altLang="en-US" smtClean="0">
                <a:cs typeface="Times New Roman" panose="02020603050405020304" pitchFamily="18" charset="0"/>
              </a:rPr>
              <a:t> </a:t>
            </a:r>
          </a:p>
          <a:p>
            <a:pPr lvl="2"/>
            <a:r>
              <a:rPr lang="pt-BR" altLang="en-US" smtClean="0">
                <a:cs typeface="Times New Roman" panose="02020603050405020304" pitchFamily="18" charset="0"/>
              </a:rPr>
              <a:t>Os funcionários verificam seus benefícios atuais antes de fazer as novas opções.</a:t>
            </a:r>
            <a:r>
              <a:rPr lang="en-US" altLang="en-US" smtClean="0">
                <a:cs typeface="Times New Roman" panose="02020603050405020304" pitchFamily="18" charset="0"/>
              </a:rPr>
              <a:t> </a:t>
            </a:r>
          </a:p>
          <a:p>
            <a:pPr lvl="1"/>
            <a:r>
              <a:rPr lang="pt-BR" altLang="en-US" b="1" smtClean="0">
                <a:cs typeface="Times New Roman" panose="02020603050405020304" pitchFamily="18" charset="0"/>
              </a:rPr>
              <a:t>Determinar a Elegibilidade do Participante</a:t>
            </a:r>
            <a:r>
              <a:rPr lang="en-US" altLang="en-US" b="1" smtClean="0">
                <a:cs typeface="Times New Roman" panose="02020603050405020304" pitchFamily="18" charset="0"/>
              </a:rPr>
              <a:t> </a:t>
            </a:r>
          </a:p>
          <a:p>
            <a:pPr lvl="2"/>
            <a:r>
              <a:rPr lang="pt-BR" altLang="en-US" smtClean="0">
                <a:cs typeface="Times New Roman" panose="02020603050405020304" pitchFamily="18" charset="0"/>
              </a:rPr>
              <a:t>O modelo de elegibilidade para benefícios é utilizado para avaliar diferentes opções e custos de benefícios do funcionário com base na sua elegibilidade.</a:t>
            </a:r>
            <a:r>
              <a:rPr lang="en-US" altLang="en-US" smtClean="0">
                <a:cs typeface="Times New Roman" panose="02020603050405020304" pitchFamily="18" charset="0"/>
              </a:rPr>
              <a:t> </a:t>
            </a:r>
          </a:p>
          <a:p>
            <a:pPr lvl="1"/>
            <a:r>
              <a:rPr lang="pt-BR" altLang="en-US" b="1" smtClean="0">
                <a:cs typeface="Times New Roman" panose="02020603050405020304" pitchFamily="18" charset="0"/>
              </a:rPr>
              <a:t>Gerenciar a Inscrição em Benefícios</a:t>
            </a:r>
            <a:r>
              <a:rPr lang="en-US" altLang="en-US" b="1" smtClean="0">
                <a:cs typeface="Times New Roman" panose="02020603050405020304" pitchFamily="18" charset="0"/>
              </a:rPr>
              <a:t> </a:t>
            </a:r>
          </a:p>
          <a:p>
            <a:pPr lvl="2"/>
            <a:r>
              <a:rPr lang="pt-BR" altLang="en-US" smtClean="0">
                <a:cs typeface="Times New Roman" panose="02020603050405020304" pitchFamily="18" charset="0"/>
              </a:rPr>
              <a:t>Gerencia as novas inscrições e as inscrições em aberto para se obter benefícios. </a:t>
            </a:r>
            <a:r>
              <a:rPr lang="en-US" altLang="en-US" smtClean="0">
                <a:cs typeface="Times New Roman" panose="02020603050405020304" pitchFamily="18" charset="0"/>
              </a:rPr>
              <a:t> </a:t>
            </a:r>
          </a:p>
          <a:p>
            <a:pPr lvl="1"/>
            <a:r>
              <a:rPr lang="pt-BR" altLang="en-US" b="1" smtClean="0">
                <a:cs typeface="Times New Roman" panose="02020603050405020304" pitchFamily="18" charset="0"/>
              </a:rPr>
              <a:t>Administrar Relacionamentos com Fornecedores Terceirizados</a:t>
            </a:r>
            <a:r>
              <a:rPr lang="en-US" altLang="en-US" b="1" smtClean="0">
                <a:cs typeface="Times New Roman" panose="02020603050405020304" pitchFamily="18" charset="0"/>
              </a:rPr>
              <a:t> </a:t>
            </a:r>
          </a:p>
          <a:p>
            <a:pPr lvl="2"/>
            <a:r>
              <a:rPr lang="pt-BR" altLang="en-US" smtClean="0">
                <a:cs typeface="Times New Roman" panose="02020603050405020304" pitchFamily="18" charset="0"/>
              </a:rPr>
              <a:t>Extrai informações novas e alteradas sobre o funcionário para enviá-las aos Fornecedores de Benefícios.</a:t>
            </a:r>
            <a:r>
              <a:rPr lang="en-US" altLang="en-US" smtClean="0">
                <a:cs typeface="Times New Roman" panose="02020603050405020304" pitchFamily="18" charset="0"/>
              </a:rPr>
              <a:t> </a:t>
            </a:r>
          </a:p>
          <a:p>
            <a:pPr lvl="1">
              <a:spcBef>
                <a:spcPct val="0"/>
              </a:spcBef>
            </a:pPr>
            <a:r>
              <a:rPr lang="pt-BR" altLang="en-US" b="1" smtClean="0">
                <a:cs typeface="Times New Roman" panose="02020603050405020304" pitchFamily="18" charset="0"/>
              </a:rPr>
              <a:t>Administrar Contas de Despesa de Flexfield (EUA Apenas)</a:t>
            </a:r>
            <a:r>
              <a:rPr lang="en-US" altLang="en-US" b="1" smtClean="0">
                <a:cs typeface="Times New Roman" panose="02020603050405020304" pitchFamily="18" charset="0"/>
              </a:rPr>
              <a:t> </a:t>
            </a:r>
          </a:p>
          <a:p>
            <a:pPr lvl="2"/>
            <a:r>
              <a:rPr lang="pt-BR" altLang="en-US" smtClean="0">
                <a:cs typeface="Times New Roman" panose="02020603050405020304" pitchFamily="18" charset="0"/>
              </a:rPr>
              <a:t>As contas do FSA são mantidas para solicitações de reembolso referente a assistência médica do funcionário e de seus dependentes.</a:t>
            </a:r>
            <a:r>
              <a:rPr lang="en-US" altLang="en-US" smtClean="0">
                <a:cs typeface="Times New Roman" panose="02020603050405020304" pitchFamily="18" charset="0"/>
              </a:rPr>
              <a:t> </a:t>
            </a:r>
          </a:p>
          <a:p>
            <a:pPr lvl="1">
              <a:spcBef>
                <a:spcPct val="0"/>
              </a:spcBef>
            </a:pPr>
            <a:r>
              <a:rPr lang="pt-BR" altLang="en-US" b="1" smtClean="0">
                <a:cs typeface="Times New Roman" panose="02020603050405020304" pitchFamily="18" charset="0"/>
              </a:rPr>
              <a:t>Contabilizar até a Folha de Pagamento </a:t>
            </a:r>
            <a:r>
              <a:rPr lang="en-US" altLang="en-US" b="1" smtClean="0">
                <a:cs typeface="Times New Roman" panose="02020603050405020304" pitchFamily="18" charset="0"/>
              </a:rPr>
              <a:t> </a:t>
            </a:r>
          </a:p>
          <a:p>
            <a:pPr lvl="2"/>
            <a:r>
              <a:rPr lang="pt-BR" altLang="en-US" smtClean="0">
                <a:cs typeface="Times New Roman" panose="02020603050405020304" pitchFamily="18" charset="0"/>
              </a:rPr>
              <a:t>As inscrições e os pagamentos de benefícios processados foram contabilizados na folha de pagamento para processamento na execução de pagamento designada.</a:t>
            </a:r>
            <a:r>
              <a:rPr lang="en-US" altLang="en-US" smtClean="0">
                <a:cs typeface="Times New Roman" panose="02020603050405020304" pitchFamily="18" charset="0"/>
              </a:rPr>
              <a:t> </a:t>
            </a:r>
          </a:p>
        </p:txBody>
      </p:sp>
    </p:spTree>
    <p:extLst>
      <p:ext uri="{BB962C8B-B14F-4D97-AF65-F5344CB8AC3E}">
        <p14:creationId xmlns:p14="http://schemas.microsoft.com/office/powerpoint/2010/main" val="4224010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smtClean="0"/>
          </a:p>
        </p:txBody>
      </p:sp>
      <p:sp>
        <p:nvSpPr>
          <p:cNvPr id="1372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49371C36-2760-4886-A4F4-A8A1DD89ACF7}" type="slidenum">
              <a:rPr lang="en-IN" altLang="en-US" smtClean="0">
                <a:latin typeface="Calibri" panose="020F0502020204030204" pitchFamily="34" charset="0"/>
              </a:rPr>
              <a:pPr/>
              <a:t>21</a:t>
            </a:fld>
            <a:endParaRPr lang="en-IN" altLang="en-US" smtClean="0">
              <a:latin typeface="Calibri" panose="020F0502020204030204" pitchFamily="34" charset="0"/>
            </a:endParaRPr>
          </a:p>
        </p:txBody>
      </p:sp>
    </p:spTree>
    <p:extLst>
      <p:ext uri="{BB962C8B-B14F-4D97-AF65-F5344CB8AC3E}">
        <p14:creationId xmlns:p14="http://schemas.microsoft.com/office/powerpoint/2010/main" val="8164575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2 - </a:t>
            </a:r>
            <a:fld id="{23A4E853-6D71-4145-B03C-FB509E41343A}" type="slidenum">
              <a:rPr lang="en-US" altLang="en-US" smtClean="0"/>
              <a:pPr/>
              <a:t>22</a:t>
            </a:fld>
            <a:endParaRPr lang="en-US" altLang="en-US" smtClean="0"/>
          </a:p>
        </p:txBody>
      </p:sp>
      <p:sp>
        <p:nvSpPr>
          <p:cNvPr id="139267"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9268"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Efetuando Log-in nos Aplicativos Oracle </a:t>
            </a:r>
          </a:p>
          <a:p>
            <a:pPr lvl="1"/>
            <a:r>
              <a:rPr lang="en-US" altLang="en-US" b="1" smtClean="0">
                <a:latin typeface="TimesNewRoman,Bold"/>
              </a:rPr>
              <a:t>Iniciando os Aplicativos Oracle </a:t>
            </a:r>
          </a:p>
          <a:p>
            <a:pPr lvl="1"/>
            <a:r>
              <a:rPr lang="pt-BR" altLang="en-US" smtClean="0"/>
              <a:t>A primeira etapa para iniciar os Aplicativos Oracle é informar o URL apropriado para o seu site em um browser certificado para Aplicativos Oracle. Após iniciar esses aplicativos, a primeira janela exibida é a janela de log-in. Você deverá informar um nome de usuário e uma senha para efetuar log-in nos Aplicativos Oracle. Esses dados são diferentes dos dados que você utiliza para efetuar log-in no seu computador. Caso não tenha certeza do seu nome de usuário e da sua senha usados nos Aplicativos Oracle, consulte o administrador do sistema. A segurança dos Aplicativos Oracle depende do nome de usuário que você utiliza ao efetuar log-in. Com seu nome de usuário, você se conecta às suas responsabilidades, as quais controlam seu acesso a aplicativos, funções, relatórios e dados.</a:t>
            </a:r>
            <a:r>
              <a:rPr lang="en-US" altLang="en-US" smtClean="0"/>
              <a:t> </a:t>
            </a:r>
          </a:p>
        </p:txBody>
      </p:sp>
    </p:spTree>
    <p:extLst>
      <p:ext uri="{BB962C8B-B14F-4D97-AF65-F5344CB8AC3E}">
        <p14:creationId xmlns:p14="http://schemas.microsoft.com/office/powerpoint/2010/main" val="2324177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2 - </a:t>
            </a:r>
            <a:fld id="{7F4846DB-D4D6-43AC-A603-BB9F43899BDC}" type="slidenum">
              <a:rPr lang="en-US" altLang="en-US" smtClean="0"/>
              <a:pPr/>
              <a:t>23</a:t>
            </a:fld>
            <a:endParaRPr lang="en-US" altLang="en-US" smtClean="0"/>
          </a:p>
        </p:txBody>
      </p:sp>
      <p:sp>
        <p:nvSpPr>
          <p:cNvPr id="141315"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6"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pt-BR" altLang="en-US" smtClean="0"/>
              <a:t>Navegar da Home Page Pessoal até os Aplicativos </a:t>
            </a:r>
            <a:r>
              <a:rPr lang="en-US" altLang="en-US" smtClean="0"/>
              <a:t> </a:t>
            </a:r>
          </a:p>
          <a:p>
            <a:pPr lvl="1"/>
            <a:r>
              <a:rPr lang="pt-BR" altLang="en-US" smtClean="0"/>
              <a:t>Depois que você efetua log-in nos Aplicativos Oracle, a Home Page do E-Business Suite é exibida. Nessa página, você pode:</a:t>
            </a:r>
            <a:r>
              <a:rPr lang="en-US" altLang="en-US" smtClean="0"/>
              <a:t> </a:t>
            </a:r>
          </a:p>
          <a:p>
            <a:pPr lvl="2"/>
            <a:r>
              <a:rPr lang="pt-BR" altLang="en-US" smtClean="0"/>
              <a:t>Acessar os Aplicativos do E-Business Suite (profissionais ou self-service)</a:t>
            </a:r>
            <a:r>
              <a:rPr lang="en-US" altLang="en-US" smtClean="0"/>
              <a:t> </a:t>
            </a:r>
          </a:p>
          <a:p>
            <a:pPr lvl="2"/>
            <a:r>
              <a:rPr lang="en-US" altLang="en-US" smtClean="0"/>
              <a:t>Exibir e responder notificações </a:t>
            </a:r>
          </a:p>
          <a:p>
            <a:pPr lvl="2"/>
            <a:r>
              <a:rPr lang="pt-BR" altLang="en-US" smtClean="0"/>
              <a:t>Definir preferências individuais do usuário</a:t>
            </a:r>
            <a:r>
              <a:rPr lang="en-US" altLang="en-US" smtClean="0"/>
              <a:t> </a:t>
            </a:r>
          </a:p>
          <a:p>
            <a:pPr lvl="2"/>
            <a:r>
              <a:rPr lang="pt-BR" altLang="en-US" smtClean="0"/>
              <a:t>Navegar até outras funções ou páginas Web usadas com freqüência</a:t>
            </a:r>
            <a:r>
              <a:rPr lang="en-US" altLang="en-US" smtClean="0"/>
              <a:t> </a:t>
            </a:r>
          </a:p>
          <a:p>
            <a:pPr lvl="1"/>
            <a:r>
              <a:rPr lang="pt-BR" altLang="en-US" b="1" smtClean="0"/>
              <a:t>Nota:</a:t>
            </a:r>
            <a:r>
              <a:rPr lang="pt-BR" altLang="en-US" smtClean="0"/>
              <a:t> A aparência das janelas pode variar de acordo com a interface que você está usando e com a forma como ela é personalizada no seu local. </a:t>
            </a:r>
            <a:r>
              <a:rPr lang="en-US" altLang="en-US" smtClean="0"/>
              <a:t> </a:t>
            </a:r>
          </a:p>
          <a:p>
            <a:pPr lvl="1"/>
            <a:r>
              <a:rPr lang="en-US" altLang="en-US" b="1" smtClean="0"/>
              <a:t>Dois Tipos de Interfaces </a:t>
            </a:r>
          </a:p>
          <a:p>
            <a:pPr lvl="1"/>
            <a:r>
              <a:rPr lang="pt-BR" altLang="en-US" smtClean="0"/>
              <a:t>Os aplicativos do Oracle E-Business Suite são baseados em HTML ou em forms. Os aplicativos baseados em forms são otimizados para processar um grande volume de transações. Já os aplicativos baseados em HTML, às vezes denominados “Aplicativos Self-Service”, são otimizados para facilitar o uso por parte dos usuários inexperientes. Por exemplo, para informar um lote de lançamentos, o E-Business Suite oferece um aplicativo baseado em forms. Para submeter um relatório de despesas, o E-Business Suite disponibiliza um aplicativo baseado em HTML.</a:t>
            </a:r>
            <a:r>
              <a:rPr lang="en-US" altLang="en-US" smtClean="0"/>
              <a:t> </a:t>
            </a:r>
          </a:p>
          <a:p>
            <a:r>
              <a:rPr lang="pt-BR" altLang="en-US" smtClean="0">
                <a:solidFill>
                  <a:srgbClr val="000000"/>
                </a:solidFill>
                <a:latin typeface="Times New Roman" panose="02020603050405020304" pitchFamily="18" charset="0"/>
                <a:cs typeface="Arial" panose="020B0604020202020204" pitchFamily="34" charset="0"/>
              </a:rPr>
              <a:t>Consulte o Exercício – </a:t>
            </a:r>
            <a:r>
              <a:rPr lang="pt-BR" altLang="en-US" i="1" smtClean="0">
                <a:solidFill>
                  <a:srgbClr val="000000"/>
                </a:solidFill>
                <a:latin typeface="Times New Roman" panose="02020603050405020304" pitchFamily="18" charset="0"/>
                <a:cs typeface="Arial" panose="020B0604020202020204" pitchFamily="34" charset="0"/>
              </a:rPr>
              <a:t>Navegando nos Aplicativos Self-Service (Obrigatório) [LAB42A7Y]</a:t>
            </a:r>
            <a:r>
              <a:rPr lang="en-US" altLang="en-US" i="1" smtClean="0">
                <a:solidFill>
                  <a:srgbClr val="000000"/>
                </a:solidFill>
                <a:latin typeface="Times New Roman" panose="02020603050405020304" pitchFamily="18" charset="0"/>
                <a:cs typeface="Arial" panose="020B0604020202020204" pitchFamily="34" charset="0"/>
              </a:rPr>
              <a:t> </a:t>
            </a:r>
          </a:p>
        </p:txBody>
      </p:sp>
    </p:spTree>
    <p:extLst>
      <p:ext uri="{BB962C8B-B14F-4D97-AF65-F5344CB8AC3E}">
        <p14:creationId xmlns:p14="http://schemas.microsoft.com/office/powerpoint/2010/main" val="10284736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2 - </a:t>
            </a:r>
            <a:fld id="{471AE0EC-F7B2-48A9-A47E-BFA5395B7320}" type="slidenum">
              <a:rPr lang="en-US" altLang="en-US" smtClean="0"/>
              <a:pPr/>
              <a:t>24</a:t>
            </a:fld>
            <a:endParaRPr lang="en-US" altLang="en-US" smtClean="0"/>
          </a:p>
        </p:txBody>
      </p:sp>
      <p:sp>
        <p:nvSpPr>
          <p:cNvPr id="143363"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4"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Navegador </a:t>
            </a:r>
          </a:p>
          <a:p>
            <a:pPr lvl="1"/>
            <a:r>
              <a:rPr lang="pt-BR" altLang="en-US" smtClean="0"/>
              <a:t>A janela do Navegador exibe o nome da responsabilidade que você seleciona na barra de título. Use essa janela para navegar até um form e executar um fluxo de negócios específico. Você pode navegar até os forms exibidos em uma lista de navegação à esquerda da janela. Clique nas guias para acessar as diferentes regiões.</a:t>
            </a:r>
            <a:r>
              <a:rPr lang="en-US" altLang="en-US" smtClean="0"/>
              <a:t> </a:t>
            </a:r>
          </a:p>
          <a:p>
            <a:pPr lvl="1"/>
            <a:r>
              <a:rPr lang="en-US" altLang="en-US" b="1" smtClean="0"/>
              <a:t>Guias do Navegador </a:t>
            </a:r>
          </a:p>
          <a:p>
            <a:pPr lvl="1"/>
            <a:r>
              <a:rPr lang="pt-BR" altLang="en-US" smtClean="0"/>
              <a:t>A guia Functions exibe todas as funções de aplicativos que você pode acessar para a responsabilidade selecionada. Caso tenha um documento, como uma ordem de compra, uma NFF ou uma ordem de venda que queira acessar posteriormente, você poderá criar um link para o documento usando o recurso Document do Navegador.</a:t>
            </a:r>
            <a:r>
              <a:rPr lang="en-US" altLang="en-US" smtClean="0"/>
              <a:t> </a:t>
            </a:r>
          </a:p>
          <a:p>
            <a:pPr lvl="1"/>
            <a:r>
              <a:rPr lang="pt-BR" altLang="en-US" smtClean="0"/>
              <a:t>O recurso Document permite que você crie quantos links quiser e salve-os na região Documents da janela do Navegador. Quando você usa um link para abrir um documento, os Aplicativos Oracle abrem o documento na janela do form apropriado. Você pode acessar a região Document usando o controle da guia. </a:t>
            </a:r>
            <a:r>
              <a:rPr lang="en-US" altLang="en-US" smtClean="0"/>
              <a:t> </a:t>
            </a:r>
          </a:p>
          <a:p>
            <a:pPr lvl="1"/>
            <a:r>
              <a:rPr lang="pt-BR" altLang="en-US" smtClean="0"/>
              <a:t>A região Processes (o "Navegador de Processos") automatiza os fluxos de negócios entre os forms dos Aplicativos Oracle. Ela permite que você modele e execute processos de negócios complexos por meio de uma interface gráfica do usuário de fácil utilização. Os processos de negócios ativados pelo Navegador de Processos não se limitam a produtos, podendo incluir ciclos de negócios completos.</a:t>
            </a:r>
            <a:r>
              <a:rPr lang="en-US" altLang="en-US" smtClean="0"/>
              <a:t> </a:t>
            </a:r>
          </a:p>
          <a:p>
            <a:pPr lvl="1"/>
            <a:r>
              <a:rPr lang="pt-BR" altLang="en-US" smtClean="0"/>
              <a:t>O Navegador de Processos fornece instruções detalhadas sobre cada função necessária em um processo de negócios. Além de fornecer um mapa visual de um processo de negócios, o Navegador pode ativar os forms dos Aplicativos Oracle apropriados ou os relatórios padrão em cada etapa.</a:t>
            </a:r>
            <a:r>
              <a:rPr lang="en-US" altLang="en-US" smtClean="0"/>
              <a:t> </a:t>
            </a:r>
          </a:p>
        </p:txBody>
      </p:sp>
    </p:spTree>
    <p:extLst>
      <p:ext uri="{BB962C8B-B14F-4D97-AF65-F5344CB8AC3E}">
        <p14:creationId xmlns:p14="http://schemas.microsoft.com/office/powerpoint/2010/main" val="20337210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2 - </a:t>
            </a:r>
            <a:fld id="{A8457ABE-1B12-422B-8478-188F581FF878}" type="slidenum">
              <a:rPr lang="en-US" altLang="en-US" smtClean="0"/>
              <a:pPr/>
              <a:t>25</a:t>
            </a:fld>
            <a:endParaRPr lang="en-US" altLang="en-US" smtClean="0"/>
          </a:p>
        </p:txBody>
      </p:sp>
      <p:sp>
        <p:nvSpPr>
          <p:cNvPr id="145411"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2"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Terminologia de Forms </a:t>
            </a:r>
          </a:p>
          <a:p>
            <a:pPr lvl="1"/>
            <a:r>
              <a:rPr lang="pt-BR" altLang="en-US" smtClean="0"/>
              <a:t>Os Aplicativos Oracle Release 11i operam especificamente em ambientes ativados para Web. É importante compreender a terminologia dos componentes de um form dos Aplicativos Oracle. Os termos mais usados estão listados abaixo:</a:t>
            </a:r>
            <a:r>
              <a:rPr lang="en-US" altLang="en-US" smtClean="0"/>
              <a:t> </a:t>
            </a:r>
          </a:p>
          <a:p>
            <a:pPr lvl="2"/>
            <a:r>
              <a:rPr lang="pt-BR" altLang="en-US" b="1" smtClean="0"/>
              <a:t>Barra de Menus: </a:t>
            </a:r>
            <a:r>
              <a:rPr lang="pt-BR" altLang="en-US" smtClean="0"/>
              <a:t>Use os menus pull-down dessa barra para navegar ou executar ações em um form.</a:t>
            </a:r>
            <a:r>
              <a:rPr lang="en-US" altLang="en-US" b="1" smtClean="0"/>
              <a:t> </a:t>
            </a:r>
          </a:p>
          <a:p>
            <a:pPr lvl="2"/>
            <a:r>
              <a:rPr lang="pt-BR" altLang="en-US" b="1" smtClean="0"/>
              <a:t>Janela: </a:t>
            </a:r>
            <a:r>
              <a:rPr lang="pt-BR" altLang="en-US" smtClean="0"/>
              <a:t>É uma área em que o usuário interage com um aplicativo. (Várias janelas podem ser abertas simultaneamente e você pode acessar essas janelas “sobrepostas” para executar atividades de entrada ou pesquisa de dados.)</a:t>
            </a:r>
            <a:r>
              <a:rPr lang="en-US" altLang="en-US" b="1" smtClean="0"/>
              <a:t> </a:t>
            </a:r>
          </a:p>
          <a:p>
            <a:pPr lvl="2"/>
            <a:r>
              <a:rPr lang="pt-BR" altLang="en-US" b="1" smtClean="0"/>
              <a:t>Título da janela: </a:t>
            </a:r>
            <a:r>
              <a:rPr lang="pt-BR" altLang="en-US" smtClean="0"/>
              <a:t>É o texto na barra de título que indica o nome da janela e, em geral, fornece informações pertinentes ao conteúdo dessa janela.</a:t>
            </a:r>
            <a:r>
              <a:rPr lang="en-US" altLang="en-US" b="1" smtClean="0"/>
              <a:t> </a:t>
            </a:r>
          </a:p>
          <a:p>
            <a:pPr lvl="2"/>
            <a:r>
              <a:rPr lang="pt-BR" altLang="en-US" b="1" smtClean="0"/>
              <a:t>Janela MDI: </a:t>
            </a:r>
            <a:r>
              <a:rPr lang="pt-BR" altLang="en-US" smtClean="0"/>
              <a:t>Uma janela container-mestre que comporta todas as janelas, barras de ferramentas e janelas de aplicativos.</a:t>
            </a:r>
            <a:r>
              <a:rPr lang="en-US" altLang="en-US" b="1" smtClean="0"/>
              <a:t> </a:t>
            </a:r>
          </a:p>
          <a:p>
            <a:pPr lvl="2"/>
            <a:r>
              <a:rPr lang="pt-BR" altLang="en-US" b="1" smtClean="0"/>
              <a:t>Dica de ferramenta: </a:t>
            </a:r>
            <a:r>
              <a:rPr lang="pt-BR" altLang="en-US" smtClean="0"/>
              <a:t>Ajuda em forma de balão que pode ser usada para determinar a função de um botão na barra de ferramentas.</a:t>
            </a:r>
            <a:r>
              <a:rPr lang="en-US" altLang="en-US" b="1" smtClean="0"/>
              <a:t> </a:t>
            </a:r>
          </a:p>
          <a:p>
            <a:pPr lvl="2">
              <a:spcBef>
                <a:spcPct val="25000"/>
              </a:spcBef>
            </a:pPr>
            <a:r>
              <a:rPr lang="pt-BR" altLang="en-US" b="1" smtClean="0"/>
              <a:t>Registro ou linha:</a:t>
            </a:r>
            <a:r>
              <a:rPr lang="pt-BR" altLang="en-US" smtClean="0"/>
              <a:t> Um conjunto de um ou mais itens de dados relacionados, contido em uma tabela ou view, que são agrupados para processamento.</a:t>
            </a:r>
            <a:r>
              <a:rPr lang="en-US" altLang="en-US" b="1" smtClean="0"/>
              <a:t> </a:t>
            </a:r>
          </a:p>
          <a:p>
            <a:pPr lvl="2"/>
            <a:r>
              <a:rPr lang="pt-BR" altLang="en-US" b="1" smtClean="0"/>
              <a:t>Caixa de seleção:</a:t>
            </a:r>
            <a:r>
              <a:rPr lang="pt-BR" altLang="en-US" smtClean="0"/>
              <a:t> Uma caixa na qual você pode alternar entre um estado ativado/desativado ou sim/não para determinado valor.</a:t>
            </a:r>
            <a:r>
              <a:rPr lang="en-US" altLang="en-US" b="1" smtClean="0"/>
              <a:t> </a:t>
            </a:r>
          </a:p>
          <a:p>
            <a:pPr lvl="2"/>
            <a:r>
              <a:rPr lang="pt-BR" altLang="en-US" b="1" smtClean="0"/>
              <a:t>Ícone de lista de valores:</a:t>
            </a:r>
            <a:r>
              <a:rPr lang="pt-BR" altLang="en-US" smtClean="0"/>
              <a:t> Um ícone no qual você pode clicar para exibir uma lista de valores do campo atual.</a:t>
            </a:r>
            <a:r>
              <a:rPr lang="en-US" altLang="en-US" b="1" smtClean="0"/>
              <a:t> </a:t>
            </a:r>
          </a:p>
          <a:p>
            <a:pPr lvl="2"/>
            <a:r>
              <a:rPr lang="pt-BR" altLang="en-US" b="1" smtClean="0"/>
              <a:t>Lista pop-up:</a:t>
            </a:r>
            <a:r>
              <a:rPr lang="pt-BR" altLang="en-US" smtClean="0"/>
              <a:t> Uma lista pop-up permite selecionar um valor único em uma pequena lista.</a:t>
            </a:r>
            <a:r>
              <a:rPr lang="en-US" altLang="en-US" b="1" smtClean="0"/>
              <a:t> </a:t>
            </a:r>
          </a:p>
          <a:p>
            <a:pPr lvl="2"/>
            <a:r>
              <a:rPr lang="pt-BR" altLang="en-US" b="1" smtClean="0"/>
              <a:t>Região de rolagem:</a:t>
            </a:r>
            <a:r>
              <a:rPr lang="pt-BR" altLang="en-US" smtClean="0"/>
              <a:t> Uma região que contém uma barra de rolagem, na qual é possível ver outros campos.</a:t>
            </a:r>
            <a:r>
              <a:rPr lang="en-US" altLang="en-US" b="1" smtClean="0"/>
              <a:t> </a:t>
            </a:r>
          </a:p>
          <a:p>
            <a:pPr lvl="2"/>
            <a:r>
              <a:rPr lang="pt-BR" altLang="en-US" b="1" smtClean="0"/>
              <a:t>Bloco:</a:t>
            </a:r>
            <a:r>
              <a:rPr lang="pt-BR" altLang="en-US" smtClean="0"/>
              <a:t> Uma área de informações relativas a uma entidade ou função de negócios específica.</a:t>
            </a:r>
            <a:r>
              <a:rPr lang="en-US" altLang="en-US" b="1" smtClean="0"/>
              <a:t> </a:t>
            </a:r>
          </a:p>
        </p:txBody>
      </p:sp>
    </p:spTree>
    <p:extLst>
      <p:ext uri="{BB962C8B-B14F-4D97-AF65-F5344CB8AC3E}">
        <p14:creationId xmlns:p14="http://schemas.microsoft.com/office/powerpoint/2010/main" val="19651016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2 - </a:t>
            </a:r>
            <a:fld id="{B89140F9-219E-4E74-BC26-59C7915824F7}" type="slidenum">
              <a:rPr lang="en-US" altLang="en-US" smtClean="0"/>
              <a:pPr/>
              <a:t>26</a:t>
            </a:fld>
            <a:endParaRPr lang="en-US" altLang="en-US" smtClean="0"/>
          </a:p>
        </p:txBody>
      </p:sp>
      <p:sp>
        <p:nvSpPr>
          <p:cNvPr id="147459"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60"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Terminologia de Forms (continuação) </a:t>
            </a:r>
          </a:p>
          <a:p>
            <a:pPr lvl="2">
              <a:spcBef>
                <a:spcPct val="25000"/>
              </a:spcBef>
            </a:pPr>
            <a:r>
              <a:rPr lang="pt-BR" altLang="en-US" b="1" smtClean="0"/>
              <a:t>Região: </a:t>
            </a:r>
            <a:r>
              <a:rPr lang="pt-BR" altLang="en-US" smtClean="0"/>
              <a:t>É um agrupamento lógico de campos definidos separadamente de outros campos por uma estrutura de tópicos.</a:t>
            </a:r>
            <a:r>
              <a:rPr lang="en-US" altLang="en-US" b="1" smtClean="0"/>
              <a:t> </a:t>
            </a:r>
          </a:p>
          <a:p>
            <a:pPr lvl="2"/>
            <a:r>
              <a:rPr lang="pt-BR" altLang="en-US" b="1" smtClean="0"/>
              <a:t>Guia: </a:t>
            </a:r>
            <a:r>
              <a:rPr lang="pt-BR" altLang="en-US" smtClean="0"/>
              <a:t>Um conjunto de regiões que ocupam o mesmo espaço em uma janela, na qual apenas uma região pode ser exibida de cada vez.</a:t>
            </a:r>
            <a:r>
              <a:rPr lang="en-US" altLang="en-US" b="1" smtClean="0"/>
              <a:t> </a:t>
            </a:r>
          </a:p>
          <a:p>
            <a:pPr lvl="2"/>
            <a:r>
              <a:rPr lang="pt-BR" altLang="en-US" b="1" smtClean="0"/>
              <a:t>Campo:</a:t>
            </a:r>
            <a:r>
              <a:rPr lang="pt-BR" altLang="en-US" smtClean="0"/>
              <a:t> Uma área em uma janela que exibe dados ou permite que você informe dados.</a:t>
            </a:r>
            <a:r>
              <a:rPr lang="en-US" altLang="en-US" b="1" smtClean="0"/>
              <a:t> </a:t>
            </a:r>
          </a:p>
          <a:p>
            <a:pPr lvl="2"/>
            <a:r>
              <a:rPr lang="pt-BR" altLang="en-US" b="1" smtClean="0"/>
              <a:t>Botão:</a:t>
            </a:r>
            <a:r>
              <a:rPr lang="pt-BR" altLang="en-US" smtClean="0"/>
              <a:t> Um elemento gráfico que inicia uma ação predefinida quando você clica nele.</a:t>
            </a:r>
            <a:r>
              <a:rPr lang="en-US" altLang="en-US" b="1" smtClean="0"/>
              <a:t> </a:t>
            </a:r>
          </a:p>
          <a:p>
            <a:r>
              <a:rPr lang="pt-BR" altLang="en-US" smtClean="0">
                <a:solidFill>
                  <a:srgbClr val="000000"/>
                </a:solidFill>
                <a:latin typeface="Times New Roman" panose="02020603050405020304" pitchFamily="18" charset="0"/>
                <a:cs typeface="Arial" panose="020B0604020202020204" pitchFamily="34" charset="0"/>
              </a:rPr>
              <a:t>Consulte o Exercício</a:t>
            </a:r>
            <a:r>
              <a:rPr lang="pt-BR" altLang="en-US" i="1" smtClean="0">
                <a:solidFill>
                  <a:srgbClr val="000000"/>
                </a:solidFill>
                <a:latin typeface="Times New Roman" panose="02020603050405020304" pitchFamily="18" charset="0"/>
                <a:cs typeface="Arial" panose="020B0604020202020204" pitchFamily="34" charset="0"/>
              </a:rPr>
              <a:t> – Efetuando Log-in nos Aplicativos Oracle, Criando Favoritos, Navegando pelas Responsabilidades e Menus, Fechando um Form, Efetuando Log-out nos Aplicativos Oracle</a:t>
            </a:r>
            <a:r>
              <a:rPr lang="en-US" altLang="en-US" smtClean="0">
                <a:solidFill>
                  <a:srgbClr val="000000"/>
                </a:solidFill>
                <a:latin typeface="Times New Roman" panose="02020603050405020304" pitchFamily="18" charset="0"/>
                <a:cs typeface="Arial" panose="020B0604020202020204" pitchFamily="34" charset="0"/>
              </a:rPr>
              <a:t> </a:t>
            </a:r>
            <a:r>
              <a:rPr lang="en-US" altLang="en-US" i="1" smtClean="0">
                <a:solidFill>
                  <a:srgbClr val="000000"/>
                </a:solidFill>
                <a:latin typeface="Times New Roman" panose="02020603050405020304" pitchFamily="18" charset="0"/>
                <a:cs typeface="Arial" panose="020B0604020202020204" pitchFamily="34" charset="0"/>
              </a:rPr>
              <a:t>(Obrigatório) [LAB42A2Y]</a:t>
            </a:r>
            <a:r>
              <a:rPr lang="en-US" altLang="en-US" smtClean="0">
                <a:solidFill>
                  <a:srgbClr val="000000"/>
                </a:solidFill>
                <a:latin typeface="Times New Roman" panose="02020603050405020304" pitchFamily="18" charset="0"/>
                <a:cs typeface="Arial" panose="020B0604020202020204" pitchFamily="34" charset="0"/>
              </a:rPr>
              <a:t> </a:t>
            </a:r>
          </a:p>
          <a:p>
            <a:r>
              <a:rPr lang="en-US" altLang="en-US" smtClean="0">
                <a:solidFill>
                  <a:srgbClr val="000000"/>
                </a:solidFill>
                <a:latin typeface="Times New Roman" panose="02020603050405020304" pitchFamily="18" charset="0"/>
                <a:cs typeface="Arial" panose="020B0604020202020204" pitchFamily="34" charset="0"/>
              </a:rPr>
              <a:t>Consulte o Exercício</a:t>
            </a:r>
            <a:r>
              <a:rPr lang="en-US" altLang="en-US" i="1" smtClean="0">
                <a:solidFill>
                  <a:srgbClr val="000000"/>
                </a:solidFill>
                <a:latin typeface="Times New Roman" panose="02020603050405020304" pitchFamily="18" charset="0"/>
                <a:cs typeface="Arial" panose="020B0604020202020204" pitchFamily="34" charset="0"/>
              </a:rPr>
              <a:t> – Alternar Responsabilidade (Obrigatório) [LAB42A3Y]</a:t>
            </a:r>
            <a:r>
              <a:rPr lang="en-US" altLang="en-US" smtClean="0">
                <a:solidFill>
                  <a:srgbClr val="000000"/>
                </a:solidFill>
                <a:latin typeface="Times New Roman" panose="02020603050405020304" pitchFamily="18" charset="0"/>
                <a:cs typeface="Arial" panose="020B0604020202020204" pitchFamily="34" charset="0"/>
              </a:rPr>
              <a:t> </a:t>
            </a:r>
          </a:p>
        </p:txBody>
      </p:sp>
    </p:spTree>
    <p:extLst>
      <p:ext uri="{BB962C8B-B14F-4D97-AF65-F5344CB8AC3E}">
        <p14:creationId xmlns:p14="http://schemas.microsoft.com/office/powerpoint/2010/main" val="4992434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2 - </a:t>
            </a:r>
            <a:fld id="{B4BB8A90-0381-42EA-B824-140D60F57523}" type="slidenum">
              <a:rPr lang="en-US" altLang="en-US" smtClean="0"/>
              <a:pPr/>
              <a:t>27</a:t>
            </a:fld>
            <a:endParaRPr lang="en-US" altLang="en-US" smtClean="0"/>
          </a:p>
        </p:txBody>
      </p:sp>
      <p:sp>
        <p:nvSpPr>
          <p:cNvPr id="149507"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8"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Cores dos Campos </a:t>
            </a:r>
          </a:p>
          <a:p>
            <a:pPr lvl="1"/>
            <a:r>
              <a:rPr lang="pt-BR" altLang="en-US" smtClean="0"/>
              <a:t>Cada bloco contém campos que você usa para informar, exibir, atualizar ou deletar informações. Um prompt de campo descreve o campo, especificando o tipo de informação exibida ou que você deve definir. Os campos têm cores distintas que os diferenciam de acordo com seus tipos:</a:t>
            </a:r>
            <a:r>
              <a:rPr lang="en-US" altLang="en-US" smtClean="0"/>
              <a:t> </a:t>
            </a:r>
          </a:p>
          <a:p>
            <a:pPr lvl="2"/>
            <a:r>
              <a:rPr lang="pt-BR" altLang="en-US" b="1" smtClean="0"/>
              <a:t>Campos brancos: </a:t>
            </a:r>
            <a:r>
              <a:rPr lang="pt-BR" altLang="en-US" smtClean="0"/>
              <a:t>Permitem a entrada de dados.</a:t>
            </a:r>
            <a:r>
              <a:rPr lang="en-US" altLang="en-US" b="1" smtClean="0"/>
              <a:t> </a:t>
            </a:r>
          </a:p>
          <a:p>
            <a:pPr lvl="2"/>
            <a:r>
              <a:rPr lang="pt-BR" altLang="en-US" b="1" smtClean="0"/>
              <a:t>Campos brancos com texto preto: </a:t>
            </a:r>
            <a:r>
              <a:rPr lang="pt-BR" altLang="en-US" smtClean="0"/>
              <a:t>Indicam o recurso de drill-down.</a:t>
            </a:r>
            <a:r>
              <a:rPr lang="en-US" altLang="en-US" b="1" smtClean="0"/>
              <a:t> </a:t>
            </a:r>
          </a:p>
          <a:p>
            <a:pPr lvl="2"/>
            <a:r>
              <a:rPr lang="pt-BR" altLang="en-US" b="1" smtClean="0"/>
              <a:t>Campos amarelos: </a:t>
            </a:r>
            <a:r>
              <a:rPr lang="pt-BR" altLang="en-US" smtClean="0"/>
              <a:t>Requerem a entrada de dados.</a:t>
            </a:r>
            <a:r>
              <a:rPr lang="en-US" altLang="en-US" b="1" smtClean="0"/>
              <a:t> </a:t>
            </a:r>
          </a:p>
          <a:p>
            <a:pPr lvl="2"/>
            <a:r>
              <a:rPr lang="pt-BR" altLang="en-US" b="1" smtClean="0"/>
              <a:t>Campos brancos com texto verde: </a:t>
            </a:r>
            <a:r>
              <a:rPr lang="en-US" altLang="en-US" smtClean="0"/>
              <a:t>São apenas para exibição.</a:t>
            </a:r>
            <a:r>
              <a:rPr lang="en-US" altLang="en-US" b="1" smtClean="0"/>
              <a:t> </a:t>
            </a:r>
          </a:p>
          <a:p>
            <a:pPr lvl="2"/>
            <a:r>
              <a:rPr lang="pt-BR" altLang="en-US" b="1" smtClean="0"/>
              <a:t>Campos azuis: </a:t>
            </a:r>
            <a:r>
              <a:rPr lang="pt-BR" altLang="en-US" smtClean="0"/>
              <a:t>Indicam os campos a serem usados no modo de “Entrada de Consulta”.</a:t>
            </a:r>
            <a:r>
              <a:rPr lang="en-US" altLang="en-US" b="1" smtClean="0"/>
              <a:t> </a:t>
            </a:r>
          </a:p>
          <a:p>
            <a:pPr lvl="1"/>
            <a:r>
              <a:rPr lang="pt-BR" altLang="en-US" smtClean="0"/>
              <a:t>Em geral, o termo “campo” refere-se a um campo de texto, uma área em uma janela que exibe dados ou que permite a entrada de dados. No entanto, um campo também pode incluir um botão, uma caixa de seleção, um grupo de opções ou uma lista pop-up.</a:t>
            </a:r>
            <a:r>
              <a:rPr lang="en-US" altLang="en-US" smtClean="0"/>
              <a:t> </a:t>
            </a:r>
          </a:p>
        </p:txBody>
      </p:sp>
    </p:spTree>
    <p:extLst>
      <p:ext uri="{BB962C8B-B14F-4D97-AF65-F5344CB8AC3E}">
        <p14:creationId xmlns:p14="http://schemas.microsoft.com/office/powerpoint/2010/main" val="12933440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4 - </a:t>
            </a:r>
            <a:fld id="{4F7870B7-FD12-4B28-B184-C692184C8BF3}" type="slidenum">
              <a:rPr lang="en-US" altLang="en-US" smtClean="0"/>
              <a:pPr/>
              <a:t>28</a:t>
            </a:fld>
            <a:endParaRPr lang="en-US" altLang="en-US" smtClean="0"/>
          </a:p>
        </p:txBody>
      </p:sp>
      <p:sp>
        <p:nvSpPr>
          <p:cNvPr id="151555"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6"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Entidades Compartilhadas no E-Business: Exemplos </a:t>
            </a:r>
          </a:p>
          <a:p>
            <a:pPr lvl="1"/>
            <a:r>
              <a:rPr lang="pt-BR" altLang="en-US" smtClean="0"/>
              <a:t>A lista de entidades compartilhadas acima está incompleta, servindo apenas para exemplificar como as entidades compartilhadas são usadas no E-Business Suite R12.</a:t>
            </a:r>
            <a:r>
              <a:rPr lang="en-US" altLang="en-US" smtClean="0"/>
              <a:t> </a:t>
            </a:r>
          </a:p>
          <a:p>
            <a:pPr lvl="1"/>
            <a:r>
              <a:rPr lang="pt-BR" altLang="en-US" smtClean="0"/>
              <a:t>Uma lista completa de entidades compartilhadas está além do escopo deste curso e não está incluída na documentação. No entanto, a lista apresentada no slide inclui a maioria das entidades compartilhadas usadas no EBS R12 e será uma fonte útil de referência.</a:t>
            </a:r>
            <a:r>
              <a:rPr lang="en-US" altLang="en-US" smtClean="0"/>
              <a:t> </a:t>
            </a:r>
          </a:p>
        </p:txBody>
      </p:sp>
    </p:spTree>
    <p:extLst>
      <p:ext uri="{BB962C8B-B14F-4D97-AF65-F5344CB8AC3E}">
        <p14:creationId xmlns:p14="http://schemas.microsoft.com/office/powerpoint/2010/main" val="19423070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6 - </a:t>
            </a:r>
            <a:fld id="{E04F3EE4-128D-4831-B404-4A023D8C6D30}" type="slidenum">
              <a:rPr lang="en-US" altLang="en-US" smtClean="0"/>
              <a:pPr/>
              <a:t>30</a:t>
            </a:fld>
            <a:endParaRPr lang="en-US" altLang="en-US" smtClean="0"/>
          </a:p>
        </p:txBody>
      </p:sp>
      <p:sp>
        <p:nvSpPr>
          <p:cNvPr id="154627"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8"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Flexfields-Chave e Descritivos </a:t>
            </a:r>
          </a:p>
          <a:p>
            <a:pPr lvl="1"/>
            <a:r>
              <a:rPr lang="pt-BR" altLang="en-US" smtClean="0"/>
              <a:t>Existem dois tipos de flexfields: chave e descritivo. Cada tipo é abordado em mais detalhes nos slides a seguir. Estas são as principais diferenças entre os dois:</a:t>
            </a:r>
            <a:r>
              <a:rPr lang="en-US" altLang="en-US" smtClean="0"/>
              <a:t> </a:t>
            </a:r>
          </a:p>
          <a:p>
            <a:pPr lvl="2"/>
            <a:r>
              <a:rPr lang="pt-BR" altLang="en-US" smtClean="0"/>
              <a:t>Os flexfields-chave são usados para definir sua própria estrutura em muitos dos identificadores exigidos pelos Aplicativos Oracle e gerar relatórios.</a:t>
            </a:r>
            <a:r>
              <a:rPr lang="en-US" altLang="en-US" smtClean="0"/>
              <a:t> </a:t>
            </a:r>
          </a:p>
          <a:p>
            <a:pPr lvl="2"/>
            <a:r>
              <a:rPr lang="pt-BR" altLang="en-US" smtClean="0"/>
              <a:t>Os flexfields descritivos são usados para reunir informações adicionais sobre entidades comerciais, além dos dados exigidos pelos Aplicativos Oracle.</a:t>
            </a:r>
            <a:r>
              <a:rPr lang="en-US" altLang="en-US" smtClean="0"/>
              <a:t> </a:t>
            </a:r>
          </a:p>
          <a:p>
            <a:pPr lvl="1"/>
            <a:r>
              <a:rPr lang="pt-BR" altLang="en-US" b="1" smtClean="0"/>
              <a:t>Nota:</a:t>
            </a:r>
            <a:r>
              <a:rPr lang="pt-BR" altLang="en-US" smtClean="0"/>
              <a:t> Em alguns casos, os flexfields descritivos se destinam a funcionalidades específicas de produtos. Por exemplo, o Formato de Endereço Flexível.</a:t>
            </a:r>
            <a:r>
              <a:rPr lang="en-US" altLang="en-US" b="1" smtClean="0"/>
              <a:t> </a:t>
            </a:r>
          </a:p>
        </p:txBody>
      </p:sp>
    </p:spTree>
    <p:extLst>
      <p:ext uri="{BB962C8B-B14F-4D97-AF65-F5344CB8AC3E}">
        <p14:creationId xmlns:p14="http://schemas.microsoft.com/office/powerpoint/2010/main" val="42051497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6 - </a:t>
            </a:r>
            <a:fld id="{84E6736D-E74F-4D55-8EFC-56DB9D328960}" type="slidenum">
              <a:rPr lang="en-US" altLang="en-US" smtClean="0"/>
              <a:pPr/>
              <a:t>31</a:t>
            </a:fld>
            <a:endParaRPr lang="en-US" altLang="en-US" smtClean="0"/>
          </a:p>
        </p:txBody>
      </p:sp>
      <p:sp>
        <p:nvSpPr>
          <p:cNvPr id="156675"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6"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en-US" smtClean="0"/>
          </a:p>
        </p:txBody>
      </p:sp>
    </p:spTree>
    <p:extLst>
      <p:ext uri="{BB962C8B-B14F-4D97-AF65-F5344CB8AC3E}">
        <p14:creationId xmlns:p14="http://schemas.microsoft.com/office/powerpoint/2010/main" val="32339887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6 - </a:t>
            </a:r>
            <a:fld id="{89253657-143E-4D6B-9BD9-B9A2239918C7}" type="slidenum">
              <a:rPr lang="en-US" altLang="en-US" smtClean="0"/>
              <a:pPr/>
              <a:t>32</a:t>
            </a:fld>
            <a:endParaRPr lang="en-US" altLang="en-US" smtClean="0"/>
          </a:p>
        </p:txBody>
      </p:sp>
      <p:sp>
        <p:nvSpPr>
          <p:cNvPr id="158723"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4"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pt-BR" altLang="en-US" smtClean="0"/>
          </a:p>
        </p:txBody>
      </p:sp>
    </p:spTree>
    <p:extLst>
      <p:ext uri="{BB962C8B-B14F-4D97-AF65-F5344CB8AC3E}">
        <p14:creationId xmlns:p14="http://schemas.microsoft.com/office/powerpoint/2010/main" val="29994531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6 - </a:t>
            </a:r>
            <a:fld id="{A2336A4B-3104-4205-A307-D16921CC23A1}" type="slidenum">
              <a:rPr lang="en-US" altLang="en-US" smtClean="0"/>
              <a:pPr/>
              <a:t>33</a:t>
            </a:fld>
            <a:endParaRPr lang="en-US" altLang="en-US" smtClean="0"/>
          </a:p>
        </p:txBody>
      </p:sp>
      <p:sp>
        <p:nvSpPr>
          <p:cNvPr id="160771"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2"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Componentes do Flexfield Descritivo </a:t>
            </a:r>
          </a:p>
          <a:p>
            <a:pPr lvl="1"/>
            <a:r>
              <a:rPr lang="pt-BR" altLang="en-US" smtClean="0"/>
              <a:t>Os flexfields descritivos são criados com base em segmentos. Cada segmento contém uma informação. Como o mesmo flexfield pode ser usado por contextos distintos e cada contexto precisa de informações diferentes, você deve projetar layouts diferenciados para o mesmo flexfield a fim de suportar os diversos contextos.</a:t>
            </a:r>
            <a:r>
              <a:rPr lang="en-US" altLang="en-US" smtClean="0"/>
              <a:t> </a:t>
            </a:r>
          </a:p>
          <a:p>
            <a:pPr lvl="1"/>
            <a:r>
              <a:rPr lang="pt-BR" altLang="en-US" smtClean="0"/>
              <a:t>Especifique o layout em termos de segmentos globais e sensíveis ao contexto.</a:t>
            </a:r>
            <a:r>
              <a:rPr lang="en-US" altLang="en-US" smtClean="0"/>
              <a:t> </a:t>
            </a:r>
          </a:p>
        </p:txBody>
      </p:sp>
    </p:spTree>
    <p:extLst>
      <p:ext uri="{BB962C8B-B14F-4D97-AF65-F5344CB8AC3E}">
        <p14:creationId xmlns:p14="http://schemas.microsoft.com/office/powerpoint/2010/main" val="4595706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6 - </a:t>
            </a:r>
            <a:fld id="{CD4208EE-3BCA-43F2-9D2A-09A11983C2E8}" type="slidenum">
              <a:rPr lang="en-US" altLang="en-US" smtClean="0"/>
              <a:pPr/>
              <a:t>34</a:t>
            </a:fld>
            <a:endParaRPr lang="en-US" altLang="en-US" smtClean="0"/>
          </a:p>
        </p:txBody>
      </p:sp>
      <p:sp>
        <p:nvSpPr>
          <p:cNvPr id="162819"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20"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Usando Segmentos Globais </a:t>
            </a:r>
          </a:p>
          <a:p>
            <a:pPr lvl="1"/>
            <a:r>
              <a:rPr lang="pt-BR" altLang="en-US" smtClean="0"/>
              <a:t>Os segmentos globais são aqueles exibidos independentemente do contexto. Sempre planeje os segmentos globais primeiro. Alguns flexfields descritivos utilizam apenas segmentos globais.</a:t>
            </a:r>
            <a:r>
              <a:rPr lang="en-US" altLang="en-US" smtClean="0"/>
              <a:t> </a:t>
            </a:r>
          </a:p>
          <a:p>
            <a:pPr lvl="1"/>
            <a:r>
              <a:rPr lang="pt-BR" altLang="en-US" smtClean="0"/>
              <a:t>Dando continuação ao exemplo de informações sobre pagamento, o slide mostra que o número da loja é apropriado para todos os contextos. Portanto, ele é obviamente um segmento global.</a:t>
            </a:r>
            <a:r>
              <a:rPr lang="en-US" altLang="en-US" smtClean="0"/>
              <a:t> </a:t>
            </a:r>
          </a:p>
          <a:p>
            <a:pPr lvl="1"/>
            <a:r>
              <a:rPr lang="pt-BR" altLang="en-US" smtClean="0"/>
              <a:t>Os segmentos globais são os mais fáceis de definir. No entanto, eles podem utilizar todas as colunas alocadas. As colunas usadas para segmentos globais não podem conter segmentos contextuais.</a:t>
            </a:r>
            <a:r>
              <a:rPr lang="en-US" altLang="en-US" smtClean="0"/>
              <a:t> </a:t>
            </a:r>
          </a:p>
          <a:p>
            <a:pPr lvl="1"/>
            <a:r>
              <a:rPr lang="pt-BR" altLang="en-US" smtClean="0"/>
              <a:t>Posteriormente, você poderá adicionar segmentos contextuais se houver colunas disponíveis, mas os segmentos globais ativados serão sempre exibidos.</a:t>
            </a:r>
            <a:r>
              <a:rPr lang="en-US" altLang="en-US" smtClean="0"/>
              <a:t> </a:t>
            </a:r>
          </a:p>
        </p:txBody>
      </p:sp>
    </p:spTree>
    <p:extLst>
      <p:ext uri="{BB962C8B-B14F-4D97-AF65-F5344CB8AC3E}">
        <p14:creationId xmlns:p14="http://schemas.microsoft.com/office/powerpoint/2010/main" val="1936537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6 - </a:t>
            </a:r>
            <a:fld id="{65B1AD17-B225-4EF3-8550-EC6D663E3F74}" type="slidenum">
              <a:rPr lang="en-US" altLang="en-US" smtClean="0"/>
              <a:pPr/>
              <a:t>35</a:t>
            </a:fld>
            <a:endParaRPr lang="en-US" altLang="en-US" smtClean="0"/>
          </a:p>
        </p:txBody>
      </p:sp>
      <p:sp>
        <p:nvSpPr>
          <p:cNvPr id="164867"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8"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Segmentos Contextuais </a:t>
            </a:r>
          </a:p>
          <a:p>
            <a:pPr lvl="1"/>
            <a:r>
              <a:rPr lang="pt-BR" altLang="en-US" smtClean="0"/>
              <a:t>Os segmentos contextuais são utilizados de acordo com o contexto.</a:t>
            </a:r>
            <a:r>
              <a:rPr lang="en-US" altLang="en-US" smtClean="0"/>
              <a:t> </a:t>
            </a:r>
          </a:p>
          <a:p>
            <a:pPr lvl="1"/>
            <a:r>
              <a:rPr lang="pt-BR" altLang="en-US" smtClean="0"/>
              <a:t>O slide mostra exemplos de contextos e os segmentos exclusivos de cada um deles.</a:t>
            </a:r>
            <a:r>
              <a:rPr lang="en-US" altLang="en-US" smtClean="0"/>
              <a:t> </a:t>
            </a:r>
          </a:p>
        </p:txBody>
      </p:sp>
    </p:spTree>
    <p:extLst>
      <p:ext uri="{BB962C8B-B14F-4D97-AF65-F5344CB8AC3E}">
        <p14:creationId xmlns:p14="http://schemas.microsoft.com/office/powerpoint/2010/main" val="13380129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6 - </a:t>
            </a:r>
            <a:fld id="{331A8374-2A24-4B06-BABA-6CE57B116982}" type="slidenum">
              <a:rPr lang="en-US" altLang="en-US" smtClean="0"/>
              <a:pPr/>
              <a:t>36</a:t>
            </a:fld>
            <a:endParaRPr lang="en-US" altLang="en-US" smtClean="0"/>
          </a:p>
        </p:txBody>
      </p:sp>
      <p:sp>
        <p:nvSpPr>
          <p:cNvPr id="166915"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6"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Distinguindo Contextos </a:t>
            </a:r>
          </a:p>
          <a:p>
            <a:pPr lvl="1"/>
            <a:r>
              <a:rPr lang="pt-BR" altLang="en-US" smtClean="0"/>
              <a:t>Se o flexfield descritivo usa vários tipos de contexto, você deve decidir como distingui-los. Identifique um campo cujo valor possa distinguir os contextos. Ele é chamado de campo de contexto.</a:t>
            </a:r>
            <a:r>
              <a:rPr lang="en-US" altLang="en-US" smtClean="0"/>
              <a:t> </a:t>
            </a:r>
          </a:p>
          <a:p>
            <a:pPr lvl="1"/>
            <a:r>
              <a:rPr lang="pt-BR" altLang="en-US" smtClean="0"/>
              <a:t>Em alguns casos, é possível usar um campo existente como campo de contexto; em outros, você deve criar um segmento no flexfield descritivo.</a:t>
            </a:r>
            <a:r>
              <a:rPr lang="en-US" altLang="en-US" smtClean="0"/>
              <a:t> </a:t>
            </a:r>
          </a:p>
        </p:txBody>
      </p:sp>
    </p:spTree>
    <p:extLst>
      <p:ext uri="{BB962C8B-B14F-4D97-AF65-F5344CB8AC3E}">
        <p14:creationId xmlns:p14="http://schemas.microsoft.com/office/powerpoint/2010/main" val="18024203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pt-BR" altLang="en-US" smtClean="0"/>
              <a:t>R12 Oracle E-Business Suite: Conceitos Essenciais para Implementadores</a:t>
            </a:r>
            <a:r>
              <a:rPr lang="en-US" altLang="en-US" smtClean="0"/>
              <a:t>   6 - </a:t>
            </a:r>
            <a:fld id="{A1AB001B-D7CA-4A3B-A452-940435BF9DD4}" type="slidenum">
              <a:rPr lang="en-US" altLang="en-US" smtClean="0"/>
              <a:pPr/>
              <a:t>37</a:t>
            </a:fld>
            <a:endParaRPr lang="en-US" altLang="en-US" smtClean="0"/>
          </a:p>
        </p:txBody>
      </p:sp>
      <p:sp>
        <p:nvSpPr>
          <p:cNvPr id="168963" name="Rectangle 4"/>
          <p:cNvSpPr>
            <a:spLocks noGrp="1" noRot="1" noChangeAspect="1" noChangeArrowheads="1" noTextEdit="1"/>
          </p:cNvSpPr>
          <p:nvPr>
            <p:ph type="sldImg"/>
          </p:nvPr>
        </p:nvSpPr>
        <p:spPr bwMode="auto">
          <a:xfrm>
            <a:off x="646113" y="295275"/>
            <a:ext cx="5794375" cy="4344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4"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Usando Campos de Referência </a:t>
            </a:r>
          </a:p>
          <a:p>
            <a:pPr lvl="1"/>
            <a:r>
              <a:rPr lang="pt-BR" altLang="en-US" smtClean="0"/>
              <a:t>Os campos de referência são campos de uma janela cujos valores podem determinar o contexto utilizado por um flexfield descritivo nas seguintes condições:</a:t>
            </a:r>
            <a:r>
              <a:rPr lang="en-US" altLang="en-US" smtClean="0"/>
              <a:t> </a:t>
            </a:r>
          </a:p>
          <a:p>
            <a:pPr lvl="2"/>
            <a:r>
              <a:rPr lang="pt-BR" altLang="en-US" smtClean="0"/>
              <a:t>O campo deve ser definido de modo que ele possa ser referenciado. Nem todos os campos em uma janela podem ser usados como campo de referência.</a:t>
            </a:r>
            <a:r>
              <a:rPr lang="en-US" altLang="en-US" smtClean="0"/>
              <a:t> </a:t>
            </a:r>
          </a:p>
          <a:p>
            <a:pPr lvl="2"/>
            <a:r>
              <a:rPr lang="pt-BR" altLang="en-US" smtClean="0"/>
              <a:t>Os valores exibidos no campo de referência devem ser conhecidos e previsíveis.</a:t>
            </a:r>
            <a:r>
              <a:rPr lang="en-US" altLang="en-US" smtClean="0"/>
              <a:t> </a:t>
            </a:r>
          </a:p>
          <a:p>
            <a:pPr lvl="2"/>
            <a:r>
              <a:rPr lang="pt-BR" altLang="en-US" smtClean="0"/>
              <a:t>Como o mesmo flexfield descritivo pode aparecer em várias janelas, qualquer campo usado como referência desse flexfield deve aparecer nas mesmas janelas. Além disso, o campo de referência deve ter o mesmo nome interno em todos os forms onde o flexfield é usado.</a:t>
            </a:r>
            <a:r>
              <a:rPr lang="en-US" altLang="en-US" smtClean="0"/>
              <a:t> </a:t>
            </a:r>
          </a:p>
        </p:txBody>
      </p:sp>
    </p:spTree>
    <p:extLst>
      <p:ext uri="{BB962C8B-B14F-4D97-AF65-F5344CB8AC3E}">
        <p14:creationId xmlns:p14="http://schemas.microsoft.com/office/powerpoint/2010/main" val="32820750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mtClean="0"/>
              <a:t>&lt;Course name&gt;   &lt;Lesson number&gt; - </a:t>
            </a:r>
            <a:fld id="{611ACE3B-EFFE-426F-9864-195246E5859C}" type="slidenum">
              <a:rPr lang="en-US" altLang="en-US" smtClean="0"/>
              <a:pPr/>
              <a:t>38</a:t>
            </a:fld>
            <a:endParaRPr lang="en-US" altLang="en-US" smtClean="0"/>
          </a:p>
        </p:txBody>
      </p:sp>
      <p:sp>
        <p:nvSpPr>
          <p:cNvPr id="1710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1012" name="Rectangle 3"/>
          <p:cNvSpPr>
            <a:spLocks noGrp="1" noChangeArrowheads="1"/>
          </p:cNvSpPr>
          <p:nvPr>
            <p:ph type="body" idx="1"/>
          </p:nvPr>
        </p:nvSpPr>
        <p:spPr bwMode="auto">
          <a:xfrm>
            <a:off x="457200" y="5218113"/>
            <a:ext cx="6078538" cy="354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48000"/>
              </a:spcBef>
              <a:spcAft>
                <a:spcPct val="24000"/>
              </a:spcAft>
              <a:buClr>
                <a:srgbClr val="000000"/>
              </a:buClr>
            </a:pPr>
            <a:r>
              <a:rPr lang="en-US" altLang="en-US" smtClean="0"/>
              <a:t>Specifying Segment Defaults - Examples</a:t>
            </a:r>
          </a:p>
          <a:p>
            <a:pPr lvl="1">
              <a:buClr>
                <a:srgbClr val="000000"/>
              </a:buClr>
            </a:pPr>
            <a:r>
              <a:rPr lang="en-US" altLang="en-US" b="1" smtClean="0"/>
              <a:t>Default Type:</a:t>
            </a:r>
            <a:r>
              <a:rPr lang="en-US" altLang="en-US" smtClean="0"/>
              <a:t> Constant</a:t>
            </a:r>
            <a:r>
              <a:rPr lang="en-US" altLang="en-US" b="1" smtClean="0"/>
              <a:t> </a:t>
            </a:r>
          </a:p>
          <a:p>
            <a:pPr lvl="1">
              <a:buClr>
                <a:srgbClr val="000000"/>
              </a:buClr>
            </a:pPr>
            <a:r>
              <a:rPr lang="en-US" altLang="en-US" b="1" smtClean="0"/>
              <a:t>Default Value:</a:t>
            </a:r>
            <a:r>
              <a:rPr lang="en-US" altLang="en-US" smtClean="0"/>
              <a:t> The constant specified.</a:t>
            </a:r>
            <a:r>
              <a:rPr lang="en-US" altLang="en-US" b="1" smtClean="0"/>
              <a:t> </a:t>
            </a:r>
          </a:p>
          <a:p>
            <a:pPr lvl="1">
              <a:buClr>
                <a:srgbClr val="000000"/>
              </a:buClr>
            </a:pPr>
            <a:r>
              <a:rPr lang="en-US" altLang="en-US" b="1" smtClean="0"/>
              <a:t>Example:</a:t>
            </a:r>
            <a:r>
              <a:rPr lang="en-US" altLang="en-US" smtClean="0"/>
              <a:t> USA</a:t>
            </a:r>
            <a:r>
              <a:rPr lang="en-US" altLang="en-US" b="1" smtClean="0"/>
              <a:t> </a:t>
            </a:r>
          </a:p>
          <a:p>
            <a:pPr lvl="1">
              <a:buClr>
                <a:srgbClr val="000000"/>
              </a:buClr>
            </a:pPr>
            <a:r>
              <a:rPr lang="en-US" altLang="en-US" b="1" smtClean="0"/>
              <a:t>Result:</a:t>
            </a:r>
            <a:r>
              <a:rPr lang="en-US" altLang="en-US" smtClean="0"/>
              <a:t> USA</a:t>
            </a:r>
            <a:endParaRPr lang="en-US" altLang="en-US" b="1" smtClean="0"/>
          </a:p>
          <a:p>
            <a:pPr lvl="1">
              <a:buClr>
                <a:srgbClr val="000000"/>
              </a:buClr>
            </a:pPr>
            <a:endParaRPr lang="en-US" altLang="en-US" smtClean="0"/>
          </a:p>
          <a:p>
            <a:pPr lvl="1">
              <a:buClr>
                <a:srgbClr val="000000"/>
              </a:buClr>
            </a:pPr>
            <a:r>
              <a:rPr lang="en-US" altLang="en-US" b="1" smtClean="0"/>
              <a:t>Default Type:</a:t>
            </a:r>
            <a:r>
              <a:rPr lang="en-US" altLang="en-US" smtClean="0"/>
              <a:t> Current Date</a:t>
            </a:r>
            <a:r>
              <a:rPr lang="en-US" altLang="en-US" b="1" smtClean="0"/>
              <a:t> </a:t>
            </a:r>
          </a:p>
          <a:p>
            <a:pPr lvl="1">
              <a:buClr>
                <a:srgbClr val="000000"/>
              </a:buClr>
            </a:pPr>
            <a:r>
              <a:rPr lang="en-US" altLang="en-US" b="1" smtClean="0"/>
              <a:t>Default Value:</a:t>
            </a:r>
            <a:r>
              <a:rPr lang="en-US" altLang="en-US" smtClean="0"/>
              <a:t> The date at the time of entry. </a:t>
            </a:r>
          </a:p>
          <a:p>
            <a:pPr lvl="1">
              <a:buClr>
                <a:srgbClr val="000000"/>
              </a:buClr>
            </a:pPr>
            <a:r>
              <a:rPr lang="en-US" altLang="en-US" b="1" smtClean="0"/>
              <a:t>Example:</a:t>
            </a:r>
            <a:r>
              <a:rPr lang="en-US" altLang="en-US" smtClean="0"/>
              <a:t> </a:t>
            </a:r>
          </a:p>
          <a:p>
            <a:pPr lvl="1">
              <a:buClr>
                <a:srgbClr val="000000"/>
              </a:buClr>
            </a:pPr>
            <a:r>
              <a:rPr lang="en-US" altLang="en-US" b="1" smtClean="0"/>
              <a:t>Result:</a:t>
            </a:r>
            <a:r>
              <a:rPr lang="en-US" altLang="en-US" smtClean="0"/>
              <a:t> AUGUST 01, 2007</a:t>
            </a:r>
            <a:endParaRPr lang="en-US" altLang="en-US" b="1" smtClean="0"/>
          </a:p>
          <a:p>
            <a:pPr lvl="1">
              <a:buClr>
                <a:srgbClr val="000000"/>
              </a:buClr>
            </a:pPr>
            <a:endParaRPr lang="en-US" altLang="en-US" smtClean="0"/>
          </a:p>
          <a:p>
            <a:pPr lvl="1">
              <a:buClr>
                <a:srgbClr val="000000"/>
              </a:buClr>
            </a:pPr>
            <a:r>
              <a:rPr lang="en-US" altLang="en-US" b="1" smtClean="0"/>
              <a:t>Default Type:</a:t>
            </a:r>
            <a:r>
              <a:rPr lang="en-US" altLang="en-US" smtClean="0"/>
              <a:t> Current Time</a:t>
            </a:r>
            <a:r>
              <a:rPr lang="en-US" altLang="en-US" b="1" smtClean="0"/>
              <a:t> </a:t>
            </a:r>
          </a:p>
          <a:p>
            <a:pPr lvl="1">
              <a:buClr>
                <a:srgbClr val="000000"/>
              </a:buClr>
            </a:pPr>
            <a:r>
              <a:rPr lang="en-US" altLang="en-US" b="1" smtClean="0"/>
              <a:t>Default Value:</a:t>
            </a:r>
            <a:r>
              <a:rPr lang="en-US" altLang="en-US" smtClean="0"/>
              <a:t> The Date/Time at the time of entry. </a:t>
            </a:r>
          </a:p>
          <a:p>
            <a:pPr lvl="1">
              <a:buClr>
                <a:srgbClr val="000000"/>
              </a:buClr>
            </a:pPr>
            <a:r>
              <a:rPr lang="en-US" altLang="en-US" b="1" smtClean="0"/>
              <a:t>Example: </a:t>
            </a:r>
          </a:p>
          <a:p>
            <a:pPr lvl="1">
              <a:buClr>
                <a:srgbClr val="000000"/>
              </a:buClr>
            </a:pPr>
            <a:r>
              <a:rPr lang="en-US" altLang="en-US" b="1" smtClean="0"/>
              <a:t>Result:</a:t>
            </a:r>
            <a:r>
              <a:rPr lang="en-US" altLang="en-US" smtClean="0"/>
              <a:t> 14:30:00</a:t>
            </a:r>
            <a:r>
              <a:rPr lang="en-US" altLang="en-US" b="1" smtClean="0"/>
              <a:t> </a:t>
            </a:r>
            <a:r>
              <a:rPr lang="en-US" altLang="en-US" smtClean="0"/>
              <a:t>AUGUST 01, 2007</a:t>
            </a:r>
            <a:endParaRPr lang="en-US" altLang="en-US" b="1" smtClean="0"/>
          </a:p>
          <a:p>
            <a:pPr lvl="1">
              <a:buClr>
                <a:srgbClr val="000000"/>
              </a:buClr>
            </a:pPr>
            <a:endParaRPr lang="en-US" altLang="en-US" smtClean="0"/>
          </a:p>
          <a:p>
            <a:pPr lvl="1">
              <a:buClr>
                <a:srgbClr val="000000"/>
              </a:buClr>
            </a:pPr>
            <a:r>
              <a:rPr lang="en-US" altLang="en-US" b="1" smtClean="0"/>
              <a:t>Default Type:</a:t>
            </a:r>
            <a:r>
              <a:rPr lang="en-US" altLang="en-US" smtClean="0"/>
              <a:t> Field</a:t>
            </a:r>
            <a:r>
              <a:rPr lang="en-US" altLang="en-US" b="1" smtClean="0"/>
              <a:t> </a:t>
            </a:r>
          </a:p>
          <a:p>
            <a:pPr lvl="1">
              <a:buClr>
                <a:srgbClr val="000000"/>
              </a:buClr>
            </a:pPr>
            <a:r>
              <a:rPr lang="en-US" altLang="en-US" b="1" smtClean="0"/>
              <a:t>Default Value:</a:t>
            </a:r>
            <a:r>
              <a:rPr lang="en-US" altLang="en-US" smtClean="0"/>
              <a:t> The value in the specified field. Use the format </a:t>
            </a:r>
            <a:r>
              <a:rPr lang="en-US" altLang="en-US" i="1" smtClean="0"/>
              <a:t>block:field</a:t>
            </a:r>
            <a:r>
              <a:rPr lang="en-US" altLang="en-US" smtClean="0"/>
              <a:t> </a:t>
            </a:r>
          </a:p>
          <a:p>
            <a:pPr lvl="1">
              <a:buClr>
                <a:srgbClr val="000000"/>
              </a:buClr>
            </a:pPr>
            <a:r>
              <a:rPr lang="en-US" altLang="en-US" b="1" smtClean="0"/>
              <a:t>Example:</a:t>
            </a:r>
            <a:r>
              <a:rPr lang="en-US" altLang="en-US" smtClean="0"/>
              <a:t> ORDER:LINE </a:t>
            </a:r>
          </a:p>
          <a:p>
            <a:pPr lvl="1">
              <a:buClr>
                <a:srgbClr val="000000"/>
              </a:buClr>
            </a:pPr>
            <a:r>
              <a:rPr lang="en-US" altLang="en-US" b="1" smtClean="0"/>
              <a:t>Result:</a:t>
            </a:r>
            <a:r>
              <a:rPr lang="en-US" altLang="en-US" smtClean="0"/>
              <a:t> 3</a:t>
            </a:r>
          </a:p>
          <a:p>
            <a:pPr lvl="1">
              <a:buClr>
                <a:srgbClr val="000000"/>
              </a:buClr>
            </a:pPr>
            <a:endParaRPr lang="en-US" altLang="en-US" smtClean="0"/>
          </a:p>
          <a:p>
            <a:pPr lvl="1">
              <a:buClr>
                <a:srgbClr val="000000"/>
              </a:buClr>
            </a:pPr>
            <a:r>
              <a:rPr lang="en-US" altLang="en-US" b="1" smtClean="0"/>
              <a:t>Default Type:</a:t>
            </a:r>
            <a:r>
              <a:rPr lang="en-US" altLang="en-US" smtClean="0"/>
              <a:t> Profile </a:t>
            </a:r>
          </a:p>
          <a:p>
            <a:pPr lvl="1">
              <a:buClr>
                <a:srgbClr val="000000"/>
              </a:buClr>
            </a:pPr>
            <a:r>
              <a:rPr lang="en-US" altLang="en-US" b="1" smtClean="0"/>
              <a:t>Default Value:</a:t>
            </a:r>
            <a:r>
              <a:rPr lang="en-US" altLang="en-US" smtClean="0"/>
              <a:t> The value of the specified profile option. Use the application name of the profile option. </a:t>
            </a:r>
          </a:p>
          <a:p>
            <a:pPr lvl="1">
              <a:buClr>
                <a:srgbClr val="000000"/>
              </a:buClr>
            </a:pPr>
            <a:r>
              <a:rPr lang="en-US" altLang="en-US" b="1" smtClean="0"/>
              <a:t>Example:</a:t>
            </a:r>
            <a:r>
              <a:rPr lang="en-US" altLang="en-US" smtClean="0"/>
              <a:t> GL_SET_OF_BOOKS_ID </a:t>
            </a:r>
          </a:p>
          <a:p>
            <a:pPr lvl="1">
              <a:buClr>
                <a:srgbClr val="000000"/>
              </a:buClr>
            </a:pPr>
            <a:r>
              <a:rPr lang="en-US" altLang="en-US" b="1" smtClean="0"/>
              <a:t>Result:</a:t>
            </a:r>
            <a:r>
              <a:rPr lang="en-US" altLang="en-US" smtClean="0"/>
              <a:t> 101</a:t>
            </a:r>
          </a:p>
          <a:p>
            <a:pPr lvl="1">
              <a:buClr>
                <a:srgbClr val="000000"/>
              </a:buClr>
            </a:pPr>
            <a:endParaRPr lang="en-US" altLang="en-US" smtClean="0"/>
          </a:p>
          <a:p>
            <a:pPr lvl="1">
              <a:buClr>
                <a:srgbClr val="000000"/>
              </a:buClr>
            </a:pPr>
            <a:r>
              <a:rPr lang="en-US" altLang="en-US" b="1" smtClean="0"/>
              <a:t>Default Type:</a:t>
            </a:r>
            <a:r>
              <a:rPr lang="en-US" altLang="en-US" smtClean="0"/>
              <a:t> Segment </a:t>
            </a:r>
          </a:p>
          <a:p>
            <a:pPr lvl="1">
              <a:buClr>
                <a:srgbClr val="000000"/>
              </a:buClr>
            </a:pPr>
            <a:r>
              <a:rPr lang="en-US" altLang="en-US" b="1" smtClean="0"/>
              <a:t>Default Value:</a:t>
            </a:r>
            <a:r>
              <a:rPr lang="en-US" altLang="en-US" smtClean="0"/>
              <a:t> The value returned by the specified previous segment. </a:t>
            </a:r>
          </a:p>
          <a:p>
            <a:pPr lvl="1">
              <a:buClr>
                <a:srgbClr val="000000"/>
              </a:buClr>
            </a:pPr>
            <a:r>
              <a:rPr lang="en-US" altLang="en-US" b="1" smtClean="0"/>
              <a:t>Example:</a:t>
            </a:r>
            <a:r>
              <a:rPr lang="en-US" altLang="en-US" smtClean="0"/>
              <a:t> Company </a:t>
            </a:r>
          </a:p>
          <a:p>
            <a:pPr lvl="1">
              <a:buClr>
                <a:srgbClr val="000000"/>
              </a:buClr>
            </a:pPr>
            <a:r>
              <a:rPr lang="en-US" altLang="en-US" b="1" smtClean="0"/>
              <a:t>Result:</a:t>
            </a:r>
            <a:r>
              <a:rPr lang="en-US" altLang="en-US" smtClean="0"/>
              <a:t> 01</a:t>
            </a:r>
          </a:p>
          <a:p>
            <a:pPr lvl="1">
              <a:buClr>
                <a:srgbClr val="000000"/>
              </a:buClr>
            </a:pPr>
            <a:endParaRPr lang="en-US" altLang="en-US" smtClean="0"/>
          </a:p>
          <a:p>
            <a:pPr lvl="1">
              <a:buClr>
                <a:srgbClr val="000000"/>
              </a:buClr>
            </a:pPr>
            <a:r>
              <a:rPr lang="en-US" altLang="en-US" b="1" smtClean="0"/>
              <a:t>Default Type:</a:t>
            </a:r>
            <a:r>
              <a:rPr lang="en-US" altLang="en-US" smtClean="0"/>
              <a:t> SQL Statement </a:t>
            </a:r>
          </a:p>
          <a:p>
            <a:pPr lvl="1">
              <a:buClr>
                <a:srgbClr val="000000"/>
              </a:buClr>
            </a:pPr>
            <a:r>
              <a:rPr lang="en-US" altLang="en-US" b="1" smtClean="0"/>
              <a:t>Default Value:</a:t>
            </a:r>
            <a:r>
              <a:rPr lang="en-US" altLang="en-US" smtClean="0"/>
              <a:t> The value returned by the specified SQL statement. The statement must return a single value. $PROFILES$ and $FLEX$ can be used in the statement. </a:t>
            </a:r>
          </a:p>
          <a:p>
            <a:pPr lvl="1">
              <a:buClr>
                <a:srgbClr val="000000"/>
              </a:buClr>
            </a:pPr>
            <a:r>
              <a:rPr lang="en-US" altLang="en-US" b="1" smtClean="0"/>
              <a:t>Example:</a:t>
            </a:r>
            <a:r>
              <a:rPr lang="en-US" altLang="en-US" smtClean="0"/>
              <a:t> SELECT NAME FROM EMP WHERE JOB=CEO </a:t>
            </a:r>
          </a:p>
          <a:p>
            <a:pPr lvl="1">
              <a:buClr>
                <a:srgbClr val="000000"/>
              </a:buClr>
            </a:pPr>
            <a:r>
              <a:rPr lang="en-US" altLang="en-US" b="1" smtClean="0"/>
              <a:t>Result:</a:t>
            </a:r>
            <a:r>
              <a:rPr lang="en-US" altLang="en-US" smtClean="0"/>
              <a:t> Jones</a:t>
            </a:r>
          </a:p>
        </p:txBody>
      </p:sp>
    </p:spTree>
    <p:extLst>
      <p:ext uri="{BB962C8B-B14F-4D97-AF65-F5344CB8AC3E}">
        <p14:creationId xmlns:p14="http://schemas.microsoft.com/office/powerpoint/2010/main" val="2753805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mtClean="0"/>
              <a:t>&lt;Course name&gt;   &lt;Lesson number&gt; - </a:t>
            </a:r>
            <a:fld id="{36D64E5B-FA0B-4C45-9859-7BB125156BD5}" type="slidenum">
              <a:rPr lang="en-US" altLang="en-US" smtClean="0"/>
              <a:pPr/>
              <a:t>39</a:t>
            </a:fld>
            <a:endParaRPr lang="en-US" altLang="en-US" smtClean="0"/>
          </a:p>
        </p:txBody>
      </p:sp>
      <p:sp>
        <p:nvSpPr>
          <p:cNvPr id="1730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60" name="Rectangle 3"/>
          <p:cNvSpPr>
            <a:spLocks noGrp="1" noChangeArrowheads="1"/>
          </p:cNvSpPr>
          <p:nvPr>
            <p:ph type="body" idx="1"/>
          </p:nvPr>
        </p:nvSpPr>
        <p:spPr bwMode="auto">
          <a:xfrm>
            <a:off x="457200" y="5218113"/>
            <a:ext cx="6078538" cy="354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96000"/>
              </a:spcBef>
              <a:spcAft>
                <a:spcPct val="24000"/>
              </a:spcAft>
              <a:buClr>
                <a:srgbClr val="000000"/>
              </a:buClr>
            </a:pPr>
            <a:r>
              <a:rPr lang="en-US" altLang="en-US" smtClean="0"/>
              <a:t>Other Advanced Validation Options</a:t>
            </a:r>
          </a:p>
          <a:p>
            <a:pPr lvl="1">
              <a:buClr>
                <a:srgbClr val="000000"/>
              </a:buClr>
            </a:pPr>
            <a:r>
              <a:rPr lang="en-US" altLang="en-US" b="1" smtClean="0"/>
              <a:t>Using $PROFILES$</a:t>
            </a:r>
          </a:p>
          <a:p>
            <a:pPr lvl="1">
              <a:buClr>
                <a:srgbClr val="000000"/>
              </a:buClr>
            </a:pPr>
            <a:r>
              <a:rPr lang="en-US" altLang="en-US" smtClean="0"/>
              <a:t>You can reference the current value of a profile option in a WHERE clause by prefixing the name of the profile option with $PROFILES$. </a:t>
            </a:r>
          </a:p>
          <a:p>
            <a:pPr lvl="2">
              <a:buFontTx/>
              <a:buChar char="•"/>
            </a:pPr>
            <a:r>
              <a:rPr lang="en-US" altLang="en-US" smtClean="0"/>
              <a:t> :$PROFILES$.</a:t>
            </a:r>
            <a:r>
              <a:rPr lang="en-US" altLang="en-US" i="1" smtClean="0"/>
              <a:t>profile_option_name</a:t>
            </a:r>
            <a:endParaRPr lang="en-US" altLang="en-US" smtClean="0"/>
          </a:p>
          <a:p>
            <a:pPr lvl="1">
              <a:buClr>
                <a:srgbClr val="000000"/>
              </a:buClr>
            </a:pPr>
            <a:r>
              <a:rPr lang="en-US" altLang="en-US" b="1" smtClean="0"/>
              <a:t>Using </a:t>
            </a:r>
            <a:r>
              <a:rPr lang="en-US" altLang="en-US" b="1" i="1" smtClean="0"/>
              <a:t>:Block.field</a:t>
            </a:r>
            <a:endParaRPr lang="en-US" altLang="en-US" b="1" smtClean="0"/>
          </a:p>
          <a:p>
            <a:pPr lvl="1">
              <a:buClr>
                <a:srgbClr val="000000"/>
              </a:buClr>
            </a:pPr>
            <a:r>
              <a:rPr lang="en-US" altLang="en-US" smtClean="0"/>
              <a:t>You can test against the value of a prior field on the same form in a WHERE clause by referring to the field using the format </a:t>
            </a:r>
            <a:r>
              <a:rPr lang="en-US" altLang="en-US" i="1" smtClean="0"/>
              <a:t>Block_name.field_name</a:t>
            </a:r>
            <a:r>
              <a:rPr lang="en-US" altLang="en-US" smtClean="0"/>
              <a:t>. To find out the block and field names, click in the field and then select Help—&gt;Tool—&gt;Examine from the menu bar. This displays the block name and the field name for the selected field. </a:t>
            </a:r>
          </a:p>
          <a:p>
            <a:pPr lvl="1">
              <a:buClr>
                <a:srgbClr val="000000"/>
              </a:buClr>
            </a:pPr>
            <a:r>
              <a:rPr lang="en-US" altLang="en-US" b="1" smtClean="0"/>
              <a:t>Using $FLEX$</a:t>
            </a:r>
            <a:endParaRPr lang="en-US" altLang="en-US" smtClean="0"/>
          </a:p>
          <a:p>
            <a:pPr lvl="1">
              <a:buClr>
                <a:srgbClr val="000000"/>
              </a:buClr>
            </a:pPr>
            <a:r>
              <a:rPr lang="en-US" altLang="en-US" smtClean="0"/>
              <a:t>You can refer to the current value of a previously used value set on the same form by using $FLEX$.</a:t>
            </a:r>
            <a:r>
              <a:rPr lang="en-US" altLang="en-US" i="1" smtClean="0"/>
              <a:t>value_set_name.</a:t>
            </a:r>
          </a:p>
        </p:txBody>
      </p:sp>
    </p:spTree>
    <p:extLst>
      <p:ext uri="{BB962C8B-B14F-4D97-AF65-F5344CB8AC3E}">
        <p14:creationId xmlns:p14="http://schemas.microsoft.com/office/powerpoint/2010/main" val="11466066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mtClean="0"/>
              <a:t>&lt;Course name&gt;   &lt;Lesson number&gt; - </a:t>
            </a:r>
            <a:fld id="{EB2467B8-33F9-41FD-93F9-7A0E1A6DD471}" type="slidenum">
              <a:rPr lang="en-US" altLang="en-US" smtClean="0"/>
              <a:pPr/>
              <a:t>40</a:t>
            </a:fld>
            <a:endParaRPr lang="en-US" altLang="en-US" smtClean="0"/>
          </a:p>
        </p:txBody>
      </p:sp>
      <p:sp>
        <p:nvSpPr>
          <p:cNvPr id="175107"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8"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How the Print Components Are Related</a:t>
            </a:r>
          </a:p>
          <a:p>
            <a:pPr lvl="1"/>
            <a:r>
              <a:rPr lang="en-US" altLang="en-US" smtClean="0"/>
              <a:t>Oracle Applications uses the components shown on the previous figure to store the information necessary to print a report. This figure shows how the components are related to provide a flexible method of defining your print environment. The printer type is at the heart of your print definitions. The above figure displays: </a:t>
            </a:r>
          </a:p>
          <a:p>
            <a:pPr lvl="2"/>
            <a:r>
              <a:rPr lang="en-US" altLang="en-US" smtClean="0"/>
              <a:t>A printer is registered as a printer type.</a:t>
            </a:r>
          </a:p>
          <a:p>
            <a:pPr lvl="2"/>
            <a:r>
              <a:rPr lang="en-US" altLang="en-US" smtClean="0"/>
              <a:t>A printer style is associated with a printer type.</a:t>
            </a:r>
          </a:p>
          <a:p>
            <a:pPr lvl="2"/>
            <a:r>
              <a:rPr lang="en-US" altLang="en-US" smtClean="0"/>
              <a:t>A printer driver is assigned to a printer type.</a:t>
            </a:r>
          </a:p>
        </p:txBody>
      </p:sp>
    </p:spTree>
    <p:extLst>
      <p:ext uri="{BB962C8B-B14F-4D97-AF65-F5344CB8AC3E}">
        <p14:creationId xmlns:p14="http://schemas.microsoft.com/office/powerpoint/2010/main" val="12922561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mtClean="0"/>
              <a:t>&lt;Course name&gt;   &lt;Lesson number&gt; - </a:t>
            </a:r>
            <a:fld id="{1D601534-23FC-4C10-AD52-28B2F9FE3A3F}" type="slidenum">
              <a:rPr lang="en-US" altLang="en-US" smtClean="0"/>
              <a:pPr/>
              <a:t>42</a:t>
            </a:fld>
            <a:endParaRPr lang="en-US" altLang="en-US" smtClean="0"/>
          </a:p>
        </p:txBody>
      </p:sp>
      <p:sp>
        <p:nvSpPr>
          <p:cNvPr id="178179"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80"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Balancing Process Workload</a:t>
            </a:r>
          </a:p>
          <a:p>
            <a:pPr lvl="1"/>
            <a:r>
              <a:rPr lang="en-US" altLang="en-US" smtClean="0"/>
              <a:t>You can create multiple work shifts for a concurrent manager to regulate the number of operating system processes the manager starts up at different times of the day and different days of the week. </a:t>
            </a:r>
          </a:p>
        </p:txBody>
      </p:sp>
    </p:spTree>
    <p:extLst>
      <p:ext uri="{BB962C8B-B14F-4D97-AF65-F5344CB8AC3E}">
        <p14:creationId xmlns:p14="http://schemas.microsoft.com/office/powerpoint/2010/main" val="6748603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mtClean="0"/>
              <a:t>&lt;Course name&gt;   &lt;Lesson number&gt; - </a:t>
            </a:r>
            <a:fld id="{C097C32A-6D71-49AF-826E-465CACE28A80}" type="slidenum">
              <a:rPr lang="en-US" altLang="en-US" smtClean="0"/>
              <a:pPr/>
              <a:t>43</a:t>
            </a:fld>
            <a:endParaRPr lang="en-US" altLang="en-US" smtClean="0"/>
          </a:p>
        </p:txBody>
      </p:sp>
      <p:sp>
        <p:nvSpPr>
          <p:cNvPr id="180227"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0228"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Clr>
                <a:srgbClr val="000000"/>
              </a:buClr>
            </a:pPr>
            <a:r>
              <a:rPr lang="en-US" altLang="en-US" smtClean="0"/>
              <a:t>Four Phases of a Concurrent Request</a:t>
            </a:r>
          </a:p>
          <a:p>
            <a:pPr lvl="1">
              <a:buClr>
                <a:srgbClr val="000000"/>
              </a:buClr>
            </a:pPr>
            <a:r>
              <a:rPr lang="en-US" altLang="en-US" smtClean="0"/>
              <a:t>The system administrator must periodically review the status of Oracle Applications programs to determine a particular request’s status in its lifecycle. A concurrent request has a lifecycle of either three or possibly four phases: </a:t>
            </a:r>
          </a:p>
          <a:p>
            <a:pPr lvl="2">
              <a:buFontTx/>
              <a:buChar char="•"/>
            </a:pPr>
            <a:r>
              <a:rPr lang="en-US" altLang="en-US" b="1" smtClean="0"/>
              <a:t>Pending: </a:t>
            </a:r>
            <a:r>
              <a:rPr lang="en-US" altLang="en-US" smtClean="0"/>
              <a:t>The request is waiting to be run.</a:t>
            </a:r>
          </a:p>
          <a:p>
            <a:pPr lvl="2">
              <a:buFontTx/>
              <a:buChar char="•"/>
            </a:pPr>
            <a:r>
              <a:rPr lang="en-US" altLang="en-US" b="1" smtClean="0"/>
              <a:t>Running: </a:t>
            </a:r>
            <a:r>
              <a:rPr lang="en-US" altLang="en-US" smtClean="0"/>
              <a:t>The request is running.</a:t>
            </a:r>
          </a:p>
          <a:p>
            <a:pPr lvl="2">
              <a:buFontTx/>
              <a:buChar char="•"/>
            </a:pPr>
            <a:r>
              <a:rPr lang="en-US" altLang="en-US" b="1" smtClean="0"/>
              <a:t>Completed:</a:t>
            </a:r>
            <a:r>
              <a:rPr lang="en-US" altLang="en-US" smtClean="0"/>
              <a:t> The request has finished execution.</a:t>
            </a:r>
          </a:p>
          <a:p>
            <a:pPr lvl="2">
              <a:buFontTx/>
              <a:buChar char="•"/>
            </a:pPr>
            <a:r>
              <a:rPr lang="en-US" altLang="en-US" b="1" smtClean="0"/>
              <a:t>Inactive:</a:t>
            </a:r>
            <a:r>
              <a:rPr lang="en-US" altLang="en-US" smtClean="0"/>
              <a:t> The request cannot yet be run.</a:t>
            </a:r>
          </a:p>
        </p:txBody>
      </p:sp>
    </p:spTree>
    <p:extLst>
      <p:ext uri="{BB962C8B-B14F-4D97-AF65-F5344CB8AC3E}">
        <p14:creationId xmlns:p14="http://schemas.microsoft.com/office/powerpoint/2010/main" val="26259270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mtClean="0"/>
              <a:t>&lt;Course name&gt;   &lt;Lesson number&gt; - </a:t>
            </a:r>
            <a:fld id="{7EB5298F-47E3-4C95-8999-505DEFA53482}" type="slidenum">
              <a:rPr lang="en-US" altLang="en-US" smtClean="0"/>
              <a:pPr/>
              <a:t>44</a:t>
            </a:fld>
            <a:endParaRPr lang="en-US" altLang="en-US" smtClean="0"/>
          </a:p>
        </p:txBody>
      </p:sp>
      <p:sp>
        <p:nvSpPr>
          <p:cNvPr id="182275"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2276"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Clr>
                <a:srgbClr val="000000"/>
              </a:buClr>
            </a:pPr>
            <a:r>
              <a:rPr lang="en-US" altLang="en-US" smtClean="0"/>
              <a:t>Pending Phase</a:t>
            </a:r>
          </a:p>
          <a:p>
            <a:pPr lvl="1">
              <a:buClr>
                <a:srgbClr val="000000"/>
              </a:buClr>
            </a:pPr>
            <a:r>
              <a:rPr lang="en-US" altLang="en-US" smtClean="0"/>
              <a:t>A program in the Pending phase can be in one of four statuses:</a:t>
            </a:r>
          </a:p>
          <a:p>
            <a:pPr lvl="2">
              <a:buFontTx/>
              <a:buChar char="•"/>
            </a:pPr>
            <a:r>
              <a:rPr lang="en-US" altLang="en-US" b="1" smtClean="0"/>
              <a:t>Normal:</a:t>
            </a:r>
            <a:r>
              <a:rPr lang="en-US" altLang="en-US" smtClean="0"/>
              <a:t> The program is waiting for an available manager.</a:t>
            </a:r>
          </a:p>
          <a:p>
            <a:pPr lvl="2">
              <a:buFontTx/>
              <a:buChar char="•"/>
            </a:pPr>
            <a:r>
              <a:rPr lang="en-US" altLang="en-US" b="1" smtClean="0"/>
              <a:t>Waiting:</a:t>
            </a:r>
            <a:r>
              <a:rPr lang="en-US" altLang="en-US" smtClean="0"/>
              <a:t> A child program is waiting for a parent to mark it ready to run. </a:t>
            </a:r>
          </a:p>
          <a:p>
            <a:pPr lvl="2">
              <a:buFontTx/>
              <a:buChar char="•"/>
            </a:pPr>
            <a:r>
              <a:rPr lang="en-US" altLang="en-US" b="1" smtClean="0"/>
              <a:t>Standby:</a:t>
            </a:r>
            <a:r>
              <a:rPr lang="en-US" altLang="en-US" smtClean="0"/>
              <a:t> A program is waiting for another incompatible program in the same logical database to complete. </a:t>
            </a:r>
          </a:p>
          <a:p>
            <a:pPr lvl="2">
              <a:buFontTx/>
              <a:buChar char="•"/>
            </a:pPr>
            <a:r>
              <a:rPr lang="en-US" altLang="en-US" b="1" smtClean="0"/>
              <a:t>Scheduled:</a:t>
            </a:r>
            <a:r>
              <a:rPr lang="en-US" altLang="en-US" smtClean="0"/>
              <a:t> A program’s scheduled start time has not yet elapsed.</a:t>
            </a:r>
          </a:p>
        </p:txBody>
      </p:sp>
    </p:spTree>
    <p:extLst>
      <p:ext uri="{BB962C8B-B14F-4D97-AF65-F5344CB8AC3E}">
        <p14:creationId xmlns:p14="http://schemas.microsoft.com/office/powerpoint/2010/main" val="17096718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mtClean="0"/>
              <a:t>&lt;Course name&gt;   &lt;Lesson number&gt; - </a:t>
            </a:r>
            <a:fld id="{DE556531-57FB-4A3F-A519-781E34380D5C}" type="slidenum">
              <a:rPr lang="en-US" altLang="en-US" smtClean="0"/>
              <a:pPr/>
              <a:t>45</a:t>
            </a:fld>
            <a:endParaRPr lang="en-US" altLang="en-US" smtClean="0"/>
          </a:p>
        </p:txBody>
      </p:sp>
      <p:sp>
        <p:nvSpPr>
          <p:cNvPr id="184323"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24"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Clr>
                <a:srgbClr val="000000"/>
              </a:buClr>
            </a:pPr>
            <a:r>
              <a:rPr lang="en-US" altLang="en-US" smtClean="0"/>
              <a:t>Running Phase</a:t>
            </a:r>
          </a:p>
          <a:p>
            <a:pPr lvl="1">
              <a:buClr>
                <a:srgbClr val="000000"/>
              </a:buClr>
            </a:pPr>
            <a:r>
              <a:rPr lang="en-US" altLang="en-US" smtClean="0"/>
              <a:t>A program in the Running phase can be in one of four statuses: </a:t>
            </a:r>
          </a:p>
          <a:p>
            <a:pPr lvl="2">
              <a:buFontTx/>
              <a:buChar char="•"/>
            </a:pPr>
            <a:r>
              <a:rPr lang="en-US" altLang="en-US" b="1" smtClean="0"/>
              <a:t>Normal:</a:t>
            </a:r>
            <a:r>
              <a:rPr lang="en-US" altLang="en-US" smtClean="0"/>
              <a:t> Program is in progress.</a:t>
            </a:r>
          </a:p>
          <a:p>
            <a:pPr lvl="2">
              <a:buFontTx/>
              <a:buChar char="•"/>
            </a:pPr>
            <a:r>
              <a:rPr lang="en-US" altLang="en-US" b="1" smtClean="0"/>
              <a:t>Paused:</a:t>
            </a:r>
            <a:r>
              <a:rPr lang="en-US" altLang="en-US" smtClean="0"/>
              <a:t> A parent program is waiting for one or more child programs to complete.</a:t>
            </a:r>
          </a:p>
          <a:p>
            <a:pPr lvl="2">
              <a:buFontTx/>
              <a:buChar char="•"/>
            </a:pPr>
            <a:r>
              <a:rPr lang="en-US" altLang="en-US" b="1" smtClean="0"/>
              <a:t>Resuming: </a:t>
            </a:r>
            <a:r>
              <a:rPr lang="en-US" altLang="en-US" smtClean="0"/>
              <a:t>A parent program is continuing after the completion of one or more child programs.</a:t>
            </a:r>
          </a:p>
          <a:p>
            <a:pPr lvl="2">
              <a:buFontTx/>
              <a:buChar char="•"/>
            </a:pPr>
            <a:r>
              <a:rPr lang="en-US" altLang="en-US" b="1" smtClean="0"/>
              <a:t>Terminating:</a:t>
            </a:r>
            <a:r>
              <a:rPr lang="en-US" altLang="en-US" smtClean="0"/>
              <a:t> The program is being terminated.</a:t>
            </a:r>
          </a:p>
        </p:txBody>
      </p:sp>
    </p:spTree>
    <p:extLst>
      <p:ext uri="{BB962C8B-B14F-4D97-AF65-F5344CB8AC3E}">
        <p14:creationId xmlns:p14="http://schemas.microsoft.com/office/powerpoint/2010/main" val="9410208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mtClean="0"/>
              <a:t>&lt;Course name&gt;   &lt;Lesson number&gt; - </a:t>
            </a:r>
            <a:fld id="{6D8D767A-2861-431D-B266-8768D96DE90E}" type="slidenum">
              <a:rPr lang="en-US" altLang="en-US" smtClean="0"/>
              <a:pPr/>
              <a:t>46</a:t>
            </a:fld>
            <a:endParaRPr lang="en-US" altLang="en-US" smtClean="0"/>
          </a:p>
        </p:txBody>
      </p:sp>
      <p:sp>
        <p:nvSpPr>
          <p:cNvPr id="186371"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2"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Clr>
                <a:srgbClr val="000000"/>
              </a:buClr>
            </a:pPr>
            <a:r>
              <a:rPr lang="en-US" altLang="en-US" smtClean="0"/>
              <a:t>Completed Phase</a:t>
            </a:r>
          </a:p>
          <a:p>
            <a:pPr lvl="1">
              <a:buClr>
                <a:srgbClr val="000000"/>
              </a:buClr>
            </a:pPr>
            <a:r>
              <a:rPr lang="en-US" altLang="en-US" smtClean="0"/>
              <a:t>A program in the Completed phase can be in one of five statuses: </a:t>
            </a:r>
          </a:p>
          <a:p>
            <a:pPr lvl="2">
              <a:buFontTx/>
              <a:buChar char="•"/>
            </a:pPr>
            <a:r>
              <a:rPr lang="en-US" altLang="en-US" b="1" smtClean="0"/>
              <a:t>Normal:</a:t>
            </a:r>
            <a:r>
              <a:rPr lang="en-US" altLang="en-US" smtClean="0"/>
              <a:t> Program completed successfully.</a:t>
            </a:r>
          </a:p>
          <a:p>
            <a:pPr lvl="2">
              <a:buFontTx/>
              <a:buChar char="•"/>
            </a:pPr>
            <a:r>
              <a:rPr lang="en-US" altLang="en-US" b="1" smtClean="0"/>
              <a:t>Warning:</a:t>
            </a:r>
            <a:r>
              <a:rPr lang="en-US" altLang="en-US" smtClean="0"/>
              <a:t> Program completed successfully but with warning messages.</a:t>
            </a:r>
          </a:p>
          <a:p>
            <a:pPr lvl="2">
              <a:buFontTx/>
              <a:buChar char="•"/>
            </a:pPr>
            <a:r>
              <a:rPr lang="en-US" altLang="en-US" b="1" smtClean="0"/>
              <a:t>Error:</a:t>
            </a:r>
            <a:r>
              <a:rPr lang="en-US" altLang="en-US" smtClean="0"/>
              <a:t> Program failed to complete successfully.</a:t>
            </a:r>
          </a:p>
          <a:p>
            <a:pPr lvl="2">
              <a:buFontTx/>
              <a:buChar char="•"/>
            </a:pPr>
            <a:r>
              <a:rPr lang="en-US" altLang="en-US" b="1" smtClean="0"/>
              <a:t>Terminated:</a:t>
            </a:r>
            <a:r>
              <a:rPr lang="en-US" altLang="en-US" smtClean="0"/>
              <a:t> A running program was terminated.</a:t>
            </a:r>
          </a:p>
          <a:p>
            <a:pPr lvl="2">
              <a:buFontTx/>
              <a:buChar char="•"/>
            </a:pPr>
            <a:r>
              <a:rPr lang="en-US" altLang="en-US" b="1" smtClean="0"/>
              <a:t>Canceled:</a:t>
            </a:r>
            <a:r>
              <a:rPr lang="en-US" altLang="en-US" smtClean="0"/>
              <a:t> A pending or inactive program was canceled before it started.</a:t>
            </a:r>
          </a:p>
        </p:txBody>
      </p:sp>
    </p:spTree>
    <p:extLst>
      <p:ext uri="{BB962C8B-B14F-4D97-AF65-F5344CB8AC3E}">
        <p14:creationId xmlns:p14="http://schemas.microsoft.com/office/powerpoint/2010/main" val="36221279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mtClean="0"/>
              <a:t>&lt;Course name&gt;   &lt;Lesson number&gt; - </a:t>
            </a:r>
            <a:fld id="{75BD1ED8-7C49-485B-8894-7C77543B2A96}" type="slidenum">
              <a:rPr lang="en-US" altLang="en-US" smtClean="0"/>
              <a:pPr/>
              <a:t>47</a:t>
            </a:fld>
            <a:endParaRPr lang="en-US" altLang="en-US" smtClean="0"/>
          </a:p>
        </p:txBody>
      </p:sp>
      <p:sp>
        <p:nvSpPr>
          <p:cNvPr id="188419"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20"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Clr>
                <a:srgbClr val="000000"/>
              </a:buClr>
            </a:pPr>
            <a:r>
              <a:rPr lang="en-US" altLang="en-US" smtClean="0"/>
              <a:t>Inactive Phase</a:t>
            </a:r>
          </a:p>
          <a:p>
            <a:pPr lvl="1">
              <a:buClr>
                <a:srgbClr val="000000"/>
              </a:buClr>
            </a:pPr>
            <a:r>
              <a:rPr lang="en-US" altLang="en-US" smtClean="0"/>
              <a:t>A program in the Inactive phase can be in one of three statuses:</a:t>
            </a:r>
          </a:p>
          <a:p>
            <a:pPr lvl="2">
              <a:buFontTx/>
              <a:buChar char="•"/>
            </a:pPr>
            <a:r>
              <a:rPr lang="en-US" altLang="en-US" b="1" smtClean="0"/>
              <a:t>Disabled:</a:t>
            </a:r>
            <a:r>
              <a:rPr lang="en-US" altLang="en-US" smtClean="0"/>
              <a:t> The requested program has not been enabled for execution.</a:t>
            </a:r>
          </a:p>
          <a:p>
            <a:pPr lvl="2">
              <a:buFontTx/>
              <a:buChar char="•"/>
            </a:pPr>
            <a:r>
              <a:rPr lang="en-US" altLang="en-US" b="1" smtClean="0"/>
              <a:t>On Hold:</a:t>
            </a:r>
            <a:r>
              <a:rPr lang="en-US" altLang="en-US" smtClean="0"/>
              <a:t> The requested program has been placed on hold.</a:t>
            </a:r>
          </a:p>
          <a:p>
            <a:pPr lvl="2">
              <a:buFontTx/>
              <a:buChar char="•"/>
            </a:pPr>
            <a:r>
              <a:rPr lang="en-US" altLang="en-US" b="1" smtClean="0"/>
              <a:t>No Manager:</a:t>
            </a:r>
            <a:r>
              <a:rPr lang="en-US" altLang="en-US" smtClean="0"/>
              <a:t> There is no manager defined to run this type of request.</a:t>
            </a:r>
          </a:p>
        </p:txBody>
      </p:sp>
    </p:spTree>
    <p:extLst>
      <p:ext uri="{BB962C8B-B14F-4D97-AF65-F5344CB8AC3E}">
        <p14:creationId xmlns:p14="http://schemas.microsoft.com/office/powerpoint/2010/main" val="1621112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mtClean="0"/>
              <a:t>&lt;Course name&gt;   &lt;Lesson number&gt; - </a:t>
            </a:r>
            <a:fld id="{75BD1ED8-7C49-485B-8894-7C77543B2A96}" type="slidenum">
              <a:rPr lang="en-US" altLang="en-US" smtClean="0"/>
              <a:pPr/>
              <a:t>48</a:t>
            </a:fld>
            <a:endParaRPr lang="en-US" altLang="en-US" smtClean="0"/>
          </a:p>
        </p:txBody>
      </p:sp>
      <p:sp>
        <p:nvSpPr>
          <p:cNvPr id="188419"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20"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Clr>
                <a:srgbClr val="000000"/>
              </a:buClr>
            </a:pPr>
            <a:r>
              <a:rPr lang="en-US" altLang="en-US" smtClean="0"/>
              <a:t>Inactive Phase</a:t>
            </a:r>
          </a:p>
          <a:p>
            <a:pPr lvl="1">
              <a:buClr>
                <a:srgbClr val="000000"/>
              </a:buClr>
            </a:pPr>
            <a:r>
              <a:rPr lang="en-US" altLang="en-US" smtClean="0"/>
              <a:t>A program in the Inactive phase can be in one of three statuses:</a:t>
            </a:r>
          </a:p>
          <a:p>
            <a:pPr lvl="2">
              <a:buFontTx/>
              <a:buChar char="•"/>
            </a:pPr>
            <a:r>
              <a:rPr lang="en-US" altLang="en-US" b="1" smtClean="0"/>
              <a:t>Disabled:</a:t>
            </a:r>
            <a:r>
              <a:rPr lang="en-US" altLang="en-US" smtClean="0"/>
              <a:t> The requested program has not been enabled for execution.</a:t>
            </a:r>
          </a:p>
          <a:p>
            <a:pPr lvl="2">
              <a:buFontTx/>
              <a:buChar char="•"/>
            </a:pPr>
            <a:r>
              <a:rPr lang="en-US" altLang="en-US" b="1" smtClean="0"/>
              <a:t>On Hold:</a:t>
            </a:r>
            <a:r>
              <a:rPr lang="en-US" altLang="en-US" smtClean="0"/>
              <a:t> The requested program has been placed on hold.</a:t>
            </a:r>
          </a:p>
          <a:p>
            <a:pPr lvl="2">
              <a:buFontTx/>
              <a:buChar char="•"/>
            </a:pPr>
            <a:r>
              <a:rPr lang="en-US" altLang="en-US" b="1" smtClean="0"/>
              <a:t>No Manager:</a:t>
            </a:r>
            <a:r>
              <a:rPr lang="en-US" altLang="en-US" smtClean="0"/>
              <a:t> There is no manager defined to run this type of request.</a:t>
            </a:r>
          </a:p>
        </p:txBody>
      </p:sp>
    </p:spTree>
    <p:extLst>
      <p:ext uri="{BB962C8B-B14F-4D97-AF65-F5344CB8AC3E}">
        <p14:creationId xmlns:p14="http://schemas.microsoft.com/office/powerpoint/2010/main" val="36721646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mtClean="0"/>
              <a:t>&lt;Course name&gt;   &lt;Lesson number&gt; - </a:t>
            </a:r>
            <a:fld id="{75BD1ED8-7C49-485B-8894-7C77543B2A96}" type="slidenum">
              <a:rPr lang="en-US" altLang="en-US" smtClean="0"/>
              <a:pPr/>
              <a:t>49</a:t>
            </a:fld>
            <a:endParaRPr lang="en-US" altLang="en-US" smtClean="0"/>
          </a:p>
        </p:txBody>
      </p:sp>
      <p:sp>
        <p:nvSpPr>
          <p:cNvPr id="188419"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20"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Clr>
                <a:srgbClr val="000000"/>
              </a:buClr>
            </a:pPr>
            <a:r>
              <a:rPr lang="en-US" altLang="en-US" smtClean="0"/>
              <a:t>Inactive Phase</a:t>
            </a:r>
          </a:p>
          <a:p>
            <a:pPr lvl="1">
              <a:buClr>
                <a:srgbClr val="000000"/>
              </a:buClr>
            </a:pPr>
            <a:r>
              <a:rPr lang="en-US" altLang="en-US" smtClean="0"/>
              <a:t>A program in the Inactive phase can be in one of three statuses:</a:t>
            </a:r>
          </a:p>
          <a:p>
            <a:pPr lvl="2">
              <a:buFontTx/>
              <a:buChar char="•"/>
            </a:pPr>
            <a:r>
              <a:rPr lang="en-US" altLang="en-US" b="1" smtClean="0"/>
              <a:t>Disabled:</a:t>
            </a:r>
            <a:r>
              <a:rPr lang="en-US" altLang="en-US" smtClean="0"/>
              <a:t> The requested program has not been enabled for execution.</a:t>
            </a:r>
          </a:p>
          <a:p>
            <a:pPr lvl="2">
              <a:buFontTx/>
              <a:buChar char="•"/>
            </a:pPr>
            <a:r>
              <a:rPr lang="en-US" altLang="en-US" b="1" smtClean="0"/>
              <a:t>On Hold:</a:t>
            </a:r>
            <a:r>
              <a:rPr lang="en-US" altLang="en-US" smtClean="0"/>
              <a:t> The requested program has been placed on hold.</a:t>
            </a:r>
          </a:p>
          <a:p>
            <a:pPr lvl="2">
              <a:buFontTx/>
              <a:buChar char="•"/>
            </a:pPr>
            <a:r>
              <a:rPr lang="en-US" altLang="en-US" b="1" smtClean="0"/>
              <a:t>No Manager:</a:t>
            </a:r>
            <a:r>
              <a:rPr lang="en-US" altLang="en-US" smtClean="0"/>
              <a:t> There is no manager defined to run this type of request.</a:t>
            </a:r>
          </a:p>
        </p:txBody>
      </p:sp>
    </p:spTree>
    <p:extLst>
      <p:ext uri="{BB962C8B-B14F-4D97-AF65-F5344CB8AC3E}">
        <p14:creationId xmlns:p14="http://schemas.microsoft.com/office/powerpoint/2010/main" val="35614120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190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105ED37B-D41D-4994-8A05-9E4396F76E96}" type="slidenum">
              <a:rPr lang="en-US" altLang="pt-BR" smtClean="0"/>
              <a:pPr/>
              <a:t>50</a:t>
            </a:fld>
            <a:endParaRPr lang="en-US" altLang="pt-BR" smtClean="0"/>
          </a:p>
        </p:txBody>
      </p:sp>
    </p:spTree>
    <p:extLst>
      <p:ext uri="{BB962C8B-B14F-4D97-AF65-F5344CB8AC3E}">
        <p14:creationId xmlns:p14="http://schemas.microsoft.com/office/powerpoint/2010/main" val="19647922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2" descr="capa"/>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63050" cy="687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p:cNvSpPr>
            <a:spLocks noGrp="1" noChangeArrowheads="1"/>
          </p:cNvSpPr>
          <p:nvPr>
            <p:ph type="ctrTitle"/>
          </p:nvPr>
        </p:nvSpPr>
        <p:spPr>
          <a:xfrm>
            <a:off x="685800" y="2130425"/>
            <a:ext cx="7772400" cy="1470025"/>
          </a:xfrm>
        </p:spPr>
        <p:txBody>
          <a:bodyPr/>
          <a:lstStyle>
            <a:lvl1pPr>
              <a:defRPr/>
            </a:lvl1pPr>
          </a:lstStyle>
          <a:p>
            <a:pPr lvl="0"/>
            <a:r>
              <a:rPr lang="pt-BR" noProof="0" smtClean="0"/>
              <a:t>Clique para editar o estilo do título mestre</a:t>
            </a:r>
          </a:p>
        </p:txBody>
      </p:sp>
      <p:sp>
        <p:nvSpPr>
          <p:cNvPr id="3076"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pt-BR" noProof="0" smtClean="0"/>
              <a:t>Clique para editar o estilo do subtítulo mestre</a:t>
            </a:r>
          </a:p>
        </p:txBody>
      </p:sp>
      <p:sp>
        <p:nvSpPr>
          <p:cNvPr id="5" name="Rectangle 5"/>
          <p:cNvSpPr>
            <a:spLocks noGrp="1" noChangeArrowheads="1"/>
          </p:cNvSpPr>
          <p:nvPr>
            <p:ph type="dt" sz="half" idx="10"/>
          </p:nvPr>
        </p:nvSpPr>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p:txBody>
          <a:bodyPr/>
          <a:lstStyle>
            <a:lvl1pPr>
              <a:defRPr/>
            </a:lvl1pPr>
          </a:lstStyle>
          <a:p>
            <a:pPr>
              <a:defRPr/>
            </a:pPr>
            <a:fld id="{990E38E9-868B-4C4F-8DD9-9A9EFA7B20ED}" type="slidenum">
              <a:rPr lang="pt-BR" altLang="pt-BR"/>
              <a:pPr>
                <a:defRPr/>
              </a:pPr>
              <a:t>‹nº›</a:t>
            </a:fld>
            <a:endParaRPr lang="pt-BR" altLang="pt-BR"/>
          </a:p>
        </p:txBody>
      </p:sp>
    </p:spTree>
    <p:extLst>
      <p:ext uri="{BB962C8B-B14F-4D97-AF65-F5344CB8AC3E}">
        <p14:creationId xmlns:p14="http://schemas.microsoft.com/office/powerpoint/2010/main" val="1778299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Content Placeholder 2"/>
          <p:cNvSpPr>
            <a:spLocks noGrp="1"/>
          </p:cNvSpPr>
          <p:nvPr>
            <p:ph idx="1"/>
          </p:nvPr>
        </p:nvSpPr>
        <p:spPr/>
        <p:txBody>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826C0B81-FCC8-4E3F-8A1B-ADC8332151A0}" type="slidenum">
              <a:rPr lang="pt-BR" altLang="pt-BR"/>
              <a:pPr>
                <a:defRPr/>
              </a:pPr>
              <a:t>‹nº›</a:t>
            </a:fld>
            <a:endParaRPr lang="pt-BR" altLang="pt-BR"/>
          </a:p>
        </p:txBody>
      </p:sp>
    </p:spTree>
    <p:extLst>
      <p:ext uri="{BB962C8B-B14F-4D97-AF65-F5344CB8AC3E}">
        <p14:creationId xmlns:p14="http://schemas.microsoft.com/office/powerpoint/2010/main" val="1231828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x-none"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x-none"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A233A633-60EC-4A2B-B3ED-8B24BBF1CBCC}" type="slidenum">
              <a:rPr lang="pt-BR" altLang="pt-BR"/>
              <a:pPr>
                <a:defRPr/>
              </a:pPr>
              <a:t>‹nº›</a:t>
            </a:fld>
            <a:endParaRPr lang="pt-BR" altLang="pt-BR"/>
          </a:p>
        </p:txBody>
      </p:sp>
    </p:spTree>
    <p:extLst>
      <p:ext uri="{BB962C8B-B14F-4D97-AF65-F5344CB8AC3E}">
        <p14:creationId xmlns:p14="http://schemas.microsoft.com/office/powerpoint/2010/main" val="3093651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A8E6E606-3537-4920-866F-15EEB6982623}" type="slidenum">
              <a:rPr lang="pt-BR" altLang="pt-BR"/>
              <a:pPr>
                <a:defRPr/>
              </a:pPr>
              <a:t>‹nº›</a:t>
            </a:fld>
            <a:endParaRPr lang="pt-BR" altLang="pt-BR"/>
          </a:p>
        </p:txBody>
      </p:sp>
    </p:spTree>
    <p:extLst>
      <p:ext uri="{BB962C8B-B14F-4D97-AF65-F5344CB8AC3E}">
        <p14:creationId xmlns:p14="http://schemas.microsoft.com/office/powerpoint/2010/main" val="3747468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36D75A6E-2760-4119-90FE-D78883F8CFF9}" type="slidenum">
              <a:rPr lang="pt-BR" altLang="pt-BR"/>
              <a:pPr>
                <a:defRPr/>
              </a:pPr>
              <a:t>‹nº›</a:t>
            </a:fld>
            <a:endParaRPr lang="pt-BR" altLang="pt-BR"/>
          </a:p>
        </p:txBody>
      </p:sp>
    </p:spTree>
    <p:extLst>
      <p:ext uri="{BB962C8B-B14F-4D97-AF65-F5344CB8AC3E}">
        <p14:creationId xmlns:p14="http://schemas.microsoft.com/office/powerpoint/2010/main" val="2561122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B8F01E50-7FF8-41BF-B2E7-4F182798AE8C}" type="slidenum">
              <a:rPr lang="pt-BR" altLang="pt-BR"/>
              <a:pPr>
                <a:defRPr/>
              </a:pPr>
              <a:t>‹nº›</a:t>
            </a:fld>
            <a:endParaRPr lang="pt-BR" altLang="pt-BR"/>
          </a:p>
        </p:txBody>
      </p:sp>
    </p:spTree>
    <p:extLst>
      <p:ext uri="{BB962C8B-B14F-4D97-AF65-F5344CB8AC3E}">
        <p14:creationId xmlns:p14="http://schemas.microsoft.com/office/powerpoint/2010/main" val="21580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82061017-AADB-433B-827B-3D697B4E7D3D}" type="slidenum">
              <a:rPr lang="pt-BR" altLang="pt-BR"/>
              <a:pPr>
                <a:defRPr/>
              </a:pPr>
              <a:t>‹nº›</a:t>
            </a:fld>
            <a:endParaRPr lang="pt-BR" altLang="pt-BR"/>
          </a:p>
        </p:txBody>
      </p:sp>
    </p:spTree>
    <p:extLst>
      <p:ext uri="{BB962C8B-B14F-4D97-AF65-F5344CB8AC3E}">
        <p14:creationId xmlns:p14="http://schemas.microsoft.com/office/powerpoint/2010/main" val="1222032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x-none"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12B690C7-19D7-4640-9664-D0608A759FAE}" type="slidenum">
              <a:rPr lang="pt-BR" altLang="pt-BR"/>
              <a:pPr>
                <a:defRPr/>
              </a:pPr>
              <a:t>‹nº›</a:t>
            </a:fld>
            <a:endParaRPr lang="pt-BR" altLang="pt-BR"/>
          </a:p>
        </p:txBody>
      </p:sp>
    </p:spTree>
    <p:extLst>
      <p:ext uri="{BB962C8B-B14F-4D97-AF65-F5344CB8AC3E}">
        <p14:creationId xmlns:p14="http://schemas.microsoft.com/office/powerpoint/2010/main" val="2025656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x-none"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B313935D-9710-41B7-868F-876B2051224E}" type="slidenum">
              <a:rPr lang="pt-BR" altLang="pt-BR"/>
              <a:pPr>
                <a:defRPr/>
              </a:pPr>
              <a:t>‹nº›</a:t>
            </a:fld>
            <a:endParaRPr lang="pt-BR" altLang="pt-BR"/>
          </a:p>
        </p:txBody>
      </p:sp>
    </p:spTree>
    <p:extLst>
      <p:ext uri="{BB962C8B-B14F-4D97-AF65-F5344CB8AC3E}">
        <p14:creationId xmlns:p14="http://schemas.microsoft.com/office/powerpoint/2010/main" val="2354315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673CCED1-4EA7-4814-8F98-771BF867B106}" type="slidenum">
              <a:rPr lang="pt-BR" altLang="pt-BR"/>
              <a:pPr>
                <a:defRPr/>
              </a:pPr>
              <a:t>‹nº›</a:t>
            </a:fld>
            <a:endParaRPr lang="pt-BR" altLang="pt-BR"/>
          </a:p>
        </p:txBody>
      </p:sp>
    </p:spTree>
    <p:extLst>
      <p:ext uri="{BB962C8B-B14F-4D97-AF65-F5344CB8AC3E}">
        <p14:creationId xmlns:p14="http://schemas.microsoft.com/office/powerpoint/2010/main" val="1899506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x-none"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F7E35B5D-69D0-4A77-8766-9F2ED55C48E4}" type="slidenum">
              <a:rPr lang="pt-BR" altLang="pt-BR"/>
              <a:pPr>
                <a:defRPr/>
              </a:pPr>
              <a:t>‹nº›</a:t>
            </a:fld>
            <a:endParaRPr lang="pt-BR" altLang="pt-BR"/>
          </a:p>
        </p:txBody>
      </p:sp>
    </p:spTree>
    <p:extLst>
      <p:ext uri="{BB962C8B-B14F-4D97-AF65-F5344CB8AC3E}">
        <p14:creationId xmlns:p14="http://schemas.microsoft.com/office/powerpoint/2010/main" val="155353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439738"/>
            <a:ext cx="7918450" cy="8763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09600" y="1676400"/>
            <a:ext cx="7918450" cy="1751013"/>
          </a:xfrm>
        </p:spPr>
        <p:txBody>
          <a:bodyPr/>
          <a:lstStyle/>
          <a:p>
            <a:pPr lvl="0"/>
            <a:endParaRPr lang="en-US" noProof="0"/>
          </a:p>
        </p:txBody>
      </p:sp>
    </p:spTree>
    <p:extLst>
      <p:ext uri="{BB962C8B-B14F-4D97-AF65-F5344CB8AC3E}">
        <p14:creationId xmlns:p14="http://schemas.microsoft.com/office/powerpoint/2010/main" val="19672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descr="interna_clara"/>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9050" y="0"/>
            <a:ext cx="9163050" cy="687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t-BR" altLang="pt-BR" smtClean="0"/>
              <a:t>Clique para editar o estilo do título mestre</a:t>
            </a:r>
          </a:p>
        </p:txBody>
      </p:sp>
      <p:sp>
        <p:nvSpPr>
          <p:cNvPr id="1028"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t-BR" altLang="pt-BR" smtClean="0"/>
              <a:t>Clique para editar os estilos do texto mestre</a:t>
            </a:r>
          </a:p>
          <a:p>
            <a:pPr lvl="1"/>
            <a:r>
              <a:rPr lang="pt-BR" altLang="pt-BR" smtClean="0"/>
              <a:t>Segundo nível</a:t>
            </a:r>
          </a:p>
          <a:p>
            <a:pPr lvl="2"/>
            <a:r>
              <a:rPr lang="pt-BR" altLang="pt-BR" smtClean="0"/>
              <a:t>Terceiro nível</a:t>
            </a:r>
          </a:p>
          <a:p>
            <a:pPr lvl="3"/>
            <a:r>
              <a:rPr lang="pt-BR" altLang="pt-BR" smtClean="0"/>
              <a:t>Quarto nível</a:t>
            </a:r>
          </a:p>
          <a:p>
            <a:pPr lvl="4"/>
            <a:r>
              <a:rPr lang="pt-BR" altLang="pt-BR" smtClean="0"/>
              <a:t>Quinto nível</a:t>
            </a:r>
          </a:p>
        </p:txBody>
      </p:sp>
      <p:sp>
        <p:nvSpPr>
          <p:cNvPr id="2" name="Rectangle 4"/>
          <p:cNvSpPr>
            <a:spLocks noGrp="1" noChangeArrowheads="1"/>
          </p:cNvSpPr>
          <p:nvPr>
            <p:ph type="dt" sz="half" idx="2"/>
          </p:nvPr>
        </p:nvSpPr>
        <p:spPr bwMode="auto">
          <a:xfrm>
            <a:off x="457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spcAft>
                <a:spcPct val="0"/>
              </a:spcAft>
              <a:defRPr sz="1400">
                <a:latin typeface="Arial" panose="020B0604020202020204" pitchFamily="34" charset="0"/>
                <a:ea typeface="MS PGothic" panose="020B0600070205080204" pitchFamily="34" charset="-128"/>
                <a:cs typeface="+mn-cs"/>
              </a:defRPr>
            </a:lvl1pPr>
          </a:lstStyle>
          <a:p>
            <a:pPr>
              <a:defRPr/>
            </a:pPr>
            <a:fld id="{2B400254-95AF-44DB-B8C9-A60E46651788}" type="slidenum">
              <a:rPr lang="pt-BR" altLang="pt-BR"/>
              <a:pPr>
                <a:defRPr/>
              </a:pPr>
              <a:t>‹nº›</a:t>
            </a:fld>
            <a:endParaRPr lang="pt-BR" altLang="pt-BR"/>
          </a:p>
        </p:txBody>
      </p:sp>
    </p:spTree>
  </p:cSld>
  <p:clrMap bg1="lt1" tx1="dk1" bg2="lt2" tx2="dk2" accent1="accent1" accent2="accent2" accent3="accent3" accent4="accent4" accent5="accent5" accent6="accent6" hlink="hlink" folHlink="folHlink"/>
  <p:sldLayoutIdLst>
    <p:sldLayoutId id="2147484155" r:id="rId1"/>
    <p:sldLayoutId id="2147484145" r:id="rId2"/>
    <p:sldLayoutId id="2147484146" r:id="rId3"/>
    <p:sldLayoutId id="2147484147" r:id="rId4"/>
    <p:sldLayoutId id="2147484148" r:id="rId5"/>
    <p:sldLayoutId id="2147484149" r:id="rId6"/>
    <p:sldLayoutId id="2147484150" r:id="rId7"/>
    <p:sldLayoutId id="2147484151" r:id="rId8"/>
    <p:sldLayoutId id="2147484152" r:id="rId9"/>
    <p:sldLayoutId id="2147484153" r:id="rId10"/>
    <p:sldLayoutId id="2147484154" r:id="rId11"/>
    <p:sldLayoutId id="2147484156" r:id="rId12"/>
  </p:sldLayoutIdLst>
  <p:txStyles>
    <p:title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ea typeface="Arial" charset="0"/>
          <a:cs typeface="+mn-cs"/>
        </a:defRPr>
      </a:lvl6pPr>
      <a:lvl7pPr marL="2971800" indent="-228600" algn="l" rtl="0" fontAlgn="base">
        <a:spcBef>
          <a:spcPct val="20000"/>
        </a:spcBef>
        <a:spcAft>
          <a:spcPct val="0"/>
        </a:spcAft>
        <a:buChar char="»"/>
        <a:defRPr sz="2000">
          <a:solidFill>
            <a:schemeClr val="tx1"/>
          </a:solidFill>
          <a:latin typeface="+mn-lt"/>
          <a:ea typeface="Arial" charset="0"/>
          <a:cs typeface="+mn-cs"/>
        </a:defRPr>
      </a:lvl7pPr>
      <a:lvl8pPr marL="3429000" indent="-228600" algn="l" rtl="0" fontAlgn="base">
        <a:spcBef>
          <a:spcPct val="20000"/>
        </a:spcBef>
        <a:spcAft>
          <a:spcPct val="0"/>
        </a:spcAft>
        <a:buChar char="»"/>
        <a:defRPr sz="2000">
          <a:solidFill>
            <a:schemeClr val="tx1"/>
          </a:solidFill>
          <a:latin typeface="+mn-lt"/>
          <a:ea typeface="Arial" charset="0"/>
          <a:cs typeface="+mn-cs"/>
        </a:defRPr>
      </a:lvl8pPr>
      <a:lvl9pPr marL="3886200" indent="-228600" algn="l" rtl="0" fontAlgn="base">
        <a:spcBef>
          <a:spcPct val="20000"/>
        </a:spcBef>
        <a:spcAft>
          <a:spcPct val="0"/>
        </a:spcAft>
        <a:buChar char="»"/>
        <a:defRPr sz="2000">
          <a:solidFill>
            <a:schemeClr val="tx1"/>
          </a:solidFill>
          <a:latin typeface="+mn-lt"/>
          <a:ea typeface="Arial" charset="0"/>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support.oracle.com/rs?type=doc&amp;id=1542019.1"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9.png"/><Relationship Id="rId10"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0.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17.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5.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9.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2.png"/><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14.png"/><Relationship Id="rId10" Type="http://schemas.openxmlformats.org/officeDocument/2006/relationships/image" Target="../media/image27.png"/><Relationship Id="rId4" Type="http://schemas.openxmlformats.org/officeDocument/2006/relationships/image" Target="../media/image17.png"/><Relationship Id="rId9" Type="http://schemas.openxmlformats.org/officeDocument/2006/relationships/image" Target="../media/image35.pn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0.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37.png"/><Relationship Id="rId5" Type="http://schemas.openxmlformats.org/officeDocument/2006/relationships/image" Target="../media/image25.png"/><Relationship Id="rId4" Type="http://schemas.openxmlformats.org/officeDocument/2006/relationships/image" Target="../media/image36.png"/><Relationship Id="rId9"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15.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0.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13.png"/><Relationship Id="rId4" Type="http://schemas.openxmlformats.org/officeDocument/2006/relationships/image" Target="../media/image20.png"/><Relationship Id="rId9" Type="http://schemas.openxmlformats.org/officeDocument/2006/relationships/image" Target="../media/image43.png"/></Relationships>
</file>

<file path=ppt/slides/_rels/slide2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47.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55.jpe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s>
</file>

<file path=ppt/slides/_rels/slide45.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8" Type="http://schemas.openxmlformats.org/officeDocument/2006/relationships/image" Target="../media/image69.jpg"/><Relationship Id="rId3" Type="http://schemas.openxmlformats.org/officeDocument/2006/relationships/image" Target="../media/image64.jpg"/><Relationship Id="rId7" Type="http://schemas.openxmlformats.org/officeDocument/2006/relationships/image" Target="../media/image68.jpg"/><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67.jpg"/><Relationship Id="rId11" Type="http://schemas.openxmlformats.org/officeDocument/2006/relationships/image" Target="../media/image72.jpg"/><Relationship Id="rId5" Type="http://schemas.openxmlformats.org/officeDocument/2006/relationships/image" Target="../media/image66.jpg"/><Relationship Id="rId10" Type="http://schemas.openxmlformats.org/officeDocument/2006/relationships/image" Target="../media/image71.jpg"/><Relationship Id="rId4" Type="http://schemas.openxmlformats.org/officeDocument/2006/relationships/image" Target="../media/image65.jpg"/><Relationship Id="rId9" Type="http://schemas.openxmlformats.org/officeDocument/2006/relationships/image" Target="../media/image70.jpg"/></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8.pn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2565400"/>
            <a:ext cx="8599488" cy="936625"/>
          </a:xfrm>
          <a:effectLst>
            <a:outerShdw blurRad="63500" dist="17961" dir="2700000" algn="ctr" rotWithShape="0">
              <a:schemeClr val="tx1">
                <a:alpha val="74998"/>
              </a:schemeClr>
            </a:outerShdw>
          </a:effectLst>
          <a:extLst/>
        </p:spPr>
        <p:txBody>
          <a:bodyPr/>
          <a:lstStyle/>
          <a:p>
            <a:pPr eaLnBrk="1" hangingPunct="1">
              <a:defRPr/>
            </a:pPr>
            <a:r>
              <a:rPr lang="pt-BR" b="1" dirty="0" smtClean="0">
                <a:solidFill>
                  <a:srgbClr val="FFCC00"/>
                </a:solidFill>
                <a:ea typeface="+mj-ea"/>
              </a:rPr>
              <a:t>Programa Gestão Empresarial</a:t>
            </a:r>
          </a:p>
        </p:txBody>
      </p:sp>
      <p:sp>
        <p:nvSpPr>
          <p:cNvPr id="2051" name="Rectangle 3"/>
          <p:cNvSpPr>
            <a:spLocks noGrp="1" noChangeArrowheads="1"/>
          </p:cNvSpPr>
          <p:nvPr>
            <p:ph type="subTitle" idx="1"/>
          </p:nvPr>
        </p:nvSpPr>
        <p:spPr>
          <a:xfrm>
            <a:off x="395288" y="3644900"/>
            <a:ext cx="8443912" cy="1295400"/>
          </a:xfrm>
          <a:effectLst>
            <a:outerShdw blurRad="63500" dist="17961" dir="2700000" algn="ctr" rotWithShape="0">
              <a:schemeClr val="tx1">
                <a:alpha val="74998"/>
              </a:schemeClr>
            </a:outerShdw>
          </a:effectLst>
          <a:extLst/>
        </p:spPr>
        <p:txBody>
          <a:bodyPr/>
          <a:lstStyle/>
          <a:p>
            <a:pPr algn="r" eaLnBrk="1" hangingPunct="1">
              <a:defRPr/>
            </a:pPr>
            <a:r>
              <a:rPr lang="ja-JP" altLang="pt-BR" dirty="0" smtClean="0">
                <a:solidFill>
                  <a:schemeClr val="bg1"/>
                </a:solidFill>
              </a:rPr>
              <a:t>“</a:t>
            </a:r>
            <a:r>
              <a:rPr lang="pt-BR" altLang="ja-JP" dirty="0" smtClean="0">
                <a:solidFill>
                  <a:schemeClr val="bg1"/>
                </a:solidFill>
              </a:rPr>
              <a:t>Pipeline de Implantação</a:t>
            </a:r>
            <a:r>
              <a:rPr lang="ja-JP" altLang="pt-BR" dirty="0" smtClean="0">
                <a:solidFill>
                  <a:schemeClr val="bg1"/>
                </a:solidFill>
              </a:rPr>
              <a:t>“</a:t>
            </a:r>
            <a:endParaRPr lang="pt-BR" altLang="ja-JP" dirty="0" smtClean="0">
              <a:solidFill>
                <a:schemeClr val="bg1"/>
              </a:solidFill>
            </a:endParaRPr>
          </a:p>
          <a:p>
            <a:pPr algn="r" eaLnBrk="1" hangingPunct="1">
              <a:defRPr/>
            </a:pPr>
            <a:r>
              <a:rPr lang="pt-BR" altLang="pt-BR" i="1" dirty="0" smtClean="0">
                <a:solidFill>
                  <a:schemeClr val="bg1"/>
                </a:solidFill>
              </a:rPr>
              <a:t> </a:t>
            </a:r>
            <a:r>
              <a:rPr lang="pt-BR" altLang="pt-BR" i="1" dirty="0">
                <a:solidFill>
                  <a:srgbClr val="FFCC00"/>
                </a:solidFill>
              </a:rPr>
              <a:t>P</a:t>
            </a:r>
            <a:r>
              <a:rPr lang="pt-BR" altLang="pt-BR" i="1" dirty="0" smtClean="0">
                <a:solidFill>
                  <a:srgbClr val="FFCC00"/>
                </a:solidFill>
              </a:rPr>
              <a:t>rofissionais da BBTS – PGE/GPG</a:t>
            </a:r>
          </a:p>
        </p:txBody>
      </p:sp>
      <p:grpSp>
        <p:nvGrpSpPr>
          <p:cNvPr id="5124" name="Group 9"/>
          <p:cNvGrpSpPr>
            <a:grpSpLocks/>
          </p:cNvGrpSpPr>
          <p:nvPr/>
        </p:nvGrpSpPr>
        <p:grpSpPr bwMode="auto">
          <a:xfrm>
            <a:off x="7346950" y="1341438"/>
            <a:ext cx="1689100" cy="649287"/>
            <a:chOff x="7216775" y="1547813"/>
            <a:chExt cx="1689100" cy="649287"/>
          </a:xfrm>
        </p:grpSpPr>
        <p:sp>
          <p:nvSpPr>
            <p:cNvPr id="4101" name="Oval 4"/>
            <p:cNvSpPr>
              <a:spLocks noChangeArrowheads="1"/>
            </p:cNvSpPr>
            <p:nvPr/>
          </p:nvSpPr>
          <p:spPr bwMode="auto">
            <a:xfrm>
              <a:off x="7216775" y="1547813"/>
              <a:ext cx="1689100" cy="649287"/>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just" eaLnBrk="1" hangingPunct="1">
                <a:lnSpc>
                  <a:spcPct val="120000"/>
                </a:lnSpc>
                <a:spcAft>
                  <a:spcPct val="50000"/>
                </a:spcAft>
                <a:buFontTx/>
                <a:buNone/>
                <a:defRPr/>
              </a:pPr>
              <a:endParaRPr lang="pt-BR" altLang="pt-BR" sz="1800" smtClean="0"/>
            </a:p>
          </p:txBody>
        </p:sp>
        <p:sp>
          <p:nvSpPr>
            <p:cNvPr id="4102" name="Text Box 5"/>
            <p:cNvSpPr txBox="1">
              <a:spLocks noChangeArrowheads="1"/>
            </p:cNvSpPr>
            <p:nvPr/>
          </p:nvSpPr>
          <p:spPr bwMode="auto">
            <a:xfrm>
              <a:off x="7216775" y="1725613"/>
              <a:ext cx="1689100" cy="29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ela 5"/>
          <p:cNvGraphicFramePr>
            <a:graphicFrameLocks noGrp="1"/>
          </p:cNvGraphicFramePr>
          <p:nvPr/>
        </p:nvGraphicFramePr>
        <p:xfrm>
          <a:off x="400050" y="1155700"/>
          <a:ext cx="8353425" cy="5364169"/>
        </p:xfrm>
        <a:graphic>
          <a:graphicData uri="http://schemas.openxmlformats.org/drawingml/2006/table">
            <a:tbl>
              <a:tblPr/>
              <a:tblGrid>
                <a:gridCol w="1919288"/>
                <a:gridCol w="1125537"/>
                <a:gridCol w="2609850"/>
                <a:gridCol w="2698750"/>
              </a:tblGrid>
              <a:tr h="334849">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ts val="600"/>
                        </a:spcBef>
                        <a:spcAft>
                          <a:spcPts val="600"/>
                        </a:spcAft>
                        <a:buClrTx/>
                        <a:buSzTx/>
                        <a:buFontTx/>
                        <a:buNone/>
                        <a:tabLst/>
                      </a:pPr>
                      <a:r>
                        <a:rPr kumimoji="0" lang="en-US" altLang="en-US" sz="1600" b="1" i="0" u="none" strike="noStrike" cap="none" normalizeH="0" baseline="0" dirty="0" smtClean="0">
                          <a:ln>
                            <a:noFill/>
                          </a:ln>
                          <a:solidFill>
                            <a:srgbClr val="FFFFFF"/>
                          </a:solidFill>
                          <a:effectLst/>
                          <a:latin typeface="Arial" panose="020B0604020202020204" pitchFamily="34" charset="0"/>
                          <a:ea typeface="MS PGothic" panose="020B0600070205080204" pitchFamily="34" charset="-128"/>
                        </a:rPr>
                        <a:t>OUM Phase</a:t>
                      </a:r>
                      <a:endParaRPr kumimoji="0" lang="pt-BR" altLang="en-US" sz="1600" b="1" i="0" u="none" strike="noStrike" cap="none" normalizeH="0" baseline="0" dirty="0" smtClean="0">
                        <a:ln>
                          <a:noFill/>
                        </a:ln>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ts val="600"/>
                        </a:spcBef>
                        <a:spcAft>
                          <a:spcPts val="600"/>
                        </a:spcAft>
                        <a:buClrTx/>
                        <a:buSzTx/>
                        <a:buFontTx/>
                        <a:buNone/>
                        <a:tabLst/>
                      </a:pPr>
                      <a:r>
                        <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rPr>
                        <a:t>Task ID</a:t>
                      </a:r>
                      <a:endParaRPr kumimoji="0" lang="pt-BR"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ts val="600"/>
                        </a:spcBef>
                        <a:spcAft>
                          <a:spcPts val="600"/>
                        </a:spcAft>
                        <a:buClrTx/>
                        <a:buSzTx/>
                        <a:buFontTx/>
                        <a:buNone/>
                        <a:tabLst/>
                      </a:pPr>
                      <a:r>
                        <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rPr>
                        <a:t>Entregável</a:t>
                      </a:r>
                      <a:endParaRPr kumimoji="0" lang="pt-BR"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ts val="600"/>
                        </a:spcBef>
                        <a:spcAft>
                          <a:spcPts val="600"/>
                        </a:spcAft>
                        <a:buClrTx/>
                        <a:buSzTx/>
                        <a:buFontTx/>
                        <a:buNone/>
                        <a:tabLst/>
                      </a:pPr>
                      <a:r>
                        <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rPr>
                        <a:t>Descrição</a:t>
                      </a:r>
                      <a:endParaRPr kumimoji="0" lang="pt-BR"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r>
              <a:tr h="841247">
                <a:tc rowSpan="6">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20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rPr>
                        <a:t>Iniciação</a:t>
                      </a:r>
                      <a:endParaRPr kumimoji="0" lang="pt-BR" altLang="en-US" sz="20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SM010</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Documento de Escopo do Projeto</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Descreve o escopo, principais objetivos e entregáveis do projeto.</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r>
              <a:tr h="841247">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SM.020</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tabLst>
                          <a:tab pos="182563" algn="l"/>
                          <a:tab pos="525463" algn="l"/>
                        </a:tabLst>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tabLst>
                          <a:tab pos="182563" algn="l"/>
                          <a:tab pos="525463" algn="l"/>
                        </a:tabLst>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tabLst>
                          <a:tab pos="182563" algn="l"/>
                          <a:tab pos="525463"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Processo de mudança do Projeto</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tabLst>
                          <a:tab pos="182563" algn="l"/>
                          <a:tab pos="525463" algn="l"/>
                        </a:tabLst>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tabLst>
                          <a:tab pos="182563" algn="l"/>
                          <a:tab pos="525463" algn="l"/>
                        </a:tabLst>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tabLst>
                          <a:tab pos="182563" algn="l"/>
                          <a:tab pos="525463"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Descreve os procedimentos para gestão de mudanças do projeto.</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r>
              <a:tr h="249242">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endParaRPr>
                    </a:p>
                  </a:txBody>
                  <a:tcPr marL="5403" marR="5403" marT="2701" marB="2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endParaRPr>
                    </a:p>
                  </a:txBody>
                  <a:tcPr marL="5403" marR="5403" marT="2701" marB="270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r>
              <a:tr h="1134670">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WM.020</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626" marR="262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tabLst>
                          <a:tab pos="182563" algn="l"/>
                          <a:tab pos="525463" algn="l"/>
                        </a:tabLst>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tabLst>
                          <a:tab pos="182563" algn="l"/>
                          <a:tab pos="525463" algn="l"/>
                        </a:tabLst>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tabLst>
                          <a:tab pos="182563" algn="l"/>
                          <a:tab pos="525463"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Definição da Carga de dados e Requerimentos de Conversão</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626" marR="262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tabLst>
                          <a:tab pos="182563" algn="l"/>
                          <a:tab pos="525463" algn="l"/>
                        </a:tabLst>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tabLst>
                          <a:tab pos="182563" algn="l"/>
                          <a:tab pos="525463" algn="l"/>
                        </a:tabLst>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tabLst>
                          <a:tab pos="182563" algn="l"/>
                          <a:tab pos="525463"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Definição da Carga e Conversão de Dados</a:t>
                      </a:r>
                    </a:p>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626" marR="262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r>
              <a:tr h="841247">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CV010</a:t>
                      </a:r>
                    </a:p>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tabLst>
                          <a:tab pos="182563" algn="l"/>
                          <a:tab pos="525463" algn="l"/>
                        </a:tabLst>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tabLst>
                          <a:tab pos="182563" algn="l"/>
                          <a:tab pos="525463" algn="l"/>
                        </a:tabLst>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tabLst>
                          <a:tab pos="182563" algn="l"/>
                          <a:tab pos="525463"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Definição da Carga e Conversão de Dados</a:t>
                      </a:r>
                    </a:p>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tabLst>
                          <a:tab pos="182563" algn="l"/>
                          <a:tab pos="525463" algn="l"/>
                        </a:tabLst>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tabLst>
                          <a:tab pos="182563" algn="l"/>
                          <a:tab pos="525463" algn="l"/>
                        </a:tabLst>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tabLst>
                          <a:tab pos="182563" algn="l"/>
                          <a:tab pos="525463"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Detalha o escopo das cargas e requerimentos de conversão de dados.</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r>
              <a:tr h="1121662">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RD.045</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Requerimentos de Negócio</a:t>
                      </a:r>
                      <a:endParaRPr kumimoji="0" lang="pt-BR" altLang="en-US" sz="16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600" b="0" i="0" u="none" strike="noStrike" cap="none" normalizeH="0" baseline="0" dirty="0" smtClean="0">
                          <a:ln>
                            <a:noFill/>
                          </a:ln>
                          <a:solidFill>
                            <a:srgbClr val="000000"/>
                          </a:solidFill>
                          <a:effectLst/>
                          <a:latin typeface="Arial" panose="020B0604020202020204" pitchFamily="34" charset="0"/>
                          <a:ea typeface="MS PGothic" panose="020B0600070205080204" pitchFamily="34" charset="-128"/>
                        </a:rPr>
                        <a:t>Descreve e revisa a lista priorizada de requerimentos de negócio definidos no escopo.</a:t>
                      </a:r>
                      <a:endParaRPr kumimoji="0" lang="pt-BR" altLang="en-US" sz="1600" b="0" i="0" u="none" strike="noStrike" cap="none" normalizeH="0" baseline="0" dirty="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r>
            </a:tbl>
          </a:graphicData>
        </a:graphic>
      </p:graphicFrame>
      <p:sp>
        <p:nvSpPr>
          <p:cNvPr id="102439" name="Line 5"/>
          <p:cNvSpPr>
            <a:spLocks noChangeShapeType="1"/>
          </p:cNvSpPr>
          <p:nvPr/>
        </p:nvSpPr>
        <p:spPr bwMode="auto">
          <a:xfrm>
            <a:off x="0" y="1125538"/>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
        <p:nvSpPr>
          <p:cNvPr id="102440" name="Rectangle 2"/>
          <p:cNvSpPr>
            <a:spLocks noGrp="1" noChangeArrowheads="1"/>
          </p:cNvSpPr>
          <p:nvPr>
            <p:ph type="title"/>
          </p:nvPr>
        </p:nvSpPr>
        <p:spPr>
          <a:xfrm>
            <a:off x="11113" y="-3175"/>
            <a:ext cx="9132887" cy="931863"/>
          </a:xfrm>
        </p:spPr>
        <p:txBody>
          <a:bodyPr/>
          <a:lstStyle/>
          <a:p>
            <a:pPr algn="l" eaLnBrk="1" hangingPunct="1"/>
            <a:r>
              <a:rPr lang="pt-BR" altLang="pt-BR" b="1" smtClean="0">
                <a:solidFill>
                  <a:srgbClr val="003366"/>
                </a:solidFill>
              </a:rPr>
              <a:t>eBusiness Suite - Metodologia</a:t>
            </a:r>
          </a:p>
        </p:txBody>
      </p:sp>
      <p:grpSp>
        <p:nvGrpSpPr>
          <p:cNvPr id="102441" name="Group 6"/>
          <p:cNvGrpSpPr>
            <a:grpSpLocks/>
          </p:cNvGrpSpPr>
          <p:nvPr/>
        </p:nvGrpSpPr>
        <p:grpSpPr bwMode="auto">
          <a:xfrm>
            <a:off x="7308850" y="117475"/>
            <a:ext cx="1735138" cy="647700"/>
            <a:chOff x="7380288" y="41275"/>
            <a:chExt cx="1735137" cy="647700"/>
          </a:xfrm>
        </p:grpSpPr>
        <p:sp>
          <p:nvSpPr>
            <p:cNvPr id="7"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8"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ço Reservado para Conteúdo 3"/>
          <p:cNvGraphicFramePr>
            <a:graphicFrameLocks noGrp="1"/>
          </p:cNvGraphicFramePr>
          <p:nvPr>
            <p:ph idx="1"/>
          </p:nvPr>
        </p:nvGraphicFramePr>
        <p:xfrm>
          <a:off x="395288" y="1144588"/>
          <a:ext cx="8353424" cy="3278288"/>
        </p:xfrm>
        <a:graphic>
          <a:graphicData uri="http://schemas.openxmlformats.org/drawingml/2006/table">
            <a:tbl>
              <a:tblPr firstRow="1" firstCol="1" bandRow="1">
                <a:tableStyleId>{21E4AEA4-8DFA-4A89-87EB-49C32662AFE0}</a:tableStyleId>
              </a:tblPr>
              <a:tblGrid>
                <a:gridCol w="1919935"/>
                <a:gridCol w="1125583"/>
                <a:gridCol w="2610445"/>
                <a:gridCol w="2697461"/>
              </a:tblGrid>
              <a:tr h="333920">
                <a:tc>
                  <a:txBody>
                    <a:bodyPr/>
                    <a:lstStyle/>
                    <a:p>
                      <a:pPr marL="0" marR="0">
                        <a:lnSpc>
                          <a:spcPct val="115000"/>
                        </a:lnSpc>
                        <a:spcBef>
                          <a:spcPts val="600"/>
                        </a:spcBef>
                        <a:spcAft>
                          <a:spcPts val="600"/>
                        </a:spcAft>
                      </a:pPr>
                      <a:r>
                        <a:rPr lang="en-US" sz="1600" dirty="0">
                          <a:effectLst/>
                        </a:rPr>
                        <a:t>OUM Phase</a:t>
                      </a: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600"/>
                        </a:spcBef>
                        <a:spcAft>
                          <a:spcPts val="600"/>
                        </a:spcAft>
                      </a:pPr>
                      <a:r>
                        <a:rPr lang="en-US" sz="1600" dirty="0">
                          <a:effectLst/>
                        </a:rPr>
                        <a:t>Task ID</a:t>
                      </a: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600"/>
                        </a:spcBef>
                        <a:spcAft>
                          <a:spcPts val="600"/>
                        </a:spcAft>
                      </a:pPr>
                      <a:r>
                        <a:rPr lang="en-US" sz="1600" dirty="0" err="1">
                          <a:effectLst/>
                        </a:rPr>
                        <a:t>Entregável</a:t>
                      </a: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600"/>
                        </a:spcBef>
                        <a:spcAft>
                          <a:spcPts val="600"/>
                        </a:spcAft>
                      </a:pPr>
                      <a:r>
                        <a:rPr lang="en-US" sz="1600" dirty="0" err="1">
                          <a:effectLst/>
                        </a:rPr>
                        <a:t>Descrição</a:t>
                      </a:r>
                      <a:endParaRPr lang="pt-BR" sz="1600" b="1" dirty="0">
                        <a:effectLst/>
                        <a:latin typeface="Arial"/>
                        <a:ea typeface="Times New Roman"/>
                        <a:cs typeface="Times New Roman"/>
                      </a:endParaRPr>
                    </a:p>
                  </a:txBody>
                  <a:tcPr marL="2701" marR="2701" marT="0" marB="0"/>
                </a:tc>
              </a:tr>
              <a:tr h="490711">
                <a:tc rowSpan="4">
                  <a:txBody>
                    <a:bodyPr/>
                    <a:lstStyle/>
                    <a:p>
                      <a:pPr marL="0" marR="0">
                        <a:lnSpc>
                          <a:spcPct val="115000"/>
                        </a:lnSpc>
                        <a:spcBef>
                          <a:spcPts val="600"/>
                        </a:spcBef>
                        <a:spcAft>
                          <a:spcPts val="600"/>
                        </a:spcAft>
                      </a:pPr>
                      <a:endParaRPr lang="en-US" sz="1600" dirty="0" smtClean="0">
                        <a:effectLst/>
                      </a:endParaRPr>
                    </a:p>
                    <a:p>
                      <a:pPr marL="0" marR="0">
                        <a:lnSpc>
                          <a:spcPct val="115000"/>
                        </a:lnSpc>
                        <a:spcBef>
                          <a:spcPts val="600"/>
                        </a:spcBef>
                        <a:spcAft>
                          <a:spcPts val="600"/>
                        </a:spcAft>
                      </a:pPr>
                      <a:endParaRPr lang="en-US" sz="1600" dirty="0" smtClean="0">
                        <a:effectLst/>
                      </a:endParaRPr>
                    </a:p>
                    <a:p>
                      <a:pPr marL="0" marR="0">
                        <a:lnSpc>
                          <a:spcPct val="115000"/>
                        </a:lnSpc>
                        <a:spcBef>
                          <a:spcPts val="600"/>
                        </a:spcBef>
                        <a:spcAft>
                          <a:spcPts val="600"/>
                        </a:spcAft>
                      </a:pPr>
                      <a:endParaRPr lang="en-US" sz="1600" dirty="0" smtClean="0">
                        <a:effectLst/>
                      </a:endParaRPr>
                    </a:p>
                    <a:p>
                      <a:pPr marL="0" marR="0">
                        <a:lnSpc>
                          <a:spcPct val="115000"/>
                        </a:lnSpc>
                        <a:spcBef>
                          <a:spcPts val="600"/>
                        </a:spcBef>
                        <a:spcAft>
                          <a:spcPts val="600"/>
                        </a:spcAft>
                      </a:pPr>
                      <a:r>
                        <a:rPr lang="en-US" sz="1600" dirty="0" err="1" smtClean="0">
                          <a:effectLst/>
                        </a:rPr>
                        <a:t>Elaboração</a:t>
                      </a: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0"/>
                        </a:spcBef>
                        <a:spcAft>
                          <a:spcPts val="0"/>
                        </a:spcAft>
                      </a:pPr>
                      <a:r>
                        <a:rPr lang="en-US" sz="1400" dirty="0">
                          <a:effectLst/>
                        </a:rPr>
                        <a:t>RD011</a:t>
                      </a:r>
                      <a:endParaRPr lang="pt-BR" sz="1400" dirty="0">
                        <a:effectLst/>
                        <a:latin typeface="Arial"/>
                        <a:ea typeface="Times New Roman"/>
                        <a:cs typeface="Times New Roman"/>
                      </a:endParaRPr>
                    </a:p>
                  </a:txBody>
                  <a:tcPr marL="45723" marR="45723" marT="0" marB="0"/>
                </a:tc>
                <a:tc>
                  <a:txBody>
                    <a:bodyPr/>
                    <a:lstStyle/>
                    <a:p>
                      <a:pPr marL="0" marR="0">
                        <a:lnSpc>
                          <a:spcPct val="115000"/>
                        </a:lnSpc>
                        <a:spcBef>
                          <a:spcPts val="0"/>
                        </a:spcBef>
                        <a:spcAft>
                          <a:spcPts val="0"/>
                        </a:spcAft>
                      </a:pPr>
                      <a:r>
                        <a:rPr lang="pt-BR" sz="1400" dirty="0">
                          <a:effectLst/>
                        </a:rPr>
                        <a:t>Modelo de Processo Futuro</a:t>
                      </a:r>
                    </a:p>
                    <a:p>
                      <a:pPr marL="0" marR="0">
                        <a:lnSpc>
                          <a:spcPct val="115000"/>
                        </a:lnSpc>
                        <a:spcBef>
                          <a:spcPts val="0"/>
                        </a:spcBef>
                        <a:spcAft>
                          <a:spcPts val="0"/>
                        </a:spcAft>
                      </a:pPr>
                      <a:r>
                        <a:rPr lang="pt-BR" sz="1400" dirty="0">
                          <a:effectLst/>
                        </a:rPr>
                        <a:t> </a:t>
                      </a:r>
                      <a:endParaRPr lang="pt-BR" sz="1400" dirty="0">
                        <a:effectLst/>
                        <a:latin typeface="Arial"/>
                        <a:ea typeface="Times New Roman"/>
                        <a:cs typeface="Times New Roman"/>
                      </a:endParaRPr>
                    </a:p>
                  </a:txBody>
                  <a:tcPr marL="45723" marR="45723" marT="0" marB="0"/>
                </a:tc>
                <a:tc>
                  <a:txBody>
                    <a:bodyPr/>
                    <a:lstStyle/>
                    <a:p>
                      <a:pPr marL="0" marR="0">
                        <a:lnSpc>
                          <a:spcPct val="115000"/>
                        </a:lnSpc>
                        <a:spcBef>
                          <a:spcPts val="0"/>
                        </a:spcBef>
                        <a:spcAft>
                          <a:spcPts val="0"/>
                        </a:spcAft>
                      </a:pPr>
                      <a:r>
                        <a:rPr lang="pt-BR" sz="1400">
                          <a:effectLst/>
                        </a:rPr>
                        <a:t>Descreve o processo futuro</a:t>
                      </a:r>
                    </a:p>
                    <a:p>
                      <a:pPr marL="0" marR="0">
                        <a:lnSpc>
                          <a:spcPct val="115000"/>
                        </a:lnSpc>
                        <a:spcBef>
                          <a:spcPts val="0"/>
                        </a:spcBef>
                        <a:spcAft>
                          <a:spcPts val="0"/>
                        </a:spcAft>
                      </a:pPr>
                      <a:r>
                        <a:rPr lang="pt-BR" sz="1400">
                          <a:effectLst/>
                        </a:rPr>
                        <a:t> </a:t>
                      </a:r>
                      <a:endParaRPr lang="pt-BR" sz="1400">
                        <a:effectLst/>
                        <a:latin typeface="Arial"/>
                        <a:ea typeface="Times New Roman"/>
                        <a:cs typeface="Times New Roman"/>
                      </a:endParaRPr>
                    </a:p>
                  </a:txBody>
                  <a:tcPr marL="45723" marR="45723" marT="0" marB="0"/>
                </a:tc>
              </a:tr>
              <a:tr h="736067">
                <a:tc vMerge="1">
                  <a:txBody>
                    <a:bodyPr/>
                    <a:lstStyle/>
                    <a:p>
                      <a:pPr marL="0" marR="0">
                        <a:lnSpc>
                          <a:spcPct val="115000"/>
                        </a:lnSpc>
                        <a:spcBef>
                          <a:spcPts val="600"/>
                        </a:spcBef>
                        <a:spcAft>
                          <a:spcPts val="600"/>
                        </a:spcAft>
                      </a:pP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0"/>
                        </a:spcBef>
                        <a:spcAft>
                          <a:spcPts val="0"/>
                        </a:spcAft>
                      </a:pPr>
                      <a:r>
                        <a:rPr lang="en-US" sz="1400">
                          <a:effectLst/>
                        </a:rPr>
                        <a:t>AN100</a:t>
                      </a:r>
                      <a:endParaRPr lang="pt-BR" sz="1400">
                        <a:effectLst/>
                      </a:endParaRPr>
                    </a:p>
                    <a:p>
                      <a:pPr marL="0" marR="0">
                        <a:lnSpc>
                          <a:spcPct val="115000"/>
                        </a:lnSpc>
                        <a:spcBef>
                          <a:spcPts val="0"/>
                        </a:spcBef>
                        <a:spcAft>
                          <a:spcPts val="0"/>
                        </a:spcAft>
                      </a:pPr>
                      <a:r>
                        <a:rPr lang="en-US" sz="1400">
                          <a:effectLst/>
                        </a:rPr>
                        <a:t> </a:t>
                      </a:r>
                      <a:endParaRPr lang="pt-BR" sz="1400">
                        <a:effectLst/>
                        <a:latin typeface="Arial"/>
                        <a:ea typeface="Times New Roman"/>
                        <a:cs typeface="Times New Roman"/>
                      </a:endParaRPr>
                    </a:p>
                  </a:txBody>
                  <a:tcPr marL="45723" marR="45723" marT="0" marB="0"/>
                </a:tc>
                <a:tc>
                  <a:txBody>
                    <a:bodyPr/>
                    <a:lstStyle/>
                    <a:p>
                      <a:pPr marL="0" marR="0">
                        <a:lnSpc>
                          <a:spcPct val="115000"/>
                        </a:lnSpc>
                        <a:spcBef>
                          <a:spcPts val="0"/>
                        </a:spcBef>
                        <a:spcAft>
                          <a:spcPts val="0"/>
                        </a:spcAft>
                      </a:pPr>
                      <a:r>
                        <a:rPr lang="pt-BR" sz="1400" dirty="0">
                          <a:effectLst/>
                        </a:rPr>
                        <a:t>Documento de Especificação da Análise </a:t>
                      </a:r>
                      <a:endParaRPr lang="pt-BR" sz="1400" dirty="0">
                        <a:effectLst/>
                        <a:latin typeface="Arial"/>
                        <a:ea typeface="Times New Roman"/>
                        <a:cs typeface="Times New Roman"/>
                      </a:endParaRPr>
                    </a:p>
                  </a:txBody>
                  <a:tcPr marL="45723" marR="45723" marT="0" marB="0"/>
                </a:tc>
                <a:tc>
                  <a:txBody>
                    <a:bodyPr/>
                    <a:lstStyle/>
                    <a:p>
                      <a:pPr marL="0" marR="0">
                        <a:lnSpc>
                          <a:spcPct val="115000"/>
                        </a:lnSpc>
                        <a:spcBef>
                          <a:spcPts val="0"/>
                        </a:spcBef>
                        <a:spcAft>
                          <a:spcPts val="0"/>
                        </a:spcAft>
                      </a:pPr>
                      <a:r>
                        <a:rPr lang="pt-BR" sz="1400">
                          <a:effectLst/>
                        </a:rPr>
                        <a:t>Descrever as especificações funcionais para extensões do aplicativo.</a:t>
                      </a:r>
                      <a:endParaRPr lang="pt-BR" sz="1400">
                        <a:effectLst/>
                        <a:latin typeface="Arial"/>
                        <a:ea typeface="Times New Roman"/>
                        <a:cs typeface="Times New Roman"/>
                      </a:endParaRPr>
                    </a:p>
                  </a:txBody>
                  <a:tcPr marL="45723" marR="45723" marT="0" marB="0"/>
                </a:tc>
              </a:tr>
              <a:tr h="490711">
                <a:tc vMerge="1">
                  <a:txBody>
                    <a:bodyPr/>
                    <a:lstStyle/>
                    <a:p>
                      <a:pPr marL="0" marR="0">
                        <a:lnSpc>
                          <a:spcPct val="115000"/>
                        </a:lnSpc>
                        <a:spcBef>
                          <a:spcPts val="600"/>
                        </a:spcBef>
                        <a:spcAft>
                          <a:spcPts val="600"/>
                        </a:spcAft>
                      </a:pP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0"/>
                        </a:spcBef>
                        <a:spcAft>
                          <a:spcPts val="0"/>
                        </a:spcAft>
                      </a:pPr>
                      <a:r>
                        <a:rPr lang="en-US" sz="1400">
                          <a:effectLst/>
                        </a:rPr>
                        <a:t>TE035</a:t>
                      </a:r>
                      <a:endParaRPr lang="pt-BR" sz="1400">
                        <a:effectLst/>
                        <a:latin typeface="Arial"/>
                        <a:ea typeface="Times New Roman"/>
                        <a:cs typeface="Times New Roman"/>
                      </a:endParaRPr>
                    </a:p>
                  </a:txBody>
                  <a:tcPr marL="45723" marR="45723" marT="0" marB="0"/>
                </a:tc>
                <a:tc>
                  <a:txBody>
                    <a:bodyPr/>
                    <a:lstStyle/>
                    <a:p>
                      <a:pPr marL="0" marR="0">
                        <a:lnSpc>
                          <a:spcPct val="115000"/>
                        </a:lnSpc>
                        <a:spcBef>
                          <a:spcPts val="0"/>
                        </a:spcBef>
                        <a:spcAft>
                          <a:spcPts val="0"/>
                        </a:spcAft>
                      </a:pPr>
                      <a:r>
                        <a:rPr lang="pt-BR" sz="1400" dirty="0">
                          <a:effectLst/>
                        </a:rPr>
                        <a:t>Cenários de Testes Integrados</a:t>
                      </a:r>
                      <a:endParaRPr lang="pt-BR" sz="1400" dirty="0">
                        <a:effectLst/>
                        <a:latin typeface="Arial"/>
                        <a:ea typeface="Times New Roman"/>
                        <a:cs typeface="Times New Roman"/>
                      </a:endParaRPr>
                    </a:p>
                  </a:txBody>
                  <a:tcPr marL="45723" marR="45723" marT="0" marB="0"/>
                </a:tc>
                <a:tc>
                  <a:txBody>
                    <a:bodyPr/>
                    <a:lstStyle/>
                    <a:p>
                      <a:pPr marL="0" marR="0">
                        <a:lnSpc>
                          <a:spcPct val="115000"/>
                        </a:lnSpc>
                        <a:spcBef>
                          <a:spcPts val="0"/>
                        </a:spcBef>
                        <a:spcAft>
                          <a:spcPts val="0"/>
                        </a:spcAft>
                      </a:pPr>
                      <a:r>
                        <a:rPr lang="pt-BR" sz="1400" dirty="0">
                          <a:effectLst/>
                        </a:rPr>
                        <a:t>Descreve </a:t>
                      </a:r>
                      <a:r>
                        <a:rPr lang="pt-BR" sz="1400" dirty="0" smtClean="0">
                          <a:effectLst/>
                        </a:rPr>
                        <a:t>os</a:t>
                      </a:r>
                      <a:r>
                        <a:rPr lang="pt-BR" sz="1400" baseline="0" dirty="0" smtClean="0">
                          <a:effectLst/>
                        </a:rPr>
                        <a:t> cenários de testes e resultados</a:t>
                      </a:r>
                      <a:endParaRPr lang="pt-BR" sz="1400" dirty="0">
                        <a:effectLst/>
                        <a:latin typeface="Arial"/>
                        <a:ea typeface="Times New Roman"/>
                        <a:cs typeface="Times New Roman"/>
                      </a:endParaRPr>
                    </a:p>
                  </a:txBody>
                  <a:tcPr marL="45723" marR="45723" marT="0" marB="0"/>
                </a:tc>
              </a:tr>
              <a:tr h="1226778">
                <a:tc vMerge="1">
                  <a:txBody>
                    <a:bodyPr/>
                    <a:lstStyle/>
                    <a:p>
                      <a:pPr marL="0" marR="0">
                        <a:lnSpc>
                          <a:spcPct val="115000"/>
                        </a:lnSpc>
                        <a:spcBef>
                          <a:spcPts val="600"/>
                        </a:spcBef>
                        <a:spcAft>
                          <a:spcPts val="600"/>
                        </a:spcAft>
                      </a:pP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0"/>
                        </a:spcBef>
                        <a:spcAft>
                          <a:spcPts val="0"/>
                        </a:spcAft>
                      </a:pPr>
                      <a:r>
                        <a:rPr lang="en-US" sz="1400">
                          <a:effectLst/>
                        </a:rPr>
                        <a:t>CRP2</a:t>
                      </a:r>
                      <a:endParaRPr lang="pt-BR" sz="1400">
                        <a:effectLst/>
                        <a:latin typeface="Arial"/>
                        <a:ea typeface="Times New Roman"/>
                        <a:cs typeface="Times New Roman"/>
                      </a:endParaRPr>
                    </a:p>
                  </a:txBody>
                  <a:tcPr marL="45723" marR="45723" marT="0" marB="0"/>
                </a:tc>
                <a:tc>
                  <a:txBody>
                    <a:bodyPr/>
                    <a:lstStyle/>
                    <a:p>
                      <a:pPr marL="0" marR="0">
                        <a:lnSpc>
                          <a:spcPct val="115000"/>
                        </a:lnSpc>
                        <a:spcBef>
                          <a:spcPts val="0"/>
                        </a:spcBef>
                        <a:spcAft>
                          <a:spcPts val="0"/>
                        </a:spcAft>
                      </a:pPr>
                      <a:r>
                        <a:rPr lang="pt-BR" sz="1400">
                          <a:effectLst/>
                        </a:rPr>
                        <a:t>Workshop para apresentar funcões do Sistema</a:t>
                      </a:r>
                      <a:endParaRPr lang="pt-BR" sz="1400">
                        <a:effectLst/>
                        <a:latin typeface="Arial"/>
                        <a:ea typeface="Times New Roman"/>
                        <a:cs typeface="Times New Roman"/>
                      </a:endParaRPr>
                    </a:p>
                  </a:txBody>
                  <a:tcPr marL="45723" marR="45723" marT="0" marB="0"/>
                </a:tc>
                <a:tc>
                  <a:txBody>
                    <a:bodyPr/>
                    <a:lstStyle/>
                    <a:p>
                      <a:pPr marL="0" marR="0">
                        <a:lnSpc>
                          <a:spcPct val="115000"/>
                        </a:lnSpc>
                        <a:spcBef>
                          <a:spcPts val="0"/>
                        </a:spcBef>
                        <a:spcAft>
                          <a:spcPts val="0"/>
                        </a:spcAft>
                      </a:pPr>
                      <a:r>
                        <a:rPr lang="pt-BR" sz="1400" dirty="0">
                          <a:effectLst/>
                        </a:rPr>
                        <a:t>Sessões de testes funcionais para apresentar funcionalidades do sistema utilizando o ambiente de testes utilizando as configurações definidas.</a:t>
                      </a:r>
                      <a:endParaRPr lang="pt-BR" sz="1400" dirty="0">
                        <a:effectLst/>
                        <a:latin typeface="Arial"/>
                        <a:ea typeface="Times New Roman"/>
                        <a:cs typeface="Times New Roman"/>
                      </a:endParaRPr>
                    </a:p>
                  </a:txBody>
                  <a:tcPr marL="45723" marR="45723" marT="0" marB="0"/>
                </a:tc>
              </a:tr>
            </a:tbl>
          </a:graphicData>
        </a:graphic>
      </p:graphicFrame>
      <p:sp>
        <p:nvSpPr>
          <p:cNvPr id="104479" name="Line 5"/>
          <p:cNvSpPr>
            <a:spLocks noChangeShapeType="1"/>
          </p:cNvSpPr>
          <p:nvPr/>
        </p:nvSpPr>
        <p:spPr bwMode="auto">
          <a:xfrm>
            <a:off x="0" y="1125538"/>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
        <p:nvSpPr>
          <p:cNvPr id="104480" name="Rectangle 2"/>
          <p:cNvSpPr>
            <a:spLocks noGrp="1" noChangeArrowheads="1"/>
          </p:cNvSpPr>
          <p:nvPr>
            <p:ph type="title"/>
          </p:nvPr>
        </p:nvSpPr>
        <p:spPr>
          <a:xfrm>
            <a:off x="11113" y="-3175"/>
            <a:ext cx="9132887" cy="931863"/>
          </a:xfrm>
        </p:spPr>
        <p:txBody>
          <a:bodyPr/>
          <a:lstStyle/>
          <a:p>
            <a:pPr algn="l" eaLnBrk="1" hangingPunct="1"/>
            <a:r>
              <a:rPr lang="pt-BR" altLang="pt-BR" b="1" smtClean="0">
                <a:solidFill>
                  <a:srgbClr val="003366"/>
                </a:solidFill>
              </a:rPr>
              <a:t>eBusiness Suite - Metodologia</a:t>
            </a:r>
          </a:p>
        </p:txBody>
      </p:sp>
      <p:grpSp>
        <p:nvGrpSpPr>
          <p:cNvPr id="104481" name="Group 6"/>
          <p:cNvGrpSpPr>
            <a:grpSpLocks/>
          </p:cNvGrpSpPr>
          <p:nvPr/>
        </p:nvGrpSpPr>
        <p:grpSpPr bwMode="auto">
          <a:xfrm>
            <a:off x="7308850" y="117475"/>
            <a:ext cx="1735138" cy="647700"/>
            <a:chOff x="7380288" y="41275"/>
            <a:chExt cx="1735137" cy="647700"/>
          </a:xfrm>
        </p:grpSpPr>
        <p:sp>
          <p:nvSpPr>
            <p:cNvPr id="6"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7"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ço Reservado para Conteúdo 3"/>
          <p:cNvGraphicFramePr>
            <a:graphicFrameLocks noGrp="1"/>
          </p:cNvGraphicFramePr>
          <p:nvPr>
            <p:ph idx="1"/>
          </p:nvPr>
        </p:nvGraphicFramePr>
        <p:xfrm>
          <a:off x="71438" y="1198563"/>
          <a:ext cx="8893175" cy="4751433"/>
        </p:xfrm>
        <a:graphic>
          <a:graphicData uri="http://schemas.openxmlformats.org/drawingml/2006/table">
            <a:tbl>
              <a:tblPr/>
              <a:tblGrid>
                <a:gridCol w="2044700"/>
                <a:gridCol w="1198563"/>
                <a:gridCol w="2778125"/>
                <a:gridCol w="2871787"/>
              </a:tblGrid>
              <a:tr h="334881">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ts val="600"/>
                        </a:spcBef>
                        <a:spcAft>
                          <a:spcPts val="600"/>
                        </a:spcAft>
                        <a:buClrTx/>
                        <a:buSzTx/>
                        <a:buFontTx/>
                        <a:buNone/>
                        <a:tabLst/>
                      </a:pPr>
                      <a:r>
                        <a:rPr kumimoji="0" lang="en-US" altLang="en-US" sz="1600" b="1" i="0" u="none" strike="noStrike" cap="none" normalizeH="0" baseline="0" dirty="0" smtClean="0">
                          <a:ln>
                            <a:noFill/>
                          </a:ln>
                          <a:solidFill>
                            <a:srgbClr val="FFFFFF"/>
                          </a:solidFill>
                          <a:effectLst/>
                          <a:latin typeface="Arial" panose="020B0604020202020204" pitchFamily="34" charset="0"/>
                          <a:ea typeface="MS PGothic" panose="020B0600070205080204" pitchFamily="34" charset="-128"/>
                        </a:rPr>
                        <a:t>OUM Phase</a:t>
                      </a:r>
                      <a:endParaRPr kumimoji="0" lang="pt-BR" altLang="en-US" sz="1600" b="1" i="0" u="none" strike="noStrike" cap="none" normalizeH="0" baseline="0" dirty="0" smtClean="0">
                        <a:ln>
                          <a:noFill/>
                        </a:ln>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ts val="600"/>
                        </a:spcBef>
                        <a:spcAft>
                          <a:spcPts val="600"/>
                        </a:spcAft>
                        <a:buClrTx/>
                        <a:buSzTx/>
                        <a:buFontTx/>
                        <a:buNone/>
                        <a:tabLst/>
                      </a:pPr>
                      <a:r>
                        <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rPr>
                        <a:t>Task ID</a:t>
                      </a:r>
                      <a:endParaRPr kumimoji="0" lang="pt-BR"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ts val="600"/>
                        </a:spcBef>
                        <a:spcAft>
                          <a:spcPts val="600"/>
                        </a:spcAft>
                        <a:buClrTx/>
                        <a:buSzTx/>
                        <a:buFontTx/>
                        <a:buNone/>
                        <a:tabLst/>
                      </a:pPr>
                      <a:r>
                        <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rPr>
                        <a:t>Entregável</a:t>
                      </a:r>
                      <a:endParaRPr kumimoji="0" lang="pt-BR"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ts val="600"/>
                        </a:spcBef>
                        <a:spcAft>
                          <a:spcPts val="600"/>
                        </a:spcAft>
                        <a:buClrTx/>
                        <a:buSzTx/>
                        <a:buFontTx/>
                        <a:buNone/>
                        <a:tabLst/>
                      </a:pPr>
                      <a:r>
                        <a:rPr kumimoji="0" lang="en-US"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rPr>
                        <a:t>Descrição</a:t>
                      </a:r>
                      <a:endParaRPr kumimoji="0" lang="pt-BR" altLang="en-US" sz="1600" b="1" i="0" u="none" strike="noStrike" cap="none" normalizeH="0" baseline="0" smtClean="0">
                        <a:ln>
                          <a:noFill/>
                        </a:ln>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2"/>
                    </a:solidFill>
                  </a:tcPr>
                </a:tc>
              </a:tr>
              <a:tr h="630929">
                <a:tc rowSpan="8">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ts val="600"/>
                        </a:spcBef>
                        <a:spcAft>
                          <a:spcPts val="600"/>
                        </a:spcAft>
                        <a:buClrTx/>
                        <a:buSzTx/>
                        <a:buFontTx/>
                        <a:buNone/>
                        <a:tabLst/>
                      </a:pPr>
                      <a:endParaRPr kumimoji="0" lang="en-US" altLang="en-US" sz="1600" b="1" i="0" u="none" strike="noStrike" cap="none" normalizeH="0" baseline="0" dirty="0" smtClean="0">
                        <a:ln>
                          <a:noFill/>
                        </a:ln>
                        <a:solidFill>
                          <a:srgbClr val="FFFFFF"/>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ts val="600"/>
                        </a:spcBef>
                        <a:spcAft>
                          <a:spcPts val="600"/>
                        </a:spcAft>
                        <a:buClrTx/>
                        <a:buSzTx/>
                        <a:buFontTx/>
                        <a:buNone/>
                        <a:tabLst/>
                      </a:pPr>
                      <a:endParaRPr kumimoji="0" lang="en-US" altLang="en-US" sz="1600" b="1" i="0" u="none" strike="noStrike" cap="none" normalizeH="0" baseline="0" dirty="0" smtClean="0">
                        <a:ln>
                          <a:noFill/>
                        </a:ln>
                        <a:solidFill>
                          <a:srgbClr val="FFFFFF"/>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ts val="600"/>
                        </a:spcBef>
                        <a:spcAft>
                          <a:spcPts val="600"/>
                        </a:spcAft>
                        <a:buClrTx/>
                        <a:buSzTx/>
                        <a:buFontTx/>
                        <a:buNone/>
                        <a:tabLst/>
                      </a:pPr>
                      <a:endParaRPr kumimoji="0" lang="en-US" altLang="en-US" sz="1600" b="1" i="0" u="none" strike="noStrike" cap="none" normalizeH="0" baseline="0" dirty="0" smtClean="0">
                        <a:ln>
                          <a:noFill/>
                        </a:ln>
                        <a:solidFill>
                          <a:srgbClr val="FFFFFF"/>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ts val="600"/>
                        </a:spcBef>
                        <a:spcAft>
                          <a:spcPts val="600"/>
                        </a:spcAft>
                        <a:buClrTx/>
                        <a:buSzTx/>
                        <a:buFontTx/>
                        <a:buNone/>
                        <a:tabLst/>
                      </a:pPr>
                      <a:r>
                        <a:rPr kumimoji="0" lang="en-US" altLang="en-US" sz="1600" b="1" i="0" u="none" strike="noStrike" cap="none" normalizeH="0" baseline="0" dirty="0" err="1" smtClean="0">
                          <a:ln>
                            <a:noFill/>
                          </a:ln>
                          <a:solidFill>
                            <a:srgbClr val="FFFFFF"/>
                          </a:solidFill>
                          <a:effectLst/>
                          <a:latin typeface="Arial" panose="020B0604020202020204" pitchFamily="34" charset="0"/>
                          <a:ea typeface="MS PGothic" panose="020B0600070205080204" pitchFamily="34" charset="-128"/>
                        </a:rPr>
                        <a:t>Construção</a:t>
                      </a:r>
                      <a:endParaRPr kumimoji="0" lang="pt-BR" altLang="en-US" sz="1600" b="1" i="0" u="none" strike="noStrike" cap="none" normalizeH="0" baseline="0" dirty="0" smtClean="0">
                        <a:ln>
                          <a:noFill/>
                        </a:ln>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2701" marR="2701"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DS030</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Configuração do Aplicativo</a:t>
                      </a:r>
                    </a:p>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Descreve o passo a passo de configuração do Aplicativo</a:t>
                      </a:r>
                    </a:p>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r>
              <a:tr h="630929">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DS140</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Documento de Especificação do Técnica</a:t>
                      </a:r>
                    </a:p>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Descreve os objetos de extensões desenvolvidas.</a:t>
                      </a:r>
                    </a:p>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r>
              <a:tr h="420620">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TE020</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Cenários de Teste de Unitário</a:t>
                      </a:r>
                    </a:p>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Descreve o cenário de teste unitário para extensões do aplicativo.</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r>
              <a:tr h="630929">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IM090</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tabLst>
                          <a:tab pos="182563" algn="l"/>
                          <a:tab pos="525463" algn="l"/>
                        </a:tabLst>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tabLst>
                          <a:tab pos="182563" algn="l"/>
                          <a:tab pos="525463" algn="l"/>
                        </a:tabLst>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tabLst>
                          <a:tab pos="182563" algn="l"/>
                          <a:tab pos="525463"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Criação das Rotinas de Instalação</a:t>
                      </a:r>
                    </a:p>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tabLst>
                          <a:tab pos="182563" algn="l"/>
                          <a:tab pos="525463" algn="l"/>
                        </a:tabLst>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tabLst>
                          <a:tab pos="182563" algn="l"/>
                          <a:tab pos="525463" algn="l"/>
                        </a:tabLst>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tabLst>
                          <a:tab pos="182563" algn="l"/>
                          <a:tab pos="525463"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Criação das Rotinas de Instalação para extensões</a:t>
                      </a:r>
                    </a:p>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r>
              <a:tr h="630929">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TS020</a:t>
                      </a:r>
                    </a:p>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tabLst>
                          <a:tab pos="182563" algn="l"/>
                          <a:tab pos="525463" algn="l"/>
                        </a:tabLst>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tabLst>
                          <a:tab pos="182563" algn="l"/>
                          <a:tab pos="525463" algn="l"/>
                        </a:tabLst>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tabLst>
                          <a:tab pos="182563" algn="l"/>
                          <a:tab pos="525463"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Estratégia de Corte</a:t>
                      </a:r>
                    </a:p>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tabLst>
                          <a:tab pos="182563" algn="l"/>
                          <a:tab pos="525463" algn="l"/>
                        </a:tabLst>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tabLst>
                          <a:tab pos="182563" algn="l"/>
                          <a:tab pos="525463" algn="l"/>
                        </a:tabLst>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tabLst>
                          <a:tab pos="182563" algn="l"/>
                          <a:tab pos="525463" algn="l"/>
                        </a:tabLst>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tabLst>
                          <a:tab pos="182563" algn="l"/>
                          <a:tab pos="525463" algn="l"/>
                        </a:tabLs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Descrever a estratégia para preparação para o golive e estratégia de corte.</a:t>
                      </a:r>
                    </a:p>
                    <a:p>
                      <a:pPr marL="0" marR="0" lvl="0" indent="0" algn="l" defTabSz="457200" rtl="0" eaLnBrk="1" fontAlgn="base" latinLnBrk="0" hangingPunct="1">
                        <a:lnSpc>
                          <a:spcPct val="115000"/>
                        </a:lnSpc>
                        <a:spcBef>
                          <a:spcPct val="0"/>
                        </a:spcBef>
                        <a:spcAft>
                          <a:spcPct val="0"/>
                        </a:spcAft>
                        <a:buClrTx/>
                        <a:buSzTx/>
                        <a:buFontTx/>
                        <a:buNone/>
                        <a:tabLst>
                          <a:tab pos="182563" algn="l"/>
                          <a:tab pos="525463" algn="l"/>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r>
              <a:tr h="630929">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CRP3</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Workshop para apresentar funcões do Sistema</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Sessões de testes funcionais incluindo as configurações e extensões definidas no ambiente de homologação.</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r>
              <a:tr h="420620">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DO.070</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Elaboração manual do usuário</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Descreve os procedimentos de operação usuário</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DE"/>
                    </a:solidFill>
                  </a:tcPr>
                </a:tc>
              </a:tr>
              <a:tr h="420620">
                <a:tc vMerge="1">
                  <a:txBody>
                    <a:bodyPr/>
                    <a:lstStyle/>
                    <a:p>
                      <a:endParaRPr lang="en-US"/>
                    </a:p>
                  </a:txBody>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TE.120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 </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rPr>
                        <a:t>Teste de Aceite do Usuário</a:t>
                      </a:r>
                      <a:endParaRPr kumimoji="0" lang="pt-BR" altLang="en-US" sz="1200" b="0" i="0" u="none" strike="noStrike" cap="none" normalizeH="0" baseline="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c>
                  <a:txBody>
                    <a:bodyPr/>
                    <a:lstStyle>
                      <a:lvl1pPr defTabSz="457200">
                        <a:spcBef>
                          <a:spcPct val="20000"/>
                        </a:spcBef>
                        <a:defRPr sz="28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defTabSz="457200">
                        <a:spcBef>
                          <a:spcPct val="20000"/>
                        </a:spcBef>
                        <a:defRPr sz="24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defTabSz="457200">
                        <a:spcBef>
                          <a:spcPct val="20000"/>
                        </a:spcBef>
                        <a:defRPr sz="20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457200">
                        <a:spcBef>
                          <a:spcPct val="20000"/>
                        </a:spcBef>
                        <a:defRPr>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457200" eaLnBrk="0" fontAlgn="base" hangingPunct="0">
                        <a:spcBef>
                          <a:spcPct val="20000"/>
                        </a:spcBef>
                        <a:spcAft>
                          <a:spcPct val="0"/>
                        </a:spcAft>
                        <a:defRPr>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pt-BR" altLang="en-US" sz="1200" b="0" i="0" u="none" strike="noStrike" cap="none" normalizeH="0" baseline="0" dirty="0" smtClean="0">
                          <a:ln>
                            <a:noFill/>
                          </a:ln>
                          <a:solidFill>
                            <a:srgbClr val="000000"/>
                          </a:solidFill>
                          <a:effectLst/>
                          <a:latin typeface="Arial" panose="020B0604020202020204" pitchFamily="34" charset="0"/>
                          <a:ea typeface="MS PGothic" panose="020B0600070205080204" pitchFamily="34" charset="-128"/>
                        </a:rPr>
                        <a:t>Realizar os testes de aceite do usuário.</a:t>
                      </a:r>
                      <a:endParaRPr kumimoji="0" lang="pt-BR" altLang="en-US" sz="1200" b="0" i="0" u="none" strike="noStrike" cap="none" normalizeH="0" baseline="0" dirty="0" smtClean="0">
                        <a:ln>
                          <a:noFill/>
                        </a:ln>
                        <a:solidFill>
                          <a:srgbClr val="000000"/>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45720" marR="4572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EF"/>
                    </a:solidFill>
                  </a:tcPr>
                </a:tc>
              </a:tr>
            </a:tbl>
          </a:graphicData>
        </a:graphic>
      </p:graphicFrame>
      <p:sp>
        <p:nvSpPr>
          <p:cNvPr id="105519" name="Line 5"/>
          <p:cNvSpPr>
            <a:spLocks noChangeShapeType="1"/>
          </p:cNvSpPr>
          <p:nvPr/>
        </p:nvSpPr>
        <p:spPr bwMode="auto">
          <a:xfrm>
            <a:off x="0" y="1125538"/>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
        <p:nvSpPr>
          <p:cNvPr id="105520" name="Rectangle 2"/>
          <p:cNvSpPr>
            <a:spLocks noGrp="1" noChangeArrowheads="1"/>
          </p:cNvSpPr>
          <p:nvPr>
            <p:ph type="title"/>
          </p:nvPr>
        </p:nvSpPr>
        <p:spPr>
          <a:xfrm>
            <a:off x="11113" y="-3175"/>
            <a:ext cx="9132887" cy="931863"/>
          </a:xfrm>
        </p:spPr>
        <p:txBody>
          <a:bodyPr/>
          <a:lstStyle/>
          <a:p>
            <a:pPr algn="l" eaLnBrk="1" hangingPunct="1"/>
            <a:r>
              <a:rPr lang="pt-BR" altLang="pt-BR" b="1" smtClean="0">
                <a:solidFill>
                  <a:srgbClr val="003366"/>
                </a:solidFill>
              </a:rPr>
              <a:t>eBusiness Suite - Metodologia</a:t>
            </a:r>
          </a:p>
        </p:txBody>
      </p:sp>
      <p:grpSp>
        <p:nvGrpSpPr>
          <p:cNvPr id="105521" name="Group 6"/>
          <p:cNvGrpSpPr>
            <a:grpSpLocks/>
          </p:cNvGrpSpPr>
          <p:nvPr/>
        </p:nvGrpSpPr>
        <p:grpSpPr bwMode="auto">
          <a:xfrm>
            <a:off x="7308850" y="117475"/>
            <a:ext cx="1735138" cy="647700"/>
            <a:chOff x="7380288" y="41275"/>
            <a:chExt cx="1735137" cy="647700"/>
          </a:xfrm>
        </p:grpSpPr>
        <p:sp>
          <p:nvSpPr>
            <p:cNvPr id="6"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7"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ço Reservado para Conteúdo 3"/>
          <p:cNvGraphicFramePr>
            <a:graphicFrameLocks noGrp="1"/>
          </p:cNvGraphicFramePr>
          <p:nvPr>
            <p:ph idx="1"/>
          </p:nvPr>
        </p:nvGraphicFramePr>
        <p:xfrm>
          <a:off x="107950" y="908050"/>
          <a:ext cx="8891588" cy="1912952"/>
        </p:xfrm>
        <a:graphic>
          <a:graphicData uri="http://schemas.openxmlformats.org/drawingml/2006/table">
            <a:tbl>
              <a:tblPr firstRow="1" firstCol="1" bandRow="1">
                <a:tableStyleId>{21E4AEA4-8DFA-4A89-87EB-49C32662AFE0}</a:tableStyleId>
              </a:tblPr>
              <a:tblGrid>
                <a:gridCol w="2043625"/>
                <a:gridCol w="1198098"/>
                <a:gridCol w="2778622"/>
                <a:gridCol w="2871243"/>
              </a:tblGrid>
              <a:tr h="334088">
                <a:tc>
                  <a:txBody>
                    <a:bodyPr/>
                    <a:lstStyle/>
                    <a:p>
                      <a:pPr marL="0" marR="0">
                        <a:lnSpc>
                          <a:spcPct val="115000"/>
                        </a:lnSpc>
                        <a:spcBef>
                          <a:spcPts val="600"/>
                        </a:spcBef>
                        <a:spcAft>
                          <a:spcPts val="600"/>
                        </a:spcAft>
                      </a:pPr>
                      <a:r>
                        <a:rPr lang="en-US" sz="1600" dirty="0">
                          <a:effectLst/>
                        </a:rPr>
                        <a:t>OUM Phase</a:t>
                      </a: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600"/>
                        </a:spcBef>
                        <a:spcAft>
                          <a:spcPts val="600"/>
                        </a:spcAft>
                      </a:pPr>
                      <a:r>
                        <a:rPr lang="en-US" sz="1600" dirty="0">
                          <a:effectLst/>
                        </a:rPr>
                        <a:t>Task ID</a:t>
                      </a: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600"/>
                        </a:spcBef>
                        <a:spcAft>
                          <a:spcPts val="600"/>
                        </a:spcAft>
                      </a:pPr>
                      <a:r>
                        <a:rPr lang="en-US" sz="1600" dirty="0" err="1">
                          <a:effectLst/>
                        </a:rPr>
                        <a:t>Entregável</a:t>
                      </a: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600"/>
                        </a:spcBef>
                        <a:spcAft>
                          <a:spcPts val="600"/>
                        </a:spcAft>
                      </a:pPr>
                      <a:r>
                        <a:rPr lang="en-US" sz="1600" dirty="0" err="1">
                          <a:effectLst/>
                        </a:rPr>
                        <a:t>Descrição</a:t>
                      </a:r>
                      <a:endParaRPr lang="pt-BR" sz="1600" b="1" dirty="0">
                        <a:effectLst/>
                        <a:latin typeface="Arial"/>
                        <a:ea typeface="Times New Roman"/>
                        <a:cs typeface="Times New Roman"/>
                      </a:endParaRPr>
                    </a:p>
                  </a:txBody>
                  <a:tcPr marL="2701" marR="2701" marT="0" marB="0"/>
                </a:tc>
              </a:tr>
              <a:tr h="334088">
                <a:tc rowSpan="2">
                  <a:txBody>
                    <a:bodyPr/>
                    <a:lstStyle/>
                    <a:p>
                      <a:pPr marL="0" marR="0">
                        <a:lnSpc>
                          <a:spcPct val="115000"/>
                        </a:lnSpc>
                        <a:spcBef>
                          <a:spcPts val="600"/>
                        </a:spcBef>
                        <a:spcAft>
                          <a:spcPts val="600"/>
                        </a:spcAft>
                      </a:pPr>
                      <a:endParaRPr lang="en-US" sz="1600" dirty="0" smtClean="0">
                        <a:effectLst/>
                      </a:endParaRPr>
                    </a:p>
                    <a:p>
                      <a:pPr marL="0" marR="0">
                        <a:lnSpc>
                          <a:spcPct val="115000"/>
                        </a:lnSpc>
                        <a:spcBef>
                          <a:spcPts val="600"/>
                        </a:spcBef>
                        <a:spcAft>
                          <a:spcPts val="600"/>
                        </a:spcAft>
                      </a:pPr>
                      <a:r>
                        <a:rPr lang="en-US" sz="1600" dirty="0" err="1" smtClean="0">
                          <a:effectLst/>
                        </a:rPr>
                        <a:t>Produção</a:t>
                      </a:r>
                      <a:endParaRPr lang="en-US" sz="1600" dirty="0" smtClean="0">
                        <a:effectLst/>
                      </a:endParaRPr>
                    </a:p>
                    <a:p>
                      <a:pPr marL="0" marR="0">
                        <a:lnSpc>
                          <a:spcPct val="115000"/>
                        </a:lnSpc>
                        <a:spcBef>
                          <a:spcPts val="600"/>
                        </a:spcBef>
                        <a:spcAft>
                          <a:spcPts val="600"/>
                        </a:spcAft>
                      </a:pPr>
                      <a:endParaRPr lang="en-US" sz="1600" dirty="0" smtClean="0">
                        <a:effectLst/>
                      </a:endParaRPr>
                    </a:p>
                    <a:p>
                      <a:pPr marL="0" marR="0">
                        <a:lnSpc>
                          <a:spcPct val="115000"/>
                        </a:lnSpc>
                        <a:spcBef>
                          <a:spcPts val="600"/>
                        </a:spcBef>
                        <a:spcAft>
                          <a:spcPts val="600"/>
                        </a:spcAft>
                      </a:pP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0"/>
                        </a:spcBef>
                        <a:spcAft>
                          <a:spcPts val="0"/>
                        </a:spcAft>
                      </a:pPr>
                      <a:r>
                        <a:rPr lang="en-US" sz="1400" dirty="0">
                          <a:effectLst/>
                        </a:rPr>
                        <a:t>TS.060 </a:t>
                      </a:r>
                      <a:endParaRPr lang="pt-BR" sz="1400" dirty="0">
                        <a:effectLst/>
                        <a:latin typeface="Arial"/>
                        <a:ea typeface="Times New Roman"/>
                        <a:cs typeface="Times New Roman"/>
                      </a:endParaRPr>
                    </a:p>
                  </a:txBody>
                  <a:tcPr marL="45715" marR="45715" marT="0" marB="0"/>
                </a:tc>
                <a:tc>
                  <a:txBody>
                    <a:bodyPr/>
                    <a:lstStyle/>
                    <a:p>
                      <a:pPr marL="0" marR="0">
                        <a:lnSpc>
                          <a:spcPct val="115000"/>
                        </a:lnSpc>
                        <a:spcBef>
                          <a:spcPts val="0"/>
                        </a:spcBef>
                        <a:spcAft>
                          <a:spcPts val="0"/>
                        </a:spcAft>
                      </a:pPr>
                      <a:r>
                        <a:rPr lang="pt-BR" sz="1400" dirty="0">
                          <a:effectLst/>
                        </a:rPr>
                        <a:t>Entrada em Produção</a:t>
                      </a:r>
                      <a:endParaRPr lang="pt-BR" sz="1400" dirty="0">
                        <a:effectLst/>
                        <a:latin typeface="Arial"/>
                        <a:ea typeface="Times New Roman"/>
                        <a:cs typeface="Times New Roman"/>
                      </a:endParaRPr>
                    </a:p>
                  </a:txBody>
                  <a:tcPr marL="45715" marR="45715" marT="0" marB="0"/>
                </a:tc>
                <a:tc>
                  <a:txBody>
                    <a:bodyPr/>
                    <a:lstStyle/>
                    <a:p>
                      <a:pPr marL="0" marR="0">
                        <a:lnSpc>
                          <a:spcPct val="115000"/>
                        </a:lnSpc>
                        <a:spcBef>
                          <a:spcPts val="0"/>
                        </a:spcBef>
                        <a:spcAft>
                          <a:spcPts val="0"/>
                        </a:spcAft>
                      </a:pPr>
                      <a:r>
                        <a:rPr lang="pt-BR" sz="1400">
                          <a:effectLst/>
                        </a:rPr>
                        <a:t>Entrada do Sistema em produção</a:t>
                      </a:r>
                      <a:endParaRPr lang="pt-BR" sz="1400">
                        <a:effectLst/>
                        <a:latin typeface="Arial"/>
                        <a:ea typeface="Times New Roman"/>
                        <a:cs typeface="Times New Roman"/>
                      </a:endParaRPr>
                    </a:p>
                  </a:txBody>
                  <a:tcPr marL="45715" marR="45715" marT="0" marB="0"/>
                </a:tc>
              </a:tr>
              <a:tr h="1244762">
                <a:tc vMerge="1">
                  <a:txBody>
                    <a:bodyPr/>
                    <a:lstStyle/>
                    <a:p>
                      <a:pPr marL="0" marR="0">
                        <a:lnSpc>
                          <a:spcPct val="115000"/>
                        </a:lnSpc>
                        <a:spcBef>
                          <a:spcPts val="600"/>
                        </a:spcBef>
                        <a:spcAft>
                          <a:spcPts val="600"/>
                        </a:spcAft>
                      </a:pPr>
                      <a:endParaRPr lang="pt-BR" sz="1600" b="1" dirty="0">
                        <a:effectLst/>
                        <a:latin typeface="Arial"/>
                        <a:ea typeface="Times New Roman"/>
                        <a:cs typeface="Times New Roman"/>
                      </a:endParaRPr>
                    </a:p>
                  </a:txBody>
                  <a:tcPr marL="2701" marR="2701" marT="0" marB="0"/>
                </a:tc>
                <a:tc>
                  <a:txBody>
                    <a:bodyPr/>
                    <a:lstStyle/>
                    <a:p>
                      <a:pPr marL="0" marR="0">
                        <a:lnSpc>
                          <a:spcPct val="115000"/>
                        </a:lnSpc>
                        <a:spcBef>
                          <a:spcPts val="0"/>
                        </a:spcBef>
                        <a:spcAft>
                          <a:spcPts val="0"/>
                        </a:spcAft>
                      </a:pPr>
                      <a:r>
                        <a:rPr lang="en-US" sz="1400" dirty="0">
                          <a:effectLst/>
                        </a:rPr>
                        <a:t>PS.060</a:t>
                      </a:r>
                      <a:endParaRPr lang="pt-BR" sz="1400" dirty="0">
                        <a:effectLst/>
                        <a:latin typeface="Arial"/>
                        <a:ea typeface="Times New Roman"/>
                        <a:cs typeface="Times New Roman"/>
                      </a:endParaRPr>
                    </a:p>
                  </a:txBody>
                  <a:tcPr marL="45715" marR="45715" marT="0" marB="0"/>
                </a:tc>
                <a:tc>
                  <a:txBody>
                    <a:bodyPr/>
                    <a:lstStyle/>
                    <a:p>
                      <a:pPr marL="0" marR="0">
                        <a:lnSpc>
                          <a:spcPct val="115000"/>
                        </a:lnSpc>
                        <a:spcBef>
                          <a:spcPts val="0"/>
                        </a:spcBef>
                        <a:spcAft>
                          <a:spcPts val="0"/>
                        </a:spcAft>
                      </a:pPr>
                      <a:r>
                        <a:rPr lang="pt-BR" sz="1400" dirty="0">
                          <a:effectLst/>
                        </a:rPr>
                        <a:t>Monitoramento e Resposta para problemas do Sistema</a:t>
                      </a:r>
                      <a:endParaRPr lang="pt-BR" sz="1400" dirty="0">
                        <a:effectLst/>
                        <a:latin typeface="Arial"/>
                        <a:ea typeface="Times New Roman"/>
                        <a:cs typeface="Times New Roman"/>
                      </a:endParaRPr>
                    </a:p>
                  </a:txBody>
                  <a:tcPr marL="45715" marR="45715" marT="0" marB="0"/>
                </a:tc>
                <a:tc>
                  <a:txBody>
                    <a:bodyPr/>
                    <a:lstStyle/>
                    <a:p>
                      <a:pPr marL="0" marR="0">
                        <a:lnSpc>
                          <a:spcPct val="115000"/>
                        </a:lnSpc>
                        <a:spcBef>
                          <a:spcPts val="0"/>
                        </a:spcBef>
                        <a:spcAft>
                          <a:spcPts val="0"/>
                        </a:spcAft>
                      </a:pPr>
                      <a:r>
                        <a:rPr lang="pt-BR" sz="1400" dirty="0">
                          <a:effectLst/>
                        </a:rPr>
                        <a:t>Descreve o controle de incidentes e solução para problemas pós </a:t>
                      </a:r>
                      <a:r>
                        <a:rPr lang="pt-BR" sz="1400" dirty="0" err="1" smtClean="0">
                          <a:effectLst/>
                        </a:rPr>
                        <a:t>Golive</a:t>
                      </a:r>
                      <a:r>
                        <a:rPr lang="pt-BR" sz="1400" dirty="0">
                          <a:effectLst/>
                        </a:rPr>
                        <a:t>.</a:t>
                      </a:r>
                      <a:endParaRPr lang="pt-BR" sz="1400" dirty="0">
                        <a:effectLst/>
                        <a:latin typeface="Arial"/>
                        <a:ea typeface="Times New Roman"/>
                        <a:cs typeface="Times New Roman"/>
                      </a:endParaRPr>
                    </a:p>
                  </a:txBody>
                  <a:tcPr marL="45715" marR="45715" marT="0" marB="0"/>
                </a:tc>
              </a:tr>
            </a:tbl>
          </a:graphicData>
        </a:graphic>
      </p:graphicFrame>
      <p:sp>
        <p:nvSpPr>
          <p:cNvPr id="106519" name="Line 5"/>
          <p:cNvSpPr>
            <a:spLocks noChangeShapeType="1"/>
          </p:cNvSpPr>
          <p:nvPr/>
        </p:nvSpPr>
        <p:spPr bwMode="auto">
          <a:xfrm>
            <a:off x="0" y="93186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
        <p:nvSpPr>
          <p:cNvPr id="106520" name="Rectangle 2"/>
          <p:cNvSpPr>
            <a:spLocks noGrp="1" noChangeArrowheads="1"/>
          </p:cNvSpPr>
          <p:nvPr>
            <p:ph type="title"/>
          </p:nvPr>
        </p:nvSpPr>
        <p:spPr>
          <a:xfrm>
            <a:off x="11113" y="-195263"/>
            <a:ext cx="9132887" cy="931863"/>
          </a:xfrm>
        </p:spPr>
        <p:txBody>
          <a:bodyPr/>
          <a:lstStyle/>
          <a:p>
            <a:pPr algn="l" eaLnBrk="1" hangingPunct="1"/>
            <a:r>
              <a:rPr lang="pt-BR" altLang="pt-BR" b="1" smtClean="0">
                <a:solidFill>
                  <a:srgbClr val="003366"/>
                </a:solidFill>
              </a:rPr>
              <a:t>eBusiness Suite - Metodologia</a:t>
            </a:r>
          </a:p>
        </p:txBody>
      </p:sp>
      <p:grpSp>
        <p:nvGrpSpPr>
          <p:cNvPr id="106521" name="Group 6"/>
          <p:cNvGrpSpPr>
            <a:grpSpLocks/>
          </p:cNvGrpSpPr>
          <p:nvPr/>
        </p:nvGrpSpPr>
        <p:grpSpPr bwMode="auto">
          <a:xfrm>
            <a:off x="7308850" y="117475"/>
            <a:ext cx="1735138" cy="647700"/>
            <a:chOff x="7380288" y="41275"/>
            <a:chExt cx="1735137" cy="647700"/>
          </a:xfrm>
        </p:grpSpPr>
        <p:sp>
          <p:nvSpPr>
            <p:cNvPr id="6"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7"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Line 5"/>
          <p:cNvSpPr>
            <a:spLocks noChangeShapeType="1"/>
          </p:cNvSpPr>
          <p:nvPr/>
        </p:nvSpPr>
        <p:spPr bwMode="auto">
          <a:xfrm>
            <a:off x="8134350" y="3051175"/>
            <a:ext cx="38100" cy="2119313"/>
          </a:xfrm>
          <a:prstGeom prst="line">
            <a:avLst/>
          </a:prstGeom>
          <a:noFill/>
          <a:ln w="9525">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23" name="Line 5"/>
          <p:cNvSpPr>
            <a:spLocks noChangeShapeType="1"/>
          </p:cNvSpPr>
          <p:nvPr/>
        </p:nvSpPr>
        <p:spPr bwMode="auto">
          <a:xfrm>
            <a:off x="1457325" y="2835275"/>
            <a:ext cx="0" cy="3124200"/>
          </a:xfrm>
          <a:prstGeom prst="line">
            <a:avLst/>
          </a:prstGeom>
          <a:noFill/>
          <a:ln w="9525">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24" name="Rectangle 6"/>
          <p:cNvSpPr>
            <a:spLocks noChangeArrowheads="1"/>
          </p:cNvSpPr>
          <p:nvPr/>
        </p:nvSpPr>
        <p:spPr bwMode="auto">
          <a:xfrm>
            <a:off x="3971925" y="1828800"/>
            <a:ext cx="193675" cy="16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07525" name="Rectangle 7"/>
          <p:cNvSpPr>
            <a:spLocks noChangeArrowheads="1"/>
          </p:cNvSpPr>
          <p:nvPr/>
        </p:nvSpPr>
        <p:spPr bwMode="auto">
          <a:xfrm>
            <a:off x="4964113" y="2486025"/>
            <a:ext cx="487362"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07526" name="Rectangle 8"/>
          <p:cNvSpPr>
            <a:spLocks noChangeArrowheads="1"/>
          </p:cNvSpPr>
          <p:nvPr/>
        </p:nvSpPr>
        <p:spPr bwMode="auto">
          <a:xfrm>
            <a:off x="1211263" y="2384425"/>
            <a:ext cx="287337" cy="16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07527" name="Rectangle 9"/>
          <p:cNvSpPr>
            <a:spLocks noChangeArrowheads="1"/>
          </p:cNvSpPr>
          <p:nvPr/>
        </p:nvSpPr>
        <p:spPr bwMode="auto">
          <a:xfrm flipH="1">
            <a:off x="5495925" y="5400675"/>
            <a:ext cx="1230313"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700">
                <a:solidFill>
                  <a:srgbClr val="000000"/>
                </a:solidFill>
              </a:rPr>
              <a:t>Custo de Producao-PAC</a:t>
            </a:r>
            <a:endParaRPr lang="es-MX" altLang="en-US" sz="2000"/>
          </a:p>
        </p:txBody>
      </p:sp>
      <p:sp>
        <p:nvSpPr>
          <p:cNvPr id="107528" name="Rectangle 10"/>
          <p:cNvSpPr>
            <a:spLocks noChangeArrowheads="1"/>
          </p:cNvSpPr>
          <p:nvPr/>
        </p:nvSpPr>
        <p:spPr bwMode="auto">
          <a:xfrm>
            <a:off x="1152525" y="5961063"/>
            <a:ext cx="6477000" cy="227012"/>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HR Human Resources</a:t>
            </a:r>
          </a:p>
        </p:txBody>
      </p:sp>
      <p:sp>
        <p:nvSpPr>
          <p:cNvPr id="107529" name="Rectangle 11"/>
          <p:cNvSpPr>
            <a:spLocks noChangeArrowheads="1"/>
          </p:cNvSpPr>
          <p:nvPr/>
        </p:nvSpPr>
        <p:spPr bwMode="auto">
          <a:xfrm>
            <a:off x="1304925" y="2378075"/>
            <a:ext cx="838200" cy="471488"/>
          </a:xfrm>
          <a:prstGeom prst="rect">
            <a:avLst/>
          </a:prstGeom>
          <a:solidFill>
            <a:srgbClr val="CCFF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AP </a:t>
            </a:r>
          </a:p>
          <a:p>
            <a:pPr>
              <a:spcBef>
                <a:spcPct val="0"/>
              </a:spcBef>
              <a:buFontTx/>
              <a:buNone/>
            </a:pPr>
            <a:r>
              <a:rPr lang="es-MX" altLang="en-US" sz="800"/>
              <a:t>Accounts Payables</a:t>
            </a:r>
          </a:p>
        </p:txBody>
      </p:sp>
      <p:sp>
        <p:nvSpPr>
          <p:cNvPr id="107530" name="Text Box 13"/>
          <p:cNvSpPr txBox="1">
            <a:spLocks noChangeArrowheads="1"/>
          </p:cNvSpPr>
          <p:nvPr/>
        </p:nvSpPr>
        <p:spPr bwMode="auto">
          <a:xfrm>
            <a:off x="2700338" y="3284538"/>
            <a:ext cx="792162"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Recebimento</a:t>
            </a:r>
          </a:p>
        </p:txBody>
      </p:sp>
      <p:sp>
        <p:nvSpPr>
          <p:cNvPr id="107531" name="Rectangle 14"/>
          <p:cNvSpPr>
            <a:spLocks noChangeArrowheads="1"/>
          </p:cNvSpPr>
          <p:nvPr/>
        </p:nvSpPr>
        <p:spPr bwMode="auto">
          <a:xfrm>
            <a:off x="4429125" y="4206875"/>
            <a:ext cx="1030288" cy="407988"/>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BOM</a:t>
            </a:r>
          </a:p>
          <a:p>
            <a:pPr>
              <a:spcBef>
                <a:spcPct val="0"/>
              </a:spcBef>
              <a:buFont typeface="Monotype Sorts" pitchFamily="2" charset="2"/>
              <a:buNone/>
            </a:pPr>
            <a:r>
              <a:rPr lang="en-US" altLang="en-US" sz="800"/>
              <a:t>Bills of Material </a:t>
            </a:r>
          </a:p>
        </p:txBody>
      </p:sp>
      <p:sp>
        <p:nvSpPr>
          <p:cNvPr id="107532" name="Text Box 15"/>
          <p:cNvSpPr txBox="1">
            <a:spLocks noChangeArrowheads="1"/>
          </p:cNvSpPr>
          <p:nvPr/>
        </p:nvSpPr>
        <p:spPr bwMode="auto">
          <a:xfrm>
            <a:off x="3590925" y="4206875"/>
            <a:ext cx="942975"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Lista de Material</a:t>
            </a:r>
          </a:p>
        </p:txBody>
      </p:sp>
      <p:sp>
        <p:nvSpPr>
          <p:cNvPr id="107533" name="Rectangle 17"/>
          <p:cNvSpPr>
            <a:spLocks noChangeArrowheads="1"/>
          </p:cNvSpPr>
          <p:nvPr/>
        </p:nvSpPr>
        <p:spPr bwMode="auto">
          <a:xfrm>
            <a:off x="4429125" y="5170488"/>
            <a:ext cx="1028700" cy="40798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CM</a:t>
            </a:r>
          </a:p>
          <a:p>
            <a:pPr>
              <a:spcBef>
                <a:spcPct val="0"/>
              </a:spcBef>
              <a:buFont typeface="Monotype Sorts" pitchFamily="2" charset="2"/>
              <a:buNone/>
            </a:pPr>
            <a:r>
              <a:rPr lang="en-US" altLang="en-US" sz="800"/>
              <a:t>Cost Management</a:t>
            </a:r>
          </a:p>
        </p:txBody>
      </p:sp>
      <p:sp>
        <p:nvSpPr>
          <p:cNvPr id="107534" name="Rectangle 19"/>
          <p:cNvSpPr>
            <a:spLocks noChangeArrowheads="1"/>
          </p:cNvSpPr>
          <p:nvPr/>
        </p:nvSpPr>
        <p:spPr bwMode="auto">
          <a:xfrm>
            <a:off x="4429125" y="4664075"/>
            <a:ext cx="992188" cy="407988"/>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WIP</a:t>
            </a:r>
          </a:p>
          <a:p>
            <a:pPr>
              <a:spcBef>
                <a:spcPct val="0"/>
              </a:spcBef>
              <a:buFont typeface="Monotype Sorts" pitchFamily="2" charset="2"/>
              <a:buNone/>
            </a:pPr>
            <a:r>
              <a:rPr lang="es-MX" altLang="en-US" sz="800"/>
              <a:t> Work in Process </a:t>
            </a:r>
            <a:endParaRPr lang="en-US" altLang="en-US" sz="800"/>
          </a:p>
        </p:txBody>
      </p:sp>
      <p:sp>
        <p:nvSpPr>
          <p:cNvPr id="107535" name="Rectangle 21"/>
          <p:cNvSpPr>
            <a:spLocks noChangeArrowheads="1"/>
          </p:cNvSpPr>
          <p:nvPr/>
        </p:nvSpPr>
        <p:spPr bwMode="auto">
          <a:xfrm>
            <a:off x="1381125" y="4892675"/>
            <a:ext cx="1219200" cy="407988"/>
          </a:xfrm>
          <a:prstGeom prst="rect">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FA</a:t>
            </a:r>
          </a:p>
          <a:p>
            <a:pPr>
              <a:spcBef>
                <a:spcPct val="0"/>
              </a:spcBef>
              <a:buFont typeface="Monotype Sorts" pitchFamily="2" charset="2"/>
              <a:buNone/>
            </a:pPr>
            <a:r>
              <a:rPr lang="en-US" altLang="en-US" sz="800"/>
              <a:t>   Fixed Assets   </a:t>
            </a:r>
            <a:r>
              <a:rPr lang="es-MX" altLang="en-US" sz="800"/>
              <a:t> </a:t>
            </a:r>
            <a:endParaRPr lang="en-US" altLang="en-US" sz="800"/>
          </a:p>
        </p:txBody>
      </p:sp>
      <p:sp>
        <p:nvSpPr>
          <p:cNvPr id="107536" name="Rectangle 23"/>
          <p:cNvSpPr>
            <a:spLocks noChangeArrowheads="1"/>
          </p:cNvSpPr>
          <p:nvPr/>
        </p:nvSpPr>
        <p:spPr bwMode="auto">
          <a:xfrm>
            <a:off x="5343525" y="1692275"/>
            <a:ext cx="1146175" cy="407988"/>
          </a:xfrm>
          <a:prstGeom prst="rect">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s-MX" altLang="en-US" sz="800"/>
              <a:t>OKS/OKC</a:t>
            </a:r>
            <a:endParaRPr lang="en-US" altLang="en-US" sz="800"/>
          </a:p>
          <a:p>
            <a:pPr>
              <a:spcBef>
                <a:spcPct val="0"/>
              </a:spcBef>
              <a:buFont typeface="Monotype Sorts" pitchFamily="2" charset="2"/>
              <a:buNone/>
            </a:pPr>
            <a:r>
              <a:rPr lang="en-US" altLang="en-US" sz="800"/>
              <a:t>Contracts for Service</a:t>
            </a:r>
          </a:p>
        </p:txBody>
      </p:sp>
      <p:sp>
        <p:nvSpPr>
          <p:cNvPr id="107537" name="Text Box 25"/>
          <p:cNvSpPr txBox="1">
            <a:spLocks noChangeArrowheads="1"/>
          </p:cNvSpPr>
          <p:nvPr/>
        </p:nvSpPr>
        <p:spPr bwMode="auto">
          <a:xfrm>
            <a:off x="1838325" y="2149475"/>
            <a:ext cx="609600" cy="214313"/>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NFs/Ret.</a:t>
            </a:r>
          </a:p>
        </p:txBody>
      </p:sp>
      <p:sp>
        <p:nvSpPr>
          <p:cNvPr id="107538" name="Text Box 36"/>
          <p:cNvSpPr txBox="1">
            <a:spLocks noChangeArrowheads="1"/>
          </p:cNvSpPr>
          <p:nvPr/>
        </p:nvSpPr>
        <p:spPr bwMode="auto">
          <a:xfrm>
            <a:off x="409575" y="1135063"/>
            <a:ext cx="706438"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Dpreciação</a:t>
            </a:r>
          </a:p>
        </p:txBody>
      </p:sp>
      <p:sp>
        <p:nvSpPr>
          <p:cNvPr id="107539" name="Text Box 40"/>
          <p:cNvSpPr txBox="1">
            <a:spLocks noChangeArrowheads="1"/>
          </p:cNvSpPr>
          <p:nvPr/>
        </p:nvSpPr>
        <p:spPr bwMode="auto">
          <a:xfrm>
            <a:off x="5038725" y="3656013"/>
            <a:ext cx="793750" cy="339725"/>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Recebimento</a:t>
            </a:r>
          </a:p>
          <a:p>
            <a:pPr>
              <a:spcBef>
                <a:spcPct val="0"/>
              </a:spcBef>
              <a:buFont typeface="Monotype Sorts" pitchFamily="2" charset="2"/>
              <a:buNone/>
            </a:pPr>
            <a:r>
              <a:rPr lang="pt-BR" altLang="en-US" sz="800"/>
              <a:t>Esperado</a:t>
            </a:r>
            <a:endParaRPr lang="en-US" altLang="en-US" sz="800"/>
          </a:p>
        </p:txBody>
      </p:sp>
      <p:sp>
        <p:nvSpPr>
          <p:cNvPr id="107540" name="Text Box 41"/>
          <p:cNvSpPr txBox="1">
            <a:spLocks noChangeArrowheads="1"/>
          </p:cNvSpPr>
          <p:nvPr/>
        </p:nvSpPr>
        <p:spPr bwMode="auto">
          <a:xfrm>
            <a:off x="7138988" y="836613"/>
            <a:ext cx="1143000"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pt-BR" altLang="en-US" sz="800"/>
              <a:t>Taxas e Recebiveis</a:t>
            </a:r>
            <a:endParaRPr lang="en-US" altLang="en-US" sz="800"/>
          </a:p>
        </p:txBody>
      </p:sp>
      <p:sp>
        <p:nvSpPr>
          <p:cNvPr id="107541" name="Text Box 42"/>
          <p:cNvSpPr txBox="1">
            <a:spLocks noChangeArrowheads="1"/>
          </p:cNvSpPr>
          <p:nvPr/>
        </p:nvSpPr>
        <p:spPr bwMode="auto">
          <a:xfrm>
            <a:off x="3590925" y="777875"/>
            <a:ext cx="455613"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Custo</a:t>
            </a:r>
          </a:p>
        </p:txBody>
      </p:sp>
      <p:sp>
        <p:nvSpPr>
          <p:cNvPr id="107542" name="Text Box 43"/>
          <p:cNvSpPr txBox="1">
            <a:spLocks noChangeArrowheads="1"/>
          </p:cNvSpPr>
          <p:nvPr/>
        </p:nvSpPr>
        <p:spPr bwMode="auto">
          <a:xfrm>
            <a:off x="1885950" y="777875"/>
            <a:ext cx="766763"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Pagamentos</a:t>
            </a:r>
          </a:p>
        </p:txBody>
      </p:sp>
      <p:sp>
        <p:nvSpPr>
          <p:cNvPr id="107543" name="Text Box 44"/>
          <p:cNvSpPr txBox="1">
            <a:spLocks noChangeArrowheads="1"/>
          </p:cNvSpPr>
          <p:nvPr/>
        </p:nvSpPr>
        <p:spPr bwMode="auto">
          <a:xfrm>
            <a:off x="7705725" y="1616075"/>
            <a:ext cx="557213"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pt-BR" altLang="en-US" sz="800"/>
              <a:t>Clientes</a:t>
            </a:r>
            <a:endParaRPr lang="en-US" altLang="en-US" sz="800"/>
          </a:p>
        </p:txBody>
      </p:sp>
      <p:sp>
        <p:nvSpPr>
          <p:cNvPr id="107544" name="Text Box 50"/>
          <p:cNvSpPr txBox="1">
            <a:spLocks noChangeArrowheads="1"/>
          </p:cNvSpPr>
          <p:nvPr/>
        </p:nvSpPr>
        <p:spPr bwMode="auto">
          <a:xfrm>
            <a:off x="4733925" y="3140075"/>
            <a:ext cx="795338" cy="339725"/>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pt-BR" altLang="en-US" sz="800"/>
              <a:t>Dispacho</a:t>
            </a:r>
          </a:p>
          <a:p>
            <a:pPr>
              <a:spcBef>
                <a:spcPct val="0"/>
              </a:spcBef>
              <a:buFont typeface="Monotype Sorts" pitchFamily="2" charset="2"/>
              <a:buNone/>
            </a:pPr>
            <a:r>
              <a:rPr lang="pt-BR" altLang="en-US" sz="800"/>
              <a:t>Equipamento</a:t>
            </a:r>
            <a:endParaRPr lang="en-US" altLang="en-US" sz="800"/>
          </a:p>
        </p:txBody>
      </p:sp>
      <p:sp>
        <p:nvSpPr>
          <p:cNvPr id="107545" name="Rectangle 51"/>
          <p:cNvSpPr>
            <a:spLocks noChangeArrowheads="1"/>
          </p:cNvSpPr>
          <p:nvPr/>
        </p:nvSpPr>
        <p:spPr bwMode="auto">
          <a:xfrm>
            <a:off x="6105525" y="2454275"/>
            <a:ext cx="927100" cy="407988"/>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s-MX" altLang="en-US" sz="800"/>
              <a:t>QP</a:t>
            </a:r>
            <a:endParaRPr lang="en-US" altLang="en-US" sz="800"/>
          </a:p>
          <a:p>
            <a:pPr>
              <a:spcBef>
                <a:spcPct val="0"/>
              </a:spcBef>
              <a:buFont typeface="Monotype Sorts" pitchFamily="2" charset="2"/>
              <a:buNone/>
            </a:pPr>
            <a:r>
              <a:rPr lang="es-MX" altLang="en-US" sz="800"/>
              <a:t>Pricing</a:t>
            </a:r>
            <a:endParaRPr lang="en-US" altLang="en-US" sz="800"/>
          </a:p>
        </p:txBody>
      </p:sp>
      <p:sp>
        <p:nvSpPr>
          <p:cNvPr id="107546" name="Text Box 53"/>
          <p:cNvSpPr txBox="1">
            <a:spLocks noChangeArrowheads="1"/>
          </p:cNvSpPr>
          <p:nvPr/>
        </p:nvSpPr>
        <p:spPr bwMode="auto">
          <a:xfrm>
            <a:off x="6638925" y="2987675"/>
            <a:ext cx="547688" cy="339725"/>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pt-BR" altLang="en-US" sz="800"/>
              <a:t>Lista de</a:t>
            </a:r>
          </a:p>
          <a:p>
            <a:pPr>
              <a:spcBef>
                <a:spcPct val="0"/>
              </a:spcBef>
              <a:buFont typeface="Monotype Sorts" pitchFamily="2" charset="2"/>
              <a:buNone/>
            </a:pPr>
            <a:r>
              <a:rPr lang="pt-BR" altLang="en-US" sz="800"/>
              <a:t>venda</a:t>
            </a:r>
            <a:endParaRPr lang="en-US" altLang="en-US" sz="800"/>
          </a:p>
        </p:txBody>
      </p:sp>
      <p:sp>
        <p:nvSpPr>
          <p:cNvPr id="107547" name="Text Box 55"/>
          <p:cNvSpPr txBox="1">
            <a:spLocks noChangeArrowheads="1"/>
          </p:cNvSpPr>
          <p:nvPr/>
        </p:nvSpPr>
        <p:spPr bwMode="auto">
          <a:xfrm>
            <a:off x="2066925" y="5502275"/>
            <a:ext cx="649288" cy="398463"/>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a:spcBef>
                <a:spcPct val="0"/>
              </a:spcBef>
              <a:buFont typeface="Monotype Sorts" pitchFamily="2" charset="2"/>
              <a:buNone/>
            </a:pPr>
            <a:r>
              <a:rPr lang="en-US" altLang="en-US" sz="800"/>
              <a:t>Approvers</a:t>
            </a:r>
          </a:p>
          <a:p>
            <a:pPr algn="r">
              <a:spcBef>
                <a:spcPct val="0"/>
              </a:spcBef>
              <a:buFont typeface="Monotype Sorts" pitchFamily="2" charset="2"/>
              <a:buNone/>
            </a:pPr>
            <a:r>
              <a:rPr lang="es-MX" altLang="en-US" sz="800"/>
              <a:t>Buyers</a:t>
            </a:r>
            <a:endParaRPr lang="en-US" altLang="en-US" sz="800"/>
          </a:p>
        </p:txBody>
      </p:sp>
      <p:sp>
        <p:nvSpPr>
          <p:cNvPr id="107548" name="Text Box 56"/>
          <p:cNvSpPr txBox="1">
            <a:spLocks noChangeArrowheads="1"/>
          </p:cNvSpPr>
          <p:nvPr/>
        </p:nvSpPr>
        <p:spPr bwMode="auto">
          <a:xfrm>
            <a:off x="771525" y="5730875"/>
            <a:ext cx="771525"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Empregados</a:t>
            </a:r>
          </a:p>
        </p:txBody>
      </p:sp>
      <p:sp>
        <p:nvSpPr>
          <p:cNvPr id="107549" name="Text Box 57"/>
          <p:cNvSpPr txBox="1">
            <a:spLocks noChangeArrowheads="1"/>
          </p:cNvSpPr>
          <p:nvPr/>
        </p:nvSpPr>
        <p:spPr bwMode="auto">
          <a:xfrm>
            <a:off x="3548063" y="5546725"/>
            <a:ext cx="795337" cy="339725"/>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Devolução</a:t>
            </a:r>
          </a:p>
          <a:p>
            <a:pPr>
              <a:spcBef>
                <a:spcPct val="0"/>
              </a:spcBef>
              <a:buFont typeface="Monotype Sorts" pitchFamily="2" charset="2"/>
              <a:buNone/>
            </a:pPr>
            <a:r>
              <a:rPr lang="pt-BR" altLang="en-US" sz="800"/>
              <a:t>Equipamento</a:t>
            </a:r>
            <a:endParaRPr lang="en-US" altLang="en-US" sz="800"/>
          </a:p>
        </p:txBody>
      </p:sp>
      <p:sp>
        <p:nvSpPr>
          <p:cNvPr id="107550" name="Text Box 58"/>
          <p:cNvSpPr txBox="1">
            <a:spLocks noChangeArrowheads="1"/>
          </p:cNvSpPr>
          <p:nvPr/>
        </p:nvSpPr>
        <p:spPr bwMode="auto">
          <a:xfrm>
            <a:off x="6638925" y="5654675"/>
            <a:ext cx="942975" cy="339725"/>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pt-BR" altLang="en-US" sz="800"/>
              <a:t>Vendedores</a:t>
            </a:r>
          </a:p>
          <a:p>
            <a:pPr>
              <a:spcBef>
                <a:spcPct val="0"/>
              </a:spcBef>
              <a:buFont typeface="Monotype Sorts" pitchFamily="2" charset="2"/>
              <a:buNone/>
            </a:pPr>
            <a:r>
              <a:rPr lang="pt-BR" altLang="en-US" sz="800"/>
              <a:t>Transportadores</a:t>
            </a:r>
            <a:endParaRPr lang="en-US" altLang="en-US" sz="800"/>
          </a:p>
        </p:txBody>
      </p:sp>
      <p:sp>
        <p:nvSpPr>
          <p:cNvPr id="107551" name="Text Box 59"/>
          <p:cNvSpPr txBox="1">
            <a:spLocks noChangeArrowheads="1"/>
          </p:cNvSpPr>
          <p:nvPr/>
        </p:nvSpPr>
        <p:spPr bwMode="auto">
          <a:xfrm>
            <a:off x="2714625" y="4359275"/>
            <a:ext cx="473075"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Peças</a:t>
            </a:r>
          </a:p>
        </p:txBody>
      </p:sp>
      <p:sp>
        <p:nvSpPr>
          <p:cNvPr id="107552" name="Text Box 61"/>
          <p:cNvSpPr txBox="1">
            <a:spLocks noChangeArrowheads="1"/>
          </p:cNvSpPr>
          <p:nvPr/>
        </p:nvSpPr>
        <p:spPr bwMode="auto">
          <a:xfrm>
            <a:off x="3538538" y="3738563"/>
            <a:ext cx="673100" cy="338137"/>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pt-BR" altLang="en-US" sz="800"/>
              <a:t>Transação</a:t>
            </a:r>
          </a:p>
          <a:p>
            <a:pPr>
              <a:spcBef>
                <a:spcPct val="0"/>
              </a:spcBef>
              <a:buFont typeface="Monotype Sorts" pitchFamily="2" charset="2"/>
              <a:buNone/>
            </a:pPr>
            <a:r>
              <a:rPr lang="pt-BR" altLang="en-US" sz="800"/>
              <a:t>Inventário</a:t>
            </a:r>
            <a:endParaRPr lang="en-US" altLang="en-US" sz="800"/>
          </a:p>
        </p:txBody>
      </p:sp>
      <p:sp>
        <p:nvSpPr>
          <p:cNvPr id="107553" name="Text Box 63"/>
          <p:cNvSpPr txBox="1">
            <a:spLocks noChangeArrowheads="1"/>
          </p:cNvSpPr>
          <p:nvPr/>
        </p:nvSpPr>
        <p:spPr bwMode="auto">
          <a:xfrm>
            <a:off x="5702300" y="4511675"/>
            <a:ext cx="860425" cy="350838"/>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80000"/>
              </a:lnSpc>
              <a:spcBef>
                <a:spcPct val="0"/>
              </a:spcBef>
              <a:buFont typeface="Monotype Sorts" pitchFamily="2" charset="2"/>
              <a:buNone/>
            </a:pPr>
            <a:r>
              <a:rPr lang="es-MX" altLang="en-US" sz="800"/>
              <a:t>Configuration&amp;</a:t>
            </a:r>
          </a:p>
          <a:p>
            <a:pPr>
              <a:lnSpc>
                <a:spcPct val="80000"/>
              </a:lnSpc>
              <a:spcBef>
                <a:spcPct val="0"/>
              </a:spcBef>
              <a:buFont typeface="Monotype Sorts" pitchFamily="2" charset="2"/>
              <a:buNone/>
            </a:pPr>
            <a:r>
              <a:rPr lang="es-MX" altLang="en-US" sz="800"/>
              <a:t>Pre-Install</a:t>
            </a:r>
            <a:endParaRPr lang="en-US" altLang="en-US" sz="800"/>
          </a:p>
        </p:txBody>
      </p:sp>
      <p:sp>
        <p:nvSpPr>
          <p:cNvPr id="107554" name="Text Box 65"/>
          <p:cNvSpPr txBox="1">
            <a:spLocks noChangeArrowheads="1"/>
          </p:cNvSpPr>
          <p:nvPr/>
        </p:nvSpPr>
        <p:spPr bwMode="auto">
          <a:xfrm>
            <a:off x="3590925" y="1844675"/>
            <a:ext cx="1022350" cy="214313"/>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Parts - Discharges</a:t>
            </a:r>
          </a:p>
        </p:txBody>
      </p:sp>
      <p:sp>
        <p:nvSpPr>
          <p:cNvPr id="107555" name="Text Box 66"/>
          <p:cNvSpPr txBox="1">
            <a:spLocks noChangeArrowheads="1"/>
          </p:cNvSpPr>
          <p:nvPr/>
        </p:nvSpPr>
        <p:spPr bwMode="auto">
          <a:xfrm>
            <a:off x="4733925" y="2530475"/>
            <a:ext cx="1128713"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Equipamento Conbt.</a:t>
            </a:r>
          </a:p>
        </p:txBody>
      </p:sp>
      <p:sp>
        <p:nvSpPr>
          <p:cNvPr id="107556" name="Text Box 68"/>
          <p:cNvSpPr txBox="1">
            <a:spLocks noChangeArrowheads="1"/>
          </p:cNvSpPr>
          <p:nvPr/>
        </p:nvSpPr>
        <p:spPr bwMode="auto">
          <a:xfrm>
            <a:off x="4886325" y="1539875"/>
            <a:ext cx="695325" cy="214313"/>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Entitlement</a:t>
            </a:r>
          </a:p>
        </p:txBody>
      </p:sp>
      <p:sp>
        <p:nvSpPr>
          <p:cNvPr id="107557" name="Text Box 73"/>
          <p:cNvSpPr txBox="1">
            <a:spLocks noChangeArrowheads="1"/>
          </p:cNvSpPr>
          <p:nvPr/>
        </p:nvSpPr>
        <p:spPr bwMode="auto">
          <a:xfrm>
            <a:off x="5953125" y="2073275"/>
            <a:ext cx="1023938"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pt-BR" altLang="en-US" sz="800"/>
              <a:t>Preço de Contrato</a:t>
            </a:r>
            <a:endParaRPr lang="en-US" altLang="en-US" sz="800"/>
          </a:p>
        </p:txBody>
      </p:sp>
      <p:sp>
        <p:nvSpPr>
          <p:cNvPr id="107558" name="Text Box 74"/>
          <p:cNvSpPr txBox="1">
            <a:spLocks noChangeArrowheads="1"/>
          </p:cNvSpPr>
          <p:nvPr/>
        </p:nvSpPr>
        <p:spPr bwMode="auto">
          <a:xfrm>
            <a:off x="6978650" y="1768475"/>
            <a:ext cx="530225"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 Ordem</a:t>
            </a:r>
          </a:p>
        </p:txBody>
      </p:sp>
      <p:sp>
        <p:nvSpPr>
          <p:cNvPr id="107559" name="Text Box 76"/>
          <p:cNvSpPr txBox="1">
            <a:spLocks noChangeArrowheads="1"/>
          </p:cNvSpPr>
          <p:nvPr/>
        </p:nvSpPr>
        <p:spPr bwMode="auto">
          <a:xfrm>
            <a:off x="4352925" y="1387475"/>
            <a:ext cx="473075" cy="398463"/>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Credit</a:t>
            </a:r>
          </a:p>
          <a:p>
            <a:pPr>
              <a:spcBef>
                <a:spcPct val="0"/>
              </a:spcBef>
              <a:buFont typeface="Monotype Sorts" pitchFamily="2" charset="2"/>
              <a:buNone/>
            </a:pPr>
            <a:r>
              <a:rPr lang="es-MX" altLang="en-US" sz="800"/>
              <a:t>Check</a:t>
            </a:r>
            <a:endParaRPr lang="en-US" altLang="en-US" sz="800"/>
          </a:p>
        </p:txBody>
      </p:sp>
      <p:sp>
        <p:nvSpPr>
          <p:cNvPr id="107560" name="Text Box 79"/>
          <p:cNvSpPr txBox="1">
            <a:spLocks noChangeArrowheads="1"/>
          </p:cNvSpPr>
          <p:nvPr/>
        </p:nvSpPr>
        <p:spPr bwMode="auto">
          <a:xfrm>
            <a:off x="5737225" y="2997200"/>
            <a:ext cx="582613"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pt-BR" altLang="en-US" sz="800"/>
              <a:t>Contrato</a:t>
            </a:r>
            <a:endParaRPr lang="en-US" altLang="en-US" sz="800"/>
          </a:p>
        </p:txBody>
      </p:sp>
      <p:sp>
        <p:nvSpPr>
          <p:cNvPr id="107561" name="Rectangle 87"/>
          <p:cNvSpPr>
            <a:spLocks noChangeArrowheads="1"/>
          </p:cNvSpPr>
          <p:nvPr/>
        </p:nvSpPr>
        <p:spPr bwMode="auto">
          <a:xfrm>
            <a:off x="847725" y="549275"/>
            <a:ext cx="6781800" cy="227013"/>
          </a:xfrm>
          <a:prstGeom prst="rect">
            <a:avLst/>
          </a:prstGeom>
          <a:solidFill>
            <a:srgbClr val="CCFF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GL General Ledger</a:t>
            </a:r>
          </a:p>
        </p:txBody>
      </p:sp>
      <p:sp>
        <p:nvSpPr>
          <p:cNvPr id="107562" name="Text Box 89"/>
          <p:cNvSpPr txBox="1">
            <a:spLocks noChangeArrowheads="1"/>
          </p:cNvSpPr>
          <p:nvPr/>
        </p:nvSpPr>
        <p:spPr bwMode="auto">
          <a:xfrm>
            <a:off x="2676525" y="777875"/>
            <a:ext cx="695325"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Orçamento</a:t>
            </a:r>
          </a:p>
        </p:txBody>
      </p:sp>
      <p:sp>
        <p:nvSpPr>
          <p:cNvPr id="107563" name="Rectangle 22"/>
          <p:cNvSpPr>
            <a:spLocks noChangeArrowheads="1"/>
          </p:cNvSpPr>
          <p:nvPr/>
        </p:nvSpPr>
        <p:spPr bwMode="auto">
          <a:xfrm>
            <a:off x="3362325" y="1560513"/>
            <a:ext cx="228600" cy="3103562"/>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INV</a:t>
            </a:r>
          </a:p>
          <a:p>
            <a:pPr>
              <a:spcBef>
                <a:spcPct val="0"/>
              </a:spcBef>
              <a:buFont typeface="Monotype Sorts" pitchFamily="2" charset="2"/>
              <a:buNone/>
            </a:pPr>
            <a:endParaRPr lang="en-US" altLang="en-US" sz="800"/>
          </a:p>
          <a:p>
            <a:pPr>
              <a:spcBef>
                <a:spcPct val="0"/>
              </a:spcBef>
              <a:buFont typeface="Monotype Sorts" pitchFamily="2" charset="2"/>
              <a:buNone/>
            </a:pPr>
            <a:endParaRPr lang="en-US" altLang="en-US" sz="800"/>
          </a:p>
          <a:p>
            <a:pPr>
              <a:spcBef>
                <a:spcPct val="0"/>
              </a:spcBef>
              <a:buFont typeface="Monotype Sorts" pitchFamily="2" charset="2"/>
              <a:buNone/>
            </a:pPr>
            <a:endParaRPr lang="en-US" altLang="en-US" sz="800"/>
          </a:p>
          <a:p>
            <a:pPr>
              <a:spcBef>
                <a:spcPct val="0"/>
              </a:spcBef>
              <a:buFont typeface="Monotype Sorts" pitchFamily="2" charset="2"/>
              <a:buNone/>
            </a:pPr>
            <a:r>
              <a:rPr lang="en-US" altLang="en-US" sz="800"/>
              <a:t>Inventory</a:t>
            </a:r>
          </a:p>
          <a:p>
            <a:pPr>
              <a:spcBef>
                <a:spcPct val="0"/>
              </a:spcBef>
              <a:buFont typeface="Monotype Sorts" pitchFamily="2" charset="2"/>
              <a:buNone/>
            </a:pPr>
            <a:endParaRPr lang="en-US" altLang="en-US" sz="800"/>
          </a:p>
          <a:p>
            <a:pPr>
              <a:spcBef>
                <a:spcPct val="0"/>
              </a:spcBef>
              <a:buFont typeface="Monotype Sorts" pitchFamily="2" charset="2"/>
              <a:buNone/>
            </a:pPr>
            <a:endParaRPr lang="en-US" altLang="en-US" sz="800"/>
          </a:p>
          <a:p>
            <a:pPr>
              <a:spcBef>
                <a:spcPct val="0"/>
              </a:spcBef>
              <a:buFont typeface="Monotype Sorts" pitchFamily="2" charset="2"/>
              <a:buNone/>
            </a:pPr>
            <a:endParaRPr lang="en-US" altLang="en-US" sz="800"/>
          </a:p>
          <a:p>
            <a:pPr>
              <a:spcBef>
                <a:spcPct val="0"/>
              </a:spcBef>
              <a:buFont typeface="Monotype Sorts" pitchFamily="2" charset="2"/>
              <a:buNone/>
            </a:pPr>
            <a:endParaRPr lang="en-US" altLang="en-US" sz="800"/>
          </a:p>
          <a:p>
            <a:pPr>
              <a:spcBef>
                <a:spcPct val="0"/>
              </a:spcBef>
              <a:buFont typeface="Monotype Sorts" pitchFamily="2" charset="2"/>
              <a:buNone/>
            </a:pPr>
            <a:endParaRPr lang="en-US" altLang="en-US" sz="800"/>
          </a:p>
        </p:txBody>
      </p:sp>
      <p:sp>
        <p:nvSpPr>
          <p:cNvPr id="107564" name="Text Box 92"/>
          <p:cNvSpPr txBox="1">
            <a:spLocks noChangeArrowheads="1"/>
          </p:cNvSpPr>
          <p:nvPr/>
        </p:nvSpPr>
        <p:spPr bwMode="auto">
          <a:xfrm>
            <a:off x="1533525" y="3368675"/>
            <a:ext cx="711200" cy="214313"/>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NFs</a:t>
            </a:r>
          </a:p>
        </p:txBody>
      </p:sp>
      <p:sp>
        <p:nvSpPr>
          <p:cNvPr id="107565" name="Rectangle 85"/>
          <p:cNvSpPr>
            <a:spLocks noChangeArrowheads="1"/>
          </p:cNvSpPr>
          <p:nvPr/>
        </p:nvSpPr>
        <p:spPr bwMode="auto">
          <a:xfrm>
            <a:off x="2219325" y="1539875"/>
            <a:ext cx="914400" cy="498475"/>
          </a:xfrm>
          <a:prstGeom prst="rect">
            <a:avLst/>
          </a:prstGeom>
          <a:solidFill>
            <a:srgbClr val="CCFF66"/>
          </a:solidFill>
          <a:ln w="9525">
            <a:solidFill>
              <a:schemeClr val="tx1"/>
            </a:solidFill>
            <a:miter lim="800000"/>
            <a:headEnd/>
            <a:tailEnd/>
          </a:ln>
        </p:spPr>
        <p:txBody>
          <a:bodyPr lIns="0" tIns="0" rIns="0" bIns="0">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s-MX" altLang="en-US" sz="800">
              <a:solidFill>
                <a:srgbClr val="000000"/>
              </a:solidFill>
            </a:endParaRPr>
          </a:p>
          <a:p>
            <a:pPr>
              <a:spcBef>
                <a:spcPct val="0"/>
              </a:spcBef>
              <a:buFontTx/>
              <a:buNone/>
            </a:pPr>
            <a:r>
              <a:rPr lang="es-MX" altLang="en-US" sz="800">
                <a:solidFill>
                  <a:srgbClr val="000000"/>
                </a:solidFill>
              </a:rPr>
              <a:t>PO </a:t>
            </a:r>
          </a:p>
          <a:p>
            <a:pPr>
              <a:spcBef>
                <a:spcPct val="0"/>
              </a:spcBef>
              <a:buFontTx/>
              <a:buNone/>
            </a:pPr>
            <a:r>
              <a:rPr lang="es-MX" altLang="en-US" sz="800">
                <a:solidFill>
                  <a:srgbClr val="000000"/>
                </a:solidFill>
              </a:rPr>
              <a:t>Purchasing</a:t>
            </a:r>
          </a:p>
          <a:p>
            <a:pPr>
              <a:spcBef>
                <a:spcPct val="0"/>
              </a:spcBef>
              <a:buFontTx/>
              <a:buNone/>
            </a:pPr>
            <a:r>
              <a:rPr lang="es-MX" altLang="en-US" sz="800">
                <a:solidFill>
                  <a:srgbClr val="000000"/>
                </a:solidFill>
              </a:rPr>
              <a:t> </a:t>
            </a:r>
            <a:endParaRPr lang="es-MX" altLang="en-US" sz="800"/>
          </a:p>
        </p:txBody>
      </p:sp>
      <p:sp>
        <p:nvSpPr>
          <p:cNvPr id="107566" name="Line 97"/>
          <p:cNvSpPr>
            <a:spLocks noChangeShapeType="1"/>
          </p:cNvSpPr>
          <p:nvPr/>
        </p:nvSpPr>
        <p:spPr bwMode="auto">
          <a:xfrm>
            <a:off x="2752725" y="2073275"/>
            <a:ext cx="0" cy="15240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67" name="Line 98"/>
          <p:cNvSpPr>
            <a:spLocks noChangeShapeType="1"/>
          </p:cNvSpPr>
          <p:nvPr/>
        </p:nvSpPr>
        <p:spPr bwMode="auto">
          <a:xfrm>
            <a:off x="3133725" y="1768475"/>
            <a:ext cx="2286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68" name="Line 99"/>
          <p:cNvSpPr>
            <a:spLocks noChangeShapeType="1"/>
          </p:cNvSpPr>
          <p:nvPr/>
        </p:nvSpPr>
        <p:spPr bwMode="auto">
          <a:xfrm>
            <a:off x="2981325" y="3825875"/>
            <a:ext cx="3810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69" name="Line 105"/>
          <p:cNvSpPr>
            <a:spLocks noChangeShapeType="1"/>
          </p:cNvSpPr>
          <p:nvPr/>
        </p:nvSpPr>
        <p:spPr bwMode="auto">
          <a:xfrm>
            <a:off x="2600325" y="2073275"/>
            <a:ext cx="0" cy="53340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70" name="Line 106"/>
          <p:cNvSpPr>
            <a:spLocks noChangeShapeType="1"/>
          </p:cNvSpPr>
          <p:nvPr/>
        </p:nvSpPr>
        <p:spPr bwMode="auto">
          <a:xfrm flipH="1">
            <a:off x="2143125" y="2606675"/>
            <a:ext cx="4572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71" name="Line 107"/>
          <p:cNvSpPr>
            <a:spLocks noChangeShapeType="1"/>
          </p:cNvSpPr>
          <p:nvPr/>
        </p:nvSpPr>
        <p:spPr bwMode="auto">
          <a:xfrm flipH="1">
            <a:off x="1609725" y="3825875"/>
            <a:ext cx="533400"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72" name="Line 108"/>
          <p:cNvSpPr>
            <a:spLocks noChangeShapeType="1"/>
          </p:cNvSpPr>
          <p:nvPr/>
        </p:nvSpPr>
        <p:spPr bwMode="auto">
          <a:xfrm flipV="1">
            <a:off x="1609725" y="2835275"/>
            <a:ext cx="0" cy="9906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73" name="Line 109"/>
          <p:cNvSpPr>
            <a:spLocks noChangeShapeType="1"/>
          </p:cNvSpPr>
          <p:nvPr/>
        </p:nvSpPr>
        <p:spPr bwMode="auto">
          <a:xfrm flipV="1">
            <a:off x="2676525" y="777875"/>
            <a:ext cx="0" cy="7620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74" name="Line 110"/>
          <p:cNvSpPr>
            <a:spLocks noChangeShapeType="1"/>
          </p:cNvSpPr>
          <p:nvPr/>
        </p:nvSpPr>
        <p:spPr bwMode="auto">
          <a:xfrm flipV="1">
            <a:off x="1914525" y="777875"/>
            <a:ext cx="0" cy="16002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75" name="Line 111"/>
          <p:cNvSpPr>
            <a:spLocks noChangeShapeType="1"/>
          </p:cNvSpPr>
          <p:nvPr/>
        </p:nvSpPr>
        <p:spPr bwMode="auto">
          <a:xfrm>
            <a:off x="2371725" y="4054475"/>
            <a:ext cx="0" cy="38100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76" name="Line 112"/>
          <p:cNvSpPr>
            <a:spLocks noChangeShapeType="1"/>
          </p:cNvSpPr>
          <p:nvPr/>
        </p:nvSpPr>
        <p:spPr bwMode="auto">
          <a:xfrm flipH="1">
            <a:off x="1228725" y="4435475"/>
            <a:ext cx="1143000"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77" name="Line 113"/>
          <p:cNvSpPr>
            <a:spLocks noChangeShapeType="1"/>
          </p:cNvSpPr>
          <p:nvPr/>
        </p:nvSpPr>
        <p:spPr bwMode="auto">
          <a:xfrm flipV="1">
            <a:off x="1228725" y="777875"/>
            <a:ext cx="0" cy="36576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78" name="Line 114"/>
          <p:cNvSpPr>
            <a:spLocks noChangeShapeType="1"/>
          </p:cNvSpPr>
          <p:nvPr/>
        </p:nvSpPr>
        <p:spPr bwMode="auto">
          <a:xfrm flipH="1">
            <a:off x="3590925" y="2225675"/>
            <a:ext cx="6096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79" name="Line 115"/>
          <p:cNvSpPr>
            <a:spLocks noChangeShapeType="1"/>
          </p:cNvSpPr>
          <p:nvPr/>
        </p:nvSpPr>
        <p:spPr bwMode="auto">
          <a:xfrm flipH="1">
            <a:off x="3590925" y="3722688"/>
            <a:ext cx="6096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80" name="Line 116"/>
          <p:cNvSpPr>
            <a:spLocks noChangeShapeType="1"/>
          </p:cNvSpPr>
          <p:nvPr/>
        </p:nvSpPr>
        <p:spPr bwMode="auto">
          <a:xfrm flipH="1">
            <a:off x="5114925" y="3825875"/>
            <a:ext cx="990600" cy="0"/>
          </a:xfrm>
          <a:prstGeom prst="line">
            <a:avLst/>
          </a:prstGeom>
          <a:noFill/>
          <a:ln w="1905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81" name="Line 120"/>
          <p:cNvSpPr>
            <a:spLocks noChangeShapeType="1"/>
          </p:cNvSpPr>
          <p:nvPr/>
        </p:nvSpPr>
        <p:spPr bwMode="auto">
          <a:xfrm>
            <a:off x="4733925" y="2454275"/>
            <a:ext cx="0" cy="3048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82" name="Line 121"/>
          <p:cNvSpPr>
            <a:spLocks noChangeShapeType="1"/>
          </p:cNvSpPr>
          <p:nvPr/>
        </p:nvSpPr>
        <p:spPr bwMode="auto">
          <a:xfrm flipV="1">
            <a:off x="4657725" y="3140075"/>
            <a:ext cx="0" cy="3810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83" name="Line 124"/>
          <p:cNvSpPr>
            <a:spLocks noChangeShapeType="1"/>
          </p:cNvSpPr>
          <p:nvPr/>
        </p:nvSpPr>
        <p:spPr bwMode="auto">
          <a:xfrm flipV="1">
            <a:off x="6562725" y="2835275"/>
            <a:ext cx="0" cy="685800"/>
          </a:xfrm>
          <a:prstGeom prst="line">
            <a:avLst/>
          </a:prstGeom>
          <a:noFill/>
          <a:ln w="19050">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84" name="Line 131"/>
          <p:cNvSpPr>
            <a:spLocks noChangeShapeType="1"/>
          </p:cNvSpPr>
          <p:nvPr/>
        </p:nvSpPr>
        <p:spPr bwMode="auto">
          <a:xfrm flipH="1">
            <a:off x="5953125" y="2606675"/>
            <a:ext cx="152400"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85" name="Line 132"/>
          <p:cNvSpPr>
            <a:spLocks noChangeShapeType="1"/>
          </p:cNvSpPr>
          <p:nvPr/>
        </p:nvSpPr>
        <p:spPr bwMode="auto">
          <a:xfrm flipV="1">
            <a:off x="5953125" y="2073275"/>
            <a:ext cx="0" cy="5334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86" name="Line 133"/>
          <p:cNvSpPr>
            <a:spLocks noChangeShapeType="1"/>
          </p:cNvSpPr>
          <p:nvPr/>
        </p:nvSpPr>
        <p:spPr bwMode="auto">
          <a:xfrm flipH="1">
            <a:off x="5724525" y="3597275"/>
            <a:ext cx="381000"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87" name="Line 134"/>
          <p:cNvSpPr>
            <a:spLocks noChangeShapeType="1"/>
          </p:cNvSpPr>
          <p:nvPr/>
        </p:nvSpPr>
        <p:spPr bwMode="auto">
          <a:xfrm flipV="1">
            <a:off x="5724525" y="2073275"/>
            <a:ext cx="0" cy="15240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88" name="Line 135"/>
          <p:cNvSpPr>
            <a:spLocks noChangeShapeType="1"/>
          </p:cNvSpPr>
          <p:nvPr/>
        </p:nvSpPr>
        <p:spPr bwMode="auto">
          <a:xfrm flipV="1">
            <a:off x="7400925" y="1692275"/>
            <a:ext cx="0" cy="18288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89" name="Line 136"/>
          <p:cNvSpPr>
            <a:spLocks noChangeShapeType="1"/>
          </p:cNvSpPr>
          <p:nvPr/>
        </p:nvSpPr>
        <p:spPr bwMode="auto">
          <a:xfrm flipV="1">
            <a:off x="7172325" y="777875"/>
            <a:ext cx="0" cy="3810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90" name="Line 137"/>
          <p:cNvSpPr>
            <a:spLocks noChangeShapeType="1"/>
          </p:cNvSpPr>
          <p:nvPr/>
        </p:nvSpPr>
        <p:spPr bwMode="auto">
          <a:xfrm flipH="1">
            <a:off x="4810125" y="1387475"/>
            <a:ext cx="1981200"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91" name="Line 138"/>
          <p:cNvSpPr>
            <a:spLocks noChangeShapeType="1"/>
          </p:cNvSpPr>
          <p:nvPr/>
        </p:nvSpPr>
        <p:spPr bwMode="auto">
          <a:xfrm>
            <a:off x="4810125" y="1387475"/>
            <a:ext cx="0" cy="6858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92" name="Line 139"/>
          <p:cNvSpPr>
            <a:spLocks noChangeShapeType="1"/>
          </p:cNvSpPr>
          <p:nvPr/>
        </p:nvSpPr>
        <p:spPr bwMode="auto">
          <a:xfrm flipV="1">
            <a:off x="4962525" y="1844675"/>
            <a:ext cx="0" cy="22860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93" name="Line 140"/>
          <p:cNvSpPr>
            <a:spLocks noChangeShapeType="1"/>
          </p:cNvSpPr>
          <p:nvPr/>
        </p:nvSpPr>
        <p:spPr bwMode="auto">
          <a:xfrm>
            <a:off x="4962525" y="1844675"/>
            <a:ext cx="3810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94" name="Line 143"/>
          <p:cNvSpPr>
            <a:spLocks noChangeShapeType="1"/>
          </p:cNvSpPr>
          <p:nvPr/>
        </p:nvSpPr>
        <p:spPr bwMode="auto">
          <a:xfrm>
            <a:off x="2524125" y="4054475"/>
            <a:ext cx="0" cy="8382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95" name="Line 144"/>
          <p:cNvSpPr>
            <a:spLocks noChangeShapeType="1"/>
          </p:cNvSpPr>
          <p:nvPr/>
        </p:nvSpPr>
        <p:spPr bwMode="auto">
          <a:xfrm flipH="1">
            <a:off x="1000125" y="5121275"/>
            <a:ext cx="381000"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96" name="Line 145"/>
          <p:cNvSpPr>
            <a:spLocks noChangeShapeType="1"/>
          </p:cNvSpPr>
          <p:nvPr/>
        </p:nvSpPr>
        <p:spPr bwMode="auto">
          <a:xfrm flipV="1">
            <a:off x="1000125" y="777875"/>
            <a:ext cx="0" cy="43434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97" name="Line 146"/>
          <p:cNvSpPr>
            <a:spLocks noChangeShapeType="1"/>
          </p:cNvSpPr>
          <p:nvPr/>
        </p:nvSpPr>
        <p:spPr bwMode="auto">
          <a:xfrm>
            <a:off x="3590925" y="4435475"/>
            <a:ext cx="457200" cy="0"/>
          </a:xfrm>
          <a:prstGeom prst="line">
            <a:avLst/>
          </a:prstGeom>
          <a:noFill/>
          <a:ln w="1905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98" name="Line 147"/>
          <p:cNvSpPr>
            <a:spLocks noChangeShapeType="1"/>
          </p:cNvSpPr>
          <p:nvPr/>
        </p:nvSpPr>
        <p:spPr bwMode="auto">
          <a:xfrm>
            <a:off x="4048125" y="4435475"/>
            <a:ext cx="0" cy="91440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599" name="Line 148"/>
          <p:cNvSpPr>
            <a:spLocks noChangeShapeType="1"/>
          </p:cNvSpPr>
          <p:nvPr/>
        </p:nvSpPr>
        <p:spPr bwMode="auto">
          <a:xfrm>
            <a:off x="4048125" y="5349875"/>
            <a:ext cx="3810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00" name="Line 149"/>
          <p:cNvSpPr>
            <a:spLocks noChangeShapeType="1"/>
          </p:cNvSpPr>
          <p:nvPr/>
        </p:nvSpPr>
        <p:spPr bwMode="auto">
          <a:xfrm>
            <a:off x="4048125" y="4892675"/>
            <a:ext cx="3810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01" name="Line 150"/>
          <p:cNvSpPr>
            <a:spLocks noChangeShapeType="1"/>
          </p:cNvSpPr>
          <p:nvPr/>
        </p:nvSpPr>
        <p:spPr bwMode="auto">
          <a:xfrm>
            <a:off x="4048125" y="4435475"/>
            <a:ext cx="3810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02" name="Line 152"/>
          <p:cNvSpPr>
            <a:spLocks noChangeShapeType="1"/>
          </p:cNvSpPr>
          <p:nvPr/>
        </p:nvSpPr>
        <p:spPr bwMode="auto">
          <a:xfrm>
            <a:off x="5495925" y="4435475"/>
            <a:ext cx="228600"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03" name="Line 153"/>
          <p:cNvSpPr>
            <a:spLocks noChangeShapeType="1"/>
          </p:cNvSpPr>
          <p:nvPr/>
        </p:nvSpPr>
        <p:spPr bwMode="auto">
          <a:xfrm>
            <a:off x="5724525" y="4435475"/>
            <a:ext cx="0" cy="45720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04" name="Line 154"/>
          <p:cNvSpPr>
            <a:spLocks noChangeShapeType="1"/>
          </p:cNvSpPr>
          <p:nvPr/>
        </p:nvSpPr>
        <p:spPr bwMode="auto">
          <a:xfrm flipH="1">
            <a:off x="5419725" y="4976813"/>
            <a:ext cx="30480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05" name="Line 155"/>
          <p:cNvSpPr>
            <a:spLocks noChangeShapeType="1"/>
          </p:cNvSpPr>
          <p:nvPr/>
        </p:nvSpPr>
        <p:spPr bwMode="auto">
          <a:xfrm flipV="1">
            <a:off x="3514725" y="777875"/>
            <a:ext cx="0" cy="7620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06" name="Line 156"/>
          <p:cNvSpPr>
            <a:spLocks noChangeShapeType="1"/>
          </p:cNvSpPr>
          <p:nvPr/>
        </p:nvSpPr>
        <p:spPr bwMode="auto">
          <a:xfrm>
            <a:off x="2676525" y="2073275"/>
            <a:ext cx="0" cy="3886200"/>
          </a:xfrm>
          <a:prstGeom prst="line">
            <a:avLst/>
          </a:prstGeom>
          <a:noFill/>
          <a:ln w="9525">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07" name="Line 157"/>
          <p:cNvSpPr>
            <a:spLocks noChangeShapeType="1"/>
          </p:cNvSpPr>
          <p:nvPr/>
        </p:nvSpPr>
        <p:spPr bwMode="auto">
          <a:xfrm>
            <a:off x="4200525" y="2454275"/>
            <a:ext cx="0" cy="3505200"/>
          </a:xfrm>
          <a:prstGeom prst="line">
            <a:avLst/>
          </a:prstGeom>
          <a:noFill/>
          <a:ln w="9525">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08" name="Line 158"/>
          <p:cNvSpPr>
            <a:spLocks noChangeShapeType="1"/>
          </p:cNvSpPr>
          <p:nvPr/>
        </p:nvSpPr>
        <p:spPr bwMode="auto">
          <a:xfrm>
            <a:off x="6715125" y="3902075"/>
            <a:ext cx="0" cy="2057400"/>
          </a:xfrm>
          <a:prstGeom prst="line">
            <a:avLst/>
          </a:prstGeom>
          <a:noFill/>
          <a:ln w="9525">
            <a:solidFill>
              <a:srgbClr val="FF33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09" name="Rectangle 28"/>
          <p:cNvSpPr>
            <a:spLocks noChangeArrowheads="1"/>
          </p:cNvSpPr>
          <p:nvPr/>
        </p:nvSpPr>
        <p:spPr bwMode="auto">
          <a:xfrm>
            <a:off x="6759575" y="1158875"/>
            <a:ext cx="928688" cy="530225"/>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AR</a:t>
            </a:r>
          </a:p>
          <a:p>
            <a:pPr>
              <a:spcBef>
                <a:spcPct val="0"/>
              </a:spcBef>
              <a:buFont typeface="Monotype Sorts" pitchFamily="2" charset="2"/>
              <a:buNone/>
            </a:pPr>
            <a:r>
              <a:rPr lang="en-US" altLang="en-US" sz="800"/>
              <a:t>Accounts Receivables     </a:t>
            </a:r>
            <a:r>
              <a:rPr lang="es-MX" altLang="en-US" sz="800"/>
              <a:t> </a:t>
            </a:r>
            <a:endParaRPr lang="en-US" altLang="en-US" sz="800"/>
          </a:p>
        </p:txBody>
      </p:sp>
      <p:sp>
        <p:nvSpPr>
          <p:cNvPr id="107610" name="Rectangle 24"/>
          <p:cNvSpPr>
            <a:spLocks noChangeArrowheads="1"/>
          </p:cNvSpPr>
          <p:nvPr/>
        </p:nvSpPr>
        <p:spPr bwMode="auto">
          <a:xfrm>
            <a:off x="6092825" y="3494088"/>
            <a:ext cx="1460500" cy="407987"/>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OM</a:t>
            </a:r>
          </a:p>
          <a:p>
            <a:pPr>
              <a:spcBef>
                <a:spcPct val="0"/>
              </a:spcBef>
              <a:buFont typeface="Monotype Sorts" pitchFamily="2" charset="2"/>
              <a:buNone/>
            </a:pPr>
            <a:r>
              <a:rPr lang="en-US" altLang="en-US" sz="800"/>
              <a:t>Order Management</a:t>
            </a:r>
          </a:p>
        </p:txBody>
      </p:sp>
      <p:sp>
        <p:nvSpPr>
          <p:cNvPr id="107611" name="Text Box 159"/>
          <p:cNvSpPr txBox="1">
            <a:spLocks noChangeArrowheads="1"/>
          </p:cNvSpPr>
          <p:nvPr/>
        </p:nvSpPr>
        <p:spPr bwMode="auto">
          <a:xfrm>
            <a:off x="1152525" y="777875"/>
            <a:ext cx="603250"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Compras</a:t>
            </a:r>
          </a:p>
        </p:txBody>
      </p:sp>
      <p:sp>
        <p:nvSpPr>
          <p:cNvPr id="107612" name="Text Box 160"/>
          <p:cNvSpPr txBox="1">
            <a:spLocks noChangeArrowheads="1"/>
          </p:cNvSpPr>
          <p:nvPr/>
        </p:nvSpPr>
        <p:spPr bwMode="auto">
          <a:xfrm>
            <a:off x="2703513" y="3063875"/>
            <a:ext cx="530225"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Po/Req</a:t>
            </a:r>
          </a:p>
        </p:txBody>
      </p:sp>
      <p:sp>
        <p:nvSpPr>
          <p:cNvPr id="107613" name="Rectangle 26"/>
          <p:cNvSpPr>
            <a:spLocks noChangeArrowheads="1"/>
          </p:cNvSpPr>
          <p:nvPr/>
        </p:nvSpPr>
        <p:spPr bwMode="auto">
          <a:xfrm>
            <a:off x="4124325" y="2073275"/>
            <a:ext cx="1011238" cy="407988"/>
          </a:xfrm>
          <a:prstGeom prst="rect">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s-MX" altLang="en-US" sz="800"/>
              <a:t>FS</a:t>
            </a:r>
            <a:endParaRPr lang="en-US" altLang="en-US" sz="800"/>
          </a:p>
          <a:p>
            <a:pPr>
              <a:spcBef>
                <a:spcPct val="0"/>
              </a:spcBef>
              <a:buFont typeface="Monotype Sorts" pitchFamily="2" charset="2"/>
              <a:buNone/>
            </a:pPr>
            <a:r>
              <a:rPr lang="en-US" altLang="en-US" sz="800"/>
              <a:t>   Field Service    </a:t>
            </a:r>
            <a:r>
              <a:rPr lang="es-MX" altLang="en-US" sz="800"/>
              <a:t> </a:t>
            </a:r>
            <a:endParaRPr lang="en-US" altLang="en-US" sz="800"/>
          </a:p>
        </p:txBody>
      </p:sp>
      <p:sp>
        <p:nvSpPr>
          <p:cNvPr id="107614" name="Rectangle 31"/>
          <p:cNvSpPr>
            <a:spLocks noChangeArrowheads="1"/>
          </p:cNvSpPr>
          <p:nvPr/>
        </p:nvSpPr>
        <p:spPr bwMode="auto">
          <a:xfrm>
            <a:off x="4200525" y="3529013"/>
            <a:ext cx="928688" cy="338137"/>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WS</a:t>
            </a:r>
          </a:p>
          <a:p>
            <a:pPr>
              <a:spcBef>
                <a:spcPct val="0"/>
              </a:spcBef>
              <a:buFont typeface="Monotype Sorts" pitchFamily="2" charset="2"/>
              <a:buNone/>
            </a:pPr>
            <a:r>
              <a:rPr lang="en-US" altLang="en-US" sz="800"/>
              <a:t>Shipping     </a:t>
            </a:r>
            <a:r>
              <a:rPr lang="es-MX" altLang="en-US" sz="800"/>
              <a:t> </a:t>
            </a:r>
            <a:endParaRPr lang="en-US" altLang="en-US" sz="800"/>
          </a:p>
        </p:txBody>
      </p:sp>
      <p:sp>
        <p:nvSpPr>
          <p:cNvPr id="107615" name="Rectangle 32"/>
          <p:cNvSpPr>
            <a:spLocks noChangeArrowheads="1"/>
          </p:cNvSpPr>
          <p:nvPr/>
        </p:nvSpPr>
        <p:spPr bwMode="auto">
          <a:xfrm>
            <a:off x="4276725" y="2732088"/>
            <a:ext cx="779463" cy="407987"/>
          </a:xfrm>
          <a:prstGeom prst="rect">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s-MX" altLang="en-US" sz="800"/>
              <a:t>IB/EIB</a:t>
            </a:r>
            <a:endParaRPr lang="en-US" altLang="en-US" sz="800"/>
          </a:p>
          <a:p>
            <a:pPr>
              <a:spcBef>
                <a:spcPct val="0"/>
              </a:spcBef>
              <a:buFont typeface="Monotype Sorts" pitchFamily="2" charset="2"/>
              <a:buNone/>
            </a:pPr>
            <a:r>
              <a:rPr lang="en-US" altLang="en-US" sz="800"/>
              <a:t>  Install Base</a:t>
            </a:r>
          </a:p>
        </p:txBody>
      </p:sp>
      <p:sp>
        <p:nvSpPr>
          <p:cNvPr id="107616" name="Text Box 163"/>
          <p:cNvSpPr txBox="1">
            <a:spLocks noChangeArrowheads="1"/>
          </p:cNvSpPr>
          <p:nvPr/>
        </p:nvSpPr>
        <p:spPr bwMode="auto">
          <a:xfrm>
            <a:off x="2033588" y="4740275"/>
            <a:ext cx="466725" cy="2159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Ativos</a:t>
            </a:r>
          </a:p>
        </p:txBody>
      </p:sp>
      <p:sp>
        <p:nvSpPr>
          <p:cNvPr id="107617" name="Rectangle 86"/>
          <p:cNvSpPr>
            <a:spLocks noChangeArrowheads="1"/>
          </p:cNvSpPr>
          <p:nvPr/>
        </p:nvSpPr>
        <p:spPr bwMode="auto">
          <a:xfrm>
            <a:off x="2143125" y="3597275"/>
            <a:ext cx="838200" cy="471488"/>
          </a:xfrm>
          <a:prstGeom prst="rect">
            <a:avLst/>
          </a:prstGeom>
          <a:solidFill>
            <a:srgbClr val="CCFF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RI </a:t>
            </a:r>
          </a:p>
          <a:p>
            <a:pPr>
              <a:spcBef>
                <a:spcPct val="0"/>
              </a:spcBef>
              <a:buFontTx/>
              <a:buNone/>
            </a:pPr>
            <a:r>
              <a:rPr lang="es-MX" altLang="en-US" sz="800"/>
              <a:t>Integrated Receiving</a:t>
            </a:r>
          </a:p>
        </p:txBody>
      </p:sp>
      <p:sp>
        <p:nvSpPr>
          <p:cNvPr id="107618" name="Line 164"/>
          <p:cNvSpPr>
            <a:spLocks noChangeShapeType="1"/>
          </p:cNvSpPr>
          <p:nvPr/>
        </p:nvSpPr>
        <p:spPr bwMode="auto">
          <a:xfrm>
            <a:off x="6638925" y="3902075"/>
            <a:ext cx="0" cy="182880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19" name="Line 165"/>
          <p:cNvSpPr>
            <a:spLocks noChangeShapeType="1"/>
          </p:cNvSpPr>
          <p:nvPr/>
        </p:nvSpPr>
        <p:spPr bwMode="auto">
          <a:xfrm flipH="1">
            <a:off x="2828925" y="5730875"/>
            <a:ext cx="3810000"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20" name="Text Box 169"/>
          <p:cNvSpPr txBox="1">
            <a:spLocks noChangeArrowheads="1"/>
          </p:cNvSpPr>
          <p:nvPr/>
        </p:nvSpPr>
        <p:spPr bwMode="auto">
          <a:xfrm>
            <a:off x="2506663" y="4068763"/>
            <a:ext cx="398462" cy="214312"/>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en-US" altLang="en-US" sz="800"/>
              <a:t>Rma</a:t>
            </a:r>
          </a:p>
        </p:txBody>
      </p:sp>
      <p:sp>
        <p:nvSpPr>
          <p:cNvPr id="107621" name="Line 170"/>
          <p:cNvSpPr>
            <a:spLocks noChangeShapeType="1"/>
          </p:cNvSpPr>
          <p:nvPr/>
        </p:nvSpPr>
        <p:spPr bwMode="auto">
          <a:xfrm flipH="1">
            <a:off x="2600325" y="4359275"/>
            <a:ext cx="762000"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22" name="Line 171"/>
          <p:cNvSpPr>
            <a:spLocks noChangeShapeType="1"/>
          </p:cNvSpPr>
          <p:nvPr/>
        </p:nvSpPr>
        <p:spPr bwMode="auto">
          <a:xfrm>
            <a:off x="2600325" y="4359275"/>
            <a:ext cx="0" cy="5334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23" name="Line 174"/>
          <p:cNvSpPr>
            <a:spLocks noChangeShapeType="1"/>
          </p:cNvSpPr>
          <p:nvPr/>
        </p:nvSpPr>
        <p:spPr bwMode="auto">
          <a:xfrm flipV="1">
            <a:off x="2828925" y="4054475"/>
            <a:ext cx="0" cy="16764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24" name="Line 5"/>
          <p:cNvSpPr>
            <a:spLocks noChangeShapeType="1"/>
          </p:cNvSpPr>
          <p:nvPr/>
        </p:nvSpPr>
        <p:spPr bwMode="auto">
          <a:xfrm>
            <a:off x="0" y="1125538"/>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
        <p:nvSpPr>
          <p:cNvPr id="107625" name="Rectangle 10"/>
          <p:cNvSpPr>
            <a:spLocks noChangeArrowheads="1"/>
          </p:cNvSpPr>
          <p:nvPr/>
        </p:nvSpPr>
        <p:spPr bwMode="auto">
          <a:xfrm>
            <a:off x="1190625" y="6442075"/>
            <a:ext cx="6477000" cy="215900"/>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PeopleSoftware</a:t>
            </a:r>
          </a:p>
        </p:txBody>
      </p:sp>
      <p:sp>
        <p:nvSpPr>
          <p:cNvPr id="107626" name="Line 110"/>
          <p:cNvSpPr>
            <a:spLocks noChangeShapeType="1"/>
          </p:cNvSpPr>
          <p:nvPr/>
        </p:nvSpPr>
        <p:spPr bwMode="auto">
          <a:xfrm flipH="1" flipV="1">
            <a:off x="2033588" y="6188075"/>
            <a:ext cx="0" cy="25400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27" name="Rectangle 11"/>
          <p:cNvSpPr>
            <a:spLocks noChangeArrowheads="1"/>
          </p:cNvSpPr>
          <p:nvPr/>
        </p:nvSpPr>
        <p:spPr bwMode="auto">
          <a:xfrm>
            <a:off x="34925" y="3678238"/>
            <a:ext cx="838200" cy="460375"/>
          </a:xfrm>
          <a:prstGeom prst="rect">
            <a:avLst/>
          </a:prstGeom>
          <a:solidFill>
            <a:srgbClr val="FF0000"/>
          </a:solidFill>
          <a:ln w="12700">
            <a:solidFill>
              <a:schemeClr val="tx1"/>
            </a:solidFill>
            <a:miter lim="800000"/>
            <a:headEnd type="none" w="sm" len="sm"/>
            <a:tailEnd type="none" w="sm" len="sm"/>
          </a:ln>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Fusion </a:t>
            </a:r>
          </a:p>
          <a:p>
            <a:pPr>
              <a:spcBef>
                <a:spcPct val="0"/>
              </a:spcBef>
              <a:buFontTx/>
              <a:buNone/>
            </a:pPr>
            <a:r>
              <a:rPr lang="es-MX" altLang="en-US" sz="800"/>
              <a:t>Expense</a:t>
            </a:r>
          </a:p>
          <a:p>
            <a:pPr>
              <a:spcBef>
                <a:spcPct val="0"/>
              </a:spcBef>
              <a:buFontTx/>
              <a:buNone/>
            </a:pPr>
            <a:r>
              <a:rPr lang="es-MX" altLang="en-US" sz="800"/>
              <a:t>iExpense</a:t>
            </a:r>
          </a:p>
        </p:txBody>
      </p:sp>
      <p:cxnSp>
        <p:nvCxnSpPr>
          <p:cNvPr id="107628" name="Elbow Connector 2"/>
          <p:cNvCxnSpPr>
            <a:cxnSpLocks noChangeShapeType="1"/>
            <a:stCxn id="107627" idx="0"/>
          </p:cNvCxnSpPr>
          <p:nvPr/>
        </p:nvCxnSpPr>
        <p:spPr bwMode="auto">
          <a:xfrm rot="5400000" flipH="1" flipV="1">
            <a:off x="343693" y="2717007"/>
            <a:ext cx="1071563" cy="850900"/>
          </a:xfrm>
          <a:prstGeom prst="bentConnector3">
            <a:avLst>
              <a:gd name="adj1" fmla="val 99704"/>
            </a:avLst>
          </a:prstGeom>
          <a:noFill/>
          <a:ln w="9525">
            <a:solidFill>
              <a:schemeClr val="tx1"/>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107629" name="Elbow Connector 5"/>
          <p:cNvCxnSpPr>
            <a:cxnSpLocks noChangeShapeType="1"/>
            <a:stCxn id="107627" idx="2"/>
            <a:endCxn id="107528" idx="1"/>
          </p:cNvCxnSpPr>
          <p:nvPr/>
        </p:nvCxnSpPr>
        <p:spPr bwMode="auto">
          <a:xfrm rot="16200000" flipH="1">
            <a:off x="-165100" y="4757738"/>
            <a:ext cx="1936750" cy="698500"/>
          </a:xfrm>
          <a:prstGeom prst="bentConnector2">
            <a:avLst/>
          </a:prstGeom>
          <a:noFill/>
          <a:ln w="19050">
            <a:solidFill>
              <a:schemeClr val="accent2"/>
            </a:solidFill>
            <a:miter lim="800000"/>
            <a:headEnd type="triangle" w="med" len="med"/>
            <a:tailEnd/>
          </a:ln>
          <a:extLst>
            <a:ext uri="{909E8E84-426E-40DD-AFC4-6F175D3DCCD1}">
              <a14:hiddenFill xmlns:a14="http://schemas.microsoft.com/office/drawing/2010/main">
                <a:noFill/>
              </a14:hiddenFill>
            </a:ext>
          </a:extLst>
        </p:spPr>
      </p:cxnSp>
      <p:cxnSp>
        <p:nvCxnSpPr>
          <p:cNvPr id="107630" name="Elbow Connector 121"/>
          <p:cNvCxnSpPr>
            <a:cxnSpLocks noChangeShapeType="1"/>
            <a:stCxn id="107627" idx="0"/>
            <a:endCxn id="107561" idx="1"/>
          </p:cNvCxnSpPr>
          <p:nvPr/>
        </p:nvCxnSpPr>
        <p:spPr bwMode="auto">
          <a:xfrm rot="5400000" flipH="1" flipV="1">
            <a:off x="-856457" y="1974057"/>
            <a:ext cx="3014663" cy="393700"/>
          </a:xfrm>
          <a:prstGeom prst="bentConnector2">
            <a:avLst/>
          </a:prstGeom>
          <a:noFill/>
          <a:ln w="19050">
            <a:solidFill>
              <a:schemeClr val="accent2"/>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107631" name="Rectangle 11"/>
          <p:cNvSpPr>
            <a:spLocks noChangeArrowheads="1"/>
          </p:cNvSpPr>
          <p:nvPr/>
        </p:nvSpPr>
        <p:spPr bwMode="auto">
          <a:xfrm>
            <a:off x="7235825" y="4437063"/>
            <a:ext cx="838200" cy="461962"/>
          </a:xfrm>
          <a:prstGeom prst="rect">
            <a:avLst/>
          </a:prstGeom>
          <a:solidFill>
            <a:schemeClr val="accent1"/>
          </a:solidFill>
          <a:ln w="12700">
            <a:solidFill>
              <a:schemeClr val="tx1"/>
            </a:solidFill>
            <a:miter lim="800000"/>
            <a:headEnd type="none" w="sm" len="sm"/>
            <a:tailEnd type="none" w="sm" len="sm"/>
          </a:ln>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GAC</a:t>
            </a:r>
          </a:p>
          <a:p>
            <a:pPr>
              <a:spcBef>
                <a:spcPct val="0"/>
              </a:spcBef>
              <a:buFontTx/>
              <a:buNone/>
            </a:pPr>
            <a:r>
              <a:rPr lang="es-MX" altLang="en-US" sz="800"/>
              <a:t>Acompa</a:t>
            </a:r>
          </a:p>
          <a:p>
            <a:pPr>
              <a:spcBef>
                <a:spcPct val="0"/>
              </a:spcBef>
              <a:buFontTx/>
              <a:buNone/>
            </a:pPr>
            <a:r>
              <a:rPr lang="es-MX" altLang="en-US" sz="800"/>
              <a:t>Chamado</a:t>
            </a:r>
          </a:p>
        </p:txBody>
      </p:sp>
      <p:sp>
        <p:nvSpPr>
          <p:cNvPr id="107632" name="Rectangle 11"/>
          <p:cNvSpPr>
            <a:spLocks noChangeArrowheads="1"/>
          </p:cNvSpPr>
          <p:nvPr/>
        </p:nvSpPr>
        <p:spPr bwMode="auto">
          <a:xfrm>
            <a:off x="7962900" y="5157788"/>
            <a:ext cx="838200" cy="461962"/>
          </a:xfrm>
          <a:prstGeom prst="rect">
            <a:avLst/>
          </a:prstGeom>
          <a:solidFill>
            <a:schemeClr val="accent1"/>
          </a:solidFill>
          <a:ln w="12700">
            <a:solidFill>
              <a:schemeClr val="tx1"/>
            </a:solidFill>
            <a:miter lim="800000"/>
            <a:headEnd type="none" w="sm" len="sm"/>
            <a:tailEnd type="none" w="sm" len="sm"/>
          </a:ln>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ARS</a:t>
            </a:r>
          </a:p>
          <a:p>
            <a:pPr>
              <a:spcBef>
                <a:spcPct val="0"/>
              </a:spcBef>
              <a:buFontTx/>
              <a:buNone/>
            </a:pPr>
            <a:r>
              <a:rPr lang="es-MX" altLang="en-US" sz="800"/>
              <a:t>Action</a:t>
            </a:r>
          </a:p>
          <a:p>
            <a:pPr>
              <a:spcBef>
                <a:spcPct val="0"/>
              </a:spcBef>
              <a:buFontTx/>
              <a:buNone/>
            </a:pPr>
            <a:r>
              <a:rPr lang="es-MX" altLang="en-US" sz="800"/>
              <a:t>Request Sys</a:t>
            </a:r>
          </a:p>
        </p:txBody>
      </p:sp>
      <p:cxnSp>
        <p:nvCxnSpPr>
          <p:cNvPr id="107633" name="Elbow Connector 9"/>
          <p:cNvCxnSpPr>
            <a:cxnSpLocks noChangeShapeType="1"/>
          </p:cNvCxnSpPr>
          <p:nvPr/>
        </p:nvCxnSpPr>
        <p:spPr bwMode="auto">
          <a:xfrm rot="10800000">
            <a:off x="6759575" y="3875088"/>
            <a:ext cx="476250" cy="795337"/>
          </a:xfrm>
          <a:prstGeom prst="bentConnector4">
            <a:avLst>
              <a:gd name="adj1" fmla="val 50000"/>
              <a:gd name="adj2" fmla="val -722"/>
            </a:avLst>
          </a:prstGeom>
          <a:noFill/>
          <a:ln w="19050">
            <a:solidFill>
              <a:schemeClr val="accent2"/>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107634" name="Elbow Connector 12"/>
          <p:cNvCxnSpPr>
            <a:cxnSpLocks noChangeShapeType="1"/>
            <a:stCxn id="107631" idx="2"/>
            <a:endCxn id="107632" idx="0"/>
          </p:cNvCxnSpPr>
          <p:nvPr/>
        </p:nvCxnSpPr>
        <p:spPr bwMode="auto">
          <a:xfrm rot="16200000" flipH="1">
            <a:off x="7889081" y="4664869"/>
            <a:ext cx="258763" cy="727075"/>
          </a:xfrm>
          <a:prstGeom prst="bentConnector3">
            <a:avLst>
              <a:gd name="adj1" fmla="val 50000"/>
            </a:avLst>
          </a:prstGeom>
          <a:noFill/>
          <a:ln w="19050">
            <a:solidFill>
              <a:schemeClr val="accent2"/>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107635" name="Rectangle 11"/>
          <p:cNvSpPr>
            <a:spLocks noChangeArrowheads="1"/>
          </p:cNvSpPr>
          <p:nvPr/>
        </p:nvSpPr>
        <p:spPr bwMode="auto">
          <a:xfrm>
            <a:off x="8863013" y="4292600"/>
            <a:ext cx="246062" cy="755650"/>
          </a:xfrm>
          <a:prstGeom prst="rect">
            <a:avLst/>
          </a:prstGeom>
          <a:solidFill>
            <a:srgbClr val="FF0000"/>
          </a:solidFill>
          <a:ln w="12700">
            <a:solidFill>
              <a:schemeClr val="tx1"/>
            </a:solidFill>
            <a:miter lim="800000"/>
            <a:headEnd type="none" w="sm" len="sm"/>
            <a:tailEnd type="none" w="sm" len="sm"/>
          </a:ln>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T</a:t>
            </a:r>
          </a:p>
          <a:p>
            <a:pPr>
              <a:spcBef>
                <a:spcPct val="0"/>
              </a:spcBef>
              <a:buFontTx/>
              <a:buNone/>
            </a:pPr>
            <a:endParaRPr lang="es-MX" altLang="en-US" sz="800"/>
          </a:p>
          <a:p>
            <a:pPr>
              <a:spcBef>
                <a:spcPct val="0"/>
              </a:spcBef>
              <a:buFontTx/>
              <a:buNone/>
            </a:pPr>
            <a:r>
              <a:rPr lang="es-MX" altLang="en-US" sz="800"/>
              <a:t>O</a:t>
            </a:r>
          </a:p>
          <a:p>
            <a:pPr>
              <a:spcBef>
                <a:spcPct val="0"/>
              </a:spcBef>
              <a:buFontTx/>
              <a:buNone/>
            </a:pPr>
            <a:endParaRPr lang="es-MX" altLang="en-US" sz="800"/>
          </a:p>
          <a:p>
            <a:pPr>
              <a:spcBef>
                <a:spcPct val="0"/>
              </a:spcBef>
              <a:buFontTx/>
              <a:buNone/>
            </a:pPr>
            <a:r>
              <a:rPr lang="es-MX" altLang="en-US" sz="800"/>
              <a:t>A</a:t>
            </a:r>
          </a:p>
          <a:p>
            <a:pPr>
              <a:spcBef>
                <a:spcPct val="0"/>
              </a:spcBef>
              <a:buFontTx/>
              <a:buNone/>
            </a:pPr>
            <a:endParaRPr lang="es-MX" altLang="en-US" sz="800"/>
          </a:p>
        </p:txBody>
      </p:sp>
      <p:cxnSp>
        <p:nvCxnSpPr>
          <p:cNvPr id="107636" name="Elbow Connector 14"/>
          <p:cNvCxnSpPr>
            <a:cxnSpLocks noChangeShapeType="1"/>
            <a:stCxn id="107631" idx="3"/>
            <a:endCxn id="107635" idx="1"/>
          </p:cNvCxnSpPr>
          <p:nvPr/>
        </p:nvCxnSpPr>
        <p:spPr bwMode="auto">
          <a:xfrm>
            <a:off x="8074025" y="4667250"/>
            <a:ext cx="788988" cy="3175"/>
          </a:xfrm>
          <a:prstGeom prst="bentConnector3">
            <a:avLst>
              <a:gd name="adj1" fmla="val 50000"/>
            </a:avLst>
          </a:prstGeom>
          <a:noFill/>
          <a:ln w="19050">
            <a:solidFill>
              <a:schemeClr val="accent2"/>
            </a:solidFill>
            <a:miter lim="800000"/>
            <a:headEnd/>
            <a:tailEnd type="triangle" w="med" len="med"/>
          </a:ln>
          <a:extLst>
            <a:ext uri="{909E8E84-426E-40DD-AFC4-6F175D3DCCD1}">
              <a14:hiddenFill xmlns:a14="http://schemas.microsoft.com/office/drawing/2010/main">
                <a:noFill/>
              </a14:hiddenFill>
            </a:ext>
          </a:extLst>
        </p:spPr>
      </p:cxnSp>
      <p:sp>
        <p:nvSpPr>
          <p:cNvPr id="107637" name="Rectangle 85"/>
          <p:cNvSpPr>
            <a:spLocks noChangeArrowheads="1"/>
          </p:cNvSpPr>
          <p:nvPr/>
        </p:nvSpPr>
        <p:spPr bwMode="auto">
          <a:xfrm>
            <a:off x="4352925" y="938213"/>
            <a:ext cx="795338" cy="366712"/>
          </a:xfrm>
          <a:prstGeom prst="rect">
            <a:avLst/>
          </a:prstGeom>
          <a:solidFill>
            <a:srgbClr val="CCFF66"/>
          </a:solidFill>
          <a:ln w="9525">
            <a:solidFill>
              <a:schemeClr val="tx1"/>
            </a:solidFill>
            <a:miter lim="800000"/>
            <a:headEnd/>
            <a:tailEnd/>
          </a:ln>
        </p:spPr>
        <p:txBody>
          <a:bodyPr lIns="0" tIns="0" rIns="0" bIns="0">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s-MX" altLang="en-US" sz="800">
              <a:solidFill>
                <a:srgbClr val="000000"/>
              </a:solidFill>
            </a:endParaRPr>
          </a:p>
          <a:p>
            <a:pPr>
              <a:spcBef>
                <a:spcPct val="0"/>
              </a:spcBef>
              <a:buFontTx/>
              <a:buNone/>
            </a:pPr>
            <a:r>
              <a:rPr lang="es-MX" altLang="en-US" sz="800">
                <a:solidFill>
                  <a:srgbClr val="000000"/>
                </a:solidFill>
              </a:rPr>
              <a:t>TCA</a:t>
            </a:r>
          </a:p>
          <a:p>
            <a:pPr>
              <a:spcBef>
                <a:spcPct val="0"/>
              </a:spcBef>
              <a:buFontTx/>
              <a:buNone/>
            </a:pPr>
            <a:r>
              <a:rPr lang="es-MX" altLang="en-US" sz="800">
                <a:solidFill>
                  <a:srgbClr val="000000"/>
                </a:solidFill>
              </a:rPr>
              <a:t>Trad Community</a:t>
            </a:r>
          </a:p>
          <a:p>
            <a:pPr>
              <a:spcBef>
                <a:spcPct val="0"/>
              </a:spcBef>
              <a:buFontTx/>
              <a:buNone/>
            </a:pPr>
            <a:endParaRPr lang="es-MX" altLang="en-US" sz="800">
              <a:solidFill>
                <a:srgbClr val="000000"/>
              </a:solidFill>
            </a:endParaRPr>
          </a:p>
          <a:p>
            <a:pPr>
              <a:spcBef>
                <a:spcPct val="0"/>
              </a:spcBef>
              <a:buFontTx/>
              <a:buNone/>
            </a:pPr>
            <a:r>
              <a:rPr lang="es-MX" altLang="en-US" sz="800">
                <a:solidFill>
                  <a:srgbClr val="000000"/>
                </a:solidFill>
              </a:rPr>
              <a:t> </a:t>
            </a:r>
            <a:endParaRPr lang="es-MX" altLang="en-US" sz="800"/>
          </a:p>
        </p:txBody>
      </p:sp>
      <p:sp>
        <p:nvSpPr>
          <p:cNvPr id="107638" name="Rectangle 37"/>
          <p:cNvSpPr>
            <a:spLocks noChangeArrowheads="1"/>
          </p:cNvSpPr>
          <p:nvPr/>
        </p:nvSpPr>
        <p:spPr bwMode="auto">
          <a:xfrm>
            <a:off x="5561013" y="930275"/>
            <a:ext cx="604837" cy="338138"/>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Monotype Sorts" pitchFamily="2" charset="2"/>
              <a:buNone/>
            </a:pPr>
            <a:r>
              <a:rPr lang="pt-BR" altLang="en-US" sz="800"/>
              <a:t>SERASA</a:t>
            </a:r>
          </a:p>
          <a:p>
            <a:pPr>
              <a:spcBef>
                <a:spcPct val="0"/>
              </a:spcBef>
              <a:buFont typeface="Monotype Sorts" pitchFamily="2" charset="2"/>
              <a:buNone/>
            </a:pPr>
            <a:r>
              <a:rPr lang="pt-BR" altLang="en-US" sz="800"/>
              <a:t>Expirian</a:t>
            </a:r>
            <a:endParaRPr lang="en-US" altLang="en-US" sz="800"/>
          </a:p>
        </p:txBody>
      </p:sp>
      <p:sp>
        <p:nvSpPr>
          <p:cNvPr id="107639" name="Line 119"/>
          <p:cNvSpPr>
            <a:spLocks noChangeShapeType="1"/>
          </p:cNvSpPr>
          <p:nvPr/>
        </p:nvSpPr>
        <p:spPr bwMode="auto">
          <a:xfrm flipH="1">
            <a:off x="5148263" y="1123950"/>
            <a:ext cx="412750" cy="0"/>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40" name="Line 137"/>
          <p:cNvSpPr>
            <a:spLocks noChangeShapeType="1"/>
          </p:cNvSpPr>
          <p:nvPr/>
        </p:nvSpPr>
        <p:spPr bwMode="auto">
          <a:xfrm flipH="1" flipV="1">
            <a:off x="2700338" y="1123950"/>
            <a:ext cx="1652587" cy="1588"/>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41" name="Line 137"/>
          <p:cNvSpPr>
            <a:spLocks noChangeShapeType="1"/>
          </p:cNvSpPr>
          <p:nvPr/>
        </p:nvSpPr>
        <p:spPr bwMode="auto">
          <a:xfrm flipH="1">
            <a:off x="4778375" y="1539875"/>
            <a:ext cx="1981200" cy="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sp>
        <p:nvSpPr>
          <p:cNvPr id="107642" name="Line 110"/>
          <p:cNvSpPr>
            <a:spLocks noChangeShapeType="1"/>
          </p:cNvSpPr>
          <p:nvPr/>
        </p:nvSpPr>
        <p:spPr bwMode="auto">
          <a:xfrm flipH="1">
            <a:off x="3487738" y="6175375"/>
            <a:ext cx="4762" cy="277813"/>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pt-BR"/>
          </a:p>
        </p:txBody>
      </p:sp>
      <p:cxnSp>
        <p:nvCxnSpPr>
          <p:cNvPr id="107643" name="Conector de seta reta 2"/>
          <p:cNvCxnSpPr>
            <a:cxnSpLocks noChangeShapeType="1"/>
          </p:cNvCxnSpPr>
          <p:nvPr/>
        </p:nvCxnSpPr>
        <p:spPr bwMode="auto">
          <a:xfrm>
            <a:off x="7524750" y="4899025"/>
            <a:ext cx="0" cy="1060450"/>
          </a:xfrm>
          <a:prstGeom prst="straightConnector1">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cxnSp>
      <p:sp>
        <p:nvSpPr>
          <p:cNvPr id="107644" name="Rectangle 11"/>
          <p:cNvSpPr>
            <a:spLocks noChangeArrowheads="1"/>
          </p:cNvSpPr>
          <p:nvPr/>
        </p:nvSpPr>
        <p:spPr bwMode="auto">
          <a:xfrm>
            <a:off x="8863013" y="2922588"/>
            <a:ext cx="215900" cy="830262"/>
          </a:xfrm>
          <a:prstGeom prst="rect">
            <a:avLst/>
          </a:prstGeom>
          <a:solidFill>
            <a:srgbClr val="FFFF00"/>
          </a:solidFill>
          <a:ln w="12700">
            <a:solidFill>
              <a:schemeClr val="tx1"/>
            </a:solidFill>
            <a:miter lim="800000"/>
            <a:headEnd type="none" w="sm" len="sm"/>
            <a:tailEnd type="none" w="sm" len="sm"/>
          </a:ln>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B</a:t>
            </a:r>
          </a:p>
          <a:p>
            <a:pPr>
              <a:spcBef>
                <a:spcPct val="0"/>
              </a:spcBef>
              <a:buFontTx/>
              <a:buNone/>
            </a:pPr>
            <a:r>
              <a:rPr lang="es-MX" altLang="en-US" sz="800"/>
              <a:t>RASIL</a:t>
            </a:r>
          </a:p>
        </p:txBody>
      </p:sp>
      <p:sp>
        <p:nvSpPr>
          <p:cNvPr id="107645" name="Rectangle 11"/>
          <p:cNvSpPr>
            <a:spLocks noChangeArrowheads="1"/>
          </p:cNvSpPr>
          <p:nvPr/>
        </p:nvSpPr>
        <p:spPr bwMode="auto">
          <a:xfrm>
            <a:off x="7858125" y="3783013"/>
            <a:ext cx="838200" cy="461962"/>
          </a:xfrm>
          <a:prstGeom prst="rect">
            <a:avLst/>
          </a:prstGeom>
          <a:solidFill>
            <a:schemeClr val="accent1"/>
          </a:solidFill>
          <a:ln w="12700">
            <a:solidFill>
              <a:schemeClr val="tx1"/>
            </a:solidFill>
            <a:miter lim="800000"/>
            <a:headEnd type="none" w="sm" len="sm"/>
            <a:tailEnd type="none" w="sm" len="sm"/>
          </a:ln>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eRAT</a:t>
            </a:r>
          </a:p>
          <a:p>
            <a:pPr>
              <a:spcBef>
                <a:spcPct val="0"/>
              </a:spcBef>
              <a:buFontTx/>
              <a:buNone/>
            </a:pPr>
            <a:r>
              <a:rPr lang="es-MX" altLang="en-US" sz="800"/>
              <a:t>Chamados</a:t>
            </a:r>
          </a:p>
          <a:p>
            <a:pPr>
              <a:spcBef>
                <a:spcPct val="0"/>
              </a:spcBef>
              <a:buFontTx/>
              <a:buNone/>
            </a:pPr>
            <a:r>
              <a:rPr lang="es-MX" altLang="en-US" sz="800"/>
              <a:t>Eletronicos</a:t>
            </a:r>
          </a:p>
        </p:txBody>
      </p:sp>
      <p:cxnSp>
        <p:nvCxnSpPr>
          <p:cNvPr id="107646" name="Conector angulado 4"/>
          <p:cNvCxnSpPr>
            <a:cxnSpLocks noChangeShapeType="1"/>
            <a:stCxn id="107645" idx="0"/>
            <a:endCxn id="107644" idx="1"/>
          </p:cNvCxnSpPr>
          <p:nvPr/>
        </p:nvCxnSpPr>
        <p:spPr bwMode="auto">
          <a:xfrm rot="5400000" flipH="1" flipV="1">
            <a:off x="8347075" y="3267075"/>
            <a:ext cx="446088" cy="585788"/>
          </a:xfrm>
          <a:prstGeom prst="bentConnector2">
            <a:avLst/>
          </a:prstGeom>
          <a:noFill/>
          <a:ln w="19050">
            <a:solidFill>
              <a:schemeClr val="accent2"/>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107647" name="Conector angulado 7"/>
          <p:cNvCxnSpPr>
            <a:cxnSpLocks noChangeShapeType="1"/>
            <a:stCxn id="107645" idx="2"/>
            <a:endCxn id="107632" idx="0"/>
          </p:cNvCxnSpPr>
          <p:nvPr/>
        </p:nvCxnSpPr>
        <p:spPr bwMode="auto">
          <a:xfrm rot="16200000" flipH="1">
            <a:off x="7873206" y="4648994"/>
            <a:ext cx="912813" cy="104775"/>
          </a:xfrm>
          <a:prstGeom prst="bentConnector3">
            <a:avLst>
              <a:gd name="adj1" fmla="val 50000"/>
            </a:avLst>
          </a:prstGeom>
          <a:noFill/>
          <a:ln w="19050">
            <a:solidFill>
              <a:schemeClr val="accent2"/>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107648" name="Text Box 63"/>
          <p:cNvSpPr txBox="1">
            <a:spLocks noChangeArrowheads="1"/>
          </p:cNvSpPr>
          <p:nvPr/>
        </p:nvSpPr>
        <p:spPr bwMode="auto">
          <a:xfrm>
            <a:off x="6807200" y="4014788"/>
            <a:ext cx="531813" cy="1905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80000"/>
              </a:lnSpc>
              <a:spcBef>
                <a:spcPct val="0"/>
              </a:spcBef>
              <a:buFont typeface="Monotype Sorts" pitchFamily="2" charset="2"/>
              <a:buNone/>
            </a:pPr>
            <a:r>
              <a:rPr lang="es-MX" altLang="en-US" sz="800"/>
              <a:t>Peditos</a:t>
            </a:r>
            <a:endParaRPr lang="en-US" altLang="en-US" sz="800"/>
          </a:p>
        </p:txBody>
      </p:sp>
      <p:sp>
        <p:nvSpPr>
          <p:cNvPr id="107649" name="Rectangle 11"/>
          <p:cNvSpPr>
            <a:spLocks noChangeArrowheads="1"/>
          </p:cNvSpPr>
          <p:nvPr/>
        </p:nvSpPr>
        <p:spPr bwMode="auto">
          <a:xfrm>
            <a:off x="22225" y="4632325"/>
            <a:ext cx="215900" cy="708025"/>
          </a:xfrm>
          <a:prstGeom prst="rect">
            <a:avLst/>
          </a:prstGeom>
          <a:solidFill>
            <a:srgbClr val="FFFF00"/>
          </a:solidFill>
          <a:ln w="12700">
            <a:solidFill>
              <a:schemeClr val="tx1"/>
            </a:solidFill>
            <a:miter lim="800000"/>
            <a:headEnd type="none" w="sm" len="sm"/>
            <a:tailEnd type="none" w="sm" len="sm"/>
          </a:ln>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B</a:t>
            </a:r>
          </a:p>
          <a:p>
            <a:pPr>
              <a:spcBef>
                <a:spcPct val="0"/>
              </a:spcBef>
              <a:buFontTx/>
              <a:buNone/>
            </a:pPr>
            <a:r>
              <a:rPr lang="es-MX" altLang="en-US" sz="800"/>
              <a:t>BTUR</a:t>
            </a:r>
          </a:p>
        </p:txBody>
      </p:sp>
      <p:cxnSp>
        <p:nvCxnSpPr>
          <p:cNvPr id="107650" name="Conector angulado 9"/>
          <p:cNvCxnSpPr>
            <a:cxnSpLocks noChangeShapeType="1"/>
            <a:stCxn id="107649" idx="2"/>
            <a:endCxn id="107528" idx="1"/>
          </p:cNvCxnSpPr>
          <p:nvPr/>
        </p:nvCxnSpPr>
        <p:spPr bwMode="auto">
          <a:xfrm rot="16200000" flipH="1">
            <a:off x="273843" y="5196682"/>
            <a:ext cx="735013" cy="1022350"/>
          </a:xfrm>
          <a:prstGeom prst="bentConnector2">
            <a:avLst/>
          </a:prstGeom>
          <a:noFill/>
          <a:ln w="19050">
            <a:solidFill>
              <a:schemeClr val="accent2"/>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107651" name="Conector angulado 11"/>
          <p:cNvCxnSpPr>
            <a:cxnSpLocks noChangeShapeType="1"/>
            <a:stCxn id="107649" idx="3"/>
          </p:cNvCxnSpPr>
          <p:nvPr/>
        </p:nvCxnSpPr>
        <p:spPr bwMode="auto">
          <a:xfrm flipV="1">
            <a:off x="238125" y="2862263"/>
            <a:ext cx="1125538" cy="2124075"/>
          </a:xfrm>
          <a:prstGeom prst="bentConnector2">
            <a:avLst/>
          </a:prstGeom>
          <a:noFill/>
          <a:ln w="19050">
            <a:solidFill>
              <a:schemeClr val="accent2"/>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107652" name="Conector angulado 13"/>
          <p:cNvCxnSpPr>
            <a:cxnSpLocks noChangeShapeType="1"/>
            <a:endCxn id="107631" idx="1"/>
          </p:cNvCxnSpPr>
          <p:nvPr/>
        </p:nvCxnSpPr>
        <p:spPr bwMode="auto">
          <a:xfrm>
            <a:off x="3597275" y="4121150"/>
            <a:ext cx="3638550" cy="547688"/>
          </a:xfrm>
          <a:prstGeom prst="bentConnector3">
            <a:avLst>
              <a:gd name="adj1" fmla="val 63926"/>
            </a:avLst>
          </a:prstGeom>
          <a:noFill/>
          <a:ln w="19050">
            <a:solidFill>
              <a:schemeClr val="accent2"/>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107653" name="Text Box 63"/>
          <p:cNvSpPr txBox="1">
            <a:spLocks noChangeArrowheads="1"/>
          </p:cNvSpPr>
          <p:nvPr/>
        </p:nvSpPr>
        <p:spPr bwMode="auto">
          <a:xfrm>
            <a:off x="5867400" y="4102100"/>
            <a:ext cx="387350" cy="190500"/>
          </a:xfrm>
          <a:prstGeom prst="rect">
            <a:avLst/>
          </a:prstGeom>
          <a:noFill/>
          <a:ln>
            <a:noFill/>
          </a:ln>
          <a:effectLst/>
          <a:extLst>
            <a:ext uri="{909E8E84-426E-40DD-AFC4-6F175D3DCCD1}">
              <a14:hiddenFill xmlns:a14="http://schemas.microsoft.com/office/drawing/2010/main">
                <a:solidFill>
                  <a:srgbClr val="FF505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80000"/>
              </a:lnSpc>
              <a:spcBef>
                <a:spcPct val="0"/>
              </a:spcBef>
              <a:buFont typeface="Monotype Sorts" pitchFamily="2" charset="2"/>
              <a:buNone/>
            </a:pPr>
            <a:r>
              <a:rPr lang="es-MX" altLang="en-US" sz="800"/>
              <a:t>Item</a:t>
            </a:r>
            <a:endParaRPr lang="en-US" altLang="en-US" sz="800"/>
          </a:p>
        </p:txBody>
      </p:sp>
      <p:sp>
        <p:nvSpPr>
          <p:cNvPr id="107654" name="Rectangle 11"/>
          <p:cNvSpPr>
            <a:spLocks noChangeArrowheads="1"/>
          </p:cNvSpPr>
          <p:nvPr/>
        </p:nvSpPr>
        <p:spPr bwMode="auto">
          <a:xfrm>
            <a:off x="7581900" y="2701925"/>
            <a:ext cx="838200" cy="339725"/>
          </a:xfrm>
          <a:prstGeom prst="rect">
            <a:avLst/>
          </a:prstGeom>
          <a:solidFill>
            <a:schemeClr val="accent1"/>
          </a:solidFill>
          <a:ln w="12700">
            <a:solidFill>
              <a:schemeClr val="tx1"/>
            </a:solidFill>
            <a:miter lim="800000"/>
            <a:headEnd type="none" w="sm" len="sm"/>
            <a:tailEnd type="none" w="sm" len="sm"/>
          </a:ln>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s-MX" altLang="en-US" sz="800"/>
              <a:t>SLA</a:t>
            </a:r>
          </a:p>
          <a:p>
            <a:pPr>
              <a:spcBef>
                <a:spcPct val="0"/>
              </a:spcBef>
              <a:buFontTx/>
              <a:buNone/>
            </a:pPr>
            <a:r>
              <a:rPr lang="es-MX" altLang="en-US" sz="800"/>
              <a:t>Asstc</a:t>
            </a:r>
          </a:p>
        </p:txBody>
      </p:sp>
      <p:cxnSp>
        <p:nvCxnSpPr>
          <p:cNvPr id="107655" name="Conector angulado 20"/>
          <p:cNvCxnSpPr>
            <a:cxnSpLocks noChangeShapeType="1"/>
            <a:stCxn id="107654" idx="2"/>
            <a:endCxn id="107645" idx="0"/>
          </p:cNvCxnSpPr>
          <p:nvPr/>
        </p:nvCxnSpPr>
        <p:spPr bwMode="auto">
          <a:xfrm rot="16200000" flipH="1">
            <a:off x="7768431" y="3274219"/>
            <a:ext cx="741363" cy="276225"/>
          </a:xfrm>
          <a:prstGeom prst="bentConnector3">
            <a:avLst>
              <a:gd name="adj1" fmla="val 50000"/>
            </a:avLst>
          </a:prstGeom>
          <a:noFill/>
          <a:ln w="19050">
            <a:solidFill>
              <a:schemeClr val="accent2"/>
            </a:solidFill>
            <a:miter lim="800000"/>
            <a:headEnd type="triangle" w="med" len="med"/>
            <a:tailEnd type="triangle" w="med" len="med"/>
          </a:ln>
          <a:extLst>
            <a:ext uri="{909E8E84-426E-40DD-AFC4-6F175D3DCCD1}">
              <a14:hiddenFill xmlns:a14="http://schemas.microsoft.com/office/drawing/2010/main">
                <a:noFill/>
              </a14:hiddenFill>
            </a:ext>
          </a:extLst>
        </p:spPr>
      </p:cxnSp>
      <p:grpSp>
        <p:nvGrpSpPr>
          <p:cNvPr id="107656" name="Group 6"/>
          <p:cNvGrpSpPr>
            <a:grpSpLocks/>
          </p:cNvGrpSpPr>
          <p:nvPr/>
        </p:nvGrpSpPr>
        <p:grpSpPr bwMode="auto">
          <a:xfrm>
            <a:off x="7308850" y="117475"/>
            <a:ext cx="1735138" cy="647700"/>
            <a:chOff x="7380288" y="41275"/>
            <a:chExt cx="1735137" cy="647700"/>
          </a:xfrm>
        </p:grpSpPr>
        <p:sp>
          <p:nvSpPr>
            <p:cNvPr id="137"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138"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cxnSp>
        <p:nvCxnSpPr>
          <p:cNvPr id="3" name="Conector angulado 2"/>
          <p:cNvCxnSpPr>
            <a:stCxn id="107545" idx="3"/>
            <a:endCxn id="107654" idx="1"/>
          </p:cNvCxnSpPr>
          <p:nvPr/>
        </p:nvCxnSpPr>
        <p:spPr bwMode="auto">
          <a:xfrm>
            <a:off x="7032625" y="2658269"/>
            <a:ext cx="549275" cy="213519"/>
          </a:xfrm>
          <a:prstGeom prst="bentConnector3">
            <a:avLst/>
          </a:prstGeom>
          <a:noFill/>
          <a:ln>
            <a:solidFill>
              <a:schemeClr val="tx1"/>
            </a:solidFill>
            <a:headEnd type="triangle"/>
            <a:tailEnd type="non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8546" name="Picture 2" descr="http://www.oracleug.com/sites/default/files/users/oracleug/dr_001_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765175"/>
            <a:ext cx="8534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547" name="Group 6"/>
          <p:cNvGrpSpPr>
            <a:grpSpLocks/>
          </p:cNvGrpSpPr>
          <p:nvPr/>
        </p:nvGrpSpPr>
        <p:grpSpPr bwMode="auto">
          <a:xfrm>
            <a:off x="7308850" y="117475"/>
            <a:ext cx="1735138" cy="647700"/>
            <a:chOff x="7380288" y="41275"/>
            <a:chExt cx="1735137" cy="647700"/>
          </a:xfrm>
        </p:grpSpPr>
        <p:sp>
          <p:nvSpPr>
            <p:cNvPr id="4"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5"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ChangeArrowheads="1"/>
          </p:cNvSpPr>
          <p:nvPr/>
        </p:nvSpPr>
        <p:spPr bwMode="blackWhite">
          <a:xfrm>
            <a:off x="7010400" y="1371600"/>
            <a:ext cx="1219200" cy="3124200"/>
          </a:xfrm>
          <a:prstGeom prst="rect">
            <a:avLst/>
          </a:prstGeom>
          <a:solidFill>
            <a:srgbClr val="FFFF99"/>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p>
        </p:txBody>
      </p:sp>
      <p:sp>
        <p:nvSpPr>
          <p:cNvPr id="109571" name="Rectangle 4"/>
          <p:cNvSpPr>
            <a:spLocks noChangeArrowheads="1"/>
          </p:cNvSpPr>
          <p:nvPr/>
        </p:nvSpPr>
        <p:spPr bwMode="blackWhite">
          <a:xfrm>
            <a:off x="914400" y="4954588"/>
            <a:ext cx="7315200" cy="709612"/>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p>
        </p:txBody>
      </p:sp>
      <p:sp>
        <p:nvSpPr>
          <p:cNvPr id="109572" name="Rectangle 5"/>
          <p:cNvSpPr>
            <a:spLocks noChangeArrowheads="1"/>
          </p:cNvSpPr>
          <p:nvPr/>
        </p:nvSpPr>
        <p:spPr bwMode="blackWhite">
          <a:xfrm>
            <a:off x="5791200" y="1371600"/>
            <a:ext cx="1219200" cy="3124200"/>
          </a:xfrm>
          <a:prstGeom prst="rect">
            <a:avLst/>
          </a:prstGeom>
          <a:solidFill>
            <a:srgbClr val="CCCC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p>
        </p:txBody>
      </p:sp>
      <p:sp>
        <p:nvSpPr>
          <p:cNvPr id="109573" name="Rectangle 6"/>
          <p:cNvSpPr>
            <a:spLocks noChangeArrowheads="1"/>
          </p:cNvSpPr>
          <p:nvPr/>
        </p:nvSpPr>
        <p:spPr bwMode="blackWhite">
          <a:xfrm>
            <a:off x="4572000" y="1371600"/>
            <a:ext cx="1219200" cy="3124200"/>
          </a:xfrm>
          <a:prstGeom prst="rect">
            <a:avLst/>
          </a:prstGeom>
          <a:solidFill>
            <a:srgbClr val="CCFF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p>
        </p:txBody>
      </p:sp>
      <p:sp>
        <p:nvSpPr>
          <p:cNvPr id="109574" name="Rectangle 7"/>
          <p:cNvSpPr>
            <a:spLocks noChangeArrowheads="1"/>
          </p:cNvSpPr>
          <p:nvPr/>
        </p:nvSpPr>
        <p:spPr bwMode="blackWhite">
          <a:xfrm>
            <a:off x="3352800" y="1371600"/>
            <a:ext cx="1219200" cy="3124200"/>
          </a:xfrm>
          <a:prstGeom prst="rect">
            <a:avLst/>
          </a:prstGeom>
          <a:solidFill>
            <a:srgbClr val="99CC99"/>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p>
        </p:txBody>
      </p:sp>
      <p:sp>
        <p:nvSpPr>
          <p:cNvPr id="109575" name="Rectangle 8"/>
          <p:cNvSpPr>
            <a:spLocks noChangeArrowheads="1"/>
          </p:cNvSpPr>
          <p:nvPr/>
        </p:nvSpPr>
        <p:spPr bwMode="blackWhite">
          <a:xfrm>
            <a:off x="2133600" y="1371600"/>
            <a:ext cx="1219200" cy="3124200"/>
          </a:xfrm>
          <a:prstGeom prst="rect">
            <a:avLst/>
          </a:prstGeom>
          <a:solidFill>
            <a:srgbClr val="009999"/>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p>
        </p:txBody>
      </p:sp>
      <p:sp>
        <p:nvSpPr>
          <p:cNvPr id="109576" name="Rectangle 9"/>
          <p:cNvSpPr>
            <a:spLocks noChangeArrowheads="1"/>
          </p:cNvSpPr>
          <p:nvPr/>
        </p:nvSpPr>
        <p:spPr bwMode="blackWhite">
          <a:xfrm>
            <a:off x="914400" y="1371600"/>
            <a:ext cx="1219200" cy="3124200"/>
          </a:xfrm>
          <a:prstGeom prst="rect">
            <a:avLst/>
          </a:prstGeom>
          <a:solidFill>
            <a:srgbClr val="CCCC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p>
        </p:txBody>
      </p:sp>
      <p:sp>
        <p:nvSpPr>
          <p:cNvPr id="109577" name="Rectangle 10"/>
          <p:cNvSpPr>
            <a:spLocks noChangeArrowheads="1"/>
          </p:cNvSpPr>
          <p:nvPr/>
        </p:nvSpPr>
        <p:spPr bwMode="auto">
          <a:xfrm>
            <a:off x="2124075" y="1485900"/>
            <a:ext cx="1219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08585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492250" indent="-2921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83515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2923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7495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2067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6639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30000"/>
              </a:spcBef>
              <a:buFontTx/>
              <a:buNone/>
            </a:pPr>
            <a:r>
              <a:rPr lang="en-US" altLang="en-US" sz="1600">
                <a:solidFill>
                  <a:srgbClr val="000000"/>
                </a:solidFill>
              </a:rPr>
              <a:t>Fornecer</a:t>
            </a:r>
            <a:r>
              <a:rPr lang="en-US" altLang="en-US" sz="1600"/>
              <a:t> </a:t>
            </a:r>
          </a:p>
        </p:txBody>
      </p:sp>
      <p:sp>
        <p:nvSpPr>
          <p:cNvPr id="109578" name="Rectangle 11"/>
          <p:cNvSpPr>
            <a:spLocks noChangeArrowheads="1"/>
          </p:cNvSpPr>
          <p:nvPr/>
        </p:nvSpPr>
        <p:spPr bwMode="auto">
          <a:xfrm>
            <a:off x="3425825" y="1485900"/>
            <a:ext cx="10366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08585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492250" indent="-2921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83515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2923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7495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2067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6639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30000"/>
              </a:spcBef>
              <a:buFontTx/>
              <a:buNone/>
            </a:pPr>
            <a:r>
              <a:rPr lang="en-US" altLang="en-US" sz="1600">
                <a:solidFill>
                  <a:srgbClr val="000000"/>
                </a:solidFill>
              </a:rPr>
              <a:t>Produzir</a:t>
            </a:r>
            <a:r>
              <a:rPr lang="en-US" altLang="en-US" sz="1600"/>
              <a:t> </a:t>
            </a:r>
          </a:p>
        </p:txBody>
      </p:sp>
      <p:sp>
        <p:nvSpPr>
          <p:cNvPr id="109579" name="Rectangle 12"/>
          <p:cNvSpPr>
            <a:spLocks noChangeArrowheads="1"/>
          </p:cNvSpPr>
          <p:nvPr/>
        </p:nvSpPr>
        <p:spPr bwMode="auto">
          <a:xfrm>
            <a:off x="4518025" y="1485900"/>
            <a:ext cx="12303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08585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492250" indent="-2921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83515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2923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7495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2067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6639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30000"/>
              </a:spcBef>
              <a:buFontTx/>
              <a:buNone/>
            </a:pPr>
            <a:r>
              <a:rPr lang="en-US" altLang="en-US" sz="1600">
                <a:solidFill>
                  <a:srgbClr val="000000"/>
                </a:solidFill>
              </a:rPr>
              <a:t>Comercia-lizar</a:t>
            </a:r>
            <a:r>
              <a:rPr lang="en-US" altLang="en-US" sz="1600"/>
              <a:t> </a:t>
            </a:r>
          </a:p>
        </p:txBody>
      </p:sp>
      <p:sp>
        <p:nvSpPr>
          <p:cNvPr id="109580" name="Rectangle 13"/>
          <p:cNvSpPr>
            <a:spLocks noChangeArrowheads="1"/>
          </p:cNvSpPr>
          <p:nvPr/>
        </p:nvSpPr>
        <p:spPr bwMode="auto">
          <a:xfrm>
            <a:off x="5943600" y="1485900"/>
            <a:ext cx="914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08585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492250" indent="-2921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83515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2923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7495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2067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6639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30000"/>
              </a:spcBef>
              <a:buFontTx/>
              <a:buNone/>
            </a:pPr>
            <a:r>
              <a:rPr lang="en-US" altLang="en-US" sz="1600">
                <a:solidFill>
                  <a:srgbClr val="000000"/>
                </a:solidFill>
              </a:rPr>
              <a:t>Vender</a:t>
            </a:r>
            <a:r>
              <a:rPr lang="en-US" altLang="en-US" sz="1600"/>
              <a:t> </a:t>
            </a:r>
          </a:p>
        </p:txBody>
      </p:sp>
      <p:sp>
        <p:nvSpPr>
          <p:cNvPr id="109581" name="Rectangle 14"/>
          <p:cNvSpPr>
            <a:spLocks noChangeArrowheads="1"/>
          </p:cNvSpPr>
          <p:nvPr/>
        </p:nvSpPr>
        <p:spPr bwMode="auto">
          <a:xfrm>
            <a:off x="7094538" y="1485900"/>
            <a:ext cx="1058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08585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492250" indent="-2921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83515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2923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7495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2067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6639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30000"/>
              </a:spcBef>
              <a:buFontTx/>
              <a:buNone/>
            </a:pPr>
            <a:r>
              <a:rPr lang="en-US" altLang="en-US" sz="1600">
                <a:solidFill>
                  <a:srgbClr val="000000"/>
                </a:solidFill>
              </a:rPr>
              <a:t>Suportar</a:t>
            </a:r>
            <a:r>
              <a:rPr lang="en-US" altLang="en-US" sz="1600"/>
              <a:t> </a:t>
            </a:r>
          </a:p>
        </p:txBody>
      </p:sp>
      <p:sp>
        <p:nvSpPr>
          <p:cNvPr id="109582" name="Rectangle 15"/>
          <p:cNvSpPr>
            <a:spLocks noChangeArrowheads="1"/>
          </p:cNvSpPr>
          <p:nvPr/>
        </p:nvSpPr>
        <p:spPr bwMode="auto">
          <a:xfrm>
            <a:off x="909638" y="1485900"/>
            <a:ext cx="1143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08585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492250" indent="-2921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83515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2923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7495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2067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6639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30000"/>
              </a:spcBef>
              <a:buFontTx/>
              <a:buNone/>
            </a:pPr>
            <a:r>
              <a:rPr lang="en-US" altLang="en-US" sz="1600">
                <a:solidFill>
                  <a:srgbClr val="000000"/>
                </a:solidFill>
              </a:rPr>
              <a:t>Planejar</a:t>
            </a:r>
            <a:r>
              <a:rPr lang="en-US" altLang="en-US" sz="1600"/>
              <a:t> </a:t>
            </a:r>
          </a:p>
        </p:txBody>
      </p:sp>
      <p:sp>
        <p:nvSpPr>
          <p:cNvPr id="109583" name="Rectangle 16"/>
          <p:cNvSpPr>
            <a:spLocks noChangeArrowheads="1"/>
          </p:cNvSpPr>
          <p:nvPr/>
        </p:nvSpPr>
        <p:spPr bwMode="blackWhite">
          <a:xfrm>
            <a:off x="914400" y="4533900"/>
            <a:ext cx="1333500" cy="365125"/>
          </a:xfrm>
          <a:prstGeom prst="rect">
            <a:avLst/>
          </a:prstGeom>
          <a:solidFill>
            <a:srgbClr val="E0B8D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08585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492250" indent="-2921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83515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2923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7495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2067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66395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30000"/>
              </a:spcBef>
              <a:buFontTx/>
              <a:buNone/>
            </a:pPr>
            <a:r>
              <a:rPr lang="en-US" altLang="en-US" sz="1600">
                <a:solidFill>
                  <a:srgbClr val="000000"/>
                </a:solidFill>
              </a:rPr>
              <a:t>Back Office</a:t>
            </a:r>
            <a:r>
              <a:rPr lang="en-US" altLang="en-US" sz="1600"/>
              <a:t> </a:t>
            </a:r>
          </a:p>
        </p:txBody>
      </p:sp>
      <p:sp>
        <p:nvSpPr>
          <p:cNvPr id="109584" name="AutoShape 17"/>
          <p:cNvSpPr>
            <a:spLocks noChangeArrowheads="1"/>
          </p:cNvSpPr>
          <p:nvPr/>
        </p:nvSpPr>
        <p:spPr bwMode="blackWhite">
          <a:xfrm>
            <a:off x="957263" y="2895600"/>
            <a:ext cx="1100137" cy="5207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400">
                <a:solidFill>
                  <a:srgbClr val="000000"/>
                </a:solidFill>
              </a:rPr>
              <a:t>Forecast to</a:t>
            </a:r>
            <a:r>
              <a:rPr lang="en-US" altLang="en-US" sz="1400"/>
              <a:t> </a:t>
            </a:r>
          </a:p>
          <a:p>
            <a:pPr algn="ctr">
              <a:buClr>
                <a:srgbClr val="FF0000"/>
              </a:buClr>
              <a:buFontTx/>
              <a:buNone/>
            </a:pPr>
            <a:r>
              <a:rPr lang="en-US" altLang="en-US" sz="1400">
                <a:solidFill>
                  <a:srgbClr val="000000"/>
                </a:solidFill>
              </a:rPr>
              <a:t>Plan</a:t>
            </a:r>
            <a:r>
              <a:rPr lang="en-US" altLang="en-US" sz="1400"/>
              <a:t> </a:t>
            </a:r>
          </a:p>
        </p:txBody>
      </p:sp>
      <p:sp>
        <p:nvSpPr>
          <p:cNvPr id="109585" name="AutoShape 18"/>
          <p:cNvSpPr>
            <a:spLocks noChangeArrowheads="1"/>
          </p:cNvSpPr>
          <p:nvPr/>
        </p:nvSpPr>
        <p:spPr bwMode="blackWhite">
          <a:xfrm>
            <a:off x="2209800" y="2895600"/>
            <a:ext cx="1066800" cy="4826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5000"/>
              </a:lnSpc>
              <a:spcBef>
                <a:spcPct val="0"/>
              </a:spcBef>
              <a:buClr>
                <a:srgbClr val="FF0000"/>
              </a:buClr>
              <a:buFontTx/>
              <a:buNone/>
            </a:pPr>
            <a:r>
              <a:rPr lang="en-US" altLang="en-US" sz="1400">
                <a:solidFill>
                  <a:srgbClr val="000000"/>
                </a:solidFill>
              </a:rPr>
              <a:t>Procure to</a:t>
            </a:r>
            <a:r>
              <a:rPr lang="en-US" altLang="en-US" sz="1400"/>
              <a:t> </a:t>
            </a:r>
          </a:p>
          <a:p>
            <a:pPr algn="ctr">
              <a:lnSpc>
                <a:spcPct val="95000"/>
              </a:lnSpc>
              <a:spcBef>
                <a:spcPct val="0"/>
              </a:spcBef>
              <a:buClr>
                <a:srgbClr val="FF0000"/>
              </a:buClr>
              <a:buFontTx/>
              <a:buNone/>
            </a:pPr>
            <a:r>
              <a:rPr lang="en-US" altLang="en-US" sz="1400">
                <a:solidFill>
                  <a:srgbClr val="000000"/>
                </a:solidFill>
              </a:rPr>
              <a:t>Pay</a:t>
            </a:r>
            <a:r>
              <a:rPr lang="en-US" altLang="en-US" sz="1400"/>
              <a:t> </a:t>
            </a:r>
          </a:p>
        </p:txBody>
      </p:sp>
      <p:sp>
        <p:nvSpPr>
          <p:cNvPr id="109586" name="AutoShape 19"/>
          <p:cNvSpPr>
            <a:spLocks noChangeArrowheads="1"/>
          </p:cNvSpPr>
          <p:nvPr/>
        </p:nvSpPr>
        <p:spPr bwMode="blackWhite">
          <a:xfrm>
            <a:off x="3429000" y="2895600"/>
            <a:ext cx="1066800" cy="4572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FF0000"/>
              </a:buClr>
              <a:buFontTx/>
              <a:buNone/>
            </a:pPr>
            <a:r>
              <a:rPr lang="en-US" altLang="en-US" sz="1400">
                <a:solidFill>
                  <a:srgbClr val="000000"/>
                </a:solidFill>
              </a:rPr>
              <a:t>Demand to</a:t>
            </a:r>
            <a:r>
              <a:rPr lang="en-US" altLang="en-US" sz="1400"/>
              <a:t> </a:t>
            </a:r>
          </a:p>
          <a:p>
            <a:pPr algn="ctr">
              <a:spcBef>
                <a:spcPct val="0"/>
              </a:spcBef>
              <a:buClr>
                <a:srgbClr val="FF0000"/>
              </a:buClr>
              <a:buFontTx/>
              <a:buNone/>
            </a:pPr>
            <a:r>
              <a:rPr lang="en-US" altLang="en-US" sz="1400">
                <a:solidFill>
                  <a:srgbClr val="000000"/>
                </a:solidFill>
              </a:rPr>
              <a:t>Build</a:t>
            </a:r>
            <a:r>
              <a:rPr lang="en-US" altLang="en-US" sz="1400"/>
              <a:t> </a:t>
            </a:r>
          </a:p>
        </p:txBody>
      </p:sp>
      <p:sp>
        <p:nvSpPr>
          <p:cNvPr id="109587" name="AutoShape 20"/>
          <p:cNvSpPr>
            <a:spLocks noChangeArrowheads="1"/>
          </p:cNvSpPr>
          <p:nvPr/>
        </p:nvSpPr>
        <p:spPr bwMode="blackWhite">
          <a:xfrm>
            <a:off x="5138738" y="2247900"/>
            <a:ext cx="1185862" cy="5080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400">
                <a:solidFill>
                  <a:srgbClr val="000000"/>
                </a:solidFill>
              </a:rPr>
              <a:t>Campaign to</a:t>
            </a:r>
            <a:r>
              <a:rPr lang="en-US" altLang="en-US" sz="1400"/>
              <a:t> </a:t>
            </a:r>
          </a:p>
          <a:p>
            <a:pPr algn="ctr">
              <a:buClr>
                <a:srgbClr val="FF0000"/>
              </a:buClr>
              <a:buFontTx/>
              <a:buNone/>
            </a:pPr>
            <a:r>
              <a:rPr lang="en-US" altLang="en-US" sz="1400">
                <a:solidFill>
                  <a:srgbClr val="000000"/>
                </a:solidFill>
              </a:rPr>
              <a:t>Order</a:t>
            </a:r>
            <a:r>
              <a:rPr lang="en-US" altLang="en-US" sz="1400"/>
              <a:t> </a:t>
            </a:r>
          </a:p>
        </p:txBody>
      </p:sp>
      <p:sp>
        <p:nvSpPr>
          <p:cNvPr id="109588" name="AutoShape 21"/>
          <p:cNvSpPr>
            <a:spLocks noChangeArrowheads="1"/>
          </p:cNvSpPr>
          <p:nvPr/>
        </p:nvSpPr>
        <p:spPr bwMode="blackWhite">
          <a:xfrm>
            <a:off x="5854700" y="3581400"/>
            <a:ext cx="1066800" cy="4953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400">
                <a:solidFill>
                  <a:srgbClr val="000000"/>
                </a:solidFill>
              </a:rPr>
              <a:t>Order to</a:t>
            </a:r>
            <a:r>
              <a:rPr lang="en-US" altLang="en-US" sz="1400"/>
              <a:t> </a:t>
            </a:r>
          </a:p>
          <a:p>
            <a:pPr algn="ctr">
              <a:buClr>
                <a:srgbClr val="FF0000"/>
              </a:buClr>
              <a:buFontTx/>
              <a:buNone/>
            </a:pPr>
            <a:r>
              <a:rPr lang="en-US" altLang="en-US" sz="1400">
                <a:solidFill>
                  <a:srgbClr val="000000"/>
                </a:solidFill>
              </a:rPr>
              <a:t>Cash</a:t>
            </a:r>
            <a:r>
              <a:rPr lang="en-US" altLang="en-US" sz="1400"/>
              <a:t> </a:t>
            </a:r>
          </a:p>
        </p:txBody>
      </p:sp>
      <p:sp>
        <p:nvSpPr>
          <p:cNvPr id="109589" name="AutoShape 22"/>
          <p:cNvSpPr>
            <a:spLocks noChangeArrowheads="1"/>
          </p:cNvSpPr>
          <p:nvPr/>
        </p:nvSpPr>
        <p:spPr bwMode="blackWhite">
          <a:xfrm>
            <a:off x="7061200" y="3581400"/>
            <a:ext cx="1104900" cy="4953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FF0000"/>
              </a:buClr>
              <a:buFontTx/>
              <a:buNone/>
            </a:pPr>
            <a:r>
              <a:rPr lang="en-US" altLang="en-US" sz="1400">
                <a:solidFill>
                  <a:srgbClr val="000000"/>
                </a:solidFill>
              </a:rPr>
              <a:t>Request to</a:t>
            </a:r>
            <a:r>
              <a:rPr lang="en-US" altLang="en-US" sz="1400"/>
              <a:t> </a:t>
            </a:r>
          </a:p>
          <a:p>
            <a:pPr algn="ctr">
              <a:spcBef>
                <a:spcPct val="0"/>
              </a:spcBef>
              <a:buClr>
                <a:srgbClr val="FF0000"/>
              </a:buClr>
              <a:buFontTx/>
              <a:buNone/>
            </a:pPr>
            <a:r>
              <a:rPr lang="en-US" altLang="en-US" sz="1400">
                <a:solidFill>
                  <a:srgbClr val="000000"/>
                </a:solidFill>
              </a:rPr>
              <a:t>Resolution</a:t>
            </a:r>
            <a:r>
              <a:rPr lang="en-US" altLang="en-US" sz="1400"/>
              <a:t> </a:t>
            </a:r>
          </a:p>
        </p:txBody>
      </p:sp>
      <p:sp>
        <p:nvSpPr>
          <p:cNvPr id="109590" name="AutoShape 23"/>
          <p:cNvSpPr>
            <a:spLocks noChangeArrowheads="1"/>
          </p:cNvSpPr>
          <p:nvPr/>
        </p:nvSpPr>
        <p:spPr bwMode="blackWhite">
          <a:xfrm>
            <a:off x="3213100" y="5054600"/>
            <a:ext cx="1066800" cy="5334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5000"/>
              </a:lnSpc>
              <a:spcBef>
                <a:spcPct val="0"/>
              </a:spcBef>
              <a:buClr>
                <a:srgbClr val="FF0000"/>
              </a:buClr>
              <a:buFontTx/>
              <a:buNone/>
            </a:pPr>
            <a:r>
              <a:rPr lang="en-US" altLang="en-US" sz="1400">
                <a:solidFill>
                  <a:srgbClr val="000000"/>
                </a:solidFill>
              </a:rPr>
              <a:t>People to</a:t>
            </a:r>
            <a:r>
              <a:rPr lang="en-US" altLang="en-US" sz="1400"/>
              <a:t> </a:t>
            </a:r>
          </a:p>
          <a:p>
            <a:pPr algn="ctr">
              <a:lnSpc>
                <a:spcPct val="95000"/>
              </a:lnSpc>
              <a:spcBef>
                <a:spcPct val="0"/>
              </a:spcBef>
              <a:buClr>
                <a:srgbClr val="FF0000"/>
              </a:buClr>
              <a:buFontTx/>
              <a:buNone/>
            </a:pPr>
            <a:r>
              <a:rPr lang="en-US" altLang="en-US" sz="1400">
                <a:solidFill>
                  <a:srgbClr val="000000"/>
                </a:solidFill>
              </a:rPr>
              <a:t>Paycheck</a:t>
            </a:r>
            <a:r>
              <a:rPr lang="en-US" altLang="en-US" sz="1400"/>
              <a:t> </a:t>
            </a:r>
          </a:p>
        </p:txBody>
      </p:sp>
      <p:sp>
        <p:nvSpPr>
          <p:cNvPr id="109591" name="AutoShape 24"/>
          <p:cNvSpPr>
            <a:spLocks noChangeArrowheads="1"/>
          </p:cNvSpPr>
          <p:nvPr/>
        </p:nvSpPr>
        <p:spPr bwMode="blackWhite">
          <a:xfrm>
            <a:off x="4800600" y="5054600"/>
            <a:ext cx="1066800" cy="5334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5000"/>
              </a:lnSpc>
              <a:spcBef>
                <a:spcPct val="0"/>
              </a:spcBef>
              <a:buClr>
                <a:srgbClr val="FF0000"/>
              </a:buClr>
              <a:buFontTx/>
              <a:buNone/>
            </a:pPr>
            <a:r>
              <a:rPr lang="en-US" altLang="en-US" sz="1400">
                <a:solidFill>
                  <a:srgbClr val="000000"/>
                </a:solidFill>
              </a:rPr>
              <a:t>Project to</a:t>
            </a:r>
            <a:r>
              <a:rPr lang="en-US" altLang="en-US" sz="1400"/>
              <a:t> </a:t>
            </a:r>
          </a:p>
          <a:p>
            <a:pPr algn="ctr">
              <a:lnSpc>
                <a:spcPct val="95000"/>
              </a:lnSpc>
              <a:spcBef>
                <a:spcPct val="0"/>
              </a:spcBef>
              <a:buClr>
                <a:srgbClr val="FF0000"/>
              </a:buClr>
              <a:buFontTx/>
              <a:buNone/>
            </a:pPr>
            <a:r>
              <a:rPr lang="en-US" altLang="en-US" sz="1400">
                <a:solidFill>
                  <a:srgbClr val="000000"/>
                </a:solidFill>
              </a:rPr>
              <a:t>Profit</a:t>
            </a:r>
            <a:r>
              <a:rPr lang="en-US" altLang="en-US" sz="1400"/>
              <a:t> </a:t>
            </a:r>
          </a:p>
        </p:txBody>
      </p:sp>
      <p:sp>
        <p:nvSpPr>
          <p:cNvPr id="109592" name="AutoShape 25"/>
          <p:cNvSpPr>
            <a:spLocks noChangeArrowheads="1"/>
          </p:cNvSpPr>
          <p:nvPr/>
        </p:nvSpPr>
        <p:spPr bwMode="blackWhite">
          <a:xfrm>
            <a:off x="5854700" y="2895600"/>
            <a:ext cx="1066800" cy="4953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400">
                <a:solidFill>
                  <a:srgbClr val="000000"/>
                </a:solidFill>
              </a:rPr>
              <a:t>Click to</a:t>
            </a:r>
            <a:r>
              <a:rPr lang="en-US" altLang="en-US" sz="1400"/>
              <a:t> </a:t>
            </a:r>
          </a:p>
          <a:p>
            <a:pPr algn="ctr">
              <a:buClr>
                <a:srgbClr val="FF0000"/>
              </a:buClr>
              <a:buFontTx/>
              <a:buNone/>
            </a:pPr>
            <a:r>
              <a:rPr lang="en-US" altLang="en-US" sz="1400">
                <a:solidFill>
                  <a:srgbClr val="000000"/>
                </a:solidFill>
              </a:rPr>
              <a:t>Order</a:t>
            </a:r>
            <a:r>
              <a:rPr lang="en-US" altLang="en-US" sz="1400"/>
              <a:t> </a:t>
            </a:r>
          </a:p>
        </p:txBody>
      </p:sp>
      <p:sp>
        <p:nvSpPr>
          <p:cNvPr id="109593" name="AutoShape 26"/>
          <p:cNvSpPr>
            <a:spLocks noChangeArrowheads="1"/>
          </p:cNvSpPr>
          <p:nvPr/>
        </p:nvSpPr>
        <p:spPr bwMode="blackWhite">
          <a:xfrm>
            <a:off x="6477000" y="2260600"/>
            <a:ext cx="1155700" cy="4953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400">
                <a:solidFill>
                  <a:srgbClr val="000000"/>
                </a:solidFill>
              </a:rPr>
              <a:t>Contract to</a:t>
            </a:r>
            <a:r>
              <a:rPr lang="en-US" altLang="en-US" sz="1400"/>
              <a:t> </a:t>
            </a:r>
          </a:p>
          <a:p>
            <a:pPr algn="ctr">
              <a:buClr>
                <a:srgbClr val="FF0000"/>
              </a:buClr>
              <a:buFontTx/>
              <a:buNone/>
            </a:pPr>
            <a:r>
              <a:rPr lang="en-US" altLang="en-US" sz="1400">
                <a:solidFill>
                  <a:srgbClr val="000000"/>
                </a:solidFill>
              </a:rPr>
              <a:t>Renewal</a:t>
            </a:r>
            <a:r>
              <a:rPr lang="en-US" altLang="en-US" sz="1400"/>
              <a:t> </a:t>
            </a:r>
          </a:p>
        </p:txBody>
      </p:sp>
      <p:sp>
        <p:nvSpPr>
          <p:cNvPr id="109594" name="AutoShape 27"/>
          <p:cNvSpPr>
            <a:spLocks noChangeArrowheads="1"/>
          </p:cNvSpPr>
          <p:nvPr/>
        </p:nvSpPr>
        <p:spPr bwMode="blackWhite">
          <a:xfrm>
            <a:off x="2743200" y="3581400"/>
            <a:ext cx="1354138" cy="5080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400">
                <a:solidFill>
                  <a:srgbClr val="000000"/>
                </a:solidFill>
              </a:rPr>
              <a:t>Inventory to</a:t>
            </a:r>
            <a:r>
              <a:rPr lang="en-US" altLang="en-US" sz="1400"/>
              <a:t> </a:t>
            </a:r>
          </a:p>
          <a:p>
            <a:pPr algn="ctr">
              <a:buClr>
                <a:srgbClr val="FF0000"/>
              </a:buClr>
              <a:buFontTx/>
              <a:buNone/>
            </a:pPr>
            <a:r>
              <a:rPr lang="en-US" altLang="en-US" sz="1400">
                <a:solidFill>
                  <a:srgbClr val="000000"/>
                </a:solidFill>
              </a:rPr>
              <a:t>Fulfillment</a:t>
            </a:r>
            <a:r>
              <a:rPr lang="en-US" altLang="en-US" sz="1400"/>
              <a:t> </a:t>
            </a:r>
          </a:p>
        </p:txBody>
      </p:sp>
      <p:sp>
        <p:nvSpPr>
          <p:cNvPr id="109595" name="AutoShape 28"/>
          <p:cNvSpPr>
            <a:spLocks noChangeArrowheads="1"/>
          </p:cNvSpPr>
          <p:nvPr/>
        </p:nvSpPr>
        <p:spPr bwMode="blackWhite">
          <a:xfrm>
            <a:off x="958850" y="2209800"/>
            <a:ext cx="1096963" cy="5080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FF0000"/>
              </a:buClr>
              <a:buFontTx/>
              <a:buNone/>
            </a:pPr>
            <a:r>
              <a:rPr lang="en-US" altLang="en-US" sz="1400">
                <a:solidFill>
                  <a:srgbClr val="000000"/>
                </a:solidFill>
              </a:rPr>
              <a:t>Concept to</a:t>
            </a:r>
            <a:r>
              <a:rPr lang="en-US" altLang="en-US" sz="1400"/>
              <a:t> </a:t>
            </a:r>
          </a:p>
          <a:p>
            <a:pPr algn="ctr">
              <a:spcBef>
                <a:spcPct val="0"/>
              </a:spcBef>
              <a:buClr>
                <a:srgbClr val="FF0000"/>
              </a:buClr>
              <a:buFontTx/>
              <a:buNone/>
            </a:pPr>
            <a:r>
              <a:rPr lang="en-US" altLang="en-US" sz="1400">
                <a:solidFill>
                  <a:srgbClr val="000000"/>
                </a:solidFill>
              </a:rPr>
              <a:t>Release</a:t>
            </a:r>
            <a:r>
              <a:rPr lang="en-US" altLang="en-US" sz="1400"/>
              <a:t> </a:t>
            </a:r>
          </a:p>
        </p:txBody>
      </p:sp>
      <p:sp>
        <p:nvSpPr>
          <p:cNvPr id="109596" name="AutoShape 29"/>
          <p:cNvSpPr>
            <a:spLocks noChangeArrowheads="1"/>
          </p:cNvSpPr>
          <p:nvPr/>
        </p:nvSpPr>
        <p:spPr bwMode="blackWhite">
          <a:xfrm>
            <a:off x="6400800" y="5003800"/>
            <a:ext cx="1371600" cy="6096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5000"/>
              </a:lnSpc>
              <a:spcBef>
                <a:spcPct val="0"/>
              </a:spcBef>
              <a:buClr>
                <a:srgbClr val="FF0000"/>
              </a:buClr>
              <a:buFontTx/>
              <a:buNone/>
            </a:pPr>
            <a:r>
              <a:rPr lang="en-US" altLang="en-US" sz="1400">
                <a:solidFill>
                  <a:srgbClr val="000000"/>
                </a:solidFill>
              </a:rPr>
              <a:t>Accounting to</a:t>
            </a:r>
            <a:br>
              <a:rPr lang="en-US" altLang="en-US" sz="1400">
                <a:solidFill>
                  <a:srgbClr val="000000"/>
                </a:solidFill>
              </a:rPr>
            </a:br>
            <a:r>
              <a:rPr lang="en-US" altLang="en-US" sz="1400">
                <a:solidFill>
                  <a:srgbClr val="000000"/>
                </a:solidFill>
              </a:rPr>
              <a:t>Financial</a:t>
            </a:r>
            <a:r>
              <a:rPr lang="en-US" altLang="en-US" sz="1400"/>
              <a:t> </a:t>
            </a:r>
          </a:p>
          <a:p>
            <a:pPr algn="ctr">
              <a:lnSpc>
                <a:spcPct val="95000"/>
              </a:lnSpc>
              <a:spcBef>
                <a:spcPct val="0"/>
              </a:spcBef>
              <a:buClr>
                <a:srgbClr val="FF0000"/>
              </a:buClr>
              <a:buFontTx/>
              <a:buNone/>
            </a:pPr>
            <a:r>
              <a:rPr lang="en-US" altLang="en-US" sz="1400">
                <a:solidFill>
                  <a:srgbClr val="000000"/>
                </a:solidFill>
              </a:rPr>
              <a:t>Reports</a:t>
            </a:r>
            <a:r>
              <a:rPr lang="en-US" altLang="en-US" sz="1400"/>
              <a:t> </a:t>
            </a:r>
          </a:p>
        </p:txBody>
      </p:sp>
      <p:sp>
        <p:nvSpPr>
          <p:cNvPr id="109597" name="AutoShape 30"/>
          <p:cNvSpPr>
            <a:spLocks noChangeArrowheads="1"/>
          </p:cNvSpPr>
          <p:nvPr/>
        </p:nvSpPr>
        <p:spPr bwMode="blackWhite">
          <a:xfrm>
            <a:off x="957263" y="3619500"/>
            <a:ext cx="1100137" cy="5207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400">
                <a:solidFill>
                  <a:srgbClr val="000000"/>
                </a:solidFill>
              </a:rPr>
              <a:t>Plan to</a:t>
            </a:r>
            <a:br>
              <a:rPr lang="en-US" altLang="en-US" sz="1400">
                <a:solidFill>
                  <a:srgbClr val="000000"/>
                </a:solidFill>
              </a:rPr>
            </a:br>
            <a:r>
              <a:rPr lang="en-US" altLang="en-US" sz="1400">
                <a:solidFill>
                  <a:srgbClr val="000000"/>
                </a:solidFill>
              </a:rPr>
              <a:t> Replenish</a:t>
            </a:r>
            <a:r>
              <a:rPr lang="en-US" altLang="en-US" sz="1400"/>
              <a:t> </a:t>
            </a:r>
          </a:p>
        </p:txBody>
      </p:sp>
      <p:sp>
        <p:nvSpPr>
          <p:cNvPr id="109598" name="AutoShape 31"/>
          <p:cNvSpPr>
            <a:spLocks noChangeArrowheads="1"/>
          </p:cNvSpPr>
          <p:nvPr/>
        </p:nvSpPr>
        <p:spPr bwMode="blackWhite">
          <a:xfrm>
            <a:off x="1828800" y="5054600"/>
            <a:ext cx="1066800" cy="533400"/>
          </a:xfrm>
          <a:prstGeom prst="roundRect">
            <a:avLst>
              <a:gd name="adj" fmla="val 16667"/>
            </a:avLst>
          </a:prstGeom>
          <a:solidFill>
            <a:srgbClr val="E0B8D6"/>
          </a:solid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5000"/>
              </a:lnSpc>
              <a:spcBef>
                <a:spcPct val="0"/>
              </a:spcBef>
              <a:buClr>
                <a:srgbClr val="FF0000"/>
              </a:buClr>
              <a:buFontTx/>
              <a:buNone/>
            </a:pPr>
            <a:r>
              <a:rPr lang="en-US" altLang="en-US" sz="1400">
                <a:solidFill>
                  <a:srgbClr val="000000"/>
                </a:solidFill>
              </a:rPr>
              <a:t>Benefits to</a:t>
            </a:r>
            <a:br>
              <a:rPr lang="en-US" altLang="en-US" sz="1400">
                <a:solidFill>
                  <a:srgbClr val="000000"/>
                </a:solidFill>
              </a:rPr>
            </a:br>
            <a:r>
              <a:rPr lang="en-US" altLang="en-US" sz="1400">
                <a:solidFill>
                  <a:srgbClr val="000000"/>
                </a:solidFill>
              </a:rPr>
              <a:t> Payroll</a:t>
            </a:r>
            <a:r>
              <a:rPr lang="en-US" altLang="en-US" sz="1400"/>
              <a:t> </a:t>
            </a:r>
          </a:p>
        </p:txBody>
      </p:sp>
      <p:sp>
        <p:nvSpPr>
          <p:cNvPr id="109599" name="Rectangle 2"/>
          <p:cNvSpPr>
            <a:spLocks noGrp="1" noChangeArrowheads="1"/>
          </p:cNvSpPr>
          <p:nvPr>
            <p:ph type="title"/>
          </p:nvPr>
        </p:nvSpPr>
        <p:spPr>
          <a:xfrm>
            <a:off x="11113" y="-211138"/>
            <a:ext cx="9132887" cy="1143001"/>
          </a:xfrm>
        </p:spPr>
        <p:txBody>
          <a:bodyPr/>
          <a:lstStyle/>
          <a:p>
            <a:pPr algn="l" eaLnBrk="1" hangingPunct="1"/>
            <a:r>
              <a:rPr lang="pt-BR" altLang="pt-BR" b="1" smtClean="0">
                <a:solidFill>
                  <a:srgbClr val="003366"/>
                </a:solidFill>
              </a:rPr>
              <a:t>eBusiness Suite – </a:t>
            </a:r>
            <a:r>
              <a:rPr lang="pt-BR" altLang="pt-BR" sz="3600" b="1" smtClean="0">
                <a:solidFill>
                  <a:srgbClr val="003366"/>
                </a:solidFill>
              </a:rPr>
              <a:t>Fluxos</a:t>
            </a:r>
          </a:p>
        </p:txBody>
      </p:sp>
      <p:sp>
        <p:nvSpPr>
          <p:cNvPr id="109600"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
        <p:nvSpPr>
          <p:cNvPr id="109601" name="TextBox 2"/>
          <p:cNvSpPr txBox="1">
            <a:spLocks noChangeArrowheads="1"/>
          </p:cNvSpPr>
          <p:nvPr/>
        </p:nvSpPr>
        <p:spPr bwMode="auto">
          <a:xfrm>
            <a:off x="11113" y="6129338"/>
            <a:ext cx="6000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dirty="0"/>
              <a:t>Oracle Fusion Business Process Models: Homepage (</a:t>
            </a:r>
            <a:r>
              <a:rPr lang="en-US" altLang="en-US" sz="1800" dirty="0">
                <a:hlinkClick r:id="rId3"/>
              </a:rPr>
              <a:t>Doc ID 1542019.1</a:t>
            </a:r>
            <a:r>
              <a:rPr lang="en-US" altLang="en-US" sz="1800" dirty="0"/>
              <a:t>)	</a:t>
            </a:r>
          </a:p>
        </p:txBody>
      </p:sp>
      <p:grpSp>
        <p:nvGrpSpPr>
          <p:cNvPr id="109602" name="Group 6"/>
          <p:cNvGrpSpPr>
            <a:grpSpLocks/>
          </p:cNvGrpSpPr>
          <p:nvPr/>
        </p:nvGrpSpPr>
        <p:grpSpPr bwMode="auto">
          <a:xfrm>
            <a:off x="7308850" y="117475"/>
            <a:ext cx="1735138" cy="647700"/>
            <a:chOff x="7380288" y="41275"/>
            <a:chExt cx="1735137" cy="647700"/>
          </a:xfrm>
        </p:grpSpPr>
        <p:sp>
          <p:nvSpPr>
            <p:cNvPr id="35"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6"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96838" y="733425"/>
            <a:ext cx="8229600" cy="1143000"/>
          </a:xfrm>
        </p:spPr>
        <p:txBody>
          <a:bodyPr/>
          <a:lstStyle/>
          <a:p>
            <a:pPr algn="l"/>
            <a:r>
              <a:rPr lang="pt-BR" altLang="en-US" sz="1800" smtClean="0">
                <a:solidFill>
                  <a:schemeClr val="accent2"/>
                </a:solidFill>
              </a:rPr>
              <a:t>Forecast to Plan (Previsão até Planejamento)</a:t>
            </a:r>
            <a:r>
              <a:rPr lang="en-US" altLang="en-US" sz="1800" smtClean="0">
                <a:solidFill>
                  <a:schemeClr val="accent2"/>
                </a:solidFill>
              </a:rPr>
              <a:t> </a:t>
            </a:r>
          </a:p>
        </p:txBody>
      </p:sp>
      <p:sp>
        <p:nvSpPr>
          <p:cNvPr id="111619" name="Rectangle 3"/>
          <p:cNvSpPr>
            <a:spLocks noChangeArrowheads="1"/>
          </p:cNvSpPr>
          <p:nvPr/>
        </p:nvSpPr>
        <p:spPr bwMode="blackWhite">
          <a:xfrm>
            <a:off x="5473700" y="5181600"/>
            <a:ext cx="2451100" cy="609600"/>
          </a:xfrm>
          <a:prstGeom prst="rect">
            <a:avLst/>
          </a:prstGeom>
          <a:solidFill>
            <a:srgbClr val="CCCC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5000"/>
              </a:lnSpc>
              <a:spcBef>
                <a:spcPct val="0"/>
              </a:spcBef>
              <a:buClr>
                <a:srgbClr val="FF0000"/>
              </a:buClr>
              <a:buFontTx/>
              <a:buNone/>
            </a:pPr>
            <a:r>
              <a:rPr lang="en-US" altLang="en-US" sz="1800">
                <a:solidFill>
                  <a:srgbClr val="000000"/>
                </a:solidFill>
              </a:rPr>
              <a:t>Otimização baseada</a:t>
            </a:r>
            <a:r>
              <a:rPr lang="en-US" altLang="en-US" sz="1800"/>
              <a:t> </a:t>
            </a:r>
          </a:p>
          <a:p>
            <a:pPr algn="ctr">
              <a:lnSpc>
                <a:spcPct val="95000"/>
              </a:lnSpc>
              <a:spcBef>
                <a:spcPct val="0"/>
              </a:spcBef>
              <a:buClr>
                <a:srgbClr val="FF0000"/>
              </a:buClr>
              <a:buFontTx/>
              <a:buNone/>
            </a:pPr>
            <a:r>
              <a:rPr lang="en-US" altLang="en-US" sz="1800">
                <a:solidFill>
                  <a:srgbClr val="000000"/>
                </a:solidFill>
              </a:rPr>
              <a:t>em restrição</a:t>
            </a:r>
            <a:r>
              <a:rPr lang="en-US" altLang="en-US" sz="1800"/>
              <a:t> </a:t>
            </a:r>
          </a:p>
        </p:txBody>
      </p:sp>
      <p:sp>
        <p:nvSpPr>
          <p:cNvPr id="111620" name="Line 4"/>
          <p:cNvSpPr>
            <a:spLocks noChangeShapeType="1"/>
          </p:cNvSpPr>
          <p:nvPr/>
        </p:nvSpPr>
        <p:spPr bwMode="auto">
          <a:xfrm>
            <a:off x="4572000" y="3556000"/>
            <a:ext cx="0" cy="125730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1621" name="Freeform 5"/>
          <p:cNvSpPr>
            <a:spLocks/>
          </p:cNvSpPr>
          <p:nvPr/>
        </p:nvSpPr>
        <p:spPr bwMode="auto">
          <a:xfrm>
            <a:off x="2044700" y="3429000"/>
            <a:ext cx="2214563" cy="2071688"/>
          </a:xfrm>
          <a:custGeom>
            <a:avLst/>
            <a:gdLst>
              <a:gd name="T0" fmla="*/ 0 w 309"/>
              <a:gd name="T1" fmla="*/ 0 h 381"/>
              <a:gd name="T2" fmla="*/ 0 w 309"/>
              <a:gd name="T3" fmla="*/ 2147483646 h 381"/>
              <a:gd name="T4" fmla="*/ 2147483646 w 309"/>
              <a:gd name="T5" fmla="*/ 2147483646 h 381"/>
              <a:gd name="T6" fmla="*/ 0 60000 65536"/>
              <a:gd name="T7" fmla="*/ 0 60000 65536"/>
              <a:gd name="T8" fmla="*/ 0 60000 65536"/>
            </a:gdLst>
            <a:ahLst/>
            <a:cxnLst>
              <a:cxn ang="T6">
                <a:pos x="T0" y="T1"/>
              </a:cxn>
              <a:cxn ang="T7">
                <a:pos x="T2" y="T3"/>
              </a:cxn>
              <a:cxn ang="T8">
                <a:pos x="T4" y="T5"/>
              </a:cxn>
            </a:cxnLst>
            <a:rect l="0" t="0" r="r" b="b"/>
            <a:pathLst>
              <a:path w="309" h="381">
                <a:moveTo>
                  <a:pt x="0" y="0"/>
                </a:moveTo>
                <a:lnTo>
                  <a:pt x="0" y="380"/>
                </a:lnTo>
                <a:lnTo>
                  <a:pt x="308" y="380"/>
                </a:lnTo>
              </a:path>
            </a:pathLst>
          </a:custGeom>
          <a:noFill/>
          <a:ln w="28575" cap="rnd" cmpd="sng">
            <a:solidFill>
              <a:srgbClr val="000000"/>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111622" name="Picture 6" descr="product_Market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4252913" y="4724400"/>
            <a:ext cx="72072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3" name="Text Box 7"/>
          <p:cNvSpPr txBox="1">
            <a:spLocks noChangeArrowheads="1"/>
          </p:cNvSpPr>
          <p:nvPr/>
        </p:nvSpPr>
        <p:spPr bwMode="gray">
          <a:xfrm>
            <a:off x="3962400" y="5948363"/>
            <a:ext cx="1314450" cy="300037"/>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700" tIns="12700" rIns="12700" bIns="12700">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ASCP</a:t>
            </a:r>
            <a:r>
              <a:rPr lang="en-US" altLang="en-US" sz="1800"/>
              <a:t> </a:t>
            </a:r>
          </a:p>
        </p:txBody>
      </p:sp>
      <p:sp>
        <p:nvSpPr>
          <p:cNvPr id="111624" name="Rectangle 8"/>
          <p:cNvSpPr>
            <a:spLocks noChangeArrowheads="1"/>
          </p:cNvSpPr>
          <p:nvPr/>
        </p:nvSpPr>
        <p:spPr bwMode="blackWhite">
          <a:xfrm>
            <a:off x="762000" y="5181600"/>
            <a:ext cx="2451100" cy="609600"/>
          </a:xfrm>
          <a:prstGeom prst="rect">
            <a:avLst/>
          </a:prstGeom>
          <a:solidFill>
            <a:srgbClr val="CCCC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pt-BR" altLang="en-US" sz="1800">
                <a:solidFill>
                  <a:srgbClr val="000000"/>
                </a:solidFill>
              </a:rPr>
              <a:t>Informações sobre </a:t>
            </a:r>
            <a:br>
              <a:rPr lang="pt-BR" altLang="en-US" sz="1800">
                <a:solidFill>
                  <a:srgbClr val="000000"/>
                </a:solidFill>
              </a:rPr>
            </a:br>
            <a:r>
              <a:rPr lang="pt-BR" altLang="en-US" sz="1800">
                <a:solidFill>
                  <a:srgbClr val="000000"/>
                </a:solidFill>
              </a:rPr>
              <a:t>Ordens de Venda</a:t>
            </a:r>
            <a:r>
              <a:rPr lang="en-US" altLang="en-US" sz="1800"/>
              <a:t> </a:t>
            </a:r>
          </a:p>
        </p:txBody>
      </p:sp>
      <p:sp>
        <p:nvSpPr>
          <p:cNvPr id="111625" name="Rectangle 9"/>
          <p:cNvSpPr>
            <a:spLocks noChangeArrowheads="1"/>
          </p:cNvSpPr>
          <p:nvPr/>
        </p:nvSpPr>
        <p:spPr bwMode="blackWhite">
          <a:xfrm>
            <a:off x="257175" y="3848100"/>
            <a:ext cx="3070225" cy="609600"/>
          </a:xfrm>
          <a:prstGeom prst="rect">
            <a:avLst/>
          </a:prstGeom>
          <a:solidFill>
            <a:srgbClr val="CCCC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85000"/>
              </a:lnSpc>
              <a:spcBef>
                <a:spcPct val="0"/>
              </a:spcBef>
              <a:buFontTx/>
              <a:buNone/>
            </a:pPr>
            <a:r>
              <a:rPr lang="en-US" altLang="en-US" sz="1800">
                <a:solidFill>
                  <a:srgbClr val="000000"/>
                </a:solidFill>
                <a:cs typeface="Times New Roman" panose="02020603050405020304" pitchFamily="18" charset="0"/>
              </a:rPr>
              <a:t>Gerenciamento de ordens</a:t>
            </a:r>
            <a:r>
              <a:rPr lang="en-US" altLang="en-US" sz="1800">
                <a:cs typeface="Times New Roman" panose="02020603050405020304" pitchFamily="18" charset="0"/>
              </a:rPr>
              <a:t> </a:t>
            </a:r>
          </a:p>
        </p:txBody>
      </p:sp>
      <p:sp>
        <p:nvSpPr>
          <p:cNvPr id="111626" name="Rectangle 10"/>
          <p:cNvSpPr>
            <a:spLocks noChangeArrowheads="1"/>
          </p:cNvSpPr>
          <p:nvPr/>
        </p:nvSpPr>
        <p:spPr bwMode="blackWhite">
          <a:xfrm>
            <a:off x="3149600" y="2933700"/>
            <a:ext cx="3076575" cy="609600"/>
          </a:xfrm>
          <a:prstGeom prst="rect">
            <a:avLst/>
          </a:prstGeom>
          <a:solidFill>
            <a:srgbClr val="CCCC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Planejamento de demanda</a:t>
            </a:r>
            <a:r>
              <a:rPr lang="en-US" altLang="en-US" sz="1800"/>
              <a:t> </a:t>
            </a:r>
          </a:p>
        </p:txBody>
      </p:sp>
      <p:sp>
        <p:nvSpPr>
          <p:cNvPr id="111627" name="Rectangle 11"/>
          <p:cNvSpPr>
            <a:spLocks noChangeArrowheads="1"/>
          </p:cNvSpPr>
          <p:nvPr/>
        </p:nvSpPr>
        <p:spPr bwMode="blackWhite">
          <a:xfrm>
            <a:off x="3505200" y="3848100"/>
            <a:ext cx="2133600" cy="609600"/>
          </a:xfrm>
          <a:prstGeom prst="rect">
            <a:avLst/>
          </a:prstGeom>
          <a:solidFill>
            <a:srgbClr val="CCCC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Previsões</a:t>
            </a:r>
            <a:r>
              <a:rPr lang="en-US" altLang="en-US" sz="1800"/>
              <a:t> </a:t>
            </a:r>
          </a:p>
        </p:txBody>
      </p:sp>
      <p:sp>
        <p:nvSpPr>
          <p:cNvPr id="111628" name="Line 12"/>
          <p:cNvSpPr>
            <a:spLocks noChangeShapeType="1"/>
          </p:cNvSpPr>
          <p:nvPr/>
        </p:nvSpPr>
        <p:spPr bwMode="auto">
          <a:xfrm>
            <a:off x="4584700" y="2386013"/>
            <a:ext cx="0" cy="53340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111629" name="Picture 13" descr="Product Finan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4211638" y="1492250"/>
            <a:ext cx="72072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30" name="Picture 14" descr="Product_Warehous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1674813" y="2409825"/>
            <a:ext cx="72072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2"/>
          <p:cNvSpPr txBox="1">
            <a:spLocks noChangeArrowheads="1"/>
          </p:cNvSpPr>
          <p:nvPr/>
        </p:nvSpPr>
        <p:spPr bwMode="auto">
          <a:xfrm>
            <a:off x="11113" y="-211138"/>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err="1" smtClean="0">
                <a:solidFill>
                  <a:srgbClr val="003366"/>
                </a:solidFill>
              </a:rPr>
              <a:t>eBusiness</a:t>
            </a:r>
            <a:r>
              <a:rPr lang="pt-BR" altLang="pt-BR" b="1" kern="0" dirty="0" smtClean="0">
                <a:solidFill>
                  <a:srgbClr val="003366"/>
                </a:solidFill>
              </a:rPr>
              <a:t> </a:t>
            </a:r>
            <a:r>
              <a:rPr lang="pt-BR" altLang="pt-BR" b="1" kern="0" dirty="0" err="1" smtClean="0">
                <a:solidFill>
                  <a:srgbClr val="003366"/>
                </a:solidFill>
              </a:rPr>
              <a:t>Suite</a:t>
            </a:r>
            <a:r>
              <a:rPr lang="pt-BR" altLang="pt-BR" b="1" kern="0" dirty="0" smtClean="0">
                <a:solidFill>
                  <a:srgbClr val="003366"/>
                </a:solidFill>
              </a:rPr>
              <a:t> – </a:t>
            </a:r>
            <a:r>
              <a:rPr lang="pt-BR" altLang="pt-BR" sz="3600" b="1" kern="0" dirty="0" smtClean="0">
                <a:solidFill>
                  <a:srgbClr val="003366"/>
                </a:solidFill>
              </a:rPr>
              <a:t>F2P</a:t>
            </a:r>
          </a:p>
        </p:txBody>
      </p:sp>
      <p:sp>
        <p:nvSpPr>
          <p:cNvPr id="111632"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11633" name="Group 6"/>
          <p:cNvGrpSpPr>
            <a:grpSpLocks/>
          </p:cNvGrpSpPr>
          <p:nvPr/>
        </p:nvGrpSpPr>
        <p:grpSpPr bwMode="auto">
          <a:xfrm>
            <a:off x="7308850" y="117475"/>
            <a:ext cx="1735138" cy="647700"/>
            <a:chOff x="7380288" y="41275"/>
            <a:chExt cx="1735137" cy="647700"/>
          </a:xfrm>
        </p:grpSpPr>
        <p:sp>
          <p:nvSpPr>
            <p:cNvPr id="18"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19"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Line 2"/>
          <p:cNvSpPr>
            <a:spLocks noChangeShapeType="1"/>
          </p:cNvSpPr>
          <p:nvPr/>
        </p:nvSpPr>
        <p:spPr bwMode="auto">
          <a:xfrm>
            <a:off x="1371600" y="2576513"/>
            <a:ext cx="0" cy="1885950"/>
          </a:xfrm>
          <a:prstGeom prst="line">
            <a:avLst/>
          </a:prstGeom>
          <a:noFill/>
          <a:ln w="28575">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113667" name="Picture 3" descr="Product_Payables"/>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949325" y="4437063"/>
            <a:ext cx="71437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8" name="Rectangle 4"/>
          <p:cNvSpPr>
            <a:spLocks noGrp="1" noChangeArrowheads="1"/>
          </p:cNvSpPr>
          <p:nvPr>
            <p:ph type="title"/>
          </p:nvPr>
        </p:nvSpPr>
        <p:spPr>
          <a:xfrm>
            <a:off x="0" y="614363"/>
            <a:ext cx="8229600" cy="1143000"/>
          </a:xfrm>
        </p:spPr>
        <p:txBody>
          <a:bodyPr/>
          <a:lstStyle/>
          <a:p>
            <a:pPr algn="l"/>
            <a:r>
              <a:rPr lang="pt-BR" altLang="en-US" sz="2400" smtClean="0">
                <a:solidFill>
                  <a:schemeClr val="accent2"/>
                </a:solidFill>
              </a:rPr>
              <a:t>Procure to Pay (Aquisição até o Pagamento)</a:t>
            </a:r>
            <a:r>
              <a:rPr lang="en-US" altLang="en-US" sz="2400" smtClean="0">
                <a:solidFill>
                  <a:schemeClr val="accent2"/>
                </a:solidFill>
              </a:rPr>
              <a:t> </a:t>
            </a:r>
          </a:p>
        </p:txBody>
      </p:sp>
      <p:sp>
        <p:nvSpPr>
          <p:cNvPr id="113669" name="Rectangle 5"/>
          <p:cNvSpPr>
            <a:spLocks noChangeArrowheads="1"/>
          </p:cNvSpPr>
          <p:nvPr/>
        </p:nvSpPr>
        <p:spPr bwMode="gray">
          <a:xfrm>
            <a:off x="685800" y="5708650"/>
            <a:ext cx="13716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cs typeface="Times New Roman" panose="02020603050405020304" pitchFamily="18" charset="0"/>
              </a:rPr>
              <a:t>Payables/</a:t>
            </a:r>
            <a:r>
              <a:rPr lang="en-US" altLang="en-US" sz="1800" i="1">
                <a:solidFill>
                  <a:srgbClr val="000000"/>
                </a:solidFill>
                <a:cs typeface="Times New Roman" panose="02020603050405020304" pitchFamily="18" charset="0"/>
              </a:rPr>
              <a:t>i</a:t>
            </a:r>
            <a:r>
              <a:rPr lang="en-US" altLang="en-US" sz="1800">
                <a:solidFill>
                  <a:srgbClr val="000000"/>
                </a:solidFill>
                <a:cs typeface="Times New Roman" panose="02020603050405020304" pitchFamily="18" charset="0"/>
              </a:rPr>
              <a:t>Expenses</a:t>
            </a:r>
            <a:r>
              <a:rPr lang="en-US" altLang="en-US" sz="1800">
                <a:cs typeface="Times New Roman" panose="02020603050405020304" pitchFamily="18" charset="0"/>
              </a:rPr>
              <a:t> </a:t>
            </a:r>
          </a:p>
        </p:txBody>
      </p:sp>
      <p:sp>
        <p:nvSpPr>
          <p:cNvPr id="113670" name="Rectangle 6"/>
          <p:cNvSpPr>
            <a:spLocks noChangeArrowheads="1"/>
          </p:cNvSpPr>
          <p:nvPr/>
        </p:nvSpPr>
        <p:spPr bwMode="gray">
          <a:xfrm>
            <a:off x="2298700" y="3835400"/>
            <a:ext cx="314483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FontTx/>
              <a:buNone/>
            </a:pPr>
            <a:r>
              <a:rPr lang="en-US" altLang="en-US" sz="1800">
                <a:solidFill>
                  <a:srgbClr val="000000"/>
                </a:solidFill>
                <a:cs typeface="Times New Roman" panose="02020603050405020304" pitchFamily="18" charset="0"/>
              </a:rPr>
              <a:t>Purchasing/</a:t>
            </a:r>
            <a:r>
              <a:rPr lang="en-US" altLang="en-US" sz="1800" i="1">
                <a:solidFill>
                  <a:srgbClr val="000000"/>
                </a:solidFill>
                <a:cs typeface="Times New Roman" panose="02020603050405020304" pitchFamily="18" charset="0"/>
              </a:rPr>
              <a:t>i</a:t>
            </a:r>
            <a:r>
              <a:rPr lang="en-US" altLang="en-US" sz="1800">
                <a:solidFill>
                  <a:srgbClr val="000000"/>
                </a:solidFill>
                <a:cs typeface="Times New Roman" panose="02020603050405020304" pitchFamily="18" charset="0"/>
              </a:rPr>
              <a:t>Procurement</a:t>
            </a:r>
            <a:r>
              <a:rPr lang="en-US" altLang="en-US" sz="1800">
                <a:cs typeface="Times New Roman" panose="02020603050405020304" pitchFamily="18" charset="0"/>
              </a:rPr>
              <a:t> </a:t>
            </a:r>
          </a:p>
        </p:txBody>
      </p:sp>
      <p:sp>
        <p:nvSpPr>
          <p:cNvPr id="113671" name="Text Box 7"/>
          <p:cNvSpPr txBox="1">
            <a:spLocks noChangeArrowheads="1"/>
          </p:cNvSpPr>
          <p:nvPr/>
        </p:nvSpPr>
        <p:spPr bwMode="auto">
          <a:xfrm>
            <a:off x="1981200" y="4433888"/>
            <a:ext cx="19780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800">
                <a:solidFill>
                  <a:srgbClr val="000000"/>
                </a:solidFill>
              </a:rPr>
              <a:t>Contabilidade</a:t>
            </a:r>
            <a:r>
              <a:rPr lang="en-US" altLang="en-US" sz="1800"/>
              <a:t> </a:t>
            </a:r>
          </a:p>
        </p:txBody>
      </p:sp>
      <p:sp>
        <p:nvSpPr>
          <p:cNvPr id="113672" name="Freeform 8"/>
          <p:cNvSpPr>
            <a:spLocks/>
          </p:cNvSpPr>
          <p:nvPr/>
        </p:nvSpPr>
        <p:spPr bwMode="auto">
          <a:xfrm rot="5400000">
            <a:off x="2384425" y="3436938"/>
            <a:ext cx="898525" cy="2286000"/>
          </a:xfrm>
          <a:custGeom>
            <a:avLst/>
            <a:gdLst>
              <a:gd name="T0" fmla="*/ 0 w 220"/>
              <a:gd name="T1" fmla="*/ 0 h 411"/>
              <a:gd name="T2" fmla="*/ 2147483646 w 220"/>
              <a:gd name="T3" fmla="*/ 0 h 411"/>
              <a:gd name="T4" fmla="*/ 2147483646 w 220"/>
              <a:gd name="T5" fmla="*/ 2147483646 h 411"/>
              <a:gd name="T6" fmla="*/ 0 60000 65536"/>
              <a:gd name="T7" fmla="*/ 0 60000 65536"/>
              <a:gd name="T8" fmla="*/ 0 60000 65536"/>
            </a:gdLst>
            <a:ahLst/>
            <a:cxnLst>
              <a:cxn ang="T6">
                <a:pos x="T0" y="T1"/>
              </a:cxn>
              <a:cxn ang="T7">
                <a:pos x="T2" y="T3"/>
              </a:cxn>
              <a:cxn ang="T8">
                <a:pos x="T4" y="T5"/>
              </a:cxn>
            </a:cxnLst>
            <a:rect l="0" t="0" r="r" b="b"/>
            <a:pathLst>
              <a:path w="220" h="411">
                <a:moveTo>
                  <a:pt x="0" y="0"/>
                </a:moveTo>
                <a:lnTo>
                  <a:pt x="219" y="0"/>
                </a:lnTo>
                <a:lnTo>
                  <a:pt x="219" y="410"/>
                </a:lnTo>
              </a:path>
            </a:pathLst>
          </a:custGeom>
          <a:noFill/>
          <a:ln w="2857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3673" name="Rectangle 9"/>
          <p:cNvSpPr>
            <a:spLocks noChangeArrowheads="1"/>
          </p:cNvSpPr>
          <p:nvPr/>
        </p:nvSpPr>
        <p:spPr bwMode="gray">
          <a:xfrm>
            <a:off x="6119813" y="5957888"/>
            <a:ext cx="1860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cs typeface="Times New Roman" panose="02020603050405020304" pitchFamily="18" charset="0"/>
              </a:rPr>
              <a:t>General Ledger</a:t>
            </a:r>
            <a:r>
              <a:rPr lang="en-US" altLang="en-US" sz="1800">
                <a:cs typeface="Times New Roman" panose="02020603050405020304" pitchFamily="18" charset="0"/>
              </a:rPr>
              <a:t> </a:t>
            </a:r>
          </a:p>
        </p:txBody>
      </p:sp>
      <p:sp>
        <p:nvSpPr>
          <p:cNvPr id="113674" name="Text Box 10"/>
          <p:cNvSpPr txBox="1">
            <a:spLocks noChangeArrowheads="1"/>
          </p:cNvSpPr>
          <p:nvPr/>
        </p:nvSpPr>
        <p:spPr bwMode="auto">
          <a:xfrm>
            <a:off x="2070100" y="5743575"/>
            <a:ext cx="42672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800">
                <a:solidFill>
                  <a:srgbClr val="000000"/>
                </a:solidFill>
              </a:rPr>
              <a:t>Contas a Pagar/Despesas/Pagamentos</a:t>
            </a:r>
            <a:r>
              <a:rPr lang="en-US" altLang="en-US" sz="1800"/>
              <a:t> </a:t>
            </a:r>
          </a:p>
        </p:txBody>
      </p:sp>
      <p:sp>
        <p:nvSpPr>
          <p:cNvPr id="113675" name="Text Box 11"/>
          <p:cNvSpPr txBox="1">
            <a:spLocks noChangeArrowheads="1"/>
          </p:cNvSpPr>
          <p:nvPr/>
        </p:nvSpPr>
        <p:spPr bwMode="blackWhite">
          <a:xfrm>
            <a:off x="3625850" y="5357813"/>
            <a:ext cx="1155700" cy="395287"/>
          </a:xfrm>
          <a:prstGeom prst="rect">
            <a:avLst/>
          </a:prstGeom>
          <a:solidFill>
            <a:srgbClr val="C0C0C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Bancos</a:t>
            </a:r>
            <a:r>
              <a:rPr lang="en-US" altLang="en-US" sz="1800">
                <a:cs typeface="Times New Roman" panose="02020603050405020304" pitchFamily="18" charset="0"/>
              </a:rPr>
              <a:t> </a:t>
            </a:r>
            <a:endParaRPr lang="en-US" altLang="en-US" sz="1800"/>
          </a:p>
        </p:txBody>
      </p:sp>
      <p:sp>
        <p:nvSpPr>
          <p:cNvPr id="113676" name="Rectangle 12"/>
          <p:cNvSpPr>
            <a:spLocks noChangeArrowheads="1"/>
          </p:cNvSpPr>
          <p:nvPr/>
        </p:nvSpPr>
        <p:spPr bwMode="gray">
          <a:xfrm>
            <a:off x="5057775" y="2452688"/>
            <a:ext cx="1212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cs typeface="Times New Roman" panose="02020603050405020304" pitchFamily="18" charset="0"/>
              </a:rPr>
              <a:t>Inventory</a:t>
            </a:r>
            <a:r>
              <a:rPr lang="en-US" altLang="en-US" sz="1800">
                <a:cs typeface="Times New Roman" panose="02020603050405020304" pitchFamily="18" charset="0"/>
              </a:rPr>
              <a:t> </a:t>
            </a:r>
          </a:p>
        </p:txBody>
      </p:sp>
      <p:sp>
        <p:nvSpPr>
          <p:cNvPr id="113677" name="Freeform 13"/>
          <p:cNvSpPr>
            <a:spLocks/>
          </p:cNvSpPr>
          <p:nvPr/>
        </p:nvSpPr>
        <p:spPr bwMode="auto">
          <a:xfrm rot="5400000">
            <a:off x="4946650" y="2174875"/>
            <a:ext cx="200025" cy="1336675"/>
          </a:xfrm>
          <a:custGeom>
            <a:avLst/>
            <a:gdLst>
              <a:gd name="T0" fmla="*/ 0 w 220"/>
              <a:gd name="T1" fmla="*/ 0 h 411"/>
              <a:gd name="T2" fmla="*/ 2147483646 w 220"/>
              <a:gd name="T3" fmla="*/ 0 h 411"/>
              <a:gd name="T4" fmla="*/ 2147483646 w 220"/>
              <a:gd name="T5" fmla="*/ 2147483646 h 411"/>
              <a:gd name="T6" fmla="*/ 0 60000 65536"/>
              <a:gd name="T7" fmla="*/ 0 60000 65536"/>
              <a:gd name="T8" fmla="*/ 0 60000 65536"/>
            </a:gdLst>
            <a:ahLst/>
            <a:cxnLst>
              <a:cxn ang="T6">
                <a:pos x="T0" y="T1"/>
              </a:cxn>
              <a:cxn ang="T7">
                <a:pos x="T2" y="T3"/>
              </a:cxn>
              <a:cxn ang="T8">
                <a:pos x="T4" y="T5"/>
              </a:cxn>
            </a:cxnLst>
            <a:rect l="0" t="0" r="r" b="b"/>
            <a:pathLst>
              <a:path w="220" h="411">
                <a:moveTo>
                  <a:pt x="0" y="0"/>
                </a:moveTo>
                <a:lnTo>
                  <a:pt x="219" y="0"/>
                </a:lnTo>
                <a:lnTo>
                  <a:pt x="219" y="410"/>
                </a:lnTo>
              </a:path>
            </a:pathLst>
          </a:custGeom>
          <a:noFill/>
          <a:ln w="2857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3678" name="Freeform 14"/>
          <p:cNvSpPr>
            <a:spLocks/>
          </p:cNvSpPr>
          <p:nvPr/>
        </p:nvSpPr>
        <p:spPr bwMode="auto">
          <a:xfrm>
            <a:off x="4343400" y="3338513"/>
            <a:ext cx="2133600" cy="1462087"/>
          </a:xfrm>
          <a:custGeom>
            <a:avLst/>
            <a:gdLst>
              <a:gd name="T0" fmla="*/ 0 w 220"/>
              <a:gd name="T1" fmla="*/ 0 h 411"/>
              <a:gd name="T2" fmla="*/ 2147483646 w 220"/>
              <a:gd name="T3" fmla="*/ 0 h 411"/>
              <a:gd name="T4" fmla="*/ 2147483646 w 220"/>
              <a:gd name="T5" fmla="*/ 2147483646 h 411"/>
              <a:gd name="T6" fmla="*/ 0 60000 65536"/>
              <a:gd name="T7" fmla="*/ 0 60000 65536"/>
              <a:gd name="T8" fmla="*/ 0 60000 65536"/>
            </a:gdLst>
            <a:ahLst/>
            <a:cxnLst>
              <a:cxn ang="T6">
                <a:pos x="T0" y="T1"/>
              </a:cxn>
              <a:cxn ang="T7">
                <a:pos x="T2" y="T3"/>
              </a:cxn>
              <a:cxn ang="T8">
                <a:pos x="T4" y="T5"/>
              </a:cxn>
            </a:cxnLst>
            <a:rect l="0" t="0" r="r" b="b"/>
            <a:pathLst>
              <a:path w="220" h="411">
                <a:moveTo>
                  <a:pt x="0" y="0"/>
                </a:moveTo>
                <a:lnTo>
                  <a:pt x="219" y="0"/>
                </a:lnTo>
                <a:lnTo>
                  <a:pt x="219" y="410"/>
                </a:lnTo>
              </a:path>
            </a:pathLst>
          </a:custGeom>
          <a:noFill/>
          <a:ln w="2857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3679" name="Text Box 15"/>
          <p:cNvSpPr txBox="1">
            <a:spLocks noChangeArrowheads="1"/>
          </p:cNvSpPr>
          <p:nvPr/>
        </p:nvSpPr>
        <p:spPr bwMode="auto">
          <a:xfrm>
            <a:off x="4878388" y="2935288"/>
            <a:ext cx="15716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800">
                <a:solidFill>
                  <a:srgbClr val="000000"/>
                </a:solidFill>
              </a:rPr>
              <a:t>Requisições</a:t>
            </a:r>
            <a:r>
              <a:rPr lang="en-US" altLang="en-US" sz="1800"/>
              <a:t> </a:t>
            </a:r>
          </a:p>
        </p:txBody>
      </p:sp>
      <p:sp>
        <p:nvSpPr>
          <p:cNvPr id="113680" name="Text Box 16"/>
          <p:cNvSpPr txBox="1">
            <a:spLocks noChangeArrowheads="1"/>
          </p:cNvSpPr>
          <p:nvPr/>
        </p:nvSpPr>
        <p:spPr bwMode="auto">
          <a:xfrm>
            <a:off x="6076950" y="2025650"/>
            <a:ext cx="13144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800">
                <a:solidFill>
                  <a:srgbClr val="000000"/>
                </a:solidFill>
              </a:rPr>
              <a:t>Atividade de Inventário</a:t>
            </a:r>
            <a:r>
              <a:rPr lang="en-US" altLang="en-US" sz="1800"/>
              <a:t> </a:t>
            </a:r>
          </a:p>
        </p:txBody>
      </p:sp>
      <p:sp>
        <p:nvSpPr>
          <p:cNvPr id="113681" name="Text Box 17"/>
          <p:cNvSpPr txBox="1">
            <a:spLocks noChangeArrowheads="1"/>
          </p:cNvSpPr>
          <p:nvPr/>
        </p:nvSpPr>
        <p:spPr bwMode="auto">
          <a:xfrm>
            <a:off x="5146675" y="3454400"/>
            <a:ext cx="13557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800">
                <a:solidFill>
                  <a:srgbClr val="000000"/>
                </a:solidFill>
              </a:rPr>
              <a:t>Provisões</a:t>
            </a:r>
            <a:r>
              <a:rPr lang="en-US" altLang="en-US" sz="1800"/>
              <a:t> </a:t>
            </a:r>
          </a:p>
        </p:txBody>
      </p:sp>
      <p:sp>
        <p:nvSpPr>
          <p:cNvPr id="113682" name="Freeform 18"/>
          <p:cNvSpPr>
            <a:spLocks/>
          </p:cNvSpPr>
          <p:nvPr/>
        </p:nvSpPr>
        <p:spPr bwMode="auto">
          <a:xfrm>
            <a:off x="6083300" y="1981200"/>
            <a:ext cx="1333500" cy="3127375"/>
          </a:xfrm>
          <a:custGeom>
            <a:avLst/>
            <a:gdLst>
              <a:gd name="T0" fmla="*/ 0 w 960"/>
              <a:gd name="T1" fmla="*/ 0 h 2114"/>
              <a:gd name="T2" fmla="*/ 2147483646 w 960"/>
              <a:gd name="T3" fmla="*/ 0 h 2114"/>
              <a:gd name="T4" fmla="*/ 2147483646 w 960"/>
              <a:gd name="T5" fmla="*/ 2147483646 h 2114"/>
              <a:gd name="T6" fmla="*/ 2147483646 w 960"/>
              <a:gd name="T7" fmla="*/ 2147483646 h 21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0" h="2114">
                <a:moveTo>
                  <a:pt x="0" y="0"/>
                </a:moveTo>
                <a:lnTo>
                  <a:pt x="960" y="0"/>
                </a:lnTo>
                <a:lnTo>
                  <a:pt x="960" y="2110"/>
                </a:lnTo>
                <a:lnTo>
                  <a:pt x="570" y="2114"/>
                </a:lnTo>
              </a:path>
            </a:pathLst>
          </a:custGeom>
          <a:noFill/>
          <a:ln w="28575" cap="flat"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3683" name="Text Box 19"/>
          <p:cNvSpPr txBox="1">
            <a:spLocks noChangeArrowheads="1"/>
          </p:cNvSpPr>
          <p:nvPr/>
        </p:nvSpPr>
        <p:spPr bwMode="blackWhite">
          <a:xfrm>
            <a:off x="4089400" y="4267200"/>
            <a:ext cx="1866900" cy="395288"/>
          </a:xfrm>
          <a:prstGeom prst="rect">
            <a:avLst/>
          </a:prstGeom>
          <a:solidFill>
            <a:srgbClr val="C0C0C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Fornecedores</a:t>
            </a:r>
            <a:r>
              <a:rPr lang="en-US" altLang="en-US" sz="1800">
                <a:cs typeface="Times New Roman" panose="02020603050405020304" pitchFamily="18" charset="0"/>
              </a:rPr>
              <a:t> </a:t>
            </a:r>
          </a:p>
        </p:txBody>
      </p:sp>
      <p:sp>
        <p:nvSpPr>
          <p:cNvPr id="113684" name="Text Box 20"/>
          <p:cNvSpPr txBox="1">
            <a:spLocks noChangeArrowheads="1"/>
          </p:cNvSpPr>
          <p:nvPr/>
        </p:nvSpPr>
        <p:spPr bwMode="blackWhite">
          <a:xfrm>
            <a:off x="7010400" y="5211763"/>
            <a:ext cx="1168400" cy="395287"/>
          </a:xfrm>
          <a:prstGeom prst="rect">
            <a:avLst/>
          </a:prstGeom>
          <a:solidFill>
            <a:srgbClr val="C0C0C0"/>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Razão</a:t>
            </a:r>
            <a:r>
              <a:rPr lang="en-US" altLang="en-US" sz="1800">
                <a:cs typeface="Times New Roman" panose="02020603050405020304" pitchFamily="18" charset="0"/>
              </a:rPr>
              <a:t> </a:t>
            </a:r>
          </a:p>
        </p:txBody>
      </p:sp>
      <p:pic>
        <p:nvPicPr>
          <p:cNvPr id="113685" name="Picture 21" descr="Product_Inventory"/>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5354638" y="1390650"/>
            <a:ext cx="717550"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86" name="Picture 22" descr="Product_Sales"/>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3667125" y="2586038"/>
            <a:ext cx="71437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87" name="Picture 23" descr="Product_Finance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949325" y="1497013"/>
            <a:ext cx="71437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88" name="Picture 24" descr="Product_SOB"/>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6143625" y="4773613"/>
            <a:ext cx="71437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89" name="Line 25"/>
          <p:cNvSpPr>
            <a:spLocks noChangeShapeType="1"/>
          </p:cNvSpPr>
          <p:nvPr/>
        </p:nvSpPr>
        <p:spPr bwMode="auto">
          <a:xfrm rot="5400000" flipH="1" flipV="1">
            <a:off x="3906838" y="2984500"/>
            <a:ext cx="0" cy="4546600"/>
          </a:xfrm>
          <a:prstGeom prst="line">
            <a:avLst/>
          </a:prstGeom>
          <a:noFill/>
          <a:ln w="28575" cap="rnd">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3690" name="Text Box 26"/>
          <p:cNvSpPr txBox="1">
            <a:spLocks noChangeArrowheads="1"/>
          </p:cNvSpPr>
          <p:nvPr/>
        </p:nvSpPr>
        <p:spPr bwMode="auto">
          <a:xfrm>
            <a:off x="1409700" y="2762250"/>
            <a:ext cx="1447800" cy="57467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700" tIns="12700" rIns="12700" bIns="12700">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50000"/>
              </a:spcBef>
              <a:buFontTx/>
              <a:buNone/>
            </a:pPr>
            <a:r>
              <a:rPr lang="en-US" altLang="en-US" sz="1800">
                <a:solidFill>
                  <a:srgbClr val="000000"/>
                </a:solidFill>
              </a:rPr>
              <a:t>Cash</a:t>
            </a:r>
            <a:br>
              <a:rPr lang="en-US" altLang="en-US" sz="1800">
                <a:solidFill>
                  <a:srgbClr val="000000"/>
                </a:solidFill>
              </a:rPr>
            </a:br>
            <a:r>
              <a:rPr lang="en-US" altLang="en-US" sz="1800">
                <a:solidFill>
                  <a:srgbClr val="000000"/>
                </a:solidFill>
              </a:rPr>
              <a:t>Management</a:t>
            </a:r>
            <a:r>
              <a:rPr lang="en-US" altLang="en-US" sz="1800"/>
              <a:t> </a:t>
            </a:r>
          </a:p>
        </p:txBody>
      </p:sp>
      <p:sp>
        <p:nvSpPr>
          <p:cNvPr id="27" name="Rectangle 2"/>
          <p:cNvSpPr txBox="1">
            <a:spLocks noChangeArrowheads="1"/>
          </p:cNvSpPr>
          <p:nvPr/>
        </p:nvSpPr>
        <p:spPr bwMode="auto">
          <a:xfrm>
            <a:off x="11113" y="-211138"/>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err="1" smtClean="0">
                <a:solidFill>
                  <a:srgbClr val="003366"/>
                </a:solidFill>
              </a:rPr>
              <a:t>eBusiness</a:t>
            </a:r>
            <a:r>
              <a:rPr lang="pt-BR" altLang="pt-BR" b="1" kern="0" dirty="0" smtClean="0">
                <a:solidFill>
                  <a:srgbClr val="003366"/>
                </a:solidFill>
              </a:rPr>
              <a:t> </a:t>
            </a:r>
            <a:r>
              <a:rPr lang="pt-BR" altLang="pt-BR" b="1" kern="0" dirty="0" err="1" smtClean="0">
                <a:solidFill>
                  <a:srgbClr val="003366"/>
                </a:solidFill>
              </a:rPr>
              <a:t>Suite</a:t>
            </a:r>
            <a:r>
              <a:rPr lang="pt-BR" altLang="pt-BR" b="1" kern="0" dirty="0" smtClean="0">
                <a:solidFill>
                  <a:srgbClr val="003366"/>
                </a:solidFill>
              </a:rPr>
              <a:t> – </a:t>
            </a:r>
            <a:r>
              <a:rPr lang="pt-BR" altLang="pt-BR" sz="3600" b="1" kern="0" dirty="0" smtClean="0">
                <a:solidFill>
                  <a:srgbClr val="003366"/>
                </a:solidFill>
              </a:rPr>
              <a:t>P2P</a:t>
            </a:r>
          </a:p>
        </p:txBody>
      </p:sp>
      <p:sp>
        <p:nvSpPr>
          <p:cNvPr id="113692" name="Line 5"/>
          <p:cNvSpPr>
            <a:spLocks noChangeShapeType="1"/>
          </p:cNvSpPr>
          <p:nvPr/>
        </p:nvSpPr>
        <p:spPr bwMode="auto">
          <a:xfrm>
            <a:off x="49213" y="8366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13693" name="Group 6"/>
          <p:cNvGrpSpPr>
            <a:grpSpLocks/>
          </p:cNvGrpSpPr>
          <p:nvPr/>
        </p:nvGrpSpPr>
        <p:grpSpPr bwMode="auto">
          <a:xfrm>
            <a:off x="7308850" y="117475"/>
            <a:ext cx="1735138" cy="647700"/>
            <a:chOff x="7380288" y="41275"/>
            <a:chExt cx="1735137" cy="647700"/>
          </a:xfrm>
        </p:grpSpPr>
        <p:sp>
          <p:nvSpPr>
            <p:cNvPr id="30"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1"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36513" y="476250"/>
            <a:ext cx="8229601" cy="1143000"/>
          </a:xfrm>
        </p:spPr>
        <p:txBody>
          <a:bodyPr/>
          <a:lstStyle/>
          <a:p>
            <a:pPr algn="l"/>
            <a:r>
              <a:rPr lang="pt-BR" altLang="en-US" sz="1400" smtClean="0">
                <a:solidFill>
                  <a:schemeClr val="accent2"/>
                </a:solidFill>
              </a:rPr>
              <a:t>Demand to Build (Demanda até Criação)</a:t>
            </a:r>
            <a:r>
              <a:rPr lang="en-US" altLang="en-US" sz="1400" smtClean="0">
                <a:solidFill>
                  <a:schemeClr val="accent2"/>
                </a:solidFill>
              </a:rPr>
              <a:t> </a:t>
            </a:r>
          </a:p>
        </p:txBody>
      </p:sp>
      <p:sp>
        <p:nvSpPr>
          <p:cNvPr id="115715" name="Text Box 3"/>
          <p:cNvSpPr txBox="1">
            <a:spLocks noChangeArrowheads="1"/>
          </p:cNvSpPr>
          <p:nvPr/>
        </p:nvSpPr>
        <p:spPr bwMode="gray">
          <a:xfrm>
            <a:off x="4144963" y="4724400"/>
            <a:ext cx="938212" cy="300038"/>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700" tIns="12700" rIns="12700" bIns="12700">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WIP</a:t>
            </a:r>
            <a:r>
              <a:rPr lang="en-US" altLang="en-US" sz="1800"/>
              <a:t> </a:t>
            </a:r>
          </a:p>
        </p:txBody>
      </p:sp>
      <p:pic>
        <p:nvPicPr>
          <p:cNvPr id="115716" name="Picture 4" descr="wip pro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4287838" y="3732213"/>
            <a:ext cx="652462"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7" name="Text Box 5"/>
          <p:cNvSpPr txBox="1">
            <a:spLocks noChangeArrowheads="1"/>
          </p:cNvSpPr>
          <p:nvPr/>
        </p:nvSpPr>
        <p:spPr bwMode="auto">
          <a:xfrm>
            <a:off x="688975" y="4506913"/>
            <a:ext cx="1377950" cy="30162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700" tIns="12700" rIns="12700" bIns="12700">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Inventory</a:t>
            </a:r>
            <a:r>
              <a:rPr lang="en-US" altLang="en-US" sz="1800"/>
              <a:t> </a:t>
            </a:r>
          </a:p>
        </p:txBody>
      </p:sp>
      <p:sp>
        <p:nvSpPr>
          <p:cNvPr id="115718" name="Text Box 6"/>
          <p:cNvSpPr txBox="1">
            <a:spLocks noChangeArrowheads="1"/>
          </p:cNvSpPr>
          <p:nvPr/>
        </p:nvSpPr>
        <p:spPr bwMode="gray">
          <a:xfrm>
            <a:off x="782638" y="2227263"/>
            <a:ext cx="1595437" cy="57626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700" tIns="12700" rIns="12700" bIns="12700">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t>Purchasing/</a:t>
            </a:r>
            <a:br>
              <a:rPr lang="en-US" altLang="en-US" sz="1800"/>
            </a:br>
            <a:r>
              <a:rPr lang="en-US" altLang="en-US" sz="1800" i="1">
                <a:latin typeface="Times New Roman" panose="02020603050405020304" pitchFamily="18" charset="0"/>
              </a:rPr>
              <a:t>i</a:t>
            </a:r>
            <a:r>
              <a:rPr lang="en-US" altLang="en-US" sz="1800"/>
              <a:t>Procurement </a:t>
            </a:r>
          </a:p>
        </p:txBody>
      </p:sp>
      <p:pic>
        <p:nvPicPr>
          <p:cNvPr id="115719" name="Picture 7" descr="purch pro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1181100" y="1279525"/>
            <a:ext cx="652463"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20" name="Line 8"/>
          <p:cNvSpPr>
            <a:spLocks noChangeShapeType="1"/>
          </p:cNvSpPr>
          <p:nvPr/>
        </p:nvSpPr>
        <p:spPr bwMode="auto">
          <a:xfrm>
            <a:off x="1820863" y="1738313"/>
            <a:ext cx="2552700" cy="0"/>
          </a:xfrm>
          <a:prstGeom prst="line">
            <a:avLst/>
          </a:prstGeom>
          <a:noFill/>
          <a:ln w="28575">
            <a:solidFill>
              <a:schemeClr val="tx1"/>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5721" name="Rectangle 9"/>
          <p:cNvSpPr>
            <a:spLocks noChangeArrowheads="1"/>
          </p:cNvSpPr>
          <p:nvPr/>
        </p:nvSpPr>
        <p:spPr bwMode="auto">
          <a:xfrm>
            <a:off x="2252663" y="1379538"/>
            <a:ext cx="14033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solidFill>
                  <a:srgbClr val="000000"/>
                </a:solidFill>
              </a:rPr>
              <a:t>Requisições</a:t>
            </a:r>
            <a:r>
              <a:rPr lang="en-US" altLang="en-US" sz="1600"/>
              <a:t> </a:t>
            </a:r>
          </a:p>
        </p:txBody>
      </p:sp>
      <p:sp>
        <p:nvSpPr>
          <p:cNvPr id="115722" name="Line 10"/>
          <p:cNvSpPr>
            <a:spLocks noChangeShapeType="1"/>
          </p:cNvSpPr>
          <p:nvPr/>
        </p:nvSpPr>
        <p:spPr bwMode="auto">
          <a:xfrm>
            <a:off x="4611688" y="2513013"/>
            <a:ext cx="1587" cy="1279525"/>
          </a:xfrm>
          <a:prstGeom prst="line">
            <a:avLst/>
          </a:prstGeom>
          <a:noFill/>
          <a:ln w="28575" cap="rnd">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5723" name="Line 11"/>
          <p:cNvSpPr>
            <a:spLocks noChangeShapeType="1"/>
          </p:cNvSpPr>
          <p:nvPr/>
        </p:nvSpPr>
        <p:spPr bwMode="auto">
          <a:xfrm>
            <a:off x="1739900" y="3878263"/>
            <a:ext cx="400050"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5724" name="Freeform 12"/>
          <p:cNvSpPr>
            <a:spLocks/>
          </p:cNvSpPr>
          <p:nvPr/>
        </p:nvSpPr>
        <p:spPr bwMode="auto">
          <a:xfrm>
            <a:off x="1820863" y="2019300"/>
            <a:ext cx="1076325" cy="1538288"/>
          </a:xfrm>
          <a:custGeom>
            <a:avLst/>
            <a:gdLst>
              <a:gd name="T0" fmla="*/ 0 w 220"/>
              <a:gd name="T1" fmla="*/ 0 h 411"/>
              <a:gd name="T2" fmla="*/ 2147483646 w 220"/>
              <a:gd name="T3" fmla="*/ 0 h 411"/>
              <a:gd name="T4" fmla="*/ 2147483646 w 220"/>
              <a:gd name="T5" fmla="*/ 2147483646 h 411"/>
              <a:gd name="T6" fmla="*/ 0 60000 65536"/>
              <a:gd name="T7" fmla="*/ 0 60000 65536"/>
              <a:gd name="T8" fmla="*/ 0 60000 65536"/>
            </a:gdLst>
            <a:ahLst/>
            <a:cxnLst>
              <a:cxn ang="T6">
                <a:pos x="T0" y="T1"/>
              </a:cxn>
              <a:cxn ang="T7">
                <a:pos x="T2" y="T3"/>
              </a:cxn>
              <a:cxn ang="T8">
                <a:pos x="T4" y="T5"/>
              </a:cxn>
            </a:cxnLst>
            <a:rect l="0" t="0" r="r" b="b"/>
            <a:pathLst>
              <a:path w="220" h="411">
                <a:moveTo>
                  <a:pt x="0" y="0"/>
                </a:moveTo>
                <a:lnTo>
                  <a:pt x="219" y="0"/>
                </a:lnTo>
                <a:lnTo>
                  <a:pt x="219" y="410"/>
                </a:lnTo>
              </a:path>
            </a:pathLst>
          </a:custGeom>
          <a:noFill/>
          <a:ln w="2857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5725" name="Freeform 13"/>
          <p:cNvSpPr>
            <a:spLocks/>
          </p:cNvSpPr>
          <p:nvPr/>
        </p:nvSpPr>
        <p:spPr bwMode="auto">
          <a:xfrm rot="-5400000">
            <a:off x="2841626" y="2208212"/>
            <a:ext cx="1657350" cy="1158875"/>
          </a:xfrm>
          <a:custGeom>
            <a:avLst/>
            <a:gdLst>
              <a:gd name="T0" fmla="*/ 0 w 220"/>
              <a:gd name="T1" fmla="*/ 0 h 411"/>
              <a:gd name="T2" fmla="*/ 2147483646 w 220"/>
              <a:gd name="T3" fmla="*/ 0 h 411"/>
              <a:gd name="T4" fmla="*/ 2147483646 w 220"/>
              <a:gd name="T5" fmla="*/ 2147483646 h 411"/>
              <a:gd name="T6" fmla="*/ 0 60000 65536"/>
              <a:gd name="T7" fmla="*/ 0 60000 65536"/>
              <a:gd name="T8" fmla="*/ 0 60000 65536"/>
            </a:gdLst>
            <a:ahLst/>
            <a:cxnLst>
              <a:cxn ang="T6">
                <a:pos x="T0" y="T1"/>
              </a:cxn>
              <a:cxn ang="T7">
                <a:pos x="T2" y="T3"/>
              </a:cxn>
              <a:cxn ang="T8">
                <a:pos x="T4" y="T5"/>
              </a:cxn>
            </a:cxnLst>
            <a:rect l="0" t="0" r="r" b="b"/>
            <a:pathLst>
              <a:path w="220" h="411">
                <a:moveTo>
                  <a:pt x="0" y="0"/>
                </a:moveTo>
                <a:lnTo>
                  <a:pt x="219" y="0"/>
                </a:lnTo>
                <a:lnTo>
                  <a:pt x="219" y="410"/>
                </a:lnTo>
              </a:path>
            </a:pathLst>
          </a:custGeom>
          <a:noFill/>
          <a:ln w="2857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5726" name="Rectangle 14"/>
          <p:cNvSpPr>
            <a:spLocks noChangeArrowheads="1"/>
          </p:cNvSpPr>
          <p:nvPr/>
        </p:nvSpPr>
        <p:spPr bwMode="blackWhite">
          <a:xfrm>
            <a:off x="5246688" y="1406525"/>
            <a:ext cx="1743075" cy="304800"/>
          </a:xfrm>
          <a:prstGeom prst="rect">
            <a:avLst/>
          </a:prstGeom>
          <a:solidFill>
            <a:srgbClr val="CCCC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Info sobre custo</a:t>
            </a:r>
            <a:r>
              <a:rPr lang="en-US" altLang="en-US" sz="1600"/>
              <a:t> </a:t>
            </a:r>
          </a:p>
        </p:txBody>
      </p:sp>
      <p:sp>
        <p:nvSpPr>
          <p:cNvPr id="115727" name="Rectangle 15"/>
          <p:cNvSpPr>
            <a:spLocks noChangeArrowheads="1"/>
          </p:cNvSpPr>
          <p:nvPr/>
        </p:nvSpPr>
        <p:spPr bwMode="blackWhite">
          <a:xfrm>
            <a:off x="3259138" y="2884488"/>
            <a:ext cx="2505075" cy="306387"/>
          </a:xfrm>
          <a:prstGeom prst="rect">
            <a:avLst/>
          </a:prstGeom>
          <a:solidFill>
            <a:srgbClr val="CCCC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Info Ordens Planejadas</a:t>
            </a:r>
            <a:r>
              <a:rPr lang="en-US" altLang="en-US" sz="1600"/>
              <a:t> </a:t>
            </a:r>
          </a:p>
        </p:txBody>
      </p:sp>
      <p:sp>
        <p:nvSpPr>
          <p:cNvPr id="115728" name="Freeform 16"/>
          <p:cNvSpPr>
            <a:spLocks/>
          </p:cNvSpPr>
          <p:nvPr/>
        </p:nvSpPr>
        <p:spPr bwMode="auto">
          <a:xfrm rot="10800000">
            <a:off x="4613275" y="5024438"/>
            <a:ext cx="2633663" cy="612775"/>
          </a:xfrm>
          <a:custGeom>
            <a:avLst/>
            <a:gdLst>
              <a:gd name="T0" fmla="*/ 0 w 220"/>
              <a:gd name="T1" fmla="*/ 0 h 411"/>
              <a:gd name="T2" fmla="*/ 2147483646 w 220"/>
              <a:gd name="T3" fmla="*/ 0 h 411"/>
              <a:gd name="T4" fmla="*/ 2147483646 w 220"/>
              <a:gd name="T5" fmla="*/ 2147483646 h 411"/>
              <a:gd name="T6" fmla="*/ 0 60000 65536"/>
              <a:gd name="T7" fmla="*/ 0 60000 65536"/>
              <a:gd name="T8" fmla="*/ 0 60000 65536"/>
            </a:gdLst>
            <a:ahLst/>
            <a:cxnLst>
              <a:cxn ang="T6">
                <a:pos x="T0" y="T1"/>
              </a:cxn>
              <a:cxn ang="T7">
                <a:pos x="T2" y="T3"/>
              </a:cxn>
              <a:cxn ang="T8">
                <a:pos x="T4" y="T5"/>
              </a:cxn>
            </a:cxnLst>
            <a:rect l="0" t="0" r="r" b="b"/>
            <a:pathLst>
              <a:path w="220" h="411">
                <a:moveTo>
                  <a:pt x="0" y="0"/>
                </a:moveTo>
                <a:lnTo>
                  <a:pt x="219" y="0"/>
                </a:lnTo>
                <a:lnTo>
                  <a:pt x="219" y="410"/>
                </a:lnTo>
              </a:path>
            </a:pathLst>
          </a:custGeom>
          <a:noFill/>
          <a:ln w="2857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5729" name="Rectangle 17"/>
          <p:cNvSpPr>
            <a:spLocks noChangeArrowheads="1"/>
          </p:cNvSpPr>
          <p:nvPr/>
        </p:nvSpPr>
        <p:spPr bwMode="gray">
          <a:xfrm>
            <a:off x="5397500" y="4275138"/>
            <a:ext cx="1136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Capacity</a:t>
            </a:r>
            <a:r>
              <a:rPr lang="en-US" altLang="en-US" sz="1800"/>
              <a:t> </a:t>
            </a:r>
          </a:p>
        </p:txBody>
      </p:sp>
      <p:sp>
        <p:nvSpPr>
          <p:cNvPr id="115730" name="Line 18"/>
          <p:cNvSpPr>
            <a:spLocks noChangeShapeType="1"/>
          </p:cNvSpPr>
          <p:nvPr/>
        </p:nvSpPr>
        <p:spPr bwMode="auto">
          <a:xfrm>
            <a:off x="1393825" y="2770188"/>
            <a:ext cx="0" cy="952500"/>
          </a:xfrm>
          <a:prstGeom prst="line">
            <a:avLst/>
          </a:prstGeom>
          <a:noFill/>
          <a:ln w="28575" cap="rnd">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5731" name="Rectangle 19"/>
          <p:cNvSpPr>
            <a:spLocks noChangeArrowheads="1"/>
          </p:cNvSpPr>
          <p:nvPr/>
        </p:nvSpPr>
        <p:spPr bwMode="auto">
          <a:xfrm>
            <a:off x="1379538" y="3011488"/>
            <a:ext cx="14033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solidFill>
                  <a:srgbClr val="000000"/>
                </a:solidFill>
              </a:rPr>
              <a:t>Requisições</a:t>
            </a:r>
            <a:r>
              <a:rPr lang="en-US" altLang="en-US" sz="1600"/>
              <a:t> </a:t>
            </a:r>
          </a:p>
        </p:txBody>
      </p:sp>
      <p:sp>
        <p:nvSpPr>
          <p:cNvPr id="115732" name="Rectangle 20"/>
          <p:cNvSpPr>
            <a:spLocks noChangeArrowheads="1"/>
          </p:cNvSpPr>
          <p:nvPr/>
        </p:nvSpPr>
        <p:spPr bwMode="blackWhite">
          <a:xfrm>
            <a:off x="2165350" y="3563938"/>
            <a:ext cx="1797050" cy="522287"/>
          </a:xfrm>
          <a:prstGeom prst="rect">
            <a:avLst/>
          </a:prstGeom>
          <a:solidFill>
            <a:srgbClr val="CCCC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5000"/>
              </a:lnSpc>
              <a:spcBef>
                <a:spcPct val="0"/>
              </a:spcBef>
              <a:buClr>
                <a:srgbClr val="FF0000"/>
              </a:buClr>
              <a:buFontTx/>
              <a:buNone/>
            </a:pPr>
            <a:r>
              <a:rPr lang="en-US" altLang="en-US" sz="1600">
                <a:solidFill>
                  <a:srgbClr val="000000"/>
                </a:solidFill>
              </a:rPr>
              <a:t>Info sobre</a:t>
            </a:r>
            <a:r>
              <a:rPr lang="en-US" altLang="en-US" sz="1600"/>
              <a:t> </a:t>
            </a:r>
          </a:p>
          <a:p>
            <a:pPr algn="ctr">
              <a:lnSpc>
                <a:spcPct val="95000"/>
              </a:lnSpc>
              <a:spcBef>
                <a:spcPct val="0"/>
              </a:spcBef>
              <a:buClr>
                <a:srgbClr val="FF0000"/>
              </a:buClr>
              <a:buFontTx/>
              <a:buNone/>
            </a:pPr>
            <a:r>
              <a:rPr lang="en-US" altLang="en-US" sz="1600">
                <a:solidFill>
                  <a:srgbClr val="000000"/>
                </a:solidFill>
              </a:rPr>
              <a:t>Oferta/Demanda</a:t>
            </a:r>
            <a:r>
              <a:rPr lang="en-US" altLang="en-US" sz="1600"/>
              <a:t> </a:t>
            </a:r>
          </a:p>
        </p:txBody>
      </p:sp>
      <p:sp>
        <p:nvSpPr>
          <p:cNvPr id="115733" name="Text Box 21"/>
          <p:cNvSpPr txBox="1">
            <a:spLocks noChangeArrowheads="1"/>
          </p:cNvSpPr>
          <p:nvPr/>
        </p:nvSpPr>
        <p:spPr bwMode="blackWhite">
          <a:xfrm>
            <a:off x="2857500" y="4413250"/>
            <a:ext cx="1023938" cy="396875"/>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UDMs</a:t>
            </a:r>
            <a:r>
              <a:rPr lang="en-US" altLang="en-US" sz="1800">
                <a:cs typeface="Times New Roman" panose="02020603050405020304" pitchFamily="18" charset="0"/>
              </a:rPr>
              <a:t> </a:t>
            </a:r>
          </a:p>
        </p:txBody>
      </p:sp>
      <p:sp>
        <p:nvSpPr>
          <p:cNvPr id="115734" name="Text Box 22"/>
          <p:cNvSpPr txBox="1">
            <a:spLocks noChangeArrowheads="1"/>
          </p:cNvSpPr>
          <p:nvPr/>
        </p:nvSpPr>
        <p:spPr bwMode="blackWhite">
          <a:xfrm>
            <a:off x="2857500" y="5102225"/>
            <a:ext cx="1023938" cy="395288"/>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Itens</a:t>
            </a:r>
            <a:r>
              <a:rPr lang="en-US" altLang="en-US" sz="1800">
                <a:cs typeface="Times New Roman" panose="02020603050405020304" pitchFamily="18" charset="0"/>
              </a:rPr>
              <a:t> </a:t>
            </a:r>
          </a:p>
        </p:txBody>
      </p:sp>
      <p:pic>
        <p:nvPicPr>
          <p:cNvPr id="115735" name="Picture 23" descr="Inventor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4287838" y="1279525"/>
            <a:ext cx="652462"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36" name="Text Box 24"/>
          <p:cNvSpPr txBox="1">
            <a:spLocks noChangeArrowheads="1"/>
          </p:cNvSpPr>
          <p:nvPr/>
        </p:nvSpPr>
        <p:spPr bwMode="gray">
          <a:xfrm>
            <a:off x="3925888" y="2228850"/>
            <a:ext cx="1376362" cy="30162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700" tIns="12700" rIns="12700" bIns="12700">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ASCP/MRP</a:t>
            </a:r>
            <a:r>
              <a:rPr lang="en-US" altLang="en-US" sz="1800"/>
              <a:t> </a:t>
            </a:r>
          </a:p>
        </p:txBody>
      </p:sp>
      <p:pic>
        <p:nvPicPr>
          <p:cNvPr id="115737" name="Picture 25" descr="produ0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7251700" y="1219200"/>
            <a:ext cx="630238"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38" name="Text Box 26"/>
          <p:cNvSpPr txBox="1">
            <a:spLocks noChangeArrowheads="1"/>
          </p:cNvSpPr>
          <p:nvPr/>
        </p:nvSpPr>
        <p:spPr bwMode="auto">
          <a:xfrm>
            <a:off x="7102475" y="4191000"/>
            <a:ext cx="928688" cy="300038"/>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700" tIns="12700" rIns="12700" bIns="12700">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BOM</a:t>
            </a:r>
            <a:r>
              <a:rPr lang="en-US" altLang="en-US" sz="1800"/>
              <a:t> </a:t>
            </a:r>
          </a:p>
        </p:txBody>
      </p:sp>
      <p:pic>
        <p:nvPicPr>
          <p:cNvPr id="115739" name="Picture 27" descr="Engineeri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7250113" y="5094288"/>
            <a:ext cx="633412"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40" name="Rectangle 28"/>
          <p:cNvSpPr>
            <a:spLocks noChangeArrowheads="1"/>
          </p:cNvSpPr>
          <p:nvPr/>
        </p:nvSpPr>
        <p:spPr bwMode="gray">
          <a:xfrm>
            <a:off x="6813550" y="5943600"/>
            <a:ext cx="1504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Engenharia</a:t>
            </a:r>
            <a:r>
              <a:rPr lang="en-US" altLang="en-US" sz="1800"/>
              <a:t> </a:t>
            </a:r>
          </a:p>
        </p:txBody>
      </p:sp>
      <p:pic>
        <p:nvPicPr>
          <p:cNvPr id="115741" name="Picture 29" descr="Inventor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1065213" y="3592513"/>
            <a:ext cx="652462"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42" name="Rectangle 30"/>
          <p:cNvSpPr>
            <a:spLocks noChangeArrowheads="1"/>
          </p:cNvSpPr>
          <p:nvPr/>
        </p:nvSpPr>
        <p:spPr bwMode="gray">
          <a:xfrm>
            <a:off x="609600" y="5943600"/>
            <a:ext cx="2647950"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85000"/>
              </a:lnSpc>
              <a:spcBef>
                <a:spcPct val="0"/>
              </a:spcBef>
              <a:buFontTx/>
              <a:buNone/>
            </a:pPr>
            <a:r>
              <a:rPr lang="en-US" altLang="en-US" sz="1800">
                <a:solidFill>
                  <a:srgbClr val="000000"/>
                </a:solidFill>
                <a:cs typeface="Times New Roman" panose="02020603050405020304" pitchFamily="18" charset="0"/>
              </a:rPr>
              <a:t>Order Management</a:t>
            </a:r>
            <a:r>
              <a:rPr lang="en-US" altLang="en-US" sz="1800">
                <a:cs typeface="Times New Roman" panose="02020603050405020304" pitchFamily="18" charset="0"/>
              </a:rPr>
              <a:t> </a:t>
            </a:r>
          </a:p>
        </p:txBody>
      </p:sp>
      <p:pic>
        <p:nvPicPr>
          <p:cNvPr id="115743" name="Picture 31" descr="O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1471613" y="4946650"/>
            <a:ext cx="641350"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44" name="Line 32"/>
          <p:cNvSpPr>
            <a:spLocks noChangeShapeType="1"/>
          </p:cNvSpPr>
          <p:nvPr/>
        </p:nvSpPr>
        <p:spPr bwMode="auto">
          <a:xfrm rot="10800000" flipV="1">
            <a:off x="4884738" y="1738313"/>
            <a:ext cx="2368550" cy="14287"/>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5745" name="Line 33"/>
          <p:cNvSpPr>
            <a:spLocks noChangeShapeType="1"/>
          </p:cNvSpPr>
          <p:nvPr/>
        </p:nvSpPr>
        <p:spPr bwMode="auto">
          <a:xfrm>
            <a:off x="7543800" y="2662238"/>
            <a:ext cx="0" cy="669925"/>
          </a:xfrm>
          <a:prstGeom prst="line">
            <a:avLst/>
          </a:prstGeom>
          <a:noFill/>
          <a:ln w="28575" cap="rnd">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5746" name="Rectangle 34"/>
          <p:cNvSpPr>
            <a:spLocks noChangeArrowheads="1"/>
          </p:cNvSpPr>
          <p:nvPr/>
        </p:nvSpPr>
        <p:spPr bwMode="blackWhite">
          <a:xfrm>
            <a:off x="5889625" y="2884488"/>
            <a:ext cx="3086100" cy="306387"/>
          </a:xfrm>
          <a:prstGeom prst="rect">
            <a:avLst/>
          </a:prstGeom>
          <a:solidFill>
            <a:srgbClr val="CCCC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Info sobre Materiais/Recursos</a:t>
            </a:r>
            <a:r>
              <a:rPr lang="en-US" altLang="en-US" sz="1600"/>
              <a:t> </a:t>
            </a:r>
          </a:p>
        </p:txBody>
      </p:sp>
      <p:sp>
        <p:nvSpPr>
          <p:cNvPr id="115747" name="Text Box 35"/>
          <p:cNvSpPr txBox="1">
            <a:spLocks noChangeArrowheads="1"/>
          </p:cNvSpPr>
          <p:nvPr/>
        </p:nvSpPr>
        <p:spPr bwMode="gray">
          <a:xfrm>
            <a:off x="6769100" y="2155825"/>
            <a:ext cx="1595438" cy="522288"/>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700" tIns="12700" rIns="12700" bIns="12700">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FontTx/>
              <a:buNone/>
            </a:pPr>
            <a:r>
              <a:rPr lang="en-US" altLang="en-US" sz="1800">
                <a:solidFill>
                  <a:srgbClr val="000000"/>
                </a:solidFill>
              </a:rPr>
              <a:t>Cost Management</a:t>
            </a:r>
            <a:r>
              <a:rPr lang="en-US" altLang="en-US" sz="1800"/>
              <a:t> </a:t>
            </a:r>
          </a:p>
        </p:txBody>
      </p:sp>
      <p:sp>
        <p:nvSpPr>
          <p:cNvPr id="115748" name="Line 36"/>
          <p:cNvSpPr>
            <a:spLocks noChangeShapeType="1"/>
          </p:cNvSpPr>
          <p:nvPr/>
        </p:nvSpPr>
        <p:spPr bwMode="auto">
          <a:xfrm>
            <a:off x="7543800" y="4371975"/>
            <a:ext cx="1588" cy="811213"/>
          </a:xfrm>
          <a:prstGeom prst="line">
            <a:avLst/>
          </a:prstGeom>
          <a:noFill/>
          <a:ln w="28575" cap="rnd">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5749" name="Rectangle 37"/>
          <p:cNvSpPr>
            <a:spLocks noChangeArrowheads="1"/>
          </p:cNvSpPr>
          <p:nvPr/>
        </p:nvSpPr>
        <p:spPr bwMode="blackWhite">
          <a:xfrm>
            <a:off x="5695950" y="4643438"/>
            <a:ext cx="3240088" cy="342900"/>
          </a:xfrm>
          <a:prstGeom prst="rect">
            <a:avLst/>
          </a:prstGeom>
          <a:solidFill>
            <a:srgbClr val="CCCC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pt-BR" altLang="en-US" sz="1600">
                <a:solidFill>
                  <a:srgbClr val="000000"/>
                </a:solidFill>
              </a:rPr>
              <a:t>Info sobre BOM de Engenharia</a:t>
            </a:r>
            <a:r>
              <a:rPr lang="en-US" altLang="en-US" sz="1600"/>
              <a:t> </a:t>
            </a:r>
          </a:p>
        </p:txBody>
      </p:sp>
      <p:sp>
        <p:nvSpPr>
          <p:cNvPr id="115750" name="Line 38"/>
          <p:cNvSpPr>
            <a:spLocks noChangeShapeType="1"/>
          </p:cNvSpPr>
          <p:nvPr/>
        </p:nvSpPr>
        <p:spPr bwMode="auto">
          <a:xfrm>
            <a:off x="4919663" y="3962400"/>
            <a:ext cx="2395537" cy="0"/>
          </a:xfrm>
          <a:prstGeom prst="line">
            <a:avLst/>
          </a:prstGeom>
          <a:noFill/>
          <a:ln w="28575">
            <a:solidFill>
              <a:schemeClr val="tx1"/>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115751" name="Picture 39" descr="capacity"/>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gray">
          <a:xfrm>
            <a:off x="5651500" y="3411538"/>
            <a:ext cx="6318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52" name="Picture 40" descr="BOM"/>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gray">
          <a:xfrm>
            <a:off x="7251700" y="3267075"/>
            <a:ext cx="6318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53" name="Freeform 41"/>
          <p:cNvSpPr>
            <a:spLocks/>
          </p:cNvSpPr>
          <p:nvPr/>
        </p:nvSpPr>
        <p:spPr bwMode="auto">
          <a:xfrm rot="-5400000">
            <a:off x="1757362" y="4462463"/>
            <a:ext cx="1323975" cy="571500"/>
          </a:xfrm>
          <a:custGeom>
            <a:avLst/>
            <a:gdLst>
              <a:gd name="T0" fmla="*/ 0 w 309"/>
              <a:gd name="T1" fmla="*/ 0 h 381"/>
              <a:gd name="T2" fmla="*/ 0 w 309"/>
              <a:gd name="T3" fmla="*/ 2147483646 h 381"/>
              <a:gd name="T4" fmla="*/ 2147483646 w 309"/>
              <a:gd name="T5" fmla="*/ 2147483646 h 381"/>
              <a:gd name="T6" fmla="*/ 0 60000 65536"/>
              <a:gd name="T7" fmla="*/ 0 60000 65536"/>
              <a:gd name="T8" fmla="*/ 0 60000 65536"/>
            </a:gdLst>
            <a:ahLst/>
            <a:cxnLst>
              <a:cxn ang="T6">
                <a:pos x="T0" y="T1"/>
              </a:cxn>
              <a:cxn ang="T7">
                <a:pos x="T2" y="T3"/>
              </a:cxn>
              <a:cxn ang="T8">
                <a:pos x="T4" y="T5"/>
              </a:cxn>
            </a:cxnLst>
            <a:rect l="0" t="0" r="r" b="b"/>
            <a:pathLst>
              <a:path w="309" h="381">
                <a:moveTo>
                  <a:pt x="0" y="0"/>
                </a:moveTo>
                <a:lnTo>
                  <a:pt x="0" y="380"/>
                </a:lnTo>
                <a:lnTo>
                  <a:pt x="308" y="380"/>
                </a:lnTo>
              </a:path>
            </a:pathLst>
          </a:custGeom>
          <a:noFill/>
          <a:ln w="28575" cap="rnd" cmpd="sng">
            <a:solidFill>
              <a:srgbClr val="000000"/>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42" name="Rectangle 2"/>
          <p:cNvSpPr txBox="1">
            <a:spLocks noChangeArrowheads="1"/>
          </p:cNvSpPr>
          <p:nvPr/>
        </p:nvSpPr>
        <p:spPr bwMode="auto">
          <a:xfrm>
            <a:off x="119063" y="-211138"/>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err="1" smtClean="0">
                <a:solidFill>
                  <a:srgbClr val="003366"/>
                </a:solidFill>
              </a:rPr>
              <a:t>eBusiness</a:t>
            </a:r>
            <a:r>
              <a:rPr lang="pt-BR" altLang="pt-BR" b="1" kern="0" dirty="0" smtClean="0">
                <a:solidFill>
                  <a:srgbClr val="003366"/>
                </a:solidFill>
              </a:rPr>
              <a:t> </a:t>
            </a:r>
            <a:r>
              <a:rPr lang="pt-BR" altLang="pt-BR" b="1" kern="0" dirty="0" err="1" smtClean="0">
                <a:solidFill>
                  <a:srgbClr val="003366"/>
                </a:solidFill>
              </a:rPr>
              <a:t>Suite</a:t>
            </a:r>
            <a:r>
              <a:rPr lang="pt-BR" altLang="pt-BR" b="1" kern="0" dirty="0" smtClean="0">
                <a:solidFill>
                  <a:srgbClr val="003366"/>
                </a:solidFill>
              </a:rPr>
              <a:t> – </a:t>
            </a:r>
            <a:r>
              <a:rPr lang="pt-BR" altLang="pt-BR" sz="3600" b="1" kern="0" dirty="0" smtClean="0">
                <a:solidFill>
                  <a:srgbClr val="003366"/>
                </a:solidFill>
              </a:rPr>
              <a:t>D2B</a:t>
            </a:r>
          </a:p>
        </p:txBody>
      </p:sp>
      <p:sp>
        <p:nvSpPr>
          <p:cNvPr id="115755" name="Line 5"/>
          <p:cNvSpPr>
            <a:spLocks noChangeShapeType="1"/>
          </p:cNvSpPr>
          <p:nvPr/>
        </p:nvSpPr>
        <p:spPr bwMode="auto">
          <a:xfrm>
            <a:off x="50800" y="8366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15756" name="Group 6"/>
          <p:cNvGrpSpPr>
            <a:grpSpLocks/>
          </p:cNvGrpSpPr>
          <p:nvPr/>
        </p:nvGrpSpPr>
        <p:grpSpPr bwMode="auto">
          <a:xfrm>
            <a:off x="7308850" y="117475"/>
            <a:ext cx="1735138" cy="647700"/>
            <a:chOff x="7380288" y="41275"/>
            <a:chExt cx="1735137" cy="647700"/>
          </a:xfrm>
        </p:grpSpPr>
        <p:sp>
          <p:nvSpPr>
            <p:cNvPr id="45"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46"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descr="Product_DataEntry"/>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6734175" y="4695825"/>
            <a:ext cx="6953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3" name="Rectangle 3"/>
          <p:cNvSpPr>
            <a:spLocks noGrp="1" noChangeArrowheads="1"/>
          </p:cNvSpPr>
          <p:nvPr>
            <p:ph type="title"/>
          </p:nvPr>
        </p:nvSpPr>
        <p:spPr>
          <a:xfrm>
            <a:off x="-36513" y="620713"/>
            <a:ext cx="8229601" cy="1143000"/>
          </a:xfrm>
        </p:spPr>
        <p:txBody>
          <a:bodyPr/>
          <a:lstStyle/>
          <a:p>
            <a:pPr algn="l"/>
            <a:r>
              <a:rPr lang="pt-BR" altLang="en-US" sz="1400" smtClean="0">
                <a:solidFill>
                  <a:schemeClr val="accent2"/>
                </a:solidFill>
              </a:rPr>
              <a:t>Campaign to Order (Campanha até Ordem)</a:t>
            </a:r>
            <a:r>
              <a:rPr lang="en-US" altLang="en-US" sz="1400" smtClean="0">
                <a:solidFill>
                  <a:schemeClr val="accent2"/>
                </a:solidFill>
              </a:rPr>
              <a:t> </a:t>
            </a:r>
          </a:p>
        </p:txBody>
      </p:sp>
      <p:sp>
        <p:nvSpPr>
          <p:cNvPr id="117764" name="Text Box 4"/>
          <p:cNvSpPr txBox="1">
            <a:spLocks noChangeArrowheads="1"/>
          </p:cNvSpPr>
          <p:nvPr/>
        </p:nvSpPr>
        <p:spPr bwMode="auto">
          <a:xfrm>
            <a:off x="955675" y="2514600"/>
            <a:ext cx="1263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Marketing</a:t>
            </a:r>
            <a:r>
              <a:rPr lang="en-US" altLang="en-US" sz="1800"/>
              <a:t> </a:t>
            </a:r>
          </a:p>
        </p:txBody>
      </p:sp>
      <p:sp>
        <p:nvSpPr>
          <p:cNvPr id="117765" name="Text Box 5"/>
          <p:cNvSpPr txBox="1">
            <a:spLocks noChangeArrowheads="1"/>
          </p:cNvSpPr>
          <p:nvPr/>
        </p:nvSpPr>
        <p:spPr bwMode="auto">
          <a:xfrm>
            <a:off x="7026275" y="4165600"/>
            <a:ext cx="781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Sales</a:t>
            </a:r>
            <a:r>
              <a:rPr lang="en-US" altLang="en-US" sz="1800"/>
              <a:t> </a:t>
            </a:r>
          </a:p>
        </p:txBody>
      </p:sp>
      <p:sp>
        <p:nvSpPr>
          <p:cNvPr id="117766" name="Text Box 6"/>
          <p:cNvSpPr txBox="1">
            <a:spLocks noChangeArrowheads="1"/>
          </p:cNvSpPr>
          <p:nvPr/>
        </p:nvSpPr>
        <p:spPr bwMode="auto">
          <a:xfrm>
            <a:off x="787400" y="4165600"/>
            <a:ext cx="1365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Discoverer</a:t>
            </a:r>
            <a:r>
              <a:rPr lang="en-US" altLang="en-US" sz="1800"/>
              <a:t> </a:t>
            </a:r>
          </a:p>
        </p:txBody>
      </p:sp>
      <p:sp>
        <p:nvSpPr>
          <p:cNvPr id="117767" name="Text Box 7"/>
          <p:cNvSpPr txBox="1">
            <a:spLocks noChangeArrowheads="1"/>
          </p:cNvSpPr>
          <p:nvPr/>
        </p:nvSpPr>
        <p:spPr bwMode="auto">
          <a:xfrm>
            <a:off x="5911850" y="2514600"/>
            <a:ext cx="2241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Advanced Inbound</a:t>
            </a:r>
            <a:r>
              <a:rPr lang="en-US" altLang="en-US" sz="1800"/>
              <a:t> </a:t>
            </a:r>
          </a:p>
        </p:txBody>
      </p:sp>
      <p:sp>
        <p:nvSpPr>
          <p:cNvPr id="117768" name="Line 8"/>
          <p:cNvSpPr>
            <a:spLocks noChangeShapeType="1"/>
          </p:cNvSpPr>
          <p:nvPr/>
        </p:nvSpPr>
        <p:spPr bwMode="auto">
          <a:xfrm>
            <a:off x="4648200" y="1962150"/>
            <a:ext cx="2151063"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7769" name="Line 9"/>
          <p:cNvSpPr>
            <a:spLocks noChangeShapeType="1"/>
          </p:cNvSpPr>
          <p:nvPr/>
        </p:nvSpPr>
        <p:spPr bwMode="auto">
          <a:xfrm>
            <a:off x="7129463" y="2438400"/>
            <a:ext cx="0" cy="66040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7770" name="Line 10"/>
          <p:cNvSpPr>
            <a:spLocks noChangeShapeType="1"/>
          </p:cNvSpPr>
          <p:nvPr/>
        </p:nvSpPr>
        <p:spPr bwMode="auto">
          <a:xfrm>
            <a:off x="1847850" y="1962150"/>
            <a:ext cx="1993900"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7771" name="Text Box 11"/>
          <p:cNvSpPr txBox="1">
            <a:spLocks noChangeArrowheads="1"/>
          </p:cNvSpPr>
          <p:nvPr/>
        </p:nvSpPr>
        <p:spPr bwMode="auto">
          <a:xfrm>
            <a:off x="4943475" y="5699125"/>
            <a:ext cx="37703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FF0000"/>
              </a:buClr>
              <a:buFontTx/>
              <a:buNone/>
            </a:pPr>
            <a:r>
              <a:rPr lang="pt-BR" altLang="en-US" sz="1800">
                <a:solidFill>
                  <a:srgbClr val="000000"/>
                </a:solidFill>
              </a:rPr>
              <a:t>Ciclo de Atendimento de Ordens </a:t>
            </a:r>
            <a:br>
              <a:rPr lang="pt-BR" altLang="en-US" sz="1800">
                <a:solidFill>
                  <a:srgbClr val="000000"/>
                </a:solidFill>
              </a:rPr>
            </a:br>
            <a:r>
              <a:rPr lang="pt-BR" altLang="en-US" sz="1800">
                <a:solidFill>
                  <a:srgbClr val="000000"/>
                </a:solidFill>
              </a:rPr>
              <a:t>(Ordem até o Caixa)</a:t>
            </a:r>
            <a:r>
              <a:rPr lang="en-US" altLang="en-US" sz="1800"/>
              <a:t> </a:t>
            </a:r>
          </a:p>
        </p:txBody>
      </p:sp>
      <p:sp>
        <p:nvSpPr>
          <p:cNvPr id="117772" name="Text Box 12"/>
          <p:cNvSpPr txBox="1">
            <a:spLocks noChangeArrowheads="1"/>
          </p:cNvSpPr>
          <p:nvPr/>
        </p:nvSpPr>
        <p:spPr bwMode="auto">
          <a:xfrm>
            <a:off x="3657600" y="4165600"/>
            <a:ext cx="1174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Scripting</a:t>
            </a:r>
            <a:r>
              <a:rPr lang="en-US" altLang="en-US" sz="1800"/>
              <a:t> </a:t>
            </a:r>
          </a:p>
        </p:txBody>
      </p:sp>
      <p:sp>
        <p:nvSpPr>
          <p:cNvPr id="117773" name="Text Box 13"/>
          <p:cNvSpPr txBox="1">
            <a:spLocks noChangeArrowheads="1"/>
          </p:cNvSpPr>
          <p:nvPr/>
        </p:nvSpPr>
        <p:spPr bwMode="blackWhite">
          <a:xfrm>
            <a:off x="1971675" y="2900363"/>
            <a:ext cx="1125538" cy="365125"/>
          </a:xfrm>
          <a:prstGeom prst="rect">
            <a:avLst/>
          </a:prstGeom>
          <a:solidFill>
            <a:schemeClr val="accent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Audience</a:t>
            </a:r>
            <a:r>
              <a:rPr lang="en-US" altLang="en-US" sz="1600"/>
              <a:t> </a:t>
            </a:r>
          </a:p>
        </p:txBody>
      </p:sp>
      <p:sp>
        <p:nvSpPr>
          <p:cNvPr id="117774" name="Text Box 14"/>
          <p:cNvSpPr txBox="1">
            <a:spLocks noChangeArrowheads="1"/>
          </p:cNvSpPr>
          <p:nvPr/>
        </p:nvSpPr>
        <p:spPr bwMode="auto">
          <a:xfrm>
            <a:off x="1992313" y="1371600"/>
            <a:ext cx="16859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solidFill>
                  <a:srgbClr val="000000"/>
                </a:solidFill>
              </a:rPr>
              <a:t>Comunicação de</a:t>
            </a:r>
            <a:r>
              <a:rPr lang="en-US" altLang="en-US" sz="1600"/>
              <a:t> </a:t>
            </a:r>
          </a:p>
          <a:p>
            <a:pPr algn="ctr">
              <a:lnSpc>
                <a:spcPct val="90000"/>
              </a:lnSpc>
              <a:spcBef>
                <a:spcPct val="0"/>
              </a:spcBef>
              <a:buClr>
                <a:srgbClr val="FF0000"/>
              </a:buClr>
              <a:buFontTx/>
              <a:buNone/>
            </a:pPr>
            <a:r>
              <a:rPr lang="en-US" altLang="en-US" sz="1600">
                <a:solidFill>
                  <a:srgbClr val="000000"/>
                </a:solidFill>
              </a:rPr>
              <a:t>marketing</a:t>
            </a:r>
            <a:r>
              <a:rPr lang="en-US" altLang="en-US" sz="1600"/>
              <a:t> </a:t>
            </a:r>
          </a:p>
        </p:txBody>
      </p:sp>
      <p:sp>
        <p:nvSpPr>
          <p:cNvPr id="117775" name="Text Box 15"/>
          <p:cNvSpPr txBox="1">
            <a:spLocks noChangeArrowheads="1"/>
          </p:cNvSpPr>
          <p:nvPr/>
        </p:nvSpPr>
        <p:spPr bwMode="auto">
          <a:xfrm>
            <a:off x="4829175" y="1331913"/>
            <a:ext cx="216058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solidFill>
                  <a:srgbClr val="000000"/>
                </a:solidFill>
              </a:rPr>
              <a:t>Chamada telefônica</a:t>
            </a:r>
            <a:r>
              <a:rPr lang="en-US" altLang="en-US" sz="1600"/>
              <a:t> </a:t>
            </a:r>
          </a:p>
          <a:p>
            <a:pPr algn="ctr">
              <a:lnSpc>
                <a:spcPct val="90000"/>
              </a:lnSpc>
              <a:spcBef>
                <a:spcPct val="0"/>
              </a:spcBef>
              <a:buClr>
                <a:srgbClr val="FF0000"/>
              </a:buClr>
              <a:buFontTx/>
              <a:buNone/>
            </a:pPr>
            <a:r>
              <a:rPr lang="en-US" altLang="en-US" sz="1600">
                <a:solidFill>
                  <a:srgbClr val="000000"/>
                </a:solidFill>
              </a:rPr>
              <a:t>realizada</a:t>
            </a:r>
            <a:r>
              <a:rPr lang="en-US" altLang="en-US" sz="1600"/>
              <a:t> </a:t>
            </a:r>
          </a:p>
        </p:txBody>
      </p:sp>
      <p:sp>
        <p:nvSpPr>
          <p:cNvPr id="117776" name="Text Box 16"/>
          <p:cNvSpPr txBox="1">
            <a:spLocks noChangeArrowheads="1"/>
          </p:cNvSpPr>
          <p:nvPr/>
        </p:nvSpPr>
        <p:spPr bwMode="auto">
          <a:xfrm>
            <a:off x="5324475" y="2971800"/>
            <a:ext cx="1312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Chamada Roteada</a:t>
            </a:r>
            <a:r>
              <a:rPr lang="en-US" altLang="en-US" sz="1600"/>
              <a:t> </a:t>
            </a:r>
          </a:p>
        </p:txBody>
      </p:sp>
      <p:sp>
        <p:nvSpPr>
          <p:cNvPr id="117777" name="Text Box 17"/>
          <p:cNvSpPr txBox="1">
            <a:spLocks noChangeArrowheads="1"/>
          </p:cNvSpPr>
          <p:nvPr/>
        </p:nvSpPr>
        <p:spPr bwMode="auto">
          <a:xfrm>
            <a:off x="5126038" y="3414713"/>
            <a:ext cx="1708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Script ativado</a:t>
            </a:r>
            <a:r>
              <a:rPr lang="en-US" altLang="en-US" sz="1600"/>
              <a:t> </a:t>
            </a:r>
          </a:p>
        </p:txBody>
      </p:sp>
      <p:sp>
        <p:nvSpPr>
          <p:cNvPr id="117778" name="Text Box 18"/>
          <p:cNvSpPr txBox="1">
            <a:spLocks noChangeArrowheads="1"/>
          </p:cNvSpPr>
          <p:nvPr/>
        </p:nvSpPr>
        <p:spPr bwMode="auto">
          <a:xfrm>
            <a:off x="5080000" y="4432300"/>
            <a:ext cx="1800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Cotação submetida</a:t>
            </a:r>
            <a:r>
              <a:rPr lang="en-US" altLang="en-US" sz="1600"/>
              <a:t> </a:t>
            </a:r>
          </a:p>
        </p:txBody>
      </p:sp>
      <p:pic>
        <p:nvPicPr>
          <p:cNvPr id="117779" name="Picture 19" descr="peop03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827463" y="1308100"/>
            <a:ext cx="960437"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80" name="Line 20"/>
          <p:cNvSpPr>
            <a:spLocks noChangeShapeType="1"/>
          </p:cNvSpPr>
          <p:nvPr/>
        </p:nvSpPr>
        <p:spPr bwMode="auto">
          <a:xfrm>
            <a:off x="7086600" y="4025900"/>
            <a:ext cx="0" cy="74295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117781" name="Picture 21" descr="Product_Marketing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3876675" y="3044825"/>
            <a:ext cx="6953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82" name="Line 22"/>
          <p:cNvSpPr>
            <a:spLocks noChangeShapeType="1"/>
          </p:cNvSpPr>
          <p:nvPr/>
        </p:nvSpPr>
        <p:spPr bwMode="auto">
          <a:xfrm flipV="1">
            <a:off x="1587500" y="2768600"/>
            <a:ext cx="0" cy="57150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117783" name="Picture 23" descr="Product_Information"/>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1235075" y="3200400"/>
            <a:ext cx="69532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4" name="Picture 24" descr="product_Marketing"/>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1257300" y="1524000"/>
            <a:ext cx="695325"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5" name="Picture 25" descr="Product_Orang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6797675" y="1381125"/>
            <a:ext cx="6953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86" name="Picture 26" descr="Product_Sales"/>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gray">
          <a:xfrm>
            <a:off x="6769100" y="3044825"/>
            <a:ext cx="6953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87" name="Line 27"/>
          <p:cNvSpPr>
            <a:spLocks noChangeShapeType="1"/>
          </p:cNvSpPr>
          <p:nvPr/>
        </p:nvSpPr>
        <p:spPr bwMode="auto">
          <a:xfrm>
            <a:off x="4572000" y="3724275"/>
            <a:ext cx="2173288"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28" name="Rectangle 2"/>
          <p:cNvSpPr txBox="1">
            <a:spLocks noChangeArrowheads="1"/>
          </p:cNvSpPr>
          <p:nvPr/>
        </p:nvSpPr>
        <p:spPr bwMode="auto">
          <a:xfrm>
            <a:off x="11113" y="-211138"/>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err="1" smtClean="0">
                <a:solidFill>
                  <a:srgbClr val="003366"/>
                </a:solidFill>
              </a:rPr>
              <a:t>eBusiness</a:t>
            </a:r>
            <a:r>
              <a:rPr lang="pt-BR" altLang="pt-BR" b="1" kern="0" dirty="0" smtClean="0">
                <a:solidFill>
                  <a:srgbClr val="003366"/>
                </a:solidFill>
              </a:rPr>
              <a:t> </a:t>
            </a:r>
            <a:r>
              <a:rPr lang="pt-BR" altLang="pt-BR" b="1" kern="0" dirty="0" err="1" smtClean="0">
                <a:solidFill>
                  <a:srgbClr val="003366"/>
                </a:solidFill>
              </a:rPr>
              <a:t>Suite</a:t>
            </a:r>
            <a:r>
              <a:rPr lang="pt-BR" altLang="pt-BR" b="1" kern="0" dirty="0" smtClean="0">
                <a:solidFill>
                  <a:srgbClr val="003366"/>
                </a:solidFill>
              </a:rPr>
              <a:t> – </a:t>
            </a:r>
            <a:r>
              <a:rPr lang="pt-BR" altLang="pt-BR" sz="3600" b="1" kern="0" dirty="0" smtClean="0">
                <a:solidFill>
                  <a:srgbClr val="003366"/>
                </a:solidFill>
              </a:rPr>
              <a:t>C2O</a:t>
            </a:r>
          </a:p>
        </p:txBody>
      </p:sp>
      <p:sp>
        <p:nvSpPr>
          <p:cNvPr id="117789" name="Line 5"/>
          <p:cNvSpPr>
            <a:spLocks noChangeShapeType="1"/>
          </p:cNvSpPr>
          <p:nvPr/>
        </p:nvSpPr>
        <p:spPr bwMode="auto">
          <a:xfrm>
            <a:off x="107950" y="8366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17790" name="Group 6"/>
          <p:cNvGrpSpPr>
            <a:grpSpLocks/>
          </p:cNvGrpSpPr>
          <p:nvPr/>
        </p:nvGrpSpPr>
        <p:grpSpPr bwMode="auto">
          <a:xfrm>
            <a:off x="7308850" y="117475"/>
            <a:ext cx="1735138" cy="647700"/>
            <a:chOff x="7380288" y="41275"/>
            <a:chExt cx="1735137" cy="647700"/>
          </a:xfrm>
        </p:grpSpPr>
        <p:sp>
          <p:nvSpPr>
            <p:cNvPr id="31"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2"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4427538" y="738188"/>
            <a:ext cx="3116262" cy="387350"/>
          </a:xfrm>
        </p:spPr>
        <p:txBody>
          <a:bodyPr/>
          <a:lstStyle/>
          <a:p>
            <a:pPr algn="l"/>
            <a:r>
              <a:rPr lang="pt-BR" altLang="en-US" sz="1400" smtClean="0">
                <a:solidFill>
                  <a:schemeClr val="accent2"/>
                </a:solidFill>
              </a:rPr>
              <a:t>Click to Order (Seleção até Ordem)</a:t>
            </a:r>
            <a:r>
              <a:rPr lang="en-US" altLang="en-US" sz="1400" smtClean="0">
                <a:solidFill>
                  <a:schemeClr val="accent2"/>
                </a:solidFill>
              </a:rPr>
              <a:t> </a:t>
            </a:r>
          </a:p>
        </p:txBody>
      </p:sp>
      <p:sp>
        <p:nvSpPr>
          <p:cNvPr id="119811" name="Text Box 3"/>
          <p:cNvSpPr txBox="1">
            <a:spLocks noChangeArrowheads="1"/>
          </p:cNvSpPr>
          <p:nvPr/>
        </p:nvSpPr>
        <p:spPr bwMode="auto">
          <a:xfrm>
            <a:off x="4000500" y="3595688"/>
            <a:ext cx="831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i="1">
                <a:solidFill>
                  <a:srgbClr val="000000"/>
                </a:solidFill>
                <a:latin typeface="Times New Roman" panose="02020603050405020304" pitchFamily="18" charset="0"/>
              </a:rPr>
              <a:t>i</a:t>
            </a:r>
            <a:r>
              <a:rPr lang="en-US" altLang="en-US" sz="1800">
                <a:solidFill>
                  <a:srgbClr val="000000"/>
                </a:solidFill>
              </a:rPr>
              <a:t>Store</a:t>
            </a:r>
            <a:r>
              <a:rPr lang="en-US" altLang="en-US" sz="1800" i="1">
                <a:latin typeface="Times New Roman" panose="02020603050405020304" pitchFamily="18" charset="0"/>
              </a:rPr>
              <a:t> </a:t>
            </a:r>
            <a:endParaRPr lang="en-US" altLang="en-US" sz="1800"/>
          </a:p>
        </p:txBody>
      </p:sp>
      <p:sp>
        <p:nvSpPr>
          <p:cNvPr id="119812" name="Text Box 4"/>
          <p:cNvSpPr txBox="1">
            <a:spLocks noChangeArrowheads="1"/>
          </p:cNvSpPr>
          <p:nvPr/>
        </p:nvSpPr>
        <p:spPr bwMode="auto">
          <a:xfrm>
            <a:off x="4191000" y="1828800"/>
            <a:ext cx="615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JTA</a:t>
            </a:r>
            <a:r>
              <a:rPr lang="en-US" altLang="en-US" sz="1800"/>
              <a:t> </a:t>
            </a:r>
          </a:p>
        </p:txBody>
      </p:sp>
      <p:sp>
        <p:nvSpPr>
          <p:cNvPr id="119813" name="Text Box 5"/>
          <p:cNvSpPr txBox="1">
            <a:spLocks noChangeArrowheads="1"/>
          </p:cNvSpPr>
          <p:nvPr/>
        </p:nvSpPr>
        <p:spPr bwMode="auto">
          <a:xfrm>
            <a:off x="5746750" y="5661025"/>
            <a:ext cx="30289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800">
                <a:solidFill>
                  <a:srgbClr val="000000"/>
                </a:solidFill>
              </a:rPr>
              <a:t>   Atendimento de Ordens</a:t>
            </a:r>
            <a:r>
              <a:rPr lang="en-US" altLang="en-US" sz="1800"/>
              <a:t> </a:t>
            </a:r>
          </a:p>
          <a:p>
            <a:pPr algn="ctr">
              <a:lnSpc>
                <a:spcPct val="90000"/>
              </a:lnSpc>
              <a:spcBef>
                <a:spcPct val="0"/>
              </a:spcBef>
              <a:buClr>
                <a:srgbClr val="FF0000"/>
              </a:buClr>
              <a:buFontTx/>
              <a:buNone/>
            </a:pPr>
            <a:r>
              <a:rPr lang="en-US" altLang="en-US" sz="1800">
                <a:solidFill>
                  <a:srgbClr val="000000"/>
                </a:solidFill>
              </a:rPr>
              <a:t>(Order to Cash)</a:t>
            </a:r>
            <a:r>
              <a:rPr lang="en-US" altLang="en-US" sz="1800"/>
              <a:t> </a:t>
            </a:r>
          </a:p>
        </p:txBody>
      </p:sp>
      <p:sp>
        <p:nvSpPr>
          <p:cNvPr id="119814" name="Text Box 6"/>
          <p:cNvSpPr txBox="1">
            <a:spLocks noChangeArrowheads="1"/>
          </p:cNvSpPr>
          <p:nvPr/>
        </p:nvSpPr>
        <p:spPr bwMode="auto">
          <a:xfrm>
            <a:off x="3886200" y="5272088"/>
            <a:ext cx="1060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Quoting</a:t>
            </a:r>
            <a:r>
              <a:rPr lang="en-US" altLang="en-US" sz="1800"/>
              <a:t> </a:t>
            </a:r>
          </a:p>
        </p:txBody>
      </p:sp>
      <p:sp>
        <p:nvSpPr>
          <p:cNvPr id="119815" name="Text Box 7"/>
          <p:cNvSpPr txBox="1">
            <a:spLocks noChangeArrowheads="1"/>
          </p:cNvSpPr>
          <p:nvPr/>
        </p:nvSpPr>
        <p:spPr bwMode="auto">
          <a:xfrm>
            <a:off x="990600" y="4205288"/>
            <a:ext cx="7810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Sales</a:t>
            </a:r>
            <a:r>
              <a:rPr lang="en-US" altLang="en-US" sz="1800"/>
              <a:t> </a:t>
            </a:r>
          </a:p>
        </p:txBody>
      </p:sp>
      <p:sp>
        <p:nvSpPr>
          <p:cNvPr id="119816" name="Text Box 8"/>
          <p:cNvSpPr txBox="1">
            <a:spLocks noChangeArrowheads="1"/>
          </p:cNvSpPr>
          <p:nvPr/>
        </p:nvSpPr>
        <p:spPr bwMode="auto">
          <a:xfrm>
            <a:off x="6661150" y="1752600"/>
            <a:ext cx="1263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Marketing</a:t>
            </a:r>
            <a:r>
              <a:rPr lang="en-US" altLang="en-US" sz="1800"/>
              <a:t> </a:t>
            </a:r>
          </a:p>
        </p:txBody>
      </p:sp>
      <p:sp>
        <p:nvSpPr>
          <p:cNvPr id="119817" name="Text Box 9"/>
          <p:cNvSpPr txBox="1">
            <a:spLocks noChangeArrowheads="1"/>
          </p:cNvSpPr>
          <p:nvPr/>
        </p:nvSpPr>
        <p:spPr bwMode="auto">
          <a:xfrm>
            <a:off x="1295400" y="1752600"/>
            <a:ext cx="1212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Inventory</a:t>
            </a:r>
            <a:r>
              <a:rPr lang="en-US" altLang="en-US" sz="1800"/>
              <a:t> </a:t>
            </a:r>
          </a:p>
        </p:txBody>
      </p:sp>
      <p:sp>
        <p:nvSpPr>
          <p:cNvPr id="119818" name="Line 10"/>
          <p:cNvSpPr>
            <a:spLocks noChangeShapeType="1"/>
          </p:cNvSpPr>
          <p:nvPr/>
        </p:nvSpPr>
        <p:spPr bwMode="auto">
          <a:xfrm>
            <a:off x="1657350" y="3810000"/>
            <a:ext cx="2403475" cy="0"/>
          </a:xfrm>
          <a:prstGeom prst="line">
            <a:avLst/>
          </a:prstGeom>
          <a:noFill/>
          <a:ln w="28575">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9819" name="Line 11"/>
          <p:cNvSpPr>
            <a:spLocks noChangeShapeType="1"/>
          </p:cNvSpPr>
          <p:nvPr/>
        </p:nvSpPr>
        <p:spPr bwMode="auto">
          <a:xfrm>
            <a:off x="4459288" y="2109788"/>
            <a:ext cx="0" cy="685800"/>
          </a:xfrm>
          <a:prstGeom prst="line">
            <a:avLst/>
          </a:prstGeom>
          <a:noFill/>
          <a:ln w="28575">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9820" name="Text Box 12"/>
          <p:cNvSpPr txBox="1">
            <a:spLocks noChangeArrowheads="1"/>
          </p:cNvSpPr>
          <p:nvPr/>
        </p:nvSpPr>
        <p:spPr bwMode="auto">
          <a:xfrm>
            <a:off x="6965950" y="4129088"/>
            <a:ext cx="958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Pricing</a:t>
            </a:r>
            <a:r>
              <a:rPr lang="en-US" altLang="en-US" sz="1800"/>
              <a:t> </a:t>
            </a:r>
          </a:p>
        </p:txBody>
      </p:sp>
      <p:sp>
        <p:nvSpPr>
          <p:cNvPr id="119821" name="Line 13"/>
          <p:cNvSpPr>
            <a:spLocks noChangeShapeType="1"/>
          </p:cNvSpPr>
          <p:nvPr/>
        </p:nvSpPr>
        <p:spPr bwMode="auto">
          <a:xfrm>
            <a:off x="7499350" y="2066925"/>
            <a:ext cx="0" cy="137160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9822" name="Freeform 14"/>
          <p:cNvSpPr>
            <a:spLocks/>
          </p:cNvSpPr>
          <p:nvPr/>
        </p:nvSpPr>
        <p:spPr bwMode="auto">
          <a:xfrm>
            <a:off x="4648200" y="2057400"/>
            <a:ext cx="2552700" cy="715963"/>
          </a:xfrm>
          <a:custGeom>
            <a:avLst/>
            <a:gdLst>
              <a:gd name="T0" fmla="*/ 2147483646 w 1104"/>
              <a:gd name="T1" fmla="*/ 0 h 864"/>
              <a:gd name="T2" fmla="*/ 2147483646 w 1104"/>
              <a:gd name="T3" fmla="*/ 2147483646 h 864"/>
              <a:gd name="T4" fmla="*/ 0 w 1104"/>
              <a:gd name="T5" fmla="*/ 2147483646 h 864"/>
              <a:gd name="T6" fmla="*/ 0 w 1104"/>
              <a:gd name="T7" fmla="*/ 2147483646 h 8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04" h="864">
                <a:moveTo>
                  <a:pt x="1104" y="0"/>
                </a:moveTo>
                <a:lnTo>
                  <a:pt x="1104" y="288"/>
                </a:lnTo>
                <a:lnTo>
                  <a:pt x="0" y="288"/>
                </a:lnTo>
                <a:lnTo>
                  <a:pt x="0" y="864"/>
                </a:lnTo>
              </a:path>
            </a:pathLst>
          </a:custGeom>
          <a:noFill/>
          <a:ln w="28575" cap="flat" cmpd="sng">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9823" name="Line 15"/>
          <p:cNvSpPr>
            <a:spLocks noChangeShapeType="1"/>
          </p:cNvSpPr>
          <p:nvPr/>
        </p:nvSpPr>
        <p:spPr bwMode="auto">
          <a:xfrm>
            <a:off x="4778375" y="3810000"/>
            <a:ext cx="2486025"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9824" name="Freeform 16"/>
          <p:cNvSpPr>
            <a:spLocks/>
          </p:cNvSpPr>
          <p:nvPr/>
        </p:nvSpPr>
        <p:spPr bwMode="auto">
          <a:xfrm>
            <a:off x="4419600" y="5591175"/>
            <a:ext cx="2003425" cy="485775"/>
          </a:xfrm>
          <a:custGeom>
            <a:avLst/>
            <a:gdLst>
              <a:gd name="T0" fmla="*/ 0 w 1008"/>
              <a:gd name="T1" fmla="*/ 0 h 240"/>
              <a:gd name="T2" fmla="*/ 0 w 1008"/>
              <a:gd name="T3" fmla="*/ 2147483646 h 240"/>
              <a:gd name="T4" fmla="*/ 2147483646 w 1008"/>
              <a:gd name="T5" fmla="*/ 2147483646 h 240"/>
              <a:gd name="T6" fmla="*/ 0 60000 65536"/>
              <a:gd name="T7" fmla="*/ 0 60000 65536"/>
              <a:gd name="T8" fmla="*/ 0 60000 65536"/>
            </a:gdLst>
            <a:ahLst/>
            <a:cxnLst>
              <a:cxn ang="T6">
                <a:pos x="T0" y="T1"/>
              </a:cxn>
              <a:cxn ang="T7">
                <a:pos x="T2" y="T3"/>
              </a:cxn>
              <a:cxn ang="T8">
                <a:pos x="T4" y="T5"/>
              </a:cxn>
            </a:cxnLst>
            <a:rect l="0" t="0" r="r" b="b"/>
            <a:pathLst>
              <a:path w="1008" h="240">
                <a:moveTo>
                  <a:pt x="0" y="0"/>
                </a:moveTo>
                <a:lnTo>
                  <a:pt x="0" y="240"/>
                </a:lnTo>
                <a:lnTo>
                  <a:pt x="1008" y="240"/>
                </a:lnTo>
              </a:path>
            </a:pathLst>
          </a:custGeom>
          <a:noFill/>
          <a:ln w="28575" cap="flat"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9825" name="Freeform 17"/>
          <p:cNvSpPr>
            <a:spLocks/>
          </p:cNvSpPr>
          <p:nvPr/>
        </p:nvSpPr>
        <p:spPr bwMode="auto">
          <a:xfrm>
            <a:off x="1905000" y="2057400"/>
            <a:ext cx="2362200" cy="822325"/>
          </a:xfrm>
          <a:custGeom>
            <a:avLst/>
            <a:gdLst>
              <a:gd name="T0" fmla="*/ 0 w 1008"/>
              <a:gd name="T1" fmla="*/ 0 h 864"/>
              <a:gd name="T2" fmla="*/ 0 w 1008"/>
              <a:gd name="T3" fmla="*/ 2147483646 h 864"/>
              <a:gd name="T4" fmla="*/ 2147483646 w 1008"/>
              <a:gd name="T5" fmla="*/ 2147483646 h 864"/>
              <a:gd name="T6" fmla="*/ 2147483646 w 1008"/>
              <a:gd name="T7" fmla="*/ 2147483646 h 8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864">
                <a:moveTo>
                  <a:pt x="0" y="0"/>
                </a:moveTo>
                <a:lnTo>
                  <a:pt x="0" y="288"/>
                </a:lnTo>
                <a:lnTo>
                  <a:pt x="1008" y="288"/>
                </a:lnTo>
                <a:lnTo>
                  <a:pt x="1008" y="864"/>
                </a:lnTo>
              </a:path>
            </a:pathLst>
          </a:custGeom>
          <a:noFill/>
          <a:ln w="28575" cap="flat"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19826" name="Text Box 18"/>
          <p:cNvSpPr txBox="1">
            <a:spLocks noChangeArrowheads="1"/>
          </p:cNvSpPr>
          <p:nvPr/>
        </p:nvSpPr>
        <p:spPr bwMode="auto">
          <a:xfrm>
            <a:off x="2305050" y="3509963"/>
            <a:ext cx="769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Leads</a:t>
            </a:r>
            <a:r>
              <a:rPr lang="en-US" altLang="en-US" sz="1600"/>
              <a:t> </a:t>
            </a:r>
          </a:p>
        </p:txBody>
      </p:sp>
      <p:sp>
        <p:nvSpPr>
          <p:cNvPr id="119827" name="Text Box 19"/>
          <p:cNvSpPr txBox="1">
            <a:spLocks noChangeArrowheads="1"/>
          </p:cNvSpPr>
          <p:nvPr/>
        </p:nvSpPr>
        <p:spPr bwMode="auto">
          <a:xfrm>
            <a:off x="4367213" y="5791200"/>
            <a:ext cx="18113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Registrar ordem</a:t>
            </a:r>
            <a:r>
              <a:rPr lang="en-US" altLang="en-US" sz="1600"/>
              <a:t> </a:t>
            </a:r>
          </a:p>
        </p:txBody>
      </p:sp>
      <p:sp>
        <p:nvSpPr>
          <p:cNvPr id="119828" name="Text Box 20"/>
          <p:cNvSpPr txBox="1">
            <a:spLocks noChangeArrowheads="1"/>
          </p:cNvSpPr>
          <p:nvPr/>
        </p:nvSpPr>
        <p:spPr bwMode="auto">
          <a:xfrm>
            <a:off x="2362200" y="3935413"/>
            <a:ext cx="21002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solidFill>
                  <a:srgbClr val="000000"/>
                </a:solidFill>
              </a:rPr>
              <a:t>Carrinho de </a:t>
            </a:r>
            <a:br>
              <a:rPr lang="en-US" altLang="en-US" sz="1600">
                <a:solidFill>
                  <a:srgbClr val="000000"/>
                </a:solidFill>
              </a:rPr>
            </a:br>
            <a:r>
              <a:rPr lang="en-US" altLang="en-US" sz="1600">
                <a:solidFill>
                  <a:srgbClr val="000000"/>
                </a:solidFill>
              </a:rPr>
              <a:t>compras/cota</a:t>
            </a:r>
            <a:r>
              <a:rPr lang="en-US" altLang="en-US" sz="1600"/>
              <a:t> </a:t>
            </a:r>
          </a:p>
        </p:txBody>
      </p:sp>
      <p:sp>
        <p:nvSpPr>
          <p:cNvPr id="119829" name="Text Box 21"/>
          <p:cNvSpPr txBox="1">
            <a:spLocks noChangeArrowheads="1"/>
          </p:cNvSpPr>
          <p:nvPr/>
        </p:nvSpPr>
        <p:spPr bwMode="auto">
          <a:xfrm>
            <a:off x="4848225" y="2259013"/>
            <a:ext cx="14176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Mkt em Loja</a:t>
            </a:r>
            <a:r>
              <a:rPr lang="en-US" altLang="en-US" sz="1600"/>
              <a:t> </a:t>
            </a:r>
          </a:p>
        </p:txBody>
      </p:sp>
      <p:sp>
        <p:nvSpPr>
          <p:cNvPr id="119830" name="Text Box 22"/>
          <p:cNvSpPr txBox="1">
            <a:spLocks noChangeArrowheads="1"/>
          </p:cNvSpPr>
          <p:nvPr/>
        </p:nvSpPr>
        <p:spPr bwMode="auto">
          <a:xfrm>
            <a:off x="5175250" y="4495800"/>
            <a:ext cx="1066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Obter preço</a:t>
            </a:r>
            <a:r>
              <a:rPr lang="en-US" altLang="en-US" sz="1600"/>
              <a:t> </a:t>
            </a:r>
          </a:p>
        </p:txBody>
      </p:sp>
      <p:sp>
        <p:nvSpPr>
          <p:cNvPr id="119831" name="Text Box 23"/>
          <p:cNvSpPr txBox="1">
            <a:spLocks noChangeArrowheads="1"/>
          </p:cNvSpPr>
          <p:nvPr/>
        </p:nvSpPr>
        <p:spPr bwMode="auto">
          <a:xfrm>
            <a:off x="5940425" y="2622550"/>
            <a:ext cx="160337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solidFill>
                  <a:srgbClr val="000000"/>
                </a:solidFill>
              </a:rPr>
              <a:t>Qualificadores e Descontos</a:t>
            </a:r>
            <a:r>
              <a:rPr lang="en-US" altLang="en-US" sz="1600"/>
              <a:t> </a:t>
            </a:r>
          </a:p>
        </p:txBody>
      </p:sp>
      <p:sp>
        <p:nvSpPr>
          <p:cNvPr id="119832" name="Text Box 24"/>
          <p:cNvSpPr txBox="1">
            <a:spLocks noChangeArrowheads="1"/>
          </p:cNvSpPr>
          <p:nvPr/>
        </p:nvSpPr>
        <p:spPr bwMode="auto">
          <a:xfrm>
            <a:off x="5327650" y="3508375"/>
            <a:ext cx="1066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Obter preço</a:t>
            </a:r>
            <a:r>
              <a:rPr lang="en-US" altLang="en-US" sz="1600"/>
              <a:t> </a:t>
            </a:r>
          </a:p>
        </p:txBody>
      </p:sp>
      <p:sp>
        <p:nvSpPr>
          <p:cNvPr id="119833" name="Text Box 25"/>
          <p:cNvSpPr txBox="1">
            <a:spLocks noChangeArrowheads="1"/>
          </p:cNvSpPr>
          <p:nvPr/>
        </p:nvSpPr>
        <p:spPr bwMode="auto">
          <a:xfrm>
            <a:off x="4795838" y="1344613"/>
            <a:ext cx="17208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Gerenciamento </a:t>
            </a:r>
            <a:br>
              <a:rPr lang="en-US" altLang="en-US" sz="1600">
                <a:solidFill>
                  <a:srgbClr val="000000"/>
                </a:solidFill>
              </a:rPr>
            </a:br>
            <a:r>
              <a:rPr lang="en-US" altLang="en-US" sz="1600">
                <a:solidFill>
                  <a:srgbClr val="000000"/>
                </a:solidFill>
              </a:rPr>
              <a:t>de Usuários</a:t>
            </a:r>
            <a:r>
              <a:rPr lang="en-US" altLang="en-US" sz="1600"/>
              <a:t> </a:t>
            </a:r>
          </a:p>
        </p:txBody>
      </p:sp>
      <p:pic>
        <p:nvPicPr>
          <p:cNvPr id="119834" name="Picture 26" descr="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6934200" y="4900613"/>
            <a:ext cx="515938"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35" name="Picture 27" descr="Invento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1600200" y="914400"/>
            <a:ext cx="6127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36" name="Picture 28" descr="produ0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1066800" y="3343275"/>
            <a:ext cx="5810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37" name="Picture 29" descr="Receivable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7032625" y="914400"/>
            <a:ext cx="565150" cy="89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38" name="Picture 30" descr="produ0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7270750" y="3367088"/>
            <a:ext cx="5397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39" name="Picture 31" descr="produ06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4191000" y="4495800"/>
            <a:ext cx="5334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9840" name="Picture 32" descr="produ00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gray">
          <a:xfrm>
            <a:off x="4191000" y="1066800"/>
            <a:ext cx="531813"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41" name="Text Box 33"/>
          <p:cNvSpPr txBox="1">
            <a:spLocks noChangeArrowheads="1"/>
          </p:cNvSpPr>
          <p:nvPr/>
        </p:nvSpPr>
        <p:spPr bwMode="blackWhite">
          <a:xfrm>
            <a:off x="2743200" y="2438400"/>
            <a:ext cx="977900" cy="395288"/>
          </a:xfrm>
          <a:prstGeom prst="rect">
            <a:avLst/>
          </a:prstGeom>
          <a:solidFill>
            <a:schemeClr val="accent1"/>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Itens</a:t>
            </a:r>
            <a:r>
              <a:rPr lang="en-US" altLang="en-US" sz="1800">
                <a:cs typeface="Times New Roman" panose="02020603050405020304" pitchFamily="18" charset="0"/>
              </a:rPr>
              <a:t> </a:t>
            </a:r>
          </a:p>
        </p:txBody>
      </p:sp>
      <p:sp>
        <p:nvSpPr>
          <p:cNvPr id="119842" name="Freeform 34"/>
          <p:cNvSpPr>
            <a:spLocks/>
          </p:cNvSpPr>
          <p:nvPr/>
        </p:nvSpPr>
        <p:spPr bwMode="auto">
          <a:xfrm>
            <a:off x="4724400" y="4419600"/>
            <a:ext cx="2762250" cy="371475"/>
          </a:xfrm>
          <a:custGeom>
            <a:avLst/>
            <a:gdLst>
              <a:gd name="T0" fmla="*/ 0 w 1728"/>
              <a:gd name="T1" fmla="*/ 2147483646 h 144"/>
              <a:gd name="T2" fmla="*/ 2147483646 w 1728"/>
              <a:gd name="T3" fmla="*/ 2147483646 h 144"/>
              <a:gd name="T4" fmla="*/ 2147483646 w 1728"/>
              <a:gd name="T5" fmla="*/ 0 h 144"/>
              <a:gd name="T6" fmla="*/ 0 60000 65536"/>
              <a:gd name="T7" fmla="*/ 0 60000 65536"/>
              <a:gd name="T8" fmla="*/ 0 60000 65536"/>
            </a:gdLst>
            <a:ahLst/>
            <a:cxnLst>
              <a:cxn ang="T6">
                <a:pos x="T0" y="T1"/>
              </a:cxn>
              <a:cxn ang="T7">
                <a:pos x="T2" y="T3"/>
              </a:cxn>
              <a:cxn ang="T8">
                <a:pos x="T4" y="T5"/>
              </a:cxn>
            </a:cxnLst>
            <a:rect l="0" t="0" r="r" b="b"/>
            <a:pathLst>
              <a:path w="1728" h="144">
                <a:moveTo>
                  <a:pt x="0" y="144"/>
                </a:moveTo>
                <a:lnTo>
                  <a:pt x="1728" y="144"/>
                </a:lnTo>
                <a:lnTo>
                  <a:pt x="1728" y="0"/>
                </a:lnTo>
              </a:path>
            </a:pathLst>
          </a:custGeom>
          <a:noFill/>
          <a:ln w="28575" cap="flat"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119843" name="Picture 35" descr="finan0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gray">
          <a:xfrm>
            <a:off x="4067175" y="2781300"/>
            <a:ext cx="744538"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44" name="Line 36"/>
          <p:cNvSpPr>
            <a:spLocks noChangeShapeType="1"/>
          </p:cNvSpPr>
          <p:nvPr/>
        </p:nvSpPr>
        <p:spPr bwMode="auto">
          <a:xfrm>
            <a:off x="4459288" y="3876675"/>
            <a:ext cx="0" cy="66675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37" name="Rectangle 2"/>
          <p:cNvSpPr txBox="1">
            <a:spLocks noChangeArrowheads="1"/>
          </p:cNvSpPr>
          <p:nvPr/>
        </p:nvSpPr>
        <p:spPr bwMode="auto">
          <a:xfrm>
            <a:off x="11113" y="-90488"/>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err="1" smtClean="0">
                <a:solidFill>
                  <a:srgbClr val="003366"/>
                </a:solidFill>
              </a:rPr>
              <a:t>eBusiness</a:t>
            </a:r>
            <a:r>
              <a:rPr lang="pt-BR" altLang="pt-BR" b="1" kern="0" dirty="0" smtClean="0">
                <a:solidFill>
                  <a:srgbClr val="003366"/>
                </a:solidFill>
              </a:rPr>
              <a:t> </a:t>
            </a:r>
            <a:r>
              <a:rPr lang="pt-BR" altLang="pt-BR" b="1" kern="0" dirty="0" err="1" smtClean="0">
                <a:solidFill>
                  <a:srgbClr val="003366"/>
                </a:solidFill>
              </a:rPr>
              <a:t>Suite</a:t>
            </a:r>
            <a:r>
              <a:rPr lang="pt-BR" altLang="pt-BR" b="1" kern="0" dirty="0" smtClean="0">
                <a:solidFill>
                  <a:srgbClr val="003366"/>
                </a:solidFill>
              </a:rPr>
              <a:t> – </a:t>
            </a:r>
            <a:r>
              <a:rPr lang="pt-BR" altLang="pt-BR" sz="3600" b="1" kern="0" dirty="0" smtClean="0">
                <a:solidFill>
                  <a:srgbClr val="003366"/>
                </a:solidFill>
              </a:rPr>
              <a:t>C2O</a:t>
            </a:r>
          </a:p>
        </p:txBody>
      </p:sp>
      <p:sp>
        <p:nvSpPr>
          <p:cNvPr id="119846" name="Line 5"/>
          <p:cNvSpPr>
            <a:spLocks noChangeShapeType="1"/>
          </p:cNvSpPr>
          <p:nvPr/>
        </p:nvSpPr>
        <p:spPr bwMode="auto">
          <a:xfrm>
            <a:off x="0" y="8366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19847" name="Group 6"/>
          <p:cNvGrpSpPr>
            <a:grpSpLocks/>
          </p:cNvGrpSpPr>
          <p:nvPr/>
        </p:nvGrpSpPr>
        <p:grpSpPr bwMode="auto">
          <a:xfrm>
            <a:off x="7308850" y="117475"/>
            <a:ext cx="1735138" cy="647700"/>
            <a:chOff x="7380288" y="41275"/>
            <a:chExt cx="1735137" cy="647700"/>
          </a:xfrm>
        </p:grpSpPr>
        <p:sp>
          <p:nvSpPr>
            <p:cNvPr id="40"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41"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20638" y="814388"/>
            <a:ext cx="8229601" cy="350837"/>
          </a:xfrm>
        </p:spPr>
        <p:txBody>
          <a:bodyPr/>
          <a:lstStyle/>
          <a:p>
            <a:pPr algn="l"/>
            <a:r>
              <a:rPr lang="pt-BR" altLang="en-US" sz="1400" smtClean="0">
                <a:solidFill>
                  <a:schemeClr val="accent2"/>
                </a:solidFill>
              </a:rPr>
              <a:t>Order to Cash (Ordem até o Caixa)</a:t>
            </a:r>
            <a:r>
              <a:rPr lang="en-US" altLang="en-US" sz="1400" smtClean="0">
                <a:solidFill>
                  <a:schemeClr val="accent2"/>
                </a:solidFill>
              </a:rPr>
              <a:t> </a:t>
            </a:r>
          </a:p>
        </p:txBody>
      </p:sp>
      <p:sp>
        <p:nvSpPr>
          <p:cNvPr id="121859" name="Line 3"/>
          <p:cNvSpPr>
            <a:spLocks noChangeShapeType="1"/>
          </p:cNvSpPr>
          <p:nvPr/>
        </p:nvSpPr>
        <p:spPr bwMode="auto">
          <a:xfrm rot="16200000" flipV="1">
            <a:off x="3786188" y="3476625"/>
            <a:ext cx="0" cy="3641725"/>
          </a:xfrm>
          <a:prstGeom prst="line">
            <a:avLst/>
          </a:prstGeom>
          <a:noFill/>
          <a:ln w="28575" cap="rnd">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1860" name="Text Box 4"/>
          <p:cNvSpPr txBox="1">
            <a:spLocks noChangeArrowheads="1"/>
          </p:cNvSpPr>
          <p:nvPr/>
        </p:nvSpPr>
        <p:spPr bwMode="auto">
          <a:xfrm>
            <a:off x="2838450" y="4992688"/>
            <a:ext cx="111760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600">
                <a:solidFill>
                  <a:srgbClr val="000000"/>
                </a:solidFill>
              </a:rPr>
              <a:t>NFFs</a:t>
            </a:r>
            <a:r>
              <a:rPr lang="en-US" altLang="en-US" sz="1600"/>
              <a:t> </a:t>
            </a:r>
          </a:p>
        </p:txBody>
      </p:sp>
      <p:pic>
        <p:nvPicPr>
          <p:cNvPr id="121861" name="Picture 5" descr="Ledg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995738" y="1308100"/>
            <a:ext cx="6127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2" name="Rectangle 6"/>
          <p:cNvSpPr>
            <a:spLocks noChangeArrowheads="1"/>
          </p:cNvSpPr>
          <p:nvPr/>
        </p:nvSpPr>
        <p:spPr bwMode="gray">
          <a:xfrm>
            <a:off x="3371850" y="2217738"/>
            <a:ext cx="1860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cs typeface="Times New Roman" panose="02020603050405020304" pitchFamily="18" charset="0"/>
              </a:rPr>
              <a:t>General Ledger</a:t>
            </a:r>
            <a:r>
              <a:rPr lang="en-US" altLang="en-US" sz="1800">
                <a:cs typeface="Times New Roman" panose="02020603050405020304" pitchFamily="18" charset="0"/>
              </a:rPr>
              <a:t> </a:t>
            </a:r>
          </a:p>
        </p:txBody>
      </p:sp>
      <p:sp>
        <p:nvSpPr>
          <p:cNvPr id="121863" name="Rectangle 7"/>
          <p:cNvSpPr>
            <a:spLocks noChangeArrowheads="1"/>
          </p:cNvSpPr>
          <p:nvPr/>
        </p:nvSpPr>
        <p:spPr bwMode="auto">
          <a:xfrm>
            <a:off x="7105650" y="2376488"/>
            <a:ext cx="1212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cs typeface="Times New Roman" panose="02020603050405020304" pitchFamily="18" charset="0"/>
              </a:rPr>
              <a:t>Inventory</a:t>
            </a:r>
            <a:r>
              <a:rPr lang="en-US" altLang="en-US" sz="1800">
                <a:cs typeface="Times New Roman" panose="02020603050405020304" pitchFamily="18" charset="0"/>
              </a:rPr>
              <a:t> </a:t>
            </a:r>
          </a:p>
        </p:txBody>
      </p:sp>
      <p:sp>
        <p:nvSpPr>
          <p:cNvPr id="121864" name="Text Box 8"/>
          <p:cNvSpPr txBox="1">
            <a:spLocks noChangeArrowheads="1"/>
          </p:cNvSpPr>
          <p:nvPr/>
        </p:nvSpPr>
        <p:spPr bwMode="auto">
          <a:xfrm>
            <a:off x="1981200" y="3771900"/>
            <a:ext cx="1782763" cy="825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600">
                <a:solidFill>
                  <a:srgbClr val="000000"/>
                </a:solidFill>
              </a:rPr>
              <a:t>Contas a Receber/Receita/Recebimentos</a:t>
            </a:r>
            <a:r>
              <a:rPr lang="en-US" altLang="en-US" sz="1600"/>
              <a:t> </a:t>
            </a:r>
          </a:p>
        </p:txBody>
      </p:sp>
      <p:sp>
        <p:nvSpPr>
          <p:cNvPr id="121865" name="Freeform 9"/>
          <p:cNvSpPr>
            <a:spLocks/>
          </p:cNvSpPr>
          <p:nvPr/>
        </p:nvSpPr>
        <p:spPr bwMode="auto">
          <a:xfrm rot="5400000">
            <a:off x="5861050" y="3001963"/>
            <a:ext cx="2359025" cy="1774825"/>
          </a:xfrm>
          <a:custGeom>
            <a:avLst/>
            <a:gdLst>
              <a:gd name="T0" fmla="*/ 0 w 220"/>
              <a:gd name="T1" fmla="*/ 0 h 411"/>
              <a:gd name="T2" fmla="*/ 2147483646 w 220"/>
              <a:gd name="T3" fmla="*/ 0 h 411"/>
              <a:gd name="T4" fmla="*/ 2147483646 w 220"/>
              <a:gd name="T5" fmla="*/ 2147483646 h 411"/>
              <a:gd name="T6" fmla="*/ 0 60000 65536"/>
              <a:gd name="T7" fmla="*/ 0 60000 65536"/>
              <a:gd name="T8" fmla="*/ 0 60000 65536"/>
            </a:gdLst>
            <a:ahLst/>
            <a:cxnLst>
              <a:cxn ang="T6">
                <a:pos x="T0" y="T1"/>
              </a:cxn>
              <a:cxn ang="T7">
                <a:pos x="T2" y="T3"/>
              </a:cxn>
              <a:cxn ang="T8">
                <a:pos x="T4" y="T5"/>
              </a:cxn>
            </a:cxnLst>
            <a:rect l="0" t="0" r="r" b="b"/>
            <a:pathLst>
              <a:path w="220" h="411">
                <a:moveTo>
                  <a:pt x="0" y="0"/>
                </a:moveTo>
                <a:lnTo>
                  <a:pt x="219" y="0"/>
                </a:lnTo>
                <a:lnTo>
                  <a:pt x="219" y="410"/>
                </a:lnTo>
              </a:path>
            </a:pathLst>
          </a:custGeom>
          <a:noFill/>
          <a:ln w="28575" cap="rnd" cmpd="sng">
            <a:solidFill>
              <a:schemeClr val="tx1"/>
            </a:solidFill>
            <a:prstDash val="solid"/>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1866" name="Text Box 10"/>
          <p:cNvSpPr txBox="1">
            <a:spLocks noChangeArrowheads="1"/>
          </p:cNvSpPr>
          <p:nvPr/>
        </p:nvSpPr>
        <p:spPr bwMode="auto">
          <a:xfrm>
            <a:off x="6191250" y="4230688"/>
            <a:ext cx="1676400" cy="581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600">
                <a:solidFill>
                  <a:srgbClr val="000000"/>
                </a:solidFill>
              </a:rPr>
              <a:t>Transações de Inventário</a:t>
            </a:r>
            <a:r>
              <a:rPr lang="en-US" altLang="en-US" sz="1600"/>
              <a:t> </a:t>
            </a:r>
          </a:p>
        </p:txBody>
      </p:sp>
      <p:sp>
        <p:nvSpPr>
          <p:cNvPr id="121867" name="Freeform 11"/>
          <p:cNvSpPr>
            <a:spLocks/>
          </p:cNvSpPr>
          <p:nvPr/>
        </p:nvSpPr>
        <p:spPr bwMode="auto">
          <a:xfrm rot="-5400000">
            <a:off x="1791494" y="2624932"/>
            <a:ext cx="2384425" cy="2166937"/>
          </a:xfrm>
          <a:custGeom>
            <a:avLst/>
            <a:gdLst>
              <a:gd name="T0" fmla="*/ 0 w 309"/>
              <a:gd name="T1" fmla="*/ 0 h 381"/>
              <a:gd name="T2" fmla="*/ 0 w 309"/>
              <a:gd name="T3" fmla="*/ 2147483646 h 381"/>
              <a:gd name="T4" fmla="*/ 2147483646 w 309"/>
              <a:gd name="T5" fmla="*/ 2147483646 h 381"/>
              <a:gd name="T6" fmla="*/ 0 60000 65536"/>
              <a:gd name="T7" fmla="*/ 0 60000 65536"/>
              <a:gd name="T8" fmla="*/ 0 60000 65536"/>
            </a:gdLst>
            <a:ahLst/>
            <a:cxnLst>
              <a:cxn ang="T6">
                <a:pos x="T0" y="T1"/>
              </a:cxn>
              <a:cxn ang="T7">
                <a:pos x="T2" y="T3"/>
              </a:cxn>
              <a:cxn ang="T8">
                <a:pos x="T4" y="T5"/>
              </a:cxn>
            </a:cxnLst>
            <a:rect l="0" t="0" r="r" b="b"/>
            <a:pathLst>
              <a:path w="309" h="381">
                <a:moveTo>
                  <a:pt x="0" y="0"/>
                </a:moveTo>
                <a:lnTo>
                  <a:pt x="0" y="380"/>
                </a:lnTo>
                <a:lnTo>
                  <a:pt x="308" y="380"/>
                </a:lnTo>
              </a:path>
            </a:pathLst>
          </a:custGeom>
          <a:noFill/>
          <a:ln w="28575" cap="rnd" cmpd="sng">
            <a:solidFill>
              <a:srgbClr val="000000"/>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1868" name="Text Box 12"/>
          <p:cNvSpPr txBox="1">
            <a:spLocks noChangeArrowheads="1"/>
          </p:cNvSpPr>
          <p:nvPr/>
        </p:nvSpPr>
        <p:spPr bwMode="gray">
          <a:xfrm>
            <a:off x="857250" y="2947988"/>
            <a:ext cx="1447800" cy="5207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700" tIns="12700" rIns="12700" bIns="12700">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FontTx/>
              <a:buNone/>
            </a:pPr>
            <a:r>
              <a:rPr lang="en-US" altLang="en-US" sz="1800">
                <a:solidFill>
                  <a:srgbClr val="000000"/>
                </a:solidFill>
              </a:rPr>
              <a:t>Cash</a:t>
            </a:r>
            <a:br>
              <a:rPr lang="en-US" altLang="en-US" sz="1800">
                <a:solidFill>
                  <a:srgbClr val="000000"/>
                </a:solidFill>
              </a:rPr>
            </a:br>
            <a:r>
              <a:rPr lang="en-US" altLang="en-US" sz="1800">
                <a:solidFill>
                  <a:srgbClr val="000000"/>
                </a:solidFill>
              </a:rPr>
              <a:t>Management</a:t>
            </a:r>
            <a:r>
              <a:rPr lang="en-US" altLang="en-US" sz="1800"/>
              <a:t> </a:t>
            </a:r>
          </a:p>
        </p:txBody>
      </p:sp>
      <p:pic>
        <p:nvPicPr>
          <p:cNvPr id="121869" name="Picture 13" descr="produ0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1308100" y="1957388"/>
            <a:ext cx="622300"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70" name="Line 14"/>
          <p:cNvSpPr>
            <a:spLocks noChangeShapeType="1"/>
          </p:cNvSpPr>
          <p:nvPr/>
        </p:nvSpPr>
        <p:spPr bwMode="auto">
          <a:xfrm>
            <a:off x="1590675" y="3506788"/>
            <a:ext cx="0" cy="1320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1871" name="Rectangle 15"/>
          <p:cNvSpPr>
            <a:spLocks noChangeArrowheads="1"/>
          </p:cNvSpPr>
          <p:nvPr/>
        </p:nvSpPr>
        <p:spPr bwMode="gray">
          <a:xfrm>
            <a:off x="5048250" y="5564188"/>
            <a:ext cx="1600200"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85000"/>
              </a:lnSpc>
              <a:spcBef>
                <a:spcPct val="0"/>
              </a:spcBef>
              <a:buFontTx/>
              <a:buNone/>
            </a:pPr>
            <a:r>
              <a:rPr lang="en-US" altLang="en-US" sz="1800">
                <a:solidFill>
                  <a:srgbClr val="000000"/>
                </a:solidFill>
                <a:cs typeface="Times New Roman" panose="02020603050405020304" pitchFamily="18" charset="0"/>
              </a:rPr>
              <a:t>Order Management</a:t>
            </a:r>
            <a:r>
              <a:rPr lang="en-US" altLang="en-US" sz="1800">
                <a:cs typeface="Times New Roman" panose="02020603050405020304" pitchFamily="18" charset="0"/>
              </a:rPr>
              <a:t> </a:t>
            </a:r>
          </a:p>
        </p:txBody>
      </p:sp>
      <p:pic>
        <p:nvPicPr>
          <p:cNvPr id="121872" name="Picture 16" descr="O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5581650" y="4584700"/>
            <a:ext cx="6127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73" name="Rectangle 17"/>
          <p:cNvSpPr>
            <a:spLocks noChangeArrowheads="1"/>
          </p:cNvSpPr>
          <p:nvPr/>
        </p:nvSpPr>
        <p:spPr bwMode="auto">
          <a:xfrm>
            <a:off x="806450" y="5513388"/>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cs typeface="Times New Roman" panose="02020603050405020304" pitchFamily="18" charset="0"/>
              </a:rPr>
              <a:t>Receivables/</a:t>
            </a:r>
            <a:r>
              <a:rPr lang="en-US" altLang="en-US" sz="1800" i="1">
                <a:solidFill>
                  <a:srgbClr val="000000"/>
                </a:solidFill>
                <a:cs typeface="Times New Roman" panose="02020603050405020304" pitchFamily="18" charset="0"/>
              </a:rPr>
              <a:t>i</a:t>
            </a:r>
            <a:r>
              <a:rPr lang="en-US" altLang="en-US" sz="1800">
                <a:solidFill>
                  <a:srgbClr val="000000"/>
                </a:solidFill>
                <a:cs typeface="Times New Roman" panose="02020603050405020304" pitchFamily="18" charset="0"/>
              </a:rPr>
              <a:t>Receivables</a:t>
            </a:r>
            <a:r>
              <a:rPr lang="en-US" altLang="en-US" sz="1800">
                <a:cs typeface="Times New Roman" panose="02020603050405020304" pitchFamily="18" charset="0"/>
              </a:rPr>
              <a:t> </a:t>
            </a:r>
          </a:p>
        </p:txBody>
      </p:sp>
      <p:pic>
        <p:nvPicPr>
          <p:cNvPr id="121874" name="Picture 18" descr="Receivable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1352550" y="4597400"/>
            <a:ext cx="6127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875" name="Picture 19" descr="Purchasi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4667250" y="2959100"/>
            <a:ext cx="6127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76" name="Text Box 21"/>
          <p:cNvSpPr txBox="1">
            <a:spLocks noChangeArrowheads="1"/>
          </p:cNvSpPr>
          <p:nvPr/>
        </p:nvSpPr>
        <p:spPr bwMode="auto">
          <a:xfrm>
            <a:off x="4094163" y="4713288"/>
            <a:ext cx="819150" cy="581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600">
                <a:solidFill>
                  <a:srgbClr val="000000"/>
                </a:solidFill>
              </a:rPr>
              <a:t>Requi-sições</a:t>
            </a:r>
            <a:r>
              <a:rPr lang="en-US" altLang="en-US" sz="1600"/>
              <a:t> </a:t>
            </a:r>
          </a:p>
        </p:txBody>
      </p:sp>
      <p:sp>
        <p:nvSpPr>
          <p:cNvPr id="121877" name="Freeform 22"/>
          <p:cNvSpPr>
            <a:spLocks/>
          </p:cNvSpPr>
          <p:nvPr/>
        </p:nvSpPr>
        <p:spPr bwMode="auto">
          <a:xfrm>
            <a:off x="5286375" y="3316288"/>
            <a:ext cx="676275" cy="1333500"/>
          </a:xfrm>
          <a:custGeom>
            <a:avLst/>
            <a:gdLst>
              <a:gd name="T0" fmla="*/ 0 w 220"/>
              <a:gd name="T1" fmla="*/ 0 h 411"/>
              <a:gd name="T2" fmla="*/ 2147483646 w 220"/>
              <a:gd name="T3" fmla="*/ 0 h 411"/>
              <a:gd name="T4" fmla="*/ 2147483646 w 220"/>
              <a:gd name="T5" fmla="*/ 2147483646 h 411"/>
              <a:gd name="T6" fmla="*/ 0 60000 65536"/>
              <a:gd name="T7" fmla="*/ 0 60000 65536"/>
              <a:gd name="T8" fmla="*/ 0 60000 65536"/>
            </a:gdLst>
            <a:ahLst/>
            <a:cxnLst>
              <a:cxn ang="T6">
                <a:pos x="T0" y="T1"/>
              </a:cxn>
              <a:cxn ang="T7">
                <a:pos x="T2" y="T3"/>
              </a:cxn>
              <a:cxn ang="T8">
                <a:pos x="T4" y="T5"/>
              </a:cxn>
            </a:cxnLst>
            <a:rect l="0" t="0" r="r" b="b"/>
            <a:pathLst>
              <a:path w="220" h="411">
                <a:moveTo>
                  <a:pt x="0" y="0"/>
                </a:moveTo>
                <a:lnTo>
                  <a:pt x="219" y="0"/>
                </a:lnTo>
                <a:lnTo>
                  <a:pt x="219" y="410"/>
                </a:lnTo>
              </a:path>
            </a:pathLst>
          </a:custGeom>
          <a:noFill/>
          <a:ln w="28575" cap="rnd" cmpd="sng">
            <a:solidFill>
              <a:schemeClr val="tx1"/>
            </a:solidFill>
            <a:prstDash val="solid"/>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1878" name="Line 23"/>
          <p:cNvSpPr>
            <a:spLocks noChangeShapeType="1"/>
          </p:cNvSpPr>
          <p:nvPr/>
        </p:nvSpPr>
        <p:spPr bwMode="auto">
          <a:xfrm rot="16200000" flipV="1">
            <a:off x="6038850" y="582613"/>
            <a:ext cx="0" cy="2876550"/>
          </a:xfrm>
          <a:prstGeom prst="line">
            <a:avLst/>
          </a:prstGeom>
          <a:noFill/>
          <a:ln w="28575" cap="rnd">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1879" name="Text Box 24"/>
          <p:cNvSpPr txBox="1">
            <a:spLocks noChangeArrowheads="1"/>
          </p:cNvSpPr>
          <p:nvPr/>
        </p:nvSpPr>
        <p:spPr bwMode="auto">
          <a:xfrm>
            <a:off x="5391150" y="1436688"/>
            <a:ext cx="1497013" cy="581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600">
                <a:solidFill>
                  <a:srgbClr val="000000"/>
                </a:solidFill>
              </a:rPr>
              <a:t>Atividade do Inventário</a:t>
            </a:r>
            <a:r>
              <a:rPr lang="en-US" altLang="en-US" sz="1600"/>
              <a:t> </a:t>
            </a:r>
          </a:p>
        </p:txBody>
      </p:sp>
      <p:sp>
        <p:nvSpPr>
          <p:cNvPr id="121880" name="Text Box 25"/>
          <p:cNvSpPr txBox="1">
            <a:spLocks noChangeArrowheads="1"/>
          </p:cNvSpPr>
          <p:nvPr/>
        </p:nvSpPr>
        <p:spPr bwMode="auto">
          <a:xfrm>
            <a:off x="5957888" y="3605213"/>
            <a:ext cx="2008187" cy="581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600">
                <a:solidFill>
                  <a:srgbClr val="000000"/>
                </a:solidFill>
              </a:rPr>
              <a:t>Interorganizações/Entregas</a:t>
            </a:r>
            <a:r>
              <a:rPr lang="en-US" altLang="en-US" sz="1600"/>
              <a:t> </a:t>
            </a:r>
          </a:p>
        </p:txBody>
      </p:sp>
      <p:sp>
        <p:nvSpPr>
          <p:cNvPr id="121881" name="Text Box 26"/>
          <p:cNvSpPr txBox="1">
            <a:spLocks noChangeArrowheads="1"/>
          </p:cNvSpPr>
          <p:nvPr/>
        </p:nvSpPr>
        <p:spPr bwMode="blackWhite">
          <a:xfrm>
            <a:off x="2457450" y="3378200"/>
            <a:ext cx="1114425" cy="395288"/>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Bancos</a:t>
            </a:r>
            <a:r>
              <a:rPr lang="en-US" altLang="en-US" sz="1800">
                <a:cs typeface="Times New Roman" panose="02020603050405020304" pitchFamily="18" charset="0"/>
              </a:rPr>
              <a:t> </a:t>
            </a:r>
          </a:p>
        </p:txBody>
      </p:sp>
      <p:sp>
        <p:nvSpPr>
          <p:cNvPr id="121882" name="Text Box 27"/>
          <p:cNvSpPr txBox="1">
            <a:spLocks noChangeArrowheads="1"/>
          </p:cNvSpPr>
          <p:nvPr/>
        </p:nvSpPr>
        <p:spPr bwMode="blackWhite">
          <a:xfrm>
            <a:off x="1219200" y="1639888"/>
            <a:ext cx="2571750" cy="395287"/>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Conjunto de livros</a:t>
            </a:r>
            <a:r>
              <a:rPr lang="en-US" altLang="en-US" sz="1800">
                <a:cs typeface="Times New Roman" panose="02020603050405020304" pitchFamily="18" charset="0"/>
              </a:rPr>
              <a:t> </a:t>
            </a:r>
          </a:p>
        </p:txBody>
      </p:sp>
      <p:sp>
        <p:nvSpPr>
          <p:cNvPr id="121883" name="Text Box 28"/>
          <p:cNvSpPr txBox="1">
            <a:spLocks noChangeArrowheads="1"/>
          </p:cNvSpPr>
          <p:nvPr/>
        </p:nvSpPr>
        <p:spPr bwMode="blackWhite">
          <a:xfrm>
            <a:off x="6737350" y="5359400"/>
            <a:ext cx="977900" cy="395288"/>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Itens</a:t>
            </a:r>
            <a:r>
              <a:rPr lang="en-US" altLang="en-US" sz="1800">
                <a:cs typeface="Times New Roman" panose="02020603050405020304" pitchFamily="18" charset="0"/>
              </a:rPr>
              <a:t> </a:t>
            </a:r>
          </a:p>
        </p:txBody>
      </p:sp>
      <p:sp>
        <p:nvSpPr>
          <p:cNvPr id="121884" name="Text Box 29"/>
          <p:cNvSpPr txBox="1">
            <a:spLocks noChangeArrowheads="1"/>
          </p:cNvSpPr>
          <p:nvPr/>
        </p:nvSpPr>
        <p:spPr bwMode="blackWhite">
          <a:xfrm>
            <a:off x="6623050" y="2922588"/>
            <a:ext cx="977900" cy="395287"/>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UDMs</a:t>
            </a:r>
            <a:r>
              <a:rPr lang="en-US" altLang="en-US" sz="1800">
                <a:cs typeface="Times New Roman" panose="02020603050405020304" pitchFamily="18" charset="0"/>
              </a:rPr>
              <a:t> </a:t>
            </a:r>
          </a:p>
        </p:txBody>
      </p:sp>
      <p:sp>
        <p:nvSpPr>
          <p:cNvPr id="121885" name="Text Box 30"/>
          <p:cNvSpPr txBox="1">
            <a:spLocks noChangeArrowheads="1"/>
          </p:cNvSpPr>
          <p:nvPr/>
        </p:nvSpPr>
        <p:spPr bwMode="blackWhite">
          <a:xfrm>
            <a:off x="2838450" y="5602288"/>
            <a:ext cx="1485900" cy="395287"/>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Clientes</a:t>
            </a:r>
            <a:r>
              <a:rPr lang="en-US" altLang="en-US" sz="1800">
                <a:cs typeface="Times New Roman" panose="02020603050405020304" pitchFamily="18" charset="0"/>
              </a:rPr>
              <a:t> </a:t>
            </a:r>
          </a:p>
        </p:txBody>
      </p:sp>
      <p:pic>
        <p:nvPicPr>
          <p:cNvPr id="121886" name="Picture 31" descr="Inventory"/>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7435850" y="1506538"/>
            <a:ext cx="6127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87" name="Freeform 32"/>
          <p:cNvSpPr>
            <a:spLocks/>
          </p:cNvSpPr>
          <p:nvPr/>
        </p:nvSpPr>
        <p:spPr bwMode="auto">
          <a:xfrm rot="10800000">
            <a:off x="4876800" y="4419600"/>
            <a:ext cx="700088" cy="647700"/>
          </a:xfrm>
          <a:custGeom>
            <a:avLst/>
            <a:gdLst>
              <a:gd name="T0" fmla="*/ 0 w 220"/>
              <a:gd name="T1" fmla="*/ 0 h 411"/>
              <a:gd name="T2" fmla="*/ 2147483646 w 220"/>
              <a:gd name="T3" fmla="*/ 0 h 411"/>
              <a:gd name="T4" fmla="*/ 2147483646 w 220"/>
              <a:gd name="T5" fmla="*/ 2147483646 h 411"/>
              <a:gd name="T6" fmla="*/ 0 60000 65536"/>
              <a:gd name="T7" fmla="*/ 0 60000 65536"/>
              <a:gd name="T8" fmla="*/ 0 60000 65536"/>
            </a:gdLst>
            <a:ahLst/>
            <a:cxnLst>
              <a:cxn ang="T6">
                <a:pos x="T0" y="T1"/>
              </a:cxn>
              <a:cxn ang="T7">
                <a:pos x="T2" y="T3"/>
              </a:cxn>
              <a:cxn ang="T8">
                <a:pos x="T4" y="T5"/>
              </a:cxn>
            </a:cxnLst>
            <a:rect l="0" t="0" r="r" b="b"/>
            <a:pathLst>
              <a:path w="220" h="411">
                <a:moveTo>
                  <a:pt x="0" y="0"/>
                </a:moveTo>
                <a:lnTo>
                  <a:pt x="219" y="0"/>
                </a:lnTo>
                <a:lnTo>
                  <a:pt x="219" y="410"/>
                </a:lnTo>
              </a:path>
            </a:pathLst>
          </a:custGeom>
          <a:noFill/>
          <a:ln w="28575" cap="rnd" cmpd="sng">
            <a:solidFill>
              <a:schemeClr val="tx1"/>
            </a:solidFill>
            <a:prstDash val="solid"/>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1888" name="Rectangle 33"/>
          <p:cNvSpPr>
            <a:spLocks noChangeArrowheads="1"/>
          </p:cNvSpPr>
          <p:nvPr/>
        </p:nvSpPr>
        <p:spPr bwMode="auto">
          <a:xfrm>
            <a:off x="4006850" y="3900488"/>
            <a:ext cx="1852613" cy="587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FontTx/>
              <a:buNone/>
            </a:pPr>
            <a:r>
              <a:rPr lang="en-US" altLang="en-US" sz="1800">
                <a:cs typeface="Times New Roman" panose="02020603050405020304" pitchFamily="18" charset="0"/>
              </a:rPr>
              <a:t>Purchasing/ </a:t>
            </a:r>
            <a:r>
              <a:rPr lang="en-US" altLang="en-US" sz="1800" i="1">
                <a:latin typeface="Times New Roman" panose="02020603050405020304" pitchFamily="18" charset="0"/>
                <a:cs typeface="Times New Roman" panose="02020603050405020304" pitchFamily="18" charset="0"/>
              </a:rPr>
              <a:t>i</a:t>
            </a:r>
            <a:r>
              <a:rPr lang="en-US" altLang="en-US" sz="1800">
                <a:cs typeface="Times New Roman" panose="02020603050405020304" pitchFamily="18" charset="0"/>
              </a:rPr>
              <a:t>Procurement</a:t>
            </a:r>
          </a:p>
        </p:txBody>
      </p:sp>
      <p:sp>
        <p:nvSpPr>
          <p:cNvPr id="33" name="Rectangle 2"/>
          <p:cNvSpPr txBox="1">
            <a:spLocks noChangeArrowheads="1"/>
          </p:cNvSpPr>
          <p:nvPr/>
        </p:nvSpPr>
        <p:spPr bwMode="auto">
          <a:xfrm>
            <a:off x="0" y="-387350"/>
            <a:ext cx="91328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smtClean="0">
                <a:solidFill>
                  <a:srgbClr val="003366"/>
                </a:solidFill>
              </a:rPr>
              <a:t>eBusiness Suite – </a:t>
            </a:r>
            <a:r>
              <a:rPr lang="pt-BR" altLang="pt-BR" sz="3600" b="1" kern="0" smtClean="0">
                <a:solidFill>
                  <a:srgbClr val="003366"/>
                </a:solidFill>
              </a:rPr>
              <a:t>Entidades</a:t>
            </a:r>
            <a:endParaRPr lang="pt-BR" altLang="pt-BR" sz="3600" b="1" kern="0" dirty="0" smtClean="0">
              <a:solidFill>
                <a:srgbClr val="003366"/>
              </a:solidFill>
            </a:endParaRPr>
          </a:p>
        </p:txBody>
      </p:sp>
      <p:sp>
        <p:nvSpPr>
          <p:cNvPr id="121890" name="Line 5"/>
          <p:cNvSpPr>
            <a:spLocks noChangeShapeType="1"/>
          </p:cNvSpPr>
          <p:nvPr/>
        </p:nvSpPr>
        <p:spPr bwMode="auto">
          <a:xfrm>
            <a:off x="0" y="765175"/>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21891" name="Group 6"/>
          <p:cNvGrpSpPr>
            <a:grpSpLocks/>
          </p:cNvGrpSpPr>
          <p:nvPr/>
        </p:nvGrpSpPr>
        <p:grpSpPr bwMode="auto">
          <a:xfrm>
            <a:off x="7308850" y="117475"/>
            <a:ext cx="1735138" cy="647700"/>
            <a:chOff x="7380288" y="41275"/>
            <a:chExt cx="1735137" cy="647700"/>
          </a:xfrm>
        </p:grpSpPr>
        <p:sp>
          <p:nvSpPr>
            <p:cNvPr id="36"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7"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36513" y="836613"/>
            <a:ext cx="4184651" cy="396875"/>
          </a:xfrm>
        </p:spPr>
        <p:txBody>
          <a:bodyPr/>
          <a:lstStyle/>
          <a:p>
            <a:pPr algn="l"/>
            <a:r>
              <a:rPr lang="pt-BR" altLang="en-US" sz="1400" smtClean="0">
                <a:solidFill>
                  <a:schemeClr val="accent2"/>
                </a:solidFill>
              </a:rPr>
              <a:t>Contract to Renewal (Contrato até Renovação)</a:t>
            </a:r>
            <a:endParaRPr lang="en-US" altLang="en-US" sz="1400" smtClean="0">
              <a:solidFill>
                <a:schemeClr val="accent2"/>
              </a:solidFill>
            </a:endParaRPr>
          </a:p>
        </p:txBody>
      </p:sp>
      <p:sp>
        <p:nvSpPr>
          <p:cNvPr id="123907" name="Text Box 3"/>
          <p:cNvSpPr txBox="1">
            <a:spLocks noChangeArrowheads="1"/>
          </p:cNvSpPr>
          <p:nvPr/>
        </p:nvSpPr>
        <p:spPr bwMode="auto">
          <a:xfrm>
            <a:off x="1250950" y="2465388"/>
            <a:ext cx="191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t>Sales Contracts</a:t>
            </a:r>
          </a:p>
        </p:txBody>
      </p:sp>
      <p:sp>
        <p:nvSpPr>
          <p:cNvPr id="123908" name="Text Box 4"/>
          <p:cNvSpPr txBox="1">
            <a:spLocks noChangeArrowheads="1"/>
          </p:cNvSpPr>
          <p:nvPr/>
        </p:nvSpPr>
        <p:spPr bwMode="auto">
          <a:xfrm>
            <a:off x="3124200" y="3657600"/>
            <a:ext cx="1517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t>Quoting</a:t>
            </a:r>
          </a:p>
        </p:txBody>
      </p:sp>
      <p:sp>
        <p:nvSpPr>
          <p:cNvPr id="123909" name="Text Box 5"/>
          <p:cNvSpPr txBox="1">
            <a:spLocks noChangeArrowheads="1"/>
          </p:cNvSpPr>
          <p:nvPr/>
        </p:nvSpPr>
        <p:spPr bwMode="auto">
          <a:xfrm>
            <a:off x="5867400" y="3048000"/>
            <a:ext cx="2127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t>Service Contracts</a:t>
            </a:r>
          </a:p>
        </p:txBody>
      </p:sp>
      <p:sp>
        <p:nvSpPr>
          <p:cNvPr id="123910" name="Freeform 6"/>
          <p:cNvSpPr>
            <a:spLocks/>
          </p:cNvSpPr>
          <p:nvPr/>
        </p:nvSpPr>
        <p:spPr bwMode="auto">
          <a:xfrm>
            <a:off x="2012950" y="2771775"/>
            <a:ext cx="1631950" cy="657225"/>
          </a:xfrm>
          <a:custGeom>
            <a:avLst/>
            <a:gdLst>
              <a:gd name="T0" fmla="*/ 0 w 864"/>
              <a:gd name="T1" fmla="*/ 0 h 816"/>
              <a:gd name="T2" fmla="*/ 0 w 864"/>
              <a:gd name="T3" fmla="*/ 2147483646 h 816"/>
              <a:gd name="T4" fmla="*/ 2147483646 w 864"/>
              <a:gd name="T5" fmla="*/ 2147483646 h 816"/>
              <a:gd name="T6" fmla="*/ 0 60000 65536"/>
              <a:gd name="T7" fmla="*/ 0 60000 65536"/>
              <a:gd name="T8" fmla="*/ 0 60000 65536"/>
            </a:gdLst>
            <a:ahLst/>
            <a:cxnLst>
              <a:cxn ang="T6">
                <a:pos x="T0" y="T1"/>
              </a:cxn>
              <a:cxn ang="T7">
                <a:pos x="T2" y="T3"/>
              </a:cxn>
              <a:cxn ang="T8">
                <a:pos x="T4" y="T5"/>
              </a:cxn>
            </a:cxnLst>
            <a:rect l="0" t="0" r="r" b="b"/>
            <a:pathLst>
              <a:path w="864" h="816">
                <a:moveTo>
                  <a:pt x="0" y="0"/>
                </a:moveTo>
                <a:lnTo>
                  <a:pt x="0" y="816"/>
                </a:lnTo>
                <a:lnTo>
                  <a:pt x="864" y="816"/>
                </a:lnTo>
              </a:path>
            </a:pathLst>
          </a:custGeom>
          <a:noFill/>
          <a:ln w="28575" cap="flat" cmpd="sng">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3911" name="Freeform 7"/>
          <p:cNvSpPr>
            <a:spLocks/>
          </p:cNvSpPr>
          <p:nvPr/>
        </p:nvSpPr>
        <p:spPr bwMode="auto">
          <a:xfrm>
            <a:off x="4200525" y="3340100"/>
            <a:ext cx="2520950" cy="1536700"/>
          </a:xfrm>
          <a:custGeom>
            <a:avLst/>
            <a:gdLst>
              <a:gd name="T0" fmla="*/ 2147483646 w 912"/>
              <a:gd name="T1" fmla="*/ 0 h 912"/>
              <a:gd name="T2" fmla="*/ 2147483646 w 912"/>
              <a:gd name="T3" fmla="*/ 2147483646 h 912"/>
              <a:gd name="T4" fmla="*/ 0 w 912"/>
              <a:gd name="T5" fmla="*/ 2147483646 h 912"/>
              <a:gd name="T6" fmla="*/ 0 60000 65536"/>
              <a:gd name="T7" fmla="*/ 0 60000 65536"/>
              <a:gd name="T8" fmla="*/ 0 60000 65536"/>
            </a:gdLst>
            <a:ahLst/>
            <a:cxnLst>
              <a:cxn ang="T6">
                <a:pos x="T0" y="T1"/>
              </a:cxn>
              <a:cxn ang="T7">
                <a:pos x="T2" y="T3"/>
              </a:cxn>
              <a:cxn ang="T8">
                <a:pos x="T4" y="T5"/>
              </a:cxn>
            </a:cxnLst>
            <a:rect l="0" t="0" r="r" b="b"/>
            <a:pathLst>
              <a:path w="912" h="912">
                <a:moveTo>
                  <a:pt x="912" y="0"/>
                </a:moveTo>
                <a:lnTo>
                  <a:pt x="912" y="912"/>
                </a:lnTo>
                <a:lnTo>
                  <a:pt x="0" y="912"/>
                </a:lnTo>
              </a:path>
            </a:pathLst>
          </a:custGeom>
          <a:noFill/>
          <a:ln w="28575" cap="flat" cmpd="sng">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3912" name="Text Box 8"/>
          <p:cNvSpPr txBox="1">
            <a:spLocks noChangeArrowheads="1"/>
          </p:cNvSpPr>
          <p:nvPr/>
        </p:nvSpPr>
        <p:spPr bwMode="auto">
          <a:xfrm>
            <a:off x="2533650" y="5611813"/>
            <a:ext cx="28130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800"/>
              <a:t>Atendimento de Ordens</a:t>
            </a:r>
          </a:p>
          <a:p>
            <a:pPr algn="ctr">
              <a:lnSpc>
                <a:spcPct val="90000"/>
              </a:lnSpc>
              <a:spcBef>
                <a:spcPct val="0"/>
              </a:spcBef>
              <a:buClr>
                <a:srgbClr val="FF0000"/>
              </a:buClr>
              <a:buFontTx/>
              <a:buNone/>
            </a:pPr>
            <a:r>
              <a:rPr lang="en-US" altLang="en-US" sz="1800"/>
              <a:t>Ordem até o Pagamento</a:t>
            </a:r>
          </a:p>
        </p:txBody>
      </p:sp>
      <p:sp>
        <p:nvSpPr>
          <p:cNvPr id="123913" name="Text Box 9"/>
          <p:cNvSpPr txBox="1">
            <a:spLocks noChangeArrowheads="1"/>
          </p:cNvSpPr>
          <p:nvPr/>
        </p:nvSpPr>
        <p:spPr bwMode="auto">
          <a:xfrm>
            <a:off x="2270125" y="4114800"/>
            <a:ext cx="1392238" cy="754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t>Cotação até </a:t>
            </a:r>
            <a:br>
              <a:rPr lang="en-US" altLang="en-US" sz="1600"/>
            </a:br>
            <a:r>
              <a:rPr lang="en-US" altLang="en-US" sz="1600"/>
              <a:t>a ordem</a:t>
            </a:r>
          </a:p>
          <a:p>
            <a:pPr algn="ctr">
              <a:lnSpc>
                <a:spcPct val="90000"/>
              </a:lnSpc>
              <a:spcBef>
                <a:spcPct val="0"/>
              </a:spcBef>
              <a:buClr>
                <a:srgbClr val="FF0000"/>
              </a:buClr>
              <a:buFontTx/>
              <a:buNone/>
            </a:pPr>
            <a:r>
              <a:rPr lang="en-US" altLang="en-US" sz="1600"/>
              <a:t>registrada</a:t>
            </a:r>
          </a:p>
        </p:txBody>
      </p:sp>
      <p:sp>
        <p:nvSpPr>
          <p:cNvPr id="123914" name="Text Box 10"/>
          <p:cNvSpPr txBox="1">
            <a:spLocks noChangeArrowheads="1"/>
          </p:cNvSpPr>
          <p:nvPr/>
        </p:nvSpPr>
        <p:spPr bwMode="auto">
          <a:xfrm>
            <a:off x="6508750" y="5611813"/>
            <a:ext cx="13779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800"/>
              <a:t>Accounts</a:t>
            </a:r>
          </a:p>
          <a:p>
            <a:pPr algn="ctr">
              <a:lnSpc>
                <a:spcPct val="90000"/>
              </a:lnSpc>
              <a:spcBef>
                <a:spcPct val="0"/>
              </a:spcBef>
              <a:buClr>
                <a:srgbClr val="FF0000"/>
              </a:buClr>
              <a:buFontTx/>
              <a:buNone/>
            </a:pPr>
            <a:r>
              <a:rPr lang="en-US" altLang="en-US" sz="1800"/>
              <a:t>Receivable</a:t>
            </a:r>
          </a:p>
        </p:txBody>
      </p:sp>
      <p:sp>
        <p:nvSpPr>
          <p:cNvPr id="123915" name="Text Box 11"/>
          <p:cNvSpPr txBox="1">
            <a:spLocks noChangeArrowheads="1"/>
          </p:cNvSpPr>
          <p:nvPr/>
        </p:nvSpPr>
        <p:spPr bwMode="auto">
          <a:xfrm>
            <a:off x="5146675" y="2565400"/>
            <a:ext cx="831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i="1"/>
              <a:t>i</a:t>
            </a:r>
            <a:r>
              <a:rPr lang="en-US" altLang="en-US" sz="1800"/>
              <a:t>Store</a:t>
            </a:r>
          </a:p>
        </p:txBody>
      </p:sp>
      <p:sp>
        <p:nvSpPr>
          <p:cNvPr id="123916" name="Line 12"/>
          <p:cNvSpPr>
            <a:spLocks noChangeShapeType="1"/>
          </p:cNvSpPr>
          <p:nvPr/>
        </p:nvSpPr>
        <p:spPr bwMode="auto">
          <a:xfrm>
            <a:off x="2278063" y="2133600"/>
            <a:ext cx="3022600"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3917" name="Text Box 13"/>
          <p:cNvSpPr txBox="1">
            <a:spLocks noChangeArrowheads="1"/>
          </p:cNvSpPr>
          <p:nvPr/>
        </p:nvSpPr>
        <p:spPr bwMode="auto">
          <a:xfrm>
            <a:off x="4087813" y="4114800"/>
            <a:ext cx="26352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t>Contrato de serviço para </a:t>
            </a:r>
          </a:p>
          <a:p>
            <a:pPr algn="ctr">
              <a:lnSpc>
                <a:spcPct val="90000"/>
              </a:lnSpc>
              <a:spcBef>
                <a:spcPct val="0"/>
              </a:spcBef>
              <a:buClr>
                <a:srgbClr val="FF0000"/>
              </a:buClr>
              <a:buFontTx/>
              <a:buNone/>
            </a:pPr>
            <a:r>
              <a:rPr lang="en-US" altLang="en-US" sz="1600"/>
              <a:t>item com garantia</a:t>
            </a:r>
          </a:p>
        </p:txBody>
      </p:sp>
      <p:sp>
        <p:nvSpPr>
          <p:cNvPr id="123918" name="Text Box 14"/>
          <p:cNvSpPr txBox="1">
            <a:spLocks noChangeArrowheads="1"/>
          </p:cNvSpPr>
          <p:nvPr/>
        </p:nvSpPr>
        <p:spPr bwMode="auto">
          <a:xfrm>
            <a:off x="7108825" y="3725863"/>
            <a:ext cx="1698625" cy="754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t>Nenhum item – </a:t>
            </a:r>
          </a:p>
          <a:p>
            <a:pPr algn="ctr">
              <a:lnSpc>
                <a:spcPct val="90000"/>
              </a:lnSpc>
              <a:spcBef>
                <a:spcPct val="0"/>
              </a:spcBef>
              <a:buClr>
                <a:srgbClr val="FF0000"/>
              </a:buClr>
              <a:buFontTx/>
              <a:buNone/>
            </a:pPr>
            <a:r>
              <a:rPr lang="en-US" altLang="en-US" sz="1600"/>
              <a:t>garantia</a:t>
            </a:r>
          </a:p>
          <a:p>
            <a:pPr algn="ctr">
              <a:lnSpc>
                <a:spcPct val="90000"/>
              </a:lnSpc>
              <a:spcBef>
                <a:spcPct val="0"/>
              </a:spcBef>
              <a:buClr>
                <a:srgbClr val="FF0000"/>
              </a:buClr>
              <a:buFontTx/>
              <a:buNone/>
            </a:pPr>
            <a:r>
              <a:rPr lang="en-US" altLang="en-US" sz="1600"/>
              <a:t>apenas</a:t>
            </a:r>
          </a:p>
        </p:txBody>
      </p:sp>
      <p:sp>
        <p:nvSpPr>
          <p:cNvPr id="123919" name="Text Box 15"/>
          <p:cNvSpPr txBox="1">
            <a:spLocks noChangeArrowheads="1"/>
          </p:cNvSpPr>
          <p:nvPr/>
        </p:nvSpPr>
        <p:spPr bwMode="auto">
          <a:xfrm>
            <a:off x="2805113" y="1612900"/>
            <a:ext cx="196691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t>Contrato de venda</a:t>
            </a:r>
          </a:p>
          <a:p>
            <a:pPr algn="ctr">
              <a:lnSpc>
                <a:spcPct val="90000"/>
              </a:lnSpc>
              <a:spcBef>
                <a:spcPct val="0"/>
              </a:spcBef>
              <a:buClr>
                <a:srgbClr val="FF0000"/>
              </a:buClr>
              <a:buFontTx/>
              <a:buNone/>
            </a:pPr>
            <a:r>
              <a:rPr lang="en-US" altLang="en-US" sz="1600"/>
              <a:t>padrão</a:t>
            </a:r>
          </a:p>
        </p:txBody>
      </p:sp>
      <p:sp>
        <p:nvSpPr>
          <p:cNvPr id="123920" name="Text Box 16"/>
          <p:cNvSpPr txBox="1">
            <a:spLocks noChangeArrowheads="1"/>
          </p:cNvSpPr>
          <p:nvPr/>
        </p:nvSpPr>
        <p:spPr bwMode="auto">
          <a:xfrm>
            <a:off x="1989138" y="2921000"/>
            <a:ext cx="162877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t>Standard sales</a:t>
            </a:r>
          </a:p>
          <a:p>
            <a:pPr algn="ctr">
              <a:lnSpc>
                <a:spcPct val="90000"/>
              </a:lnSpc>
              <a:spcBef>
                <a:spcPct val="0"/>
              </a:spcBef>
              <a:buClr>
                <a:srgbClr val="FF0000"/>
              </a:buClr>
              <a:buFontTx/>
              <a:buNone/>
            </a:pPr>
            <a:r>
              <a:rPr lang="en-US" altLang="en-US" sz="1600"/>
              <a:t>contract</a:t>
            </a:r>
          </a:p>
        </p:txBody>
      </p:sp>
      <p:pic>
        <p:nvPicPr>
          <p:cNvPr id="123921" name="Picture 17" descr="Receivab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6858000" y="4667250"/>
            <a:ext cx="6127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22" name="Picture 18" descr="produ0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1752600" y="1643063"/>
            <a:ext cx="5810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23" name="Picture 19" descr="finan0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5181600" y="1720850"/>
            <a:ext cx="744538"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24" name="Picture 20" descr="produ06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3654425" y="2962275"/>
            <a:ext cx="48577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25" name="Picture 21" descr="produ0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6540500" y="2095500"/>
            <a:ext cx="63500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26" name="Line 22"/>
          <p:cNvSpPr>
            <a:spLocks noChangeShapeType="1"/>
          </p:cNvSpPr>
          <p:nvPr/>
        </p:nvSpPr>
        <p:spPr bwMode="auto">
          <a:xfrm>
            <a:off x="3937000" y="5283200"/>
            <a:ext cx="2895600"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123927" name="Picture 23" descr="O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3590925" y="4668838"/>
            <a:ext cx="612775"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28" name="Freeform 24"/>
          <p:cNvSpPr>
            <a:spLocks/>
          </p:cNvSpPr>
          <p:nvPr/>
        </p:nvSpPr>
        <p:spPr bwMode="auto">
          <a:xfrm>
            <a:off x="3886200" y="2311400"/>
            <a:ext cx="1419225" cy="688975"/>
          </a:xfrm>
          <a:custGeom>
            <a:avLst/>
            <a:gdLst>
              <a:gd name="T0" fmla="*/ 2147483646 w 864"/>
              <a:gd name="T1" fmla="*/ 0 h 288"/>
              <a:gd name="T2" fmla="*/ 0 w 864"/>
              <a:gd name="T3" fmla="*/ 0 h 288"/>
              <a:gd name="T4" fmla="*/ 0 w 864"/>
              <a:gd name="T5" fmla="*/ 2147483646 h 288"/>
              <a:gd name="T6" fmla="*/ 0 60000 65536"/>
              <a:gd name="T7" fmla="*/ 0 60000 65536"/>
              <a:gd name="T8" fmla="*/ 0 60000 65536"/>
            </a:gdLst>
            <a:ahLst/>
            <a:cxnLst>
              <a:cxn ang="T6">
                <a:pos x="T0" y="T1"/>
              </a:cxn>
              <a:cxn ang="T7">
                <a:pos x="T2" y="T3"/>
              </a:cxn>
              <a:cxn ang="T8">
                <a:pos x="T4" y="T5"/>
              </a:cxn>
            </a:cxnLst>
            <a:rect l="0" t="0" r="r" b="b"/>
            <a:pathLst>
              <a:path w="864" h="288">
                <a:moveTo>
                  <a:pt x="864" y="0"/>
                </a:moveTo>
                <a:lnTo>
                  <a:pt x="0" y="0"/>
                </a:lnTo>
                <a:lnTo>
                  <a:pt x="0" y="288"/>
                </a:lnTo>
              </a:path>
            </a:pathLst>
          </a:custGeom>
          <a:noFill/>
          <a:ln w="28575" cap="flat"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3929" name="Line 25"/>
          <p:cNvSpPr>
            <a:spLocks noChangeShapeType="1"/>
          </p:cNvSpPr>
          <p:nvPr/>
        </p:nvSpPr>
        <p:spPr bwMode="auto">
          <a:xfrm>
            <a:off x="7086600" y="3305175"/>
            <a:ext cx="0" cy="143510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3930" name="Line 26"/>
          <p:cNvSpPr>
            <a:spLocks noChangeShapeType="1"/>
          </p:cNvSpPr>
          <p:nvPr/>
        </p:nvSpPr>
        <p:spPr bwMode="auto">
          <a:xfrm flipH="1">
            <a:off x="3881438" y="3900488"/>
            <a:ext cx="4762" cy="833437"/>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3931" name="Text Box 27"/>
          <p:cNvSpPr txBox="1">
            <a:spLocks noChangeArrowheads="1"/>
          </p:cNvSpPr>
          <p:nvPr/>
        </p:nvSpPr>
        <p:spPr bwMode="auto">
          <a:xfrm>
            <a:off x="5059363" y="4932363"/>
            <a:ext cx="8842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t>Invoice</a:t>
            </a:r>
          </a:p>
        </p:txBody>
      </p:sp>
      <p:sp>
        <p:nvSpPr>
          <p:cNvPr id="28" name="Rectangle 2"/>
          <p:cNvSpPr txBox="1">
            <a:spLocks noChangeArrowheads="1"/>
          </p:cNvSpPr>
          <p:nvPr/>
        </p:nvSpPr>
        <p:spPr bwMode="auto">
          <a:xfrm>
            <a:off x="11113" y="-211138"/>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smtClean="0">
                <a:solidFill>
                  <a:srgbClr val="003366"/>
                </a:solidFill>
              </a:rPr>
              <a:t>eBusiness Suite – </a:t>
            </a:r>
            <a:r>
              <a:rPr lang="pt-BR" altLang="pt-BR" sz="3600" b="1" kern="0" smtClean="0">
                <a:solidFill>
                  <a:srgbClr val="003366"/>
                </a:solidFill>
              </a:rPr>
              <a:t>Entidades</a:t>
            </a:r>
            <a:endParaRPr lang="pt-BR" altLang="pt-BR" sz="3600" b="1" kern="0" dirty="0" smtClean="0">
              <a:solidFill>
                <a:srgbClr val="003366"/>
              </a:solidFill>
            </a:endParaRPr>
          </a:p>
        </p:txBody>
      </p:sp>
      <p:sp>
        <p:nvSpPr>
          <p:cNvPr id="123933" name="Line 5"/>
          <p:cNvSpPr>
            <a:spLocks noChangeShapeType="1"/>
          </p:cNvSpPr>
          <p:nvPr/>
        </p:nvSpPr>
        <p:spPr bwMode="auto">
          <a:xfrm>
            <a:off x="0" y="8366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23934" name="Group 6"/>
          <p:cNvGrpSpPr>
            <a:grpSpLocks/>
          </p:cNvGrpSpPr>
          <p:nvPr/>
        </p:nvGrpSpPr>
        <p:grpSpPr bwMode="auto">
          <a:xfrm>
            <a:off x="7308850" y="117475"/>
            <a:ext cx="1735138" cy="647700"/>
            <a:chOff x="7380288" y="41275"/>
            <a:chExt cx="1735137" cy="647700"/>
          </a:xfrm>
        </p:grpSpPr>
        <p:sp>
          <p:nvSpPr>
            <p:cNvPr id="31"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2"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341313" y="698500"/>
            <a:ext cx="8802687" cy="876300"/>
          </a:xfrm>
        </p:spPr>
        <p:txBody>
          <a:bodyPr/>
          <a:lstStyle/>
          <a:p>
            <a:pPr algn="l"/>
            <a:r>
              <a:rPr lang="pt-BR" altLang="en-US" sz="1400" smtClean="0">
                <a:solidFill>
                  <a:schemeClr val="accent2"/>
                </a:solidFill>
              </a:rPr>
              <a:t>Request to Resolution (Solicitação até Resolução)</a:t>
            </a:r>
            <a:endParaRPr lang="en-US" altLang="en-US" sz="1400" smtClean="0">
              <a:solidFill>
                <a:schemeClr val="accent2"/>
              </a:solidFill>
            </a:endParaRPr>
          </a:p>
        </p:txBody>
      </p:sp>
      <p:sp>
        <p:nvSpPr>
          <p:cNvPr id="125955" name="Text Box 3"/>
          <p:cNvSpPr txBox="1">
            <a:spLocks noChangeArrowheads="1"/>
          </p:cNvSpPr>
          <p:nvPr/>
        </p:nvSpPr>
        <p:spPr bwMode="auto">
          <a:xfrm>
            <a:off x="3149600" y="3582988"/>
            <a:ext cx="1123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i="1">
                <a:latin typeface="Times New Roman" panose="02020603050405020304" pitchFamily="18" charset="0"/>
              </a:rPr>
              <a:t>i</a:t>
            </a:r>
            <a:r>
              <a:rPr lang="en-US" altLang="en-US" sz="1800"/>
              <a:t>Support</a:t>
            </a:r>
          </a:p>
        </p:txBody>
      </p:sp>
      <p:sp>
        <p:nvSpPr>
          <p:cNvPr id="125956" name="Text Box 4"/>
          <p:cNvSpPr txBox="1">
            <a:spLocks noChangeArrowheads="1"/>
          </p:cNvSpPr>
          <p:nvPr/>
        </p:nvSpPr>
        <p:spPr bwMode="auto">
          <a:xfrm>
            <a:off x="4870450" y="2143125"/>
            <a:ext cx="15811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800"/>
              <a:t>Knowledge</a:t>
            </a:r>
          </a:p>
          <a:p>
            <a:pPr algn="ctr">
              <a:lnSpc>
                <a:spcPct val="90000"/>
              </a:lnSpc>
              <a:spcBef>
                <a:spcPct val="0"/>
              </a:spcBef>
              <a:buClr>
                <a:srgbClr val="FF0000"/>
              </a:buClr>
              <a:buFontTx/>
              <a:buNone/>
            </a:pPr>
            <a:r>
              <a:rPr lang="en-US" altLang="en-US" sz="1800"/>
              <a:t>Management</a:t>
            </a:r>
          </a:p>
        </p:txBody>
      </p:sp>
      <p:sp>
        <p:nvSpPr>
          <p:cNvPr id="125957" name="Text Box 5"/>
          <p:cNvSpPr txBox="1">
            <a:spLocks noChangeArrowheads="1"/>
          </p:cNvSpPr>
          <p:nvPr/>
        </p:nvSpPr>
        <p:spPr bwMode="auto">
          <a:xfrm>
            <a:off x="2946400" y="5918200"/>
            <a:ext cx="1720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t>Installed Base</a:t>
            </a:r>
          </a:p>
        </p:txBody>
      </p:sp>
      <p:sp>
        <p:nvSpPr>
          <p:cNvPr id="125958" name="Text Box 6"/>
          <p:cNvSpPr txBox="1">
            <a:spLocks noChangeArrowheads="1"/>
          </p:cNvSpPr>
          <p:nvPr/>
        </p:nvSpPr>
        <p:spPr bwMode="auto">
          <a:xfrm>
            <a:off x="6534150" y="3733800"/>
            <a:ext cx="1428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t>Teleservice</a:t>
            </a:r>
          </a:p>
        </p:txBody>
      </p:sp>
      <p:sp>
        <p:nvSpPr>
          <p:cNvPr id="125959" name="Line 7"/>
          <p:cNvSpPr>
            <a:spLocks noChangeShapeType="1"/>
          </p:cNvSpPr>
          <p:nvPr/>
        </p:nvSpPr>
        <p:spPr bwMode="auto">
          <a:xfrm>
            <a:off x="2184400" y="3276600"/>
            <a:ext cx="1193800"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5960" name="Line 8"/>
          <p:cNvSpPr>
            <a:spLocks noChangeShapeType="1"/>
          </p:cNvSpPr>
          <p:nvPr/>
        </p:nvSpPr>
        <p:spPr bwMode="auto">
          <a:xfrm>
            <a:off x="3870325" y="3249613"/>
            <a:ext cx="2955925" cy="0"/>
          </a:xfrm>
          <a:prstGeom prst="line">
            <a:avLst/>
          </a:prstGeom>
          <a:noFill/>
          <a:ln w="28575">
            <a:solidFill>
              <a:schemeClr val="tx1"/>
            </a:solidFill>
            <a:prstDash val="dash"/>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5961" name="Text Box 9"/>
          <p:cNvSpPr txBox="1">
            <a:spLocks noChangeArrowheads="1"/>
          </p:cNvSpPr>
          <p:nvPr/>
        </p:nvSpPr>
        <p:spPr bwMode="auto">
          <a:xfrm>
            <a:off x="901700" y="5918200"/>
            <a:ext cx="1212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t>Inventory</a:t>
            </a:r>
          </a:p>
        </p:txBody>
      </p:sp>
      <p:sp>
        <p:nvSpPr>
          <p:cNvPr id="125962" name="Line 10"/>
          <p:cNvSpPr>
            <a:spLocks noChangeShapeType="1"/>
          </p:cNvSpPr>
          <p:nvPr/>
        </p:nvSpPr>
        <p:spPr bwMode="auto">
          <a:xfrm>
            <a:off x="1539875" y="5473700"/>
            <a:ext cx="1828800"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5963" name="Freeform 11"/>
          <p:cNvSpPr>
            <a:spLocks/>
          </p:cNvSpPr>
          <p:nvPr/>
        </p:nvSpPr>
        <p:spPr bwMode="auto">
          <a:xfrm>
            <a:off x="3759200" y="3949700"/>
            <a:ext cx="1238250" cy="914400"/>
          </a:xfrm>
          <a:custGeom>
            <a:avLst/>
            <a:gdLst>
              <a:gd name="T0" fmla="*/ 0 w 480"/>
              <a:gd name="T1" fmla="*/ 0 h 624"/>
              <a:gd name="T2" fmla="*/ 0 w 480"/>
              <a:gd name="T3" fmla="*/ 2147483646 h 624"/>
              <a:gd name="T4" fmla="*/ 2147483646 w 480"/>
              <a:gd name="T5" fmla="*/ 2147483646 h 624"/>
              <a:gd name="T6" fmla="*/ 0 60000 65536"/>
              <a:gd name="T7" fmla="*/ 0 60000 65536"/>
              <a:gd name="T8" fmla="*/ 0 60000 65536"/>
            </a:gdLst>
            <a:ahLst/>
            <a:cxnLst>
              <a:cxn ang="T6">
                <a:pos x="T0" y="T1"/>
              </a:cxn>
              <a:cxn ang="T7">
                <a:pos x="T2" y="T3"/>
              </a:cxn>
              <a:cxn ang="T8">
                <a:pos x="T4" y="T5"/>
              </a:cxn>
            </a:cxnLst>
            <a:rect l="0" t="0" r="r" b="b"/>
            <a:pathLst>
              <a:path w="480" h="624">
                <a:moveTo>
                  <a:pt x="0" y="0"/>
                </a:moveTo>
                <a:lnTo>
                  <a:pt x="0" y="624"/>
                </a:lnTo>
                <a:lnTo>
                  <a:pt x="480" y="624"/>
                </a:lnTo>
              </a:path>
            </a:pathLst>
          </a:custGeom>
          <a:noFill/>
          <a:ln w="28575" cap="flat" cmpd="sng">
            <a:solidFill>
              <a:schemeClr val="tx1"/>
            </a:solidFill>
            <a:prstDash val="dash"/>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5964" name="Text Box 12"/>
          <p:cNvSpPr txBox="1">
            <a:spLocks noChangeArrowheads="1"/>
          </p:cNvSpPr>
          <p:nvPr/>
        </p:nvSpPr>
        <p:spPr bwMode="auto">
          <a:xfrm>
            <a:off x="4445000" y="5191125"/>
            <a:ext cx="1733550"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800"/>
              <a:t>Order Capture</a:t>
            </a:r>
          </a:p>
          <a:p>
            <a:pPr algn="ctr">
              <a:lnSpc>
                <a:spcPct val="90000"/>
              </a:lnSpc>
              <a:spcBef>
                <a:spcPct val="0"/>
              </a:spcBef>
              <a:buClr>
                <a:srgbClr val="FF0000"/>
              </a:buClr>
              <a:buFontTx/>
              <a:buNone/>
            </a:pPr>
            <a:r>
              <a:rPr lang="en-US" altLang="en-US" sz="1800"/>
              <a:t>Foundation</a:t>
            </a:r>
          </a:p>
          <a:p>
            <a:pPr algn="ctr">
              <a:lnSpc>
                <a:spcPct val="90000"/>
              </a:lnSpc>
              <a:spcBef>
                <a:spcPct val="0"/>
              </a:spcBef>
              <a:buClr>
                <a:srgbClr val="FF0000"/>
              </a:buClr>
              <a:buFontTx/>
              <a:buNone/>
            </a:pPr>
            <a:r>
              <a:rPr lang="en-US" altLang="en-US" sz="1800"/>
              <a:t>APIs</a:t>
            </a:r>
          </a:p>
        </p:txBody>
      </p:sp>
      <p:sp>
        <p:nvSpPr>
          <p:cNvPr id="125965" name="Text Box 13"/>
          <p:cNvSpPr txBox="1">
            <a:spLocks noChangeArrowheads="1"/>
          </p:cNvSpPr>
          <p:nvPr/>
        </p:nvSpPr>
        <p:spPr bwMode="auto">
          <a:xfrm>
            <a:off x="6334125" y="5248275"/>
            <a:ext cx="277495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800"/>
              <a:t>Atendimento de Ordens</a:t>
            </a:r>
          </a:p>
          <a:p>
            <a:pPr algn="ctr">
              <a:lnSpc>
                <a:spcPct val="90000"/>
              </a:lnSpc>
              <a:spcBef>
                <a:spcPct val="0"/>
              </a:spcBef>
              <a:buClr>
                <a:srgbClr val="FF0000"/>
              </a:buClr>
              <a:buFontTx/>
              <a:buNone/>
            </a:pPr>
            <a:r>
              <a:rPr lang="en-US" altLang="en-US" sz="1800"/>
              <a:t>(Order to Cash)</a:t>
            </a:r>
          </a:p>
        </p:txBody>
      </p:sp>
      <p:sp>
        <p:nvSpPr>
          <p:cNvPr id="125966" name="Text Box 14"/>
          <p:cNvSpPr txBox="1">
            <a:spLocks noChangeArrowheads="1"/>
          </p:cNvSpPr>
          <p:nvPr/>
        </p:nvSpPr>
        <p:spPr bwMode="auto">
          <a:xfrm>
            <a:off x="3727450" y="1522413"/>
            <a:ext cx="10858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t>Soluções</a:t>
            </a:r>
          </a:p>
        </p:txBody>
      </p:sp>
      <p:sp>
        <p:nvSpPr>
          <p:cNvPr id="125967" name="Text Box 15"/>
          <p:cNvSpPr txBox="1">
            <a:spLocks noChangeArrowheads="1"/>
          </p:cNvSpPr>
          <p:nvPr/>
        </p:nvSpPr>
        <p:spPr bwMode="auto">
          <a:xfrm>
            <a:off x="1981200" y="4254500"/>
            <a:ext cx="16494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t>Produtos com</a:t>
            </a:r>
          </a:p>
          <a:p>
            <a:pPr algn="ctr">
              <a:lnSpc>
                <a:spcPct val="90000"/>
              </a:lnSpc>
              <a:spcBef>
                <a:spcPct val="0"/>
              </a:spcBef>
              <a:buClr>
                <a:srgbClr val="FF0000"/>
              </a:buClr>
              <a:buFontTx/>
              <a:buNone/>
            </a:pPr>
            <a:r>
              <a:rPr lang="en-US" altLang="en-US" sz="1600"/>
              <a:t>proprietário</a:t>
            </a:r>
          </a:p>
        </p:txBody>
      </p:sp>
      <p:sp>
        <p:nvSpPr>
          <p:cNvPr id="125968" name="Text Box 16"/>
          <p:cNvSpPr txBox="1">
            <a:spLocks noChangeArrowheads="1"/>
          </p:cNvSpPr>
          <p:nvPr/>
        </p:nvSpPr>
        <p:spPr bwMode="auto">
          <a:xfrm>
            <a:off x="2243138" y="5446713"/>
            <a:ext cx="6588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t>Itens</a:t>
            </a:r>
          </a:p>
        </p:txBody>
      </p:sp>
      <p:sp>
        <p:nvSpPr>
          <p:cNvPr id="125969" name="Text Box 17"/>
          <p:cNvSpPr txBox="1">
            <a:spLocks noChangeArrowheads="1"/>
          </p:cNvSpPr>
          <p:nvPr/>
        </p:nvSpPr>
        <p:spPr bwMode="auto">
          <a:xfrm>
            <a:off x="3911600" y="2976563"/>
            <a:ext cx="26035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t>Assistência do comerciante</a:t>
            </a:r>
          </a:p>
        </p:txBody>
      </p:sp>
      <p:sp>
        <p:nvSpPr>
          <p:cNvPr id="125970" name="Text Box 18"/>
          <p:cNvSpPr txBox="1">
            <a:spLocks noChangeArrowheads="1"/>
          </p:cNvSpPr>
          <p:nvPr/>
        </p:nvSpPr>
        <p:spPr bwMode="auto">
          <a:xfrm>
            <a:off x="2225675" y="2906713"/>
            <a:ext cx="996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t>Criar SR</a:t>
            </a:r>
          </a:p>
        </p:txBody>
      </p:sp>
      <p:sp>
        <p:nvSpPr>
          <p:cNvPr id="125971" name="Text Box 19"/>
          <p:cNvSpPr txBox="1">
            <a:spLocks noChangeArrowheads="1"/>
          </p:cNvSpPr>
          <p:nvPr/>
        </p:nvSpPr>
        <p:spPr bwMode="auto">
          <a:xfrm>
            <a:off x="5535613" y="4368800"/>
            <a:ext cx="148113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t>Criar ordem</a:t>
            </a:r>
          </a:p>
          <a:p>
            <a:pPr algn="ctr">
              <a:lnSpc>
                <a:spcPct val="90000"/>
              </a:lnSpc>
              <a:spcBef>
                <a:spcPct val="0"/>
              </a:spcBef>
              <a:buClr>
                <a:srgbClr val="FF0000"/>
              </a:buClr>
              <a:buFontTx/>
              <a:buNone/>
            </a:pPr>
            <a:r>
              <a:rPr lang="en-US" altLang="en-US" sz="1600"/>
              <a:t>de devolução</a:t>
            </a:r>
          </a:p>
        </p:txBody>
      </p:sp>
      <p:pic>
        <p:nvPicPr>
          <p:cNvPr id="125972" name="Picture 20" descr="depar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6826250" y="2682875"/>
            <a:ext cx="8763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73" name="Picture 21" descr="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7067550" y="4327525"/>
            <a:ext cx="6127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74" name="Picture 22" descr="Inventor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1206500" y="5035550"/>
            <a:ext cx="6127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75" name="Picture 23" descr="produ06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3378200" y="2832100"/>
            <a:ext cx="534988"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76" name="Picture 24" descr="produ06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5372100" y="1206500"/>
            <a:ext cx="63500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77" name="Picture 25" descr="produ06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3378200" y="5054600"/>
            <a:ext cx="5810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978" name="Picture 26" descr="peop00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gray">
          <a:xfrm>
            <a:off x="1006475" y="2574925"/>
            <a:ext cx="1219200"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79" name="Freeform 27"/>
          <p:cNvSpPr>
            <a:spLocks/>
          </p:cNvSpPr>
          <p:nvPr/>
        </p:nvSpPr>
        <p:spPr bwMode="auto">
          <a:xfrm>
            <a:off x="3683000" y="1816100"/>
            <a:ext cx="1689100" cy="946150"/>
          </a:xfrm>
          <a:custGeom>
            <a:avLst/>
            <a:gdLst>
              <a:gd name="T0" fmla="*/ 0 w 960"/>
              <a:gd name="T1" fmla="*/ 2147483646 h 480"/>
              <a:gd name="T2" fmla="*/ 0 w 960"/>
              <a:gd name="T3" fmla="*/ 0 h 480"/>
              <a:gd name="T4" fmla="*/ 2147483646 w 960"/>
              <a:gd name="T5" fmla="*/ 0 h 480"/>
              <a:gd name="T6" fmla="*/ 0 60000 65536"/>
              <a:gd name="T7" fmla="*/ 0 60000 65536"/>
              <a:gd name="T8" fmla="*/ 0 60000 65536"/>
            </a:gdLst>
            <a:ahLst/>
            <a:cxnLst>
              <a:cxn ang="T6">
                <a:pos x="T0" y="T1"/>
              </a:cxn>
              <a:cxn ang="T7">
                <a:pos x="T2" y="T3"/>
              </a:cxn>
              <a:cxn ang="T8">
                <a:pos x="T4" y="T5"/>
              </a:cxn>
            </a:cxnLst>
            <a:rect l="0" t="0" r="r" b="b"/>
            <a:pathLst>
              <a:path w="960" h="480">
                <a:moveTo>
                  <a:pt x="0" y="480"/>
                </a:moveTo>
                <a:lnTo>
                  <a:pt x="0" y="0"/>
                </a:lnTo>
                <a:lnTo>
                  <a:pt x="960" y="0"/>
                </a:lnTo>
              </a:path>
            </a:pathLst>
          </a:custGeom>
          <a:noFill/>
          <a:ln w="28575" cap="flat" cmpd="sng">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5980" name="Text Box 28"/>
          <p:cNvSpPr txBox="1">
            <a:spLocks noChangeArrowheads="1"/>
          </p:cNvSpPr>
          <p:nvPr/>
        </p:nvSpPr>
        <p:spPr bwMode="auto">
          <a:xfrm>
            <a:off x="1143000" y="3792538"/>
            <a:ext cx="946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t>Cliente</a:t>
            </a:r>
          </a:p>
        </p:txBody>
      </p:sp>
      <p:sp>
        <p:nvSpPr>
          <p:cNvPr id="125981" name="Text Box 29"/>
          <p:cNvSpPr txBox="1">
            <a:spLocks noChangeArrowheads="1"/>
          </p:cNvSpPr>
          <p:nvPr/>
        </p:nvSpPr>
        <p:spPr bwMode="blackWhite">
          <a:xfrm>
            <a:off x="1625600" y="2044700"/>
            <a:ext cx="1435100" cy="395288"/>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cs typeface="Times New Roman" panose="02020603050405020304" pitchFamily="18" charset="0"/>
              </a:rPr>
              <a:t>Clientes</a:t>
            </a:r>
          </a:p>
        </p:txBody>
      </p:sp>
      <p:sp>
        <p:nvSpPr>
          <p:cNvPr id="125982" name="Text Box 30"/>
          <p:cNvSpPr txBox="1">
            <a:spLocks noChangeArrowheads="1"/>
          </p:cNvSpPr>
          <p:nvPr/>
        </p:nvSpPr>
        <p:spPr bwMode="blackWhite">
          <a:xfrm>
            <a:off x="2006600" y="4926013"/>
            <a:ext cx="812800" cy="395287"/>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cs typeface="Times New Roman" panose="02020603050405020304" pitchFamily="18" charset="0"/>
              </a:rPr>
              <a:t>Itens</a:t>
            </a:r>
          </a:p>
        </p:txBody>
      </p:sp>
      <p:pic>
        <p:nvPicPr>
          <p:cNvPr id="125983" name="Picture 31" descr="produ06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gray">
          <a:xfrm>
            <a:off x="4997450" y="4406900"/>
            <a:ext cx="53340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84" name="Line 32"/>
          <p:cNvSpPr>
            <a:spLocks noChangeShapeType="1"/>
          </p:cNvSpPr>
          <p:nvPr/>
        </p:nvSpPr>
        <p:spPr bwMode="auto">
          <a:xfrm>
            <a:off x="5534025" y="4867275"/>
            <a:ext cx="1524000" cy="0"/>
          </a:xfrm>
          <a:prstGeom prst="line">
            <a:avLst/>
          </a:prstGeom>
          <a:noFill/>
          <a:ln w="28575">
            <a:solidFill>
              <a:schemeClr val="tx1"/>
            </a:solidFill>
            <a:prstDash val="dash"/>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5985" name="Text Box 33"/>
          <p:cNvSpPr txBox="1">
            <a:spLocks noChangeArrowheads="1"/>
          </p:cNvSpPr>
          <p:nvPr/>
        </p:nvSpPr>
        <p:spPr bwMode="auto">
          <a:xfrm>
            <a:off x="3771900" y="4368800"/>
            <a:ext cx="1177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t>Criar RMA</a:t>
            </a:r>
          </a:p>
        </p:txBody>
      </p:sp>
      <p:sp>
        <p:nvSpPr>
          <p:cNvPr id="34" name="Rectangle 2"/>
          <p:cNvSpPr txBox="1">
            <a:spLocks noChangeArrowheads="1"/>
          </p:cNvSpPr>
          <p:nvPr/>
        </p:nvSpPr>
        <p:spPr bwMode="auto">
          <a:xfrm>
            <a:off x="11113" y="-211138"/>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smtClean="0">
                <a:solidFill>
                  <a:srgbClr val="003366"/>
                </a:solidFill>
              </a:rPr>
              <a:t>eBusiness Suite – </a:t>
            </a:r>
            <a:r>
              <a:rPr lang="pt-BR" altLang="pt-BR" sz="3600" b="1" kern="0" smtClean="0">
                <a:solidFill>
                  <a:srgbClr val="003366"/>
                </a:solidFill>
              </a:rPr>
              <a:t>Entidades</a:t>
            </a:r>
            <a:endParaRPr lang="pt-BR" altLang="pt-BR" sz="3600" b="1" kern="0" dirty="0" smtClean="0">
              <a:solidFill>
                <a:srgbClr val="003366"/>
              </a:solidFill>
            </a:endParaRPr>
          </a:p>
        </p:txBody>
      </p:sp>
      <p:sp>
        <p:nvSpPr>
          <p:cNvPr id="125987" name="Line 5"/>
          <p:cNvSpPr>
            <a:spLocks noChangeShapeType="1"/>
          </p:cNvSpPr>
          <p:nvPr/>
        </p:nvSpPr>
        <p:spPr bwMode="auto">
          <a:xfrm>
            <a:off x="34925" y="8366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25988" name="Group 6"/>
          <p:cNvGrpSpPr>
            <a:grpSpLocks/>
          </p:cNvGrpSpPr>
          <p:nvPr/>
        </p:nvGrpSpPr>
        <p:grpSpPr bwMode="auto">
          <a:xfrm>
            <a:off x="7308850" y="117475"/>
            <a:ext cx="1735138" cy="647700"/>
            <a:chOff x="7380288" y="41275"/>
            <a:chExt cx="1735137" cy="647700"/>
          </a:xfrm>
        </p:grpSpPr>
        <p:sp>
          <p:nvSpPr>
            <p:cNvPr id="37"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8"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36513" y="1066800"/>
            <a:ext cx="3024188" cy="350838"/>
          </a:xfrm>
        </p:spPr>
        <p:txBody>
          <a:bodyPr/>
          <a:lstStyle/>
          <a:p>
            <a:pPr algn="l"/>
            <a:r>
              <a:rPr lang="pt-BR" altLang="en-US" sz="1400" smtClean="0">
                <a:solidFill>
                  <a:schemeClr val="accent2"/>
                </a:solidFill>
              </a:rPr>
              <a:t>Project to Profit (Projeto até Lucro)</a:t>
            </a:r>
            <a:r>
              <a:rPr lang="en-US" altLang="en-US" sz="1400" smtClean="0">
                <a:solidFill>
                  <a:schemeClr val="accent2"/>
                </a:solidFill>
              </a:rPr>
              <a:t> </a:t>
            </a:r>
          </a:p>
        </p:txBody>
      </p:sp>
      <p:pic>
        <p:nvPicPr>
          <p:cNvPr id="128003" name="Picture 3" descr="Ledg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4262438" y="1257300"/>
            <a:ext cx="6127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4" name="Rectangle 4"/>
          <p:cNvSpPr>
            <a:spLocks noChangeArrowheads="1"/>
          </p:cNvSpPr>
          <p:nvPr/>
        </p:nvSpPr>
        <p:spPr bwMode="auto">
          <a:xfrm>
            <a:off x="3638550" y="2166938"/>
            <a:ext cx="1860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cs typeface="Times New Roman" panose="02020603050405020304" pitchFamily="18" charset="0"/>
              </a:rPr>
              <a:t>General Ledger</a:t>
            </a:r>
            <a:r>
              <a:rPr lang="en-US" altLang="en-US" sz="1800">
                <a:cs typeface="Times New Roman" panose="02020603050405020304" pitchFamily="18" charset="0"/>
              </a:rPr>
              <a:t> </a:t>
            </a:r>
          </a:p>
        </p:txBody>
      </p:sp>
      <p:sp>
        <p:nvSpPr>
          <p:cNvPr id="128005" name="Rectangle 5"/>
          <p:cNvSpPr>
            <a:spLocks noChangeArrowheads="1"/>
          </p:cNvSpPr>
          <p:nvPr/>
        </p:nvSpPr>
        <p:spPr bwMode="auto">
          <a:xfrm>
            <a:off x="1155700" y="2146300"/>
            <a:ext cx="121920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FontTx/>
              <a:buNone/>
            </a:pPr>
            <a:r>
              <a:rPr lang="en-US" altLang="en-US" sz="1800">
                <a:solidFill>
                  <a:srgbClr val="000000"/>
                </a:solidFill>
                <a:cs typeface="Times New Roman" panose="02020603050405020304" pitchFamily="18" charset="0"/>
              </a:rPr>
              <a:t>Payables/</a:t>
            </a:r>
            <a:r>
              <a:rPr lang="en-US" altLang="en-US" sz="1800">
                <a:cs typeface="Times New Roman" panose="02020603050405020304" pitchFamily="18" charset="0"/>
              </a:rPr>
              <a:t> </a:t>
            </a:r>
          </a:p>
          <a:p>
            <a:pPr algn="ctr">
              <a:lnSpc>
                <a:spcPct val="90000"/>
              </a:lnSpc>
              <a:spcBef>
                <a:spcPct val="0"/>
              </a:spcBef>
              <a:buFontTx/>
              <a:buNone/>
            </a:pPr>
            <a:r>
              <a:rPr lang="en-US" altLang="en-US" sz="1800" i="1">
                <a:solidFill>
                  <a:srgbClr val="000000"/>
                </a:solidFill>
              </a:rPr>
              <a:t>i</a:t>
            </a:r>
            <a:r>
              <a:rPr lang="en-US" altLang="en-US" sz="1800">
                <a:solidFill>
                  <a:srgbClr val="000000"/>
                </a:solidFill>
              </a:rPr>
              <a:t>Expenses</a:t>
            </a:r>
            <a:r>
              <a:rPr lang="en-US" altLang="en-US" sz="1800" i="1">
                <a:latin typeface="Times New Roman" panose="02020603050405020304" pitchFamily="18" charset="0"/>
              </a:rPr>
              <a:t> </a:t>
            </a:r>
            <a:endParaRPr lang="en-US" altLang="en-US" sz="1800">
              <a:cs typeface="Times New Roman" panose="02020603050405020304" pitchFamily="18" charset="0"/>
            </a:endParaRPr>
          </a:p>
        </p:txBody>
      </p:sp>
      <p:pic>
        <p:nvPicPr>
          <p:cNvPr id="128006" name="Picture 6" descr="Payabl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1457325" y="1247775"/>
            <a:ext cx="61277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007" name="Picture 8" descr="Receivable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7085013" y="1155700"/>
            <a:ext cx="6127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8" name="Freeform 9"/>
          <p:cNvSpPr>
            <a:spLocks/>
          </p:cNvSpPr>
          <p:nvPr/>
        </p:nvSpPr>
        <p:spPr bwMode="auto">
          <a:xfrm rot="10800000">
            <a:off x="4813300" y="3873500"/>
            <a:ext cx="1663700" cy="1082675"/>
          </a:xfrm>
          <a:custGeom>
            <a:avLst/>
            <a:gdLst>
              <a:gd name="T0" fmla="*/ 0 w 309"/>
              <a:gd name="T1" fmla="*/ 0 h 381"/>
              <a:gd name="T2" fmla="*/ 0 w 309"/>
              <a:gd name="T3" fmla="*/ 2147483646 h 381"/>
              <a:gd name="T4" fmla="*/ 2147483646 w 309"/>
              <a:gd name="T5" fmla="*/ 2147483646 h 381"/>
              <a:gd name="T6" fmla="*/ 0 60000 65536"/>
              <a:gd name="T7" fmla="*/ 0 60000 65536"/>
              <a:gd name="T8" fmla="*/ 0 60000 65536"/>
            </a:gdLst>
            <a:ahLst/>
            <a:cxnLst>
              <a:cxn ang="T6">
                <a:pos x="T0" y="T1"/>
              </a:cxn>
              <a:cxn ang="T7">
                <a:pos x="T2" y="T3"/>
              </a:cxn>
              <a:cxn ang="T8">
                <a:pos x="T4" y="T5"/>
              </a:cxn>
            </a:cxnLst>
            <a:rect l="0" t="0" r="r" b="b"/>
            <a:pathLst>
              <a:path w="309" h="381">
                <a:moveTo>
                  <a:pt x="0" y="0"/>
                </a:moveTo>
                <a:lnTo>
                  <a:pt x="0" y="380"/>
                </a:lnTo>
                <a:lnTo>
                  <a:pt x="308" y="380"/>
                </a:lnTo>
              </a:path>
            </a:pathLst>
          </a:custGeom>
          <a:noFill/>
          <a:ln w="28575" cap="rnd" cmpd="sng">
            <a:solidFill>
              <a:srgbClr val="000000"/>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8009" name="Freeform 10"/>
          <p:cNvSpPr>
            <a:spLocks/>
          </p:cNvSpPr>
          <p:nvPr/>
        </p:nvSpPr>
        <p:spPr bwMode="auto">
          <a:xfrm rot="-5400000">
            <a:off x="2830513" y="3556000"/>
            <a:ext cx="1041400" cy="1673225"/>
          </a:xfrm>
          <a:custGeom>
            <a:avLst/>
            <a:gdLst>
              <a:gd name="T0" fmla="*/ 0 w 220"/>
              <a:gd name="T1" fmla="*/ 0 h 411"/>
              <a:gd name="T2" fmla="*/ 2147483646 w 220"/>
              <a:gd name="T3" fmla="*/ 0 h 411"/>
              <a:gd name="T4" fmla="*/ 2147483646 w 220"/>
              <a:gd name="T5" fmla="*/ 2147483646 h 411"/>
              <a:gd name="T6" fmla="*/ 0 60000 65536"/>
              <a:gd name="T7" fmla="*/ 0 60000 65536"/>
              <a:gd name="T8" fmla="*/ 0 60000 65536"/>
            </a:gdLst>
            <a:ahLst/>
            <a:cxnLst>
              <a:cxn ang="T6">
                <a:pos x="T0" y="T1"/>
              </a:cxn>
              <a:cxn ang="T7">
                <a:pos x="T2" y="T3"/>
              </a:cxn>
              <a:cxn ang="T8">
                <a:pos x="T4" y="T5"/>
              </a:cxn>
            </a:cxnLst>
            <a:rect l="0" t="0" r="r" b="b"/>
            <a:pathLst>
              <a:path w="220" h="411">
                <a:moveTo>
                  <a:pt x="0" y="0"/>
                </a:moveTo>
                <a:lnTo>
                  <a:pt x="219" y="0"/>
                </a:lnTo>
                <a:lnTo>
                  <a:pt x="219" y="410"/>
                </a:lnTo>
              </a:path>
            </a:pathLst>
          </a:custGeom>
          <a:noFill/>
          <a:ln w="28575" cap="rnd"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8010" name="Line 11"/>
          <p:cNvSpPr>
            <a:spLocks noChangeShapeType="1"/>
          </p:cNvSpPr>
          <p:nvPr/>
        </p:nvSpPr>
        <p:spPr bwMode="auto">
          <a:xfrm>
            <a:off x="4572000" y="2476500"/>
            <a:ext cx="0" cy="776288"/>
          </a:xfrm>
          <a:prstGeom prst="line">
            <a:avLst/>
          </a:prstGeom>
          <a:noFill/>
          <a:ln w="28575" cap="rnd">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8011" name="Rectangle 12"/>
          <p:cNvSpPr>
            <a:spLocks noChangeArrowheads="1"/>
          </p:cNvSpPr>
          <p:nvPr/>
        </p:nvSpPr>
        <p:spPr bwMode="auto">
          <a:xfrm>
            <a:off x="4105275" y="5945188"/>
            <a:ext cx="933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cs typeface="Times New Roman" panose="02020603050405020304" pitchFamily="18" charset="0"/>
              </a:rPr>
              <a:t>Ativos</a:t>
            </a:r>
            <a:r>
              <a:rPr lang="en-US" altLang="en-US" sz="1800">
                <a:cs typeface="Times New Roman" panose="02020603050405020304" pitchFamily="18" charset="0"/>
              </a:rPr>
              <a:t> </a:t>
            </a:r>
          </a:p>
        </p:txBody>
      </p:sp>
      <p:pic>
        <p:nvPicPr>
          <p:cNvPr id="128012" name="Picture 13" descr="Asset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4233863" y="5029200"/>
            <a:ext cx="67627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13" name="Text Box 14"/>
          <p:cNvSpPr txBox="1">
            <a:spLocks noChangeArrowheads="1"/>
          </p:cNvSpPr>
          <p:nvPr/>
        </p:nvSpPr>
        <p:spPr bwMode="auto">
          <a:xfrm>
            <a:off x="3362325" y="2595563"/>
            <a:ext cx="1314450" cy="581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600">
                <a:solidFill>
                  <a:srgbClr val="000000"/>
                </a:solidFill>
              </a:rPr>
              <a:t>Despesas Indiretas</a:t>
            </a:r>
            <a:r>
              <a:rPr lang="en-US" altLang="en-US" sz="1600"/>
              <a:t> </a:t>
            </a:r>
          </a:p>
        </p:txBody>
      </p:sp>
      <p:sp>
        <p:nvSpPr>
          <p:cNvPr id="128014" name="Line 15"/>
          <p:cNvSpPr>
            <a:spLocks noChangeShapeType="1"/>
          </p:cNvSpPr>
          <p:nvPr/>
        </p:nvSpPr>
        <p:spPr bwMode="auto">
          <a:xfrm>
            <a:off x="4572000" y="4381500"/>
            <a:ext cx="1588" cy="660400"/>
          </a:xfrm>
          <a:prstGeom prst="line">
            <a:avLst/>
          </a:prstGeom>
          <a:noFill/>
          <a:ln w="28575" cap="rnd">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8015" name="Text Box 16"/>
          <p:cNvSpPr txBox="1">
            <a:spLocks noChangeArrowheads="1"/>
          </p:cNvSpPr>
          <p:nvPr/>
        </p:nvSpPr>
        <p:spPr bwMode="auto">
          <a:xfrm>
            <a:off x="4552950" y="4495800"/>
            <a:ext cx="85725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600">
                <a:solidFill>
                  <a:srgbClr val="000000"/>
                </a:solidFill>
              </a:rPr>
              <a:t>Ativos</a:t>
            </a:r>
            <a:r>
              <a:rPr lang="en-US" altLang="en-US" sz="1600"/>
              <a:t> </a:t>
            </a:r>
          </a:p>
        </p:txBody>
      </p:sp>
      <p:sp>
        <p:nvSpPr>
          <p:cNvPr id="128016" name="Text Box 17"/>
          <p:cNvSpPr txBox="1">
            <a:spLocks noChangeArrowheads="1"/>
          </p:cNvSpPr>
          <p:nvPr/>
        </p:nvSpPr>
        <p:spPr bwMode="auto">
          <a:xfrm>
            <a:off x="2667000" y="3844925"/>
            <a:ext cx="114300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600">
                <a:solidFill>
                  <a:srgbClr val="000000"/>
                </a:solidFill>
              </a:rPr>
              <a:t>Commits</a:t>
            </a:r>
            <a:r>
              <a:rPr lang="en-US" altLang="en-US" sz="1600"/>
              <a:t> </a:t>
            </a:r>
          </a:p>
        </p:txBody>
      </p:sp>
      <p:sp>
        <p:nvSpPr>
          <p:cNvPr id="128017" name="Text Box 18"/>
          <p:cNvSpPr txBox="1">
            <a:spLocks noChangeArrowheads="1"/>
          </p:cNvSpPr>
          <p:nvPr/>
        </p:nvSpPr>
        <p:spPr bwMode="auto">
          <a:xfrm>
            <a:off x="5148263" y="3848100"/>
            <a:ext cx="1281112" cy="581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Clr>
                <a:srgbClr val="FF0000"/>
              </a:buClr>
              <a:buFontTx/>
              <a:buNone/>
            </a:pPr>
            <a:r>
              <a:rPr lang="en-US" altLang="en-US" sz="1600">
                <a:solidFill>
                  <a:srgbClr val="000000"/>
                </a:solidFill>
              </a:rPr>
              <a:t>Mão-de-Obra</a:t>
            </a:r>
            <a:r>
              <a:rPr lang="en-US" altLang="en-US" sz="1600"/>
              <a:t> </a:t>
            </a:r>
          </a:p>
        </p:txBody>
      </p:sp>
      <p:sp>
        <p:nvSpPr>
          <p:cNvPr id="128018" name="Freeform 19"/>
          <p:cNvSpPr>
            <a:spLocks/>
          </p:cNvSpPr>
          <p:nvPr/>
        </p:nvSpPr>
        <p:spPr bwMode="auto">
          <a:xfrm rot="5400000">
            <a:off x="5699919" y="1786732"/>
            <a:ext cx="809625" cy="2573337"/>
          </a:xfrm>
          <a:custGeom>
            <a:avLst/>
            <a:gdLst>
              <a:gd name="T0" fmla="*/ 0 w 220"/>
              <a:gd name="T1" fmla="*/ 0 h 411"/>
              <a:gd name="T2" fmla="*/ 2147483646 w 220"/>
              <a:gd name="T3" fmla="*/ 0 h 411"/>
              <a:gd name="T4" fmla="*/ 2147483646 w 220"/>
              <a:gd name="T5" fmla="*/ 2147483646 h 411"/>
              <a:gd name="T6" fmla="*/ 0 60000 65536"/>
              <a:gd name="T7" fmla="*/ 0 60000 65536"/>
              <a:gd name="T8" fmla="*/ 0 60000 65536"/>
            </a:gdLst>
            <a:ahLst/>
            <a:cxnLst>
              <a:cxn ang="T6">
                <a:pos x="T0" y="T1"/>
              </a:cxn>
              <a:cxn ang="T7">
                <a:pos x="T2" y="T3"/>
              </a:cxn>
              <a:cxn ang="T8">
                <a:pos x="T4" y="T5"/>
              </a:cxn>
            </a:cxnLst>
            <a:rect l="0" t="0" r="r" b="b"/>
            <a:pathLst>
              <a:path w="220" h="411">
                <a:moveTo>
                  <a:pt x="0" y="0"/>
                </a:moveTo>
                <a:lnTo>
                  <a:pt x="219" y="0"/>
                </a:lnTo>
                <a:lnTo>
                  <a:pt x="219" y="410"/>
                </a:lnTo>
              </a:path>
            </a:pathLst>
          </a:custGeom>
          <a:noFill/>
          <a:ln w="28575" cap="rnd" cmpd="sng">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8019" name="Text Box 20"/>
          <p:cNvSpPr txBox="1">
            <a:spLocks noChangeArrowheads="1"/>
          </p:cNvSpPr>
          <p:nvPr/>
        </p:nvSpPr>
        <p:spPr bwMode="auto">
          <a:xfrm>
            <a:off x="4843463" y="3154363"/>
            <a:ext cx="2576512" cy="3127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solidFill>
                  <a:srgbClr val="000000"/>
                </a:solidFill>
              </a:rPr>
              <a:t>Faturamentos/Créditos</a:t>
            </a:r>
            <a:r>
              <a:rPr lang="en-US" altLang="en-US" sz="1600"/>
              <a:t> </a:t>
            </a:r>
          </a:p>
        </p:txBody>
      </p:sp>
      <p:sp>
        <p:nvSpPr>
          <p:cNvPr id="128020" name="Freeform 21"/>
          <p:cNvSpPr>
            <a:spLocks/>
          </p:cNvSpPr>
          <p:nvPr/>
        </p:nvSpPr>
        <p:spPr bwMode="auto">
          <a:xfrm>
            <a:off x="1752600" y="2693988"/>
            <a:ext cx="2447925" cy="795337"/>
          </a:xfrm>
          <a:custGeom>
            <a:avLst/>
            <a:gdLst>
              <a:gd name="T0" fmla="*/ 0 w 309"/>
              <a:gd name="T1" fmla="*/ 0 h 381"/>
              <a:gd name="T2" fmla="*/ 0 w 309"/>
              <a:gd name="T3" fmla="*/ 2147483646 h 381"/>
              <a:gd name="T4" fmla="*/ 2147483646 w 309"/>
              <a:gd name="T5" fmla="*/ 2147483646 h 381"/>
              <a:gd name="T6" fmla="*/ 0 60000 65536"/>
              <a:gd name="T7" fmla="*/ 0 60000 65536"/>
              <a:gd name="T8" fmla="*/ 0 60000 65536"/>
            </a:gdLst>
            <a:ahLst/>
            <a:cxnLst>
              <a:cxn ang="T6">
                <a:pos x="T0" y="T1"/>
              </a:cxn>
              <a:cxn ang="T7">
                <a:pos x="T2" y="T3"/>
              </a:cxn>
              <a:cxn ang="T8">
                <a:pos x="T4" y="T5"/>
              </a:cxn>
            </a:cxnLst>
            <a:rect l="0" t="0" r="r" b="b"/>
            <a:pathLst>
              <a:path w="309" h="381">
                <a:moveTo>
                  <a:pt x="0" y="0"/>
                </a:moveTo>
                <a:lnTo>
                  <a:pt x="0" y="380"/>
                </a:lnTo>
                <a:lnTo>
                  <a:pt x="308" y="380"/>
                </a:lnTo>
              </a:path>
            </a:pathLst>
          </a:custGeom>
          <a:noFill/>
          <a:ln w="28575" cap="rnd" cmpd="sng">
            <a:solidFill>
              <a:srgbClr val="000000"/>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28021" name="Text Box 22"/>
          <p:cNvSpPr txBox="1">
            <a:spLocks noChangeArrowheads="1"/>
          </p:cNvSpPr>
          <p:nvPr/>
        </p:nvSpPr>
        <p:spPr bwMode="auto">
          <a:xfrm>
            <a:off x="1993900" y="3154363"/>
            <a:ext cx="1905000" cy="3127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cap="rnd">
                <a:solidFill>
                  <a:schemeClr val="tx1"/>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Clr>
                <a:srgbClr val="FF0000"/>
              </a:buClr>
              <a:buFontTx/>
              <a:buNone/>
            </a:pPr>
            <a:r>
              <a:rPr lang="en-US" altLang="en-US" sz="1600">
                <a:solidFill>
                  <a:srgbClr val="000000"/>
                </a:solidFill>
              </a:rPr>
              <a:t>NFFs/Ajustes</a:t>
            </a:r>
            <a:r>
              <a:rPr lang="en-US" altLang="en-US" sz="1600"/>
              <a:t> </a:t>
            </a:r>
          </a:p>
        </p:txBody>
      </p:sp>
      <p:sp>
        <p:nvSpPr>
          <p:cNvPr id="128022" name="Text Box 23"/>
          <p:cNvSpPr txBox="1">
            <a:spLocks noChangeArrowheads="1"/>
          </p:cNvSpPr>
          <p:nvPr/>
        </p:nvSpPr>
        <p:spPr bwMode="blackWhite">
          <a:xfrm>
            <a:off x="2590800" y="1204913"/>
            <a:ext cx="1143000" cy="395287"/>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Razão</a:t>
            </a:r>
            <a:r>
              <a:rPr lang="en-US" altLang="en-US" sz="1800">
                <a:cs typeface="Times New Roman" panose="02020603050405020304" pitchFamily="18" charset="0"/>
              </a:rPr>
              <a:t> </a:t>
            </a:r>
          </a:p>
        </p:txBody>
      </p:sp>
      <p:sp>
        <p:nvSpPr>
          <p:cNvPr id="128023" name="Text Box 24"/>
          <p:cNvSpPr txBox="1">
            <a:spLocks noChangeArrowheads="1"/>
          </p:cNvSpPr>
          <p:nvPr/>
        </p:nvSpPr>
        <p:spPr bwMode="blackWhite">
          <a:xfrm>
            <a:off x="434975" y="3657600"/>
            <a:ext cx="1825625" cy="395288"/>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Fornecedores</a:t>
            </a:r>
            <a:r>
              <a:rPr lang="en-US" altLang="en-US" sz="1800">
                <a:cs typeface="Times New Roman" panose="02020603050405020304" pitchFamily="18" charset="0"/>
              </a:rPr>
              <a:t> </a:t>
            </a:r>
          </a:p>
        </p:txBody>
      </p:sp>
      <p:sp>
        <p:nvSpPr>
          <p:cNvPr id="128024" name="Text Box 25"/>
          <p:cNvSpPr txBox="1">
            <a:spLocks noChangeArrowheads="1"/>
          </p:cNvSpPr>
          <p:nvPr/>
        </p:nvSpPr>
        <p:spPr bwMode="blackWhite">
          <a:xfrm>
            <a:off x="990600" y="4267200"/>
            <a:ext cx="1270000" cy="395288"/>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Projetos</a:t>
            </a:r>
            <a:r>
              <a:rPr lang="en-US" altLang="en-US" sz="1800">
                <a:cs typeface="Times New Roman" panose="02020603050405020304" pitchFamily="18" charset="0"/>
              </a:rPr>
              <a:t> </a:t>
            </a:r>
          </a:p>
        </p:txBody>
      </p:sp>
      <p:sp>
        <p:nvSpPr>
          <p:cNvPr id="128025" name="Text Box 26"/>
          <p:cNvSpPr txBox="1">
            <a:spLocks noChangeArrowheads="1"/>
          </p:cNvSpPr>
          <p:nvPr/>
        </p:nvSpPr>
        <p:spPr bwMode="blackWhite">
          <a:xfrm>
            <a:off x="6629400" y="3962400"/>
            <a:ext cx="1473200" cy="395288"/>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Clientes</a:t>
            </a:r>
            <a:r>
              <a:rPr lang="en-US" altLang="en-US" sz="1800">
                <a:cs typeface="Times New Roman" panose="02020603050405020304" pitchFamily="18" charset="0"/>
              </a:rPr>
              <a:t> </a:t>
            </a:r>
          </a:p>
        </p:txBody>
      </p:sp>
      <p:pic>
        <p:nvPicPr>
          <p:cNvPr id="128026" name="Picture 28" descr="Purchasi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2293938" y="4800600"/>
            <a:ext cx="612775" cy="96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8027" name="Group 29"/>
          <p:cNvGrpSpPr>
            <a:grpSpLocks/>
          </p:cNvGrpSpPr>
          <p:nvPr/>
        </p:nvGrpSpPr>
        <p:grpSpPr bwMode="auto">
          <a:xfrm>
            <a:off x="6003925" y="4800600"/>
            <a:ext cx="946150" cy="1295400"/>
            <a:chOff x="2582" y="1776"/>
            <a:chExt cx="596" cy="816"/>
          </a:xfrm>
        </p:grpSpPr>
        <p:pic>
          <p:nvPicPr>
            <p:cNvPr id="128039" name="Picture 30" descr="payrol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2684" y="1776"/>
              <a:ext cx="392"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40" name="Rectangle 31"/>
            <p:cNvSpPr>
              <a:spLocks noChangeArrowheads="1"/>
            </p:cNvSpPr>
            <p:nvPr/>
          </p:nvSpPr>
          <p:spPr bwMode="gray">
            <a:xfrm>
              <a:off x="2582" y="2361"/>
              <a:ext cx="5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Payroll</a:t>
              </a:r>
              <a:r>
                <a:rPr lang="en-US" altLang="en-US" sz="1800">
                  <a:cs typeface="Times New Roman" panose="02020603050405020304" pitchFamily="18" charset="0"/>
                </a:rPr>
                <a:t> </a:t>
              </a:r>
            </a:p>
          </p:txBody>
        </p:sp>
      </p:grpSp>
      <p:grpSp>
        <p:nvGrpSpPr>
          <p:cNvPr id="128028" name="Group 32"/>
          <p:cNvGrpSpPr>
            <a:grpSpLocks/>
          </p:cNvGrpSpPr>
          <p:nvPr/>
        </p:nvGrpSpPr>
        <p:grpSpPr bwMode="auto">
          <a:xfrm>
            <a:off x="4029075" y="3124200"/>
            <a:ext cx="1085850" cy="1281113"/>
            <a:chOff x="4314" y="2592"/>
            <a:chExt cx="684" cy="807"/>
          </a:xfrm>
        </p:grpSpPr>
        <p:pic>
          <p:nvPicPr>
            <p:cNvPr id="128037" name="Picture 33" descr="projects"/>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gray">
            <a:xfrm>
              <a:off x="4416" y="2592"/>
              <a:ext cx="392" cy="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38" name="Rectangle 34"/>
            <p:cNvSpPr>
              <a:spLocks noChangeArrowheads="1"/>
            </p:cNvSpPr>
            <p:nvPr/>
          </p:nvSpPr>
          <p:spPr bwMode="gray">
            <a:xfrm>
              <a:off x="4314" y="3168"/>
              <a:ext cx="6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Projects</a:t>
              </a:r>
              <a:r>
                <a:rPr lang="en-US" altLang="en-US" sz="1800">
                  <a:cs typeface="Times New Roman" panose="02020603050405020304" pitchFamily="18" charset="0"/>
                </a:rPr>
                <a:t> </a:t>
              </a:r>
            </a:p>
          </p:txBody>
        </p:sp>
      </p:grpSp>
      <p:sp>
        <p:nvSpPr>
          <p:cNvPr id="128029" name="Text Box 35"/>
          <p:cNvSpPr txBox="1">
            <a:spLocks noChangeArrowheads="1"/>
          </p:cNvSpPr>
          <p:nvPr/>
        </p:nvSpPr>
        <p:spPr bwMode="blackWhite">
          <a:xfrm>
            <a:off x="2667000" y="4343400"/>
            <a:ext cx="965200" cy="395288"/>
          </a:xfrm>
          <a:prstGeom prst="rect">
            <a:avLst/>
          </a:prstGeom>
          <a:solidFill>
            <a:srgbClr val="FF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UDMs</a:t>
            </a:r>
            <a:r>
              <a:rPr lang="en-US" altLang="en-US" sz="1800">
                <a:cs typeface="Times New Roman" panose="02020603050405020304" pitchFamily="18" charset="0"/>
              </a:rPr>
              <a:t> </a:t>
            </a:r>
          </a:p>
        </p:txBody>
      </p:sp>
      <p:sp>
        <p:nvSpPr>
          <p:cNvPr id="128030" name="Rectangle 36"/>
          <p:cNvSpPr>
            <a:spLocks noChangeArrowheads="1"/>
          </p:cNvSpPr>
          <p:nvPr/>
        </p:nvSpPr>
        <p:spPr bwMode="auto">
          <a:xfrm>
            <a:off x="1600200" y="5741988"/>
            <a:ext cx="1852613"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FontTx/>
              <a:buNone/>
            </a:pPr>
            <a:r>
              <a:rPr lang="en-US" altLang="en-US" sz="1800">
                <a:cs typeface="Times New Roman" panose="02020603050405020304" pitchFamily="18" charset="0"/>
              </a:rPr>
              <a:t>Purchasing/ </a:t>
            </a:r>
            <a:r>
              <a:rPr lang="en-US" altLang="en-US" sz="1800" i="1">
                <a:latin typeface="Times New Roman" panose="02020603050405020304" pitchFamily="18" charset="0"/>
              </a:rPr>
              <a:t>i</a:t>
            </a:r>
            <a:r>
              <a:rPr lang="en-US" altLang="en-US" sz="1800">
                <a:cs typeface="Times New Roman" panose="02020603050405020304" pitchFamily="18" charset="0"/>
              </a:rPr>
              <a:t>Procurement</a:t>
            </a:r>
          </a:p>
        </p:txBody>
      </p:sp>
      <p:sp>
        <p:nvSpPr>
          <p:cNvPr id="128031" name="Rectangle 37"/>
          <p:cNvSpPr>
            <a:spLocks noChangeArrowheads="1"/>
          </p:cNvSpPr>
          <p:nvPr/>
        </p:nvSpPr>
        <p:spPr bwMode="auto">
          <a:xfrm>
            <a:off x="6477000" y="2084388"/>
            <a:ext cx="175260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90000"/>
              </a:lnSpc>
              <a:spcBef>
                <a:spcPct val="0"/>
              </a:spcBef>
              <a:buFontTx/>
              <a:buNone/>
            </a:pPr>
            <a:r>
              <a:rPr lang="en-US" altLang="en-US" sz="1800">
                <a:cs typeface="Times New Roman" panose="02020603050405020304" pitchFamily="18" charset="0"/>
              </a:rPr>
              <a:t>Receivables/ </a:t>
            </a:r>
            <a:r>
              <a:rPr lang="en-US" altLang="en-US" sz="1800" i="1">
                <a:latin typeface="Times New Roman" panose="02020603050405020304" pitchFamily="18" charset="0"/>
              </a:rPr>
              <a:t>i</a:t>
            </a:r>
            <a:r>
              <a:rPr lang="en-US" altLang="en-US" sz="1800">
                <a:cs typeface="Times New Roman" panose="02020603050405020304" pitchFamily="18" charset="0"/>
              </a:rPr>
              <a:t>Receivables</a:t>
            </a:r>
          </a:p>
        </p:txBody>
      </p:sp>
      <p:sp>
        <p:nvSpPr>
          <p:cNvPr id="36" name="Rectangle 2"/>
          <p:cNvSpPr txBox="1">
            <a:spLocks noChangeArrowheads="1"/>
          </p:cNvSpPr>
          <p:nvPr/>
        </p:nvSpPr>
        <p:spPr bwMode="auto">
          <a:xfrm>
            <a:off x="-14288" y="-44450"/>
            <a:ext cx="91328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a:t>
            </a:r>
            <a:r>
              <a:rPr lang="pt-BR" altLang="pt-BR" sz="3600" b="1" kern="0" dirty="0" smtClean="0">
                <a:solidFill>
                  <a:srgbClr val="003366"/>
                </a:solidFill>
              </a:rPr>
              <a:t>Entidades</a:t>
            </a:r>
          </a:p>
        </p:txBody>
      </p:sp>
      <p:sp>
        <p:nvSpPr>
          <p:cNvPr id="128033"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28034" name="Group 6"/>
          <p:cNvGrpSpPr>
            <a:grpSpLocks/>
          </p:cNvGrpSpPr>
          <p:nvPr/>
        </p:nvGrpSpPr>
        <p:grpSpPr bwMode="auto">
          <a:xfrm>
            <a:off x="7308850" y="117475"/>
            <a:ext cx="1735138" cy="647700"/>
            <a:chOff x="7380288" y="41275"/>
            <a:chExt cx="1735137" cy="647700"/>
          </a:xfrm>
        </p:grpSpPr>
        <p:sp>
          <p:nvSpPr>
            <p:cNvPr id="39"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40"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0" y="1084263"/>
            <a:ext cx="4930775" cy="387350"/>
          </a:xfrm>
        </p:spPr>
        <p:txBody>
          <a:bodyPr/>
          <a:lstStyle/>
          <a:p>
            <a:pPr algn="l"/>
            <a:r>
              <a:rPr lang="pt-BR" altLang="en-US" sz="1400" smtClean="0">
                <a:solidFill>
                  <a:schemeClr val="accent2"/>
                </a:solidFill>
              </a:rPr>
              <a:t>People to Paycheck (Pessoas até Recibo  de Pagamento)</a:t>
            </a:r>
            <a:r>
              <a:rPr lang="en-US" altLang="en-US" sz="1400" smtClean="0">
                <a:solidFill>
                  <a:schemeClr val="accent2"/>
                </a:solidFill>
              </a:rPr>
              <a:t> </a:t>
            </a:r>
          </a:p>
        </p:txBody>
      </p:sp>
      <p:pic>
        <p:nvPicPr>
          <p:cNvPr id="130051" name="Picture 3" descr="hrms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4398963" y="1397000"/>
            <a:ext cx="6985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2" name="Rectangle 4"/>
          <p:cNvSpPr>
            <a:spLocks noChangeArrowheads="1"/>
          </p:cNvSpPr>
          <p:nvPr/>
        </p:nvSpPr>
        <p:spPr bwMode="gray">
          <a:xfrm>
            <a:off x="4292600" y="2479675"/>
            <a:ext cx="8572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cs typeface="Times New Roman" panose="02020603050405020304" pitchFamily="18" charset="0"/>
              </a:rPr>
              <a:t>HRMS</a:t>
            </a:r>
            <a:r>
              <a:rPr lang="en-US" altLang="en-US" sz="1800">
                <a:cs typeface="Times New Roman" panose="02020603050405020304" pitchFamily="18" charset="0"/>
              </a:rPr>
              <a:t> </a:t>
            </a:r>
          </a:p>
        </p:txBody>
      </p:sp>
      <p:sp>
        <p:nvSpPr>
          <p:cNvPr id="130053" name="Line 5"/>
          <p:cNvSpPr>
            <a:spLocks noChangeShapeType="1"/>
          </p:cNvSpPr>
          <p:nvPr/>
        </p:nvSpPr>
        <p:spPr bwMode="auto">
          <a:xfrm>
            <a:off x="4806950" y="5002213"/>
            <a:ext cx="26289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0054" name="Line 6"/>
          <p:cNvSpPr>
            <a:spLocks noChangeShapeType="1"/>
          </p:cNvSpPr>
          <p:nvPr/>
        </p:nvSpPr>
        <p:spPr bwMode="auto">
          <a:xfrm>
            <a:off x="4724400" y="2813050"/>
            <a:ext cx="0" cy="1677988"/>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0055" name="Rectangle 7"/>
          <p:cNvSpPr>
            <a:spLocks noChangeArrowheads="1"/>
          </p:cNvSpPr>
          <p:nvPr/>
        </p:nvSpPr>
        <p:spPr bwMode="blackWhite">
          <a:xfrm>
            <a:off x="3468688" y="3617913"/>
            <a:ext cx="2517775" cy="304800"/>
          </a:xfrm>
          <a:prstGeom prst="rect">
            <a:avLst/>
          </a:prstGeom>
          <a:solidFill>
            <a:srgbClr val="CCCC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Informações de HR</a:t>
            </a:r>
            <a:r>
              <a:rPr lang="en-US" altLang="en-US" sz="1800"/>
              <a:t> </a:t>
            </a:r>
          </a:p>
        </p:txBody>
      </p:sp>
      <p:sp>
        <p:nvSpPr>
          <p:cNvPr id="130056" name="Rectangle 8"/>
          <p:cNvSpPr>
            <a:spLocks noChangeArrowheads="1"/>
          </p:cNvSpPr>
          <p:nvPr/>
        </p:nvSpPr>
        <p:spPr bwMode="gray">
          <a:xfrm>
            <a:off x="1087438" y="5535613"/>
            <a:ext cx="1860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cs typeface="Times New Roman" panose="02020603050405020304" pitchFamily="18" charset="0"/>
              </a:rPr>
              <a:t>General Ledger</a:t>
            </a:r>
            <a:r>
              <a:rPr lang="en-US" altLang="en-US" sz="1800">
                <a:cs typeface="Times New Roman" panose="02020603050405020304" pitchFamily="18" charset="0"/>
              </a:rPr>
              <a:t> </a:t>
            </a:r>
          </a:p>
        </p:txBody>
      </p:sp>
      <p:sp>
        <p:nvSpPr>
          <p:cNvPr id="130057" name="Line 9"/>
          <p:cNvSpPr>
            <a:spLocks noChangeShapeType="1"/>
          </p:cNvSpPr>
          <p:nvPr/>
        </p:nvSpPr>
        <p:spPr bwMode="auto">
          <a:xfrm flipH="1">
            <a:off x="2338388" y="5002213"/>
            <a:ext cx="2393950"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0058" name="Rectangle 10"/>
          <p:cNvSpPr>
            <a:spLocks noChangeArrowheads="1"/>
          </p:cNvSpPr>
          <p:nvPr/>
        </p:nvSpPr>
        <p:spPr bwMode="auto">
          <a:xfrm>
            <a:off x="2678113" y="4633913"/>
            <a:ext cx="1441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rPr>
              <a:t>Contabilidade</a:t>
            </a:r>
            <a:r>
              <a:rPr lang="en-US" altLang="en-US" sz="1800"/>
              <a:t> </a:t>
            </a:r>
          </a:p>
        </p:txBody>
      </p:sp>
      <p:pic>
        <p:nvPicPr>
          <p:cNvPr id="130059" name="Picture 11" descr="payro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4432300" y="4395788"/>
            <a:ext cx="7239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60" name="Rectangle 12"/>
          <p:cNvSpPr>
            <a:spLocks noChangeArrowheads="1"/>
          </p:cNvSpPr>
          <p:nvPr/>
        </p:nvSpPr>
        <p:spPr bwMode="gray">
          <a:xfrm>
            <a:off x="4391025" y="5486400"/>
            <a:ext cx="946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800">
                <a:solidFill>
                  <a:srgbClr val="000000"/>
                </a:solidFill>
                <a:cs typeface="Times New Roman" panose="02020603050405020304" pitchFamily="18" charset="0"/>
              </a:rPr>
              <a:t>Payroll</a:t>
            </a:r>
            <a:r>
              <a:rPr lang="en-US" altLang="en-US" sz="1800">
                <a:cs typeface="Times New Roman" panose="02020603050405020304" pitchFamily="18" charset="0"/>
              </a:rPr>
              <a:t> </a:t>
            </a:r>
          </a:p>
        </p:txBody>
      </p:sp>
      <p:sp>
        <p:nvSpPr>
          <p:cNvPr id="130061" name="Text Box 13"/>
          <p:cNvSpPr txBox="1">
            <a:spLocks noChangeArrowheads="1"/>
          </p:cNvSpPr>
          <p:nvPr/>
        </p:nvSpPr>
        <p:spPr bwMode="gray">
          <a:xfrm>
            <a:off x="6781800" y="5480050"/>
            <a:ext cx="1865313" cy="57467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5400">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700" tIns="12700" rIns="12700" bIns="12700">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Cash</a:t>
            </a:r>
            <a:br>
              <a:rPr lang="en-US" altLang="en-US" sz="1800">
                <a:solidFill>
                  <a:srgbClr val="000000"/>
                </a:solidFill>
              </a:rPr>
            </a:br>
            <a:r>
              <a:rPr lang="en-US" altLang="en-US" sz="1800">
                <a:solidFill>
                  <a:srgbClr val="000000"/>
                </a:solidFill>
              </a:rPr>
              <a:t>Management</a:t>
            </a:r>
            <a:r>
              <a:rPr lang="en-US" altLang="en-US" sz="1800"/>
              <a:t> </a:t>
            </a:r>
          </a:p>
        </p:txBody>
      </p:sp>
      <p:pic>
        <p:nvPicPr>
          <p:cNvPr id="130062" name="Picture 14" descr="produ0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7362825" y="4446588"/>
            <a:ext cx="665163"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63" name="Picture 15" descr="Ledge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1714500" y="4495800"/>
            <a:ext cx="650875"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2"/>
          <p:cNvSpPr txBox="1">
            <a:spLocks noChangeArrowheads="1"/>
          </p:cNvSpPr>
          <p:nvPr/>
        </p:nvSpPr>
        <p:spPr bwMode="auto">
          <a:xfrm>
            <a:off x="11113" y="-100013"/>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a:t>
            </a:r>
            <a:r>
              <a:rPr lang="pt-BR" altLang="pt-BR" sz="3600" b="1" kern="0" dirty="0" smtClean="0">
                <a:solidFill>
                  <a:srgbClr val="003366"/>
                </a:solidFill>
              </a:rPr>
              <a:t>Entidades</a:t>
            </a:r>
          </a:p>
        </p:txBody>
      </p:sp>
      <p:sp>
        <p:nvSpPr>
          <p:cNvPr id="130065"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30066" name="Group 6"/>
          <p:cNvGrpSpPr>
            <a:grpSpLocks/>
          </p:cNvGrpSpPr>
          <p:nvPr/>
        </p:nvGrpSpPr>
        <p:grpSpPr bwMode="auto">
          <a:xfrm>
            <a:off x="7308850" y="117475"/>
            <a:ext cx="1735138" cy="647700"/>
            <a:chOff x="7380288" y="41275"/>
            <a:chExt cx="1735137" cy="647700"/>
          </a:xfrm>
        </p:grpSpPr>
        <p:sp>
          <p:nvSpPr>
            <p:cNvPr id="19"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20"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Line 2"/>
          <p:cNvSpPr>
            <a:spLocks noChangeShapeType="1"/>
          </p:cNvSpPr>
          <p:nvPr/>
        </p:nvSpPr>
        <p:spPr bwMode="auto">
          <a:xfrm>
            <a:off x="7543800" y="3278188"/>
            <a:ext cx="0" cy="1374775"/>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2099" name="Rectangle 3"/>
          <p:cNvSpPr>
            <a:spLocks noGrp="1" noChangeArrowheads="1"/>
          </p:cNvSpPr>
          <p:nvPr>
            <p:ph type="title"/>
          </p:nvPr>
        </p:nvSpPr>
        <p:spPr>
          <a:xfrm>
            <a:off x="49213" y="908050"/>
            <a:ext cx="4235450" cy="357188"/>
          </a:xfrm>
        </p:spPr>
        <p:txBody>
          <a:bodyPr/>
          <a:lstStyle/>
          <a:p>
            <a:pPr algn="l"/>
            <a:r>
              <a:rPr lang="pt-BR" altLang="en-US" sz="1400" smtClean="0">
                <a:solidFill>
                  <a:schemeClr val="accent2"/>
                </a:solidFill>
              </a:rPr>
              <a:t>Plan to Replenish (Planejamento até Reposição)</a:t>
            </a:r>
            <a:endParaRPr lang="en-US" altLang="en-US" sz="1400" smtClean="0">
              <a:solidFill>
                <a:schemeClr val="accent2"/>
              </a:solidFill>
            </a:endParaRPr>
          </a:p>
        </p:txBody>
      </p:sp>
      <p:sp>
        <p:nvSpPr>
          <p:cNvPr id="132100" name="Rectangle 4"/>
          <p:cNvSpPr>
            <a:spLocks noGrp="1" noChangeArrowheads="1"/>
          </p:cNvSpPr>
          <p:nvPr>
            <p:ph type="body" sz="half" idx="4294967295"/>
          </p:nvPr>
        </p:nvSpPr>
        <p:spPr bwMode="blackWhite">
          <a:xfrm>
            <a:off x="1219200" y="1371600"/>
            <a:ext cx="3429000" cy="574675"/>
          </a:xfrm>
          <a:solidFill>
            <a:srgbClr val="E0B8D6"/>
          </a:solidFill>
          <a:ln w="28575">
            <a:solidFill>
              <a:schemeClr val="tx1"/>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algn="ctr">
              <a:spcBef>
                <a:spcPct val="0"/>
              </a:spcBef>
              <a:buFontTx/>
              <a:buNone/>
            </a:pPr>
            <a:r>
              <a:rPr lang="pt-BR" altLang="en-US" sz="1800" smtClean="0">
                <a:cs typeface="Times New Roman" panose="02020603050405020304" pitchFamily="18" charset="0"/>
              </a:rPr>
              <a:t>Executar o Planejamento Mín./Máx.</a:t>
            </a:r>
            <a:endParaRPr lang="en-US" altLang="en-US" sz="1800" smtClean="0">
              <a:cs typeface="Times New Roman" panose="02020603050405020304" pitchFamily="18" charset="0"/>
            </a:endParaRPr>
          </a:p>
        </p:txBody>
      </p:sp>
      <p:sp>
        <p:nvSpPr>
          <p:cNvPr id="132101" name="Text Box 5"/>
          <p:cNvSpPr txBox="1">
            <a:spLocks noChangeArrowheads="1"/>
          </p:cNvSpPr>
          <p:nvPr/>
        </p:nvSpPr>
        <p:spPr bwMode="auto">
          <a:xfrm>
            <a:off x="2028825" y="2052638"/>
            <a:ext cx="22177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pt-BR" altLang="en-US" sz="1600"/>
              <a:t>Estabelecer Políticas</a:t>
            </a:r>
            <a:br>
              <a:rPr lang="pt-BR" altLang="en-US" sz="1600"/>
            </a:br>
            <a:r>
              <a:rPr lang="pt-BR" altLang="en-US" sz="1600"/>
              <a:t>de Planejamento</a:t>
            </a:r>
            <a:br>
              <a:rPr lang="pt-BR" altLang="en-US" sz="1600"/>
            </a:br>
            <a:r>
              <a:rPr lang="pt-BR" altLang="en-US" sz="1600"/>
              <a:t>de Inventário</a:t>
            </a:r>
            <a:endParaRPr lang="en-US" altLang="en-US" sz="1600"/>
          </a:p>
        </p:txBody>
      </p:sp>
      <p:pic>
        <p:nvPicPr>
          <p:cNvPr id="132102" name="Picture 6" descr="Items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860800" y="2124075"/>
            <a:ext cx="1325563"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03" name="Text Box 7"/>
          <p:cNvSpPr txBox="1">
            <a:spLocks noChangeArrowheads="1"/>
          </p:cNvSpPr>
          <p:nvPr/>
        </p:nvSpPr>
        <p:spPr bwMode="auto">
          <a:xfrm>
            <a:off x="4633913" y="2152650"/>
            <a:ext cx="27765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t>Planejar Material Mín./Máx.</a:t>
            </a:r>
          </a:p>
        </p:txBody>
      </p:sp>
      <p:sp>
        <p:nvSpPr>
          <p:cNvPr id="132104" name="Text Box 8"/>
          <p:cNvSpPr txBox="1">
            <a:spLocks noChangeArrowheads="1"/>
          </p:cNvSpPr>
          <p:nvPr/>
        </p:nvSpPr>
        <p:spPr bwMode="auto">
          <a:xfrm>
            <a:off x="1219200" y="4114800"/>
            <a:ext cx="144780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en-US" altLang="en-US" sz="1600"/>
          </a:p>
          <a:p>
            <a:pPr algn="ctr">
              <a:buClr>
                <a:srgbClr val="FF0000"/>
              </a:buClr>
              <a:buFontTx/>
              <a:buNone/>
            </a:pPr>
            <a:endParaRPr lang="en-US" altLang="en-US" sz="1800"/>
          </a:p>
        </p:txBody>
      </p:sp>
      <p:sp>
        <p:nvSpPr>
          <p:cNvPr id="132105" name="Text Box 9"/>
          <p:cNvSpPr txBox="1">
            <a:spLocks noChangeArrowheads="1"/>
          </p:cNvSpPr>
          <p:nvPr/>
        </p:nvSpPr>
        <p:spPr bwMode="blackWhite">
          <a:xfrm>
            <a:off x="6042025" y="4027488"/>
            <a:ext cx="1408113" cy="609600"/>
          </a:xfrm>
          <a:prstGeom prst="rect">
            <a:avLst/>
          </a:prstGeom>
          <a:solidFill>
            <a:srgbClr val="E0B8D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t>Gerar</a:t>
            </a:r>
            <a:br>
              <a:rPr lang="en-US" altLang="en-US" sz="1600"/>
            </a:br>
            <a:r>
              <a:rPr lang="en-US" altLang="en-US" sz="1600"/>
              <a:t>Requisições</a:t>
            </a:r>
          </a:p>
        </p:txBody>
      </p:sp>
      <p:sp>
        <p:nvSpPr>
          <p:cNvPr id="132106" name="Line 10"/>
          <p:cNvSpPr>
            <a:spLocks noChangeShapeType="1"/>
          </p:cNvSpPr>
          <p:nvPr/>
        </p:nvSpPr>
        <p:spPr bwMode="auto">
          <a:xfrm flipV="1">
            <a:off x="2108200" y="2882900"/>
            <a:ext cx="1943100" cy="1270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2107" name="Text Box 11"/>
          <p:cNvSpPr txBox="1">
            <a:spLocks noChangeArrowheads="1"/>
          </p:cNvSpPr>
          <p:nvPr/>
        </p:nvSpPr>
        <p:spPr bwMode="blackWhite">
          <a:xfrm>
            <a:off x="5086350" y="5119688"/>
            <a:ext cx="2076450" cy="609600"/>
          </a:xfrm>
          <a:prstGeom prst="rect">
            <a:avLst/>
          </a:prstGeom>
          <a:solidFill>
            <a:srgbClr val="E0B8D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t>Requisição até Recebimento</a:t>
            </a:r>
          </a:p>
        </p:txBody>
      </p:sp>
      <p:sp>
        <p:nvSpPr>
          <p:cNvPr id="132108" name="Text Box 12"/>
          <p:cNvSpPr txBox="1">
            <a:spLocks noChangeArrowheads="1"/>
          </p:cNvSpPr>
          <p:nvPr/>
        </p:nvSpPr>
        <p:spPr bwMode="auto">
          <a:xfrm>
            <a:off x="1295400" y="3733800"/>
            <a:ext cx="11366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t/>
            </a:r>
            <a:br>
              <a:rPr lang="en-US" altLang="en-US" sz="1600"/>
            </a:br>
            <a:endParaRPr lang="en-US" altLang="en-US" sz="1600"/>
          </a:p>
        </p:txBody>
      </p:sp>
      <p:sp>
        <p:nvSpPr>
          <p:cNvPr id="132109" name="Rectangle 13"/>
          <p:cNvSpPr>
            <a:spLocks noChangeArrowheads="1"/>
          </p:cNvSpPr>
          <p:nvPr/>
        </p:nvSpPr>
        <p:spPr bwMode="gray">
          <a:xfrm>
            <a:off x="3765550" y="3571875"/>
            <a:ext cx="1098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t>Inventory</a:t>
            </a:r>
          </a:p>
        </p:txBody>
      </p:sp>
      <p:sp>
        <p:nvSpPr>
          <p:cNvPr id="132110" name="Rectangle 14"/>
          <p:cNvSpPr>
            <a:spLocks noChangeArrowheads="1"/>
          </p:cNvSpPr>
          <p:nvPr/>
        </p:nvSpPr>
        <p:spPr bwMode="gray">
          <a:xfrm>
            <a:off x="6299200" y="3571875"/>
            <a:ext cx="12890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t>Purchasing</a:t>
            </a:r>
          </a:p>
        </p:txBody>
      </p:sp>
      <p:sp>
        <p:nvSpPr>
          <p:cNvPr id="132111" name="Rectangle 15"/>
          <p:cNvSpPr>
            <a:spLocks noChangeArrowheads="1"/>
          </p:cNvSpPr>
          <p:nvPr/>
        </p:nvSpPr>
        <p:spPr bwMode="gray">
          <a:xfrm>
            <a:off x="1041400" y="3571875"/>
            <a:ext cx="12890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t>Purchasing</a:t>
            </a:r>
          </a:p>
        </p:txBody>
      </p:sp>
      <p:sp>
        <p:nvSpPr>
          <p:cNvPr id="132112" name="Line 16"/>
          <p:cNvSpPr>
            <a:spLocks noChangeShapeType="1"/>
          </p:cNvSpPr>
          <p:nvPr/>
        </p:nvSpPr>
        <p:spPr bwMode="auto">
          <a:xfrm flipV="1">
            <a:off x="5118100" y="2882900"/>
            <a:ext cx="1943100" cy="1270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pic>
        <p:nvPicPr>
          <p:cNvPr id="132113" name="Picture 17" descr="Product_DataEntry"/>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1387475" y="2319338"/>
            <a:ext cx="69532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14" name="Picture 18" descr="Purchasing"/>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7110413" y="2293938"/>
            <a:ext cx="685800"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15" name="Picture 19" descr="Product_Marketing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7226300" y="4598988"/>
            <a:ext cx="6350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16" name="Rectangle 20"/>
          <p:cNvSpPr>
            <a:spLocks noChangeArrowheads="1"/>
          </p:cNvSpPr>
          <p:nvPr/>
        </p:nvSpPr>
        <p:spPr bwMode="gray">
          <a:xfrm>
            <a:off x="6829425" y="5813425"/>
            <a:ext cx="12890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t>Purchasing</a:t>
            </a:r>
          </a:p>
        </p:txBody>
      </p:sp>
      <p:sp>
        <p:nvSpPr>
          <p:cNvPr id="132117" name="Rectangle 21"/>
          <p:cNvSpPr>
            <a:spLocks noChangeArrowheads="1"/>
          </p:cNvSpPr>
          <p:nvPr/>
        </p:nvSpPr>
        <p:spPr bwMode="auto">
          <a:xfrm>
            <a:off x="838200" y="4343400"/>
            <a:ext cx="31067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lvl="2">
              <a:spcBef>
                <a:spcPct val="50000"/>
              </a:spcBef>
              <a:buFontTx/>
              <a:buNone/>
            </a:pPr>
            <a:r>
              <a:rPr lang="en-US" altLang="en-US" sz="1800" i="1">
                <a:solidFill>
                  <a:srgbClr val="0000FF"/>
                </a:solidFill>
                <a:ea typeface="MS PGothic" panose="020B0600070205080204" pitchFamily="34" charset="-128"/>
                <a:cs typeface="Times New Roman" panose="02020603050405020304" pitchFamily="18" charset="0"/>
              </a:rPr>
              <a:t>Funções empresariais</a:t>
            </a:r>
          </a:p>
        </p:txBody>
      </p:sp>
      <p:sp>
        <p:nvSpPr>
          <p:cNvPr id="132118" name="Rectangle 22"/>
          <p:cNvSpPr>
            <a:spLocks noChangeArrowheads="1"/>
          </p:cNvSpPr>
          <p:nvPr/>
        </p:nvSpPr>
        <p:spPr bwMode="auto">
          <a:xfrm>
            <a:off x="76200" y="5334000"/>
            <a:ext cx="18034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lvl="2">
              <a:spcBef>
                <a:spcPct val="50000"/>
              </a:spcBef>
              <a:buFontTx/>
              <a:buNone/>
            </a:pPr>
            <a:r>
              <a:rPr lang="en-US" altLang="en-US" sz="1600">
                <a:solidFill>
                  <a:srgbClr val="000000"/>
                </a:solidFill>
                <a:ea typeface="MS PGothic" panose="020B0600070205080204" pitchFamily="34" charset="-128"/>
                <a:cs typeface="Times New Roman" panose="02020603050405020304" pitchFamily="18" charset="0"/>
              </a:rPr>
              <a:t>Gerente de inventário</a:t>
            </a:r>
          </a:p>
        </p:txBody>
      </p:sp>
      <p:sp>
        <p:nvSpPr>
          <p:cNvPr id="132119" name="Rectangle 23"/>
          <p:cNvSpPr>
            <a:spLocks noChangeArrowheads="1"/>
          </p:cNvSpPr>
          <p:nvPr/>
        </p:nvSpPr>
        <p:spPr bwMode="auto">
          <a:xfrm>
            <a:off x="1322388" y="5334000"/>
            <a:ext cx="20224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lvl="2">
              <a:spcBef>
                <a:spcPct val="50000"/>
              </a:spcBef>
              <a:buFontTx/>
              <a:buNone/>
            </a:pPr>
            <a:r>
              <a:rPr lang="en-US" altLang="en-US" sz="1600">
                <a:solidFill>
                  <a:srgbClr val="000000"/>
                </a:solidFill>
                <a:ea typeface="MS PGothic" panose="020B0600070205080204" pitchFamily="34" charset="-128"/>
                <a:cs typeface="Times New Roman" panose="02020603050405020304" pitchFamily="18" charset="0"/>
              </a:rPr>
              <a:t>Sistema Automatizado </a:t>
            </a:r>
          </a:p>
        </p:txBody>
      </p:sp>
      <p:sp>
        <p:nvSpPr>
          <p:cNvPr id="132120" name="Rectangle 24"/>
          <p:cNvSpPr>
            <a:spLocks noChangeArrowheads="1"/>
          </p:cNvSpPr>
          <p:nvPr/>
        </p:nvSpPr>
        <p:spPr bwMode="auto">
          <a:xfrm>
            <a:off x="2795588" y="5334000"/>
            <a:ext cx="19192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lvl="2">
              <a:spcBef>
                <a:spcPct val="50000"/>
              </a:spcBef>
              <a:buFontTx/>
              <a:buNone/>
            </a:pPr>
            <a:r>
              <a:rPr lang="en-US" altLang="en-US" sz="1600">
                <a:solidFill>
                  <a:srgbClr val="000000"/>
                </a:solidFill>
                <a:ea typeface="MS PGothic" panose="020B0600070205080204" pitchFamily="34" charset="-128"/>
                <a:cs typeface="Times New Roman" panose="02020603050405020304" pitchFamily="18" charset="0"/>
              </a:rPr>
              <a:t>Planejador de inventário</a:t>
            </a:r>
          </a:p>
        </p:txBody>
      </p:sp>
      <p:pic>
        <p:nvPicPr>
          <p:cNvPr id="132121" name="Picture 25" descr="People: Person, Red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1185863" y="4800600"/>
            <a:ext cx="19208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22" name="Picture 26" descr="People: Person, Blue "/>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2330450" y="4800600"/>
            <a:ext cx="19208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23" name="Picture 27" descr="People: Person, Purple "/>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gray">
          <a:xfrm>
            <a:off x="3476625" y="4781550"/>
            <a:ext cx="19208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24" name="Picture 28" descr="People: Person, Red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2819400" y="2946400"/>
            <a:ext cx="2698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25" name="Picture 29" descr="People: Person, Blue "/>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5867400" y="2946400"/>
            <a:ext cx="2698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26" name="Picture 30" descr="People: Person, Purple "/>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gray">
          <a:xfrm>
            <a:off x="7581900" y="3683000"/>
            <a:ext cx="2698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ectangle 2"/>
          <p:cNvSpPr txBox="1">
            <a:spLocks noChangeArrowheads="1"/>
          </p:cNvSpPr>
          <p:nvPr/>
        </p:nvSpPr>
        <p:spPr bwMode="auto">
          <a:xfrm>
            <a:off x="11113" y="-211138"/>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smtClean="0">
                <a:solidFill>
                  <a:srgbClr val="003366"/>
                </a:solidFill>
              </a:rPr>
              <a:t>eBusiness Suite – </a:t>
            </a:r>
            <a:r>
              <a:rPr lang="pt-BR" altLang="pt-BR" sz="3600" b="1" kern="0" smtClean="0">
                <a:solidFill>
                  <a:srgbClr val="003366"/>
                </a:solidFill>
              </a:rPr>
              <a:t>Entidades</a:t>
            </a:r>
            <a:endParaRPr lang="pt-BR" altLang="pt-BR" sz="3600" b="1" kern="0" dirty="0" smtClean="0">
              <a:solidFill>
                <a:srgbClr val="003366"/>
              </a:solidFill>
            </a:endParaRPr>
          </a:p>
        </p:txBody>
      </p:sp>
      <p:sp>
        <p:nvSpPr>
          <p:cNvPr id="132128" name="Line 5"/>
          <p:cNvSpPr>
            <a:spLocks noChangeShapeType="1"/>
          </p:cNvSpPr>
          <p:nvPr/>
        </p:nvSpPr>
        <p:spPr bwMode="auto">
          <a:xfrm>
            <a:off x="0"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32129" name="Group 6"/>
          <p:cNvGrpSpPr>
            <a:grpSpLocks/>
          </p:cNvGrpSpPr>
          <p:nvPr/>
        </p:nvGrpSpPr>
        <p:grpSpPr bwMode="auto">
          <a:xfrm>
            <a:off x="7308850" y="117475"/>
            <a:ext cx="1735138" cy="647700"/>
            <a:chOff x="7380288" y="41275"/>
            <a:chExt cx="1735137" cy="647700"/>
          </a:xfrm>
        </p:grpSpPr>
        <p:sp>
          <p:nvSpPr>
            <p:cNvPr id="34"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5"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Line 2"/>
          <p:cNvSpPr>
            <a:spLocks noChangeShapeType="1"/>
          </p:cNvSpPr>
          <p:nvPr/>
        </p:nvSpPr>
        <p:spPr bwMode="auto">
          <a:xfrm>
            <a:off x="5334000" y="5410200"/>
            <a:ext cx="1981200" cy="0"/>
          </a:xfrm>
          <a:prstGeom prst="line">
            <a:avLst/>
          </a:prstGeom>
          <a:noFill/>
          <a:ln w="28575">
            <a:solidFill>
              <a:schemeClr val="tx1"/>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4147" name="Rectangle 3"/>
          <p:cNvSpPr>
            <a:spLocks noGrp="1" noChangeArrowheads="1"/>
          </p:cNvSpPr>
          <p:nvPr>
            <p:ph type="title"/>
          </p:nvPr>
        </p:nvSpPr>
        <p:spPr>
          <a:xfrm>
            <a:off x="3602038" y="869950"/>
            <a:ext cx="4860925" cy="403225"/>
          </a:xfrm>
        </p:spPr>
        <p:txBody>
          <a:bodyPr/>
          <a:lstStyle/>
          <a:p>
            <a:pPr algn="l"/>
            <a:r>
              <a:rPr lang="pt-BR" altLang="en-US" sz="1400" smtClean="0">
                <a:solidFill>
                  <a:schemeClr val="accent2"/>
                </a:solidFill>
              </a:rPr>
              <a:t>Benefits to Payroll (Benefícios até  a Folha de Pagamento)</a:t>
            </a:r>
            <a:r>
              <a:rPr lang="en-US" altLang="en-US" sz="1400" smtClean="0">
                <a:solidFill>
                  <a:schemeClr val="accent2"/>
                </a:solidFill>
              </a:rPr>
              <a:t> </a:t>
            </a:r>
          </a:p>
        </p:txBody>
      </p:sp>
      <p:sp>
        <p:nvSpPr>
          <p:cNvPr id="134148" name="Rectangle 4"/>
          <p:cNvSpPr>
            <a:spLocks noChangeArrowheads="1"/>
          </p:cNvSpPr>
          <p:nvPr/>
        </p:nvSpPr>
        <p:spPr bwMode="blackWhite">
          <a:xfrm>
            <a:off x="4330700" y="1325563"/>
            <a:ext cx="2819400" cy="395287"/>
          </a:xfrm>
          <a:prstGeom prst="rect">
            <a:avLst/>
          </a:prstGeom>
          <a:solidFill>
            <a:srgbClr val="E0B8D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GB" altLang="en-US" sz="1800">
                <a:solidFill>
                  <a:srgbClr val="000000"/>
                </a:solidFill>
                <a:cs typeface="Times New Roman" panose="02020603050405020304" pitchFamily="18" charset="0"/>
              </a:rPr>
              <a:t>Remuneração Total</a:t>
            </a:r>
            <a:r>
              <a:rPr lang="en-GB" altLang="en-US" sz="1800">
                <a:cs typeface="Times New Roman" panose="02020603050405020304" pitchFamily="18" charset="0"/>
              </a:rPr>
              <a:t> </a:t>
            </a:r>
            <a:endParaRPr lang="en-US" altLang="en-US" sz="1800">
              <a:cs typeface="Times New Roman" panose="02020603050405020304" pitchFamily="18" charset="0"/>
            </a:endParaRPr>
          </a:p>
        </p:txBody>
      </p:sp>
      <p:sp>
        <p:nvSpPr>
          <p:cNvPr id="134149" name="Rectangle 5"/>
          <p:cNvSpPr>
            <a:spLocks noChangeArrowheads="1"/>
          </p:cNvSpPr>
          <p:nvPr/>
        </p:nvSpPr>
        <p:spPr bwMode="blackWhite">
          <a:xfrm>
            <a:off x="190500" y="1057275"/>
            <a:ext cx="1762125" cy="804863"/>
          </a:xfrm>
          <a:prstGeom prst="rect">
            <a:avLst/>
          </a:prstGeom>
          <a:solidFill>
            <a:srgbClr val="FFFF99"/>
          </a:solidFill>
          <a:ln w="28575">
            <a:solidFill>
              <a:schemeClr val="accent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cs typeface="Times New Roman" panose="02020603050405020304" pitchFamily="18" charset="0"/>
              </a:rPr>
              <a:t>Equipe</a:t>
            </a:r>
            <a:br>
              <a:rPr lang="en-US" altLang="en-US" sz="1600">
                <a:solidFill>
                  <a:srgbClr val="000000"/>
                </a:solidFill>
                <a:cs typeface="Times New Roman" panose="02020603050405020304" pitchFamily="18" charset="0"/>
              </a:rPr>
            </a:br>
            <a:r>
              <a:rPr lang="en-US" altLang="en-US" sz="1600">
                <a:solidFill>
                  <a:srgbClr val="000000"/>
                </a:solidFill>
                <a:cs typeface="Times New Roman" panose="02020603050405020304" pitchFamily="18" charset="0"/>
              </a:rPr>
              <a:t>Estratégica</a:t>
            </a:r>
            <a:br>
              <a:rPr lang="en-US" altLang="en-US" sz="1600">
                <a:solidFill>
                  <a:srgbClr val="000000"/>
                </a:solidFill>
                <a:cs typeface="Times New Roman" panose="02020603050405020304" pitchFamily="18" charset="0"/>
              </a:rPr>
            </a:br>
            <a:r>
              <a:rPr lang="en-US" altLang="en-US" sz="1600">
                <a:solidFill>
                  <a:srgbClr val="000000"/>
                </a:solidFill>
                <a:cs typeface="Times New Roman" panose="02020603050405020304" pitchFamily="18" charset="0"/>
              </a:rPr>
              <a:t> para Contratação</a:t>
            </a:r>
            <a:r>
              <a:rPr lang="en-US" altLang="en-US" sz="1600">
                <a:cs typeface="Times New Roman" panose="02020603050405020304" pitchFamily="18" charset="0"/>
              </a:rPr>
              <a:t> </a:t>
            </a:r>
          </a:p>
        </p:txBody>
      </p:sp>
      <p:sp>
        <p:nvSpPr>
          <p:cNvPr id="134150" name="Rectangle 6"/>
          <p:cNvSpPr>
            <a:spLocks noChangeArrowheads="1"/>
          </p:cNvSpPr>
          <p:nvPr/>
        </p:nvSpPr>
        <p:spPr bwMode="blackWhite">
          <a:xfrm>
            <a:off x="3721100" y="4083050"/>
            <a:ext cx="4038600" cy="365125"/>
          </a:xfrm>
          <a:prstGeom prst="rect">
            <a:avLst/>
          </a:prstGeom>
          <a:solidFill>
            <a:srgbClr val="E0B8D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Remuneração e Benefícios</a:t>
            </a:r>
            <a:r>
              <a:rPr lang="en-US" altLang="en-US" sz="1600"/>
              <a:t> </a:t>
            </a:r>
          </a:p>
        </p:txBody>
      </p:sp>
      <p:pic>
        <p:nvPicPr>
          <p:cNvPr id="134151" name="Picture 7" descr="hrms_Recruitment"/>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609600" y="2195513"/>
            <a:ext cx="1306513"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2" name="Rectangle 8"/>
          <p:cNvSpPr>
            <a:spLocks noChangeArrowheads="1"/>
          </p:cNvSpPr>
          <p:nvPr/>
        </p:nvSpPr>
        <p:spPr bwMode="blackWhite">
          <a:xfrm>
            <a:off x="465138" y="3211513"/>
            <a:ext cx="2127250" cy="854075"/>
          </a:xfrm>
          <a:prstGeom prst="rect">
            <a:avLst/>
          </a:prstGeom>
          <a:solidFill>
            <a:srgbClr val="E0B8D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pt-BR" altLang="en-US" sz="1600">
                <a:solidFill>
                  <a:srgbClr val="000000"/>
                </a:solidFill>
              </a:rPr>
              <a:t>Força de Trabalho e Disponibilização de  Fornecimento</a:t>
            </a:r>
            <a:r>
              <a:rPr lang="en-US" altLang="en-US" sz="1600"/>
              <a:t> </a:t>
            </a:r>
          </a:p>
        </p:txBody>
      </p:sp>
      <p:pic>
        <p:nvPicPr>
          <p:cNvPr id="134153" name="Picture 9" descr="Compemsation_Benefits"/>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2824163" y="2220913"/>
            <a:ext cx="1316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4" name="Rectangle 10"/>
          <p:cNvSpPr>
            <a:spLocks noChangeArrowheads="1"/>
          </p:cNvSpPr>
          <p:nvPr/>
        </p:nvSpPr>
        <p:spPr bwMode="auto">
          <a:xfrm>
            <a:off x="1751013" y="1866900"/>
            <a:ext cx="1246187"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Administrar</a:t>
            </a:r>
            <a:br>
              <a:rPr lang="en-US" altLang="en-US" sz="1600">
                <a:solidFill>
                  <a:srgbClr val="000000"/>
                </a:solidFill>
              </a:rPr>
            </a:br>
            <a:r>
              <a:rPr lang="en-US" altLang="en-US" sz="1600">
                <a:solidFill>
                  <a:srgbClr val="000000"/>
                </a:solidFill>
              </a:rPr>
              <a:t>Benefícios do</a:t>
            </a:r>
            <a:br>
              <a:rPr lang="en-US" altLang="en-US" sz="1600">
                <a:solidFill>
                  <a:srgbClr val="000000"/>
                </a:solidFill>
              </a:rPr>
            </a:br>
            <a:r>
              <a:rPr lang="en-US" altLang="en-US" sz="1600">
                <a:solidFill>
                  <a:srgbClr val="000000"/>
                </a:solidFill>
              </a:rPr>
              <a:t> Funcionário</a:t>
            </a:r>
            <a:r>
              <a:rPr lang="en-US" altLang="en-US" sz="1600"/>
              <a:t> </a:t>
            </a:r>
          </a:p>
        </p:txBody>
      </p:sp>
      <p:pic>
        <p:nvPicPr>
          <p:cNvPr id="134155" name="Picture 11" descr="hrms-Collective agreements"/>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5395913" y="2195513"/>
            <a:ext cx="1233487"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6" name="Line 12"/>
          <p:cNvSpPr>
            <a:spLocks noChangeShapeType="1"/>
          </p:cNvSpPr>
          <p:nvPr/>
        </p:nvSpPr>
        <p:spPr bwMode="auto">
          <a:xfrm>
            <a:off x="4140200" y="2971800"/>
            <a:ext cx="1257300"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4157" name="Rectangle 13"/>
          <p:cNvSpPr>
            <a:spLocks noChangeArrowheads="1"/>
          </p:cNvSpPr>
          <p:nvPr/>
        </p:nvSpPr>
        <p:spPr bwMode="auto">
          <a:xfrm>
            <a:off x="6502400" y="1795463"/>
            <a:ext cx="149383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Gerenciar</a:t>
            </a:r>
            <a:br>
              <a:rPr lang="en-US" altLang="en-US" sz="1600">
                <a:solidFill>
                  <a:srgbClr val="000000"/>
                </a:solidFill>
              </a:rPr>
            </a:br>
            <a:r>
              <a:rPr lang="en-US" altLang="en-US" sz="1600">
                <a:solidFill>
                  <a:srgbClr val="000000"/>
                </a:solidFill>
              </a:rPr>
              <a:t> Inscrição de Benefícios</a:t>
            </a:r>
            <a:r>
              <a:rPr lang="en-US" altLang="en-US" sz="1600"/>
              <a:t> </a:t>
            </a:r>
          </a:p>
        </p:txBody>
      </p:sp>
      <p:pic>
        <p:nvPicPr>
          <p:cNvPr id="134158" name="Picture 14" descr="hrms_thirdparty"/>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gray">
          <a:xfrm>
            <a:off x="7613650" y="2363788"/>
            <a:ext cx="895350"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9" name="Rectangle 15"/>
          <p:cNvSpPr>
            <a:spLocks noChangeArrowheads="1"/>
          </p:cNvSpPr>
          <p:nvPr/>
        </p:nvSpPr>
        <p:spPr bwMode="auto">
          <a:xfrm>
            <a:off x="5832475" y="3013075"/>
            <a:ext cx="205740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buClr>
                <a:srgbClr val="FF0000"/>
              </a:buClr>
              <a:buFontTx/>
              <a:buNone/>
            </a:pPr>
            <a:r>
              <a:rPr lang="pt-BR" altLang="en-US" sz="1600">
                <a:solidFill>
                  <a:srgbClr val="000000"/>
                </a:solidFill>
              </a:rPr>
              <a:t>Administrar </a:t>
            </a:r>
            <a:br>
              <a:rPr lang="pt-BR" altLang="en-US" sz="1600">
                <a:solidFill>
                  <a:srgbClr val="000000"/>
                </a:solidFill>
              </a:rPr>
            </a:br>
            <a:r>
              <a:rPr lang="pt-BR" altLang="en-US" sz="1600">
                <a:solidFill>
                  <a:srgbClr val="000000"/>
                </a:solidFill>
              </a:rPr>
              <a:t>Relacionamentos</a:t>
            </a:r>
            <a:br>
              <a:rPr lang="pt-BR" altLang="en-US" sz="1600">
                <a:solidFill>
                  <a:srgbClr val="000000"/>
                </a:solidFill>
              </a:rPr>
            </a:br>
            <a:r>
              <a:rPr lang="pt-BR" altLang="en-US" sz="1600">
                <a:solidFill>
                  <a:srgbClr val="000000"/>
                </a:solidFill>
              </a:rPr>
              <a:t>com Fornecedores </a:t>
            </a:r>
            <a:br>
              <a:rPr lang="pt-BR" altLang="en-US" sz="1600">
                <a:solidFill>
                  <a:srgbClr val="000000"/>
                </a:solidFill>
              </a:rPr>
            </a:br>
            <a:r>
              <a:rPr lang="pt-BR" altLang="en-US" sz="1600">
                <a:solidFill>
                  <a:srgbClr val="000000"/>
                </a:solidFill>
              </a:rPr>
              <a:t>Terceirizados</a:t>
            </a:r>
            <a:r>
              <a:rPr lang="en-US" altLang="en-US" sz="1600"/>
              <a:t> </a:t>
            </a:r>
          </a:p>
        </p:txBody>
      </p:sp>
      <p:sp>
        <p:nvSpPr>
          <p:cNvPr id="134160" name="Rectangle 16"/>
          <p:cNvSpPr>
            <a:spLocks noChangeArrowheads="1"/>
          </p:cNvSpPr>
          <p:nvPr/>
        </p:nvSpPr>
        <p:spPr bwMode="blackWhite">
          <a:xfrm>
            <a:off x="5522913" y="5867400"/>
            <a:ext cx="2898775" cy="365125"/>
          </a:xfrm>
          <a:prstGeom prst="rect">
            <a:avLst/>
          </a:prstGeom>
          <a:solidFill>
            <a:srgbClr val="E0B8D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Remuneração e Benefícios</a:t>
            </a:r>
            <a:r>
              <a:rPr lang="en-US" altLang="en-US" sz="1600"/>
              <a:t> </a:t>
            </a:r>
          </a:p>
        </p:txBody>
      </p:sp>
      <p:sp>
        <p:nvSpPr>
          <p:cNvPr id="134161" name="Line 17"/>
          <p:cNvSpPr>
            <a:spLocks noChangeShapeType="1"/>
          </p:cNvSpPr>
          <p:nvPr/>
        </p:nvSpPr>
        <p:spPr bwMode="auto">
          <a:xfrm>
            <a:off x="1524000" y="2971800"/>
            <a:ext cx="1257300"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4162" name="Rectangle 18"/>
          <p:cNvSpPr>
            <a:spLocks noChangeArrowheads="1"/>
          </p:cNvSpPr>
          <p:nvPr/>
        </p:nvSpPr>
        <p:spPr bwMode="auto">
          <a:xfrm>
            <a:off x="4114800" y="1866900"/>
            <a:ext cx="123507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Determinar </a:t>
            </a:r>
            <a:br>
              <a:rPr lang="en-US" altLang="en-US" sz="1600">
                <a:solidFill>
                  <a:srgbClr val="000000"/>
                </a:solidFill>
              </a:rPr>
            </a:br>
            <a:r>
              <a:rPr lang="en-US" altLang="en-US" sz="1600">
                <a:solidFill>
                  <a:srgbClr val="000000"/>
                </a:solidFill>
              </a:rPr>
              <a:t>Elegibilidade do</a:t>
            </a:r>
            <a:br>
              <a:rPr lang="en-US" altLang="en-US" sz="1600">
                <a:solidFill>
                  <a:srgbClr val="000000"/>
                </a:solidFill>
              </a:rPr>
            </a:br>
            <a:r>
              <a:rPr lang="en-US" altLang="en-US" sz="1600">
                <a:solidFill>
                  <a:srgbClr val="000000"/>
                </a:solidFill>
              </a:rPr>
              <a:t> Participante</a:t>
            </a:r>
            <a:r>
              <a:rPr lang="en-US" altLang="en-US" sz="1600"/>
              <a:t> </a:t>
            </a:r>
          </a:p>
        </p:txBody>
      </p:sp>
      <p:sp>
        <p:nvSpPr>
          <p:cNvPr id="134163" name="Line 19"/>
          <p:cNvSpPr>
            <a:spLocks noChangeShapeType="1"/>
          </p:cNvSpPr>
          <p:nvPr/>
        </p:nvSpPr>
        <p:spPr bwMode="auto">
          <a:xfrm>
            <a:off x="6400800" y="2971800"/>
            <a:ext cx="1257300"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4164" name="Line 20"/>
          <p:cNvSpPr>
            <a:spLocks noChangeShapeType="1"/>
          </p:cNvSpPr>
          <p:nvPr/>
        </p:nvSpPr>
        <p:spPr bwMode="auto">
          <a:xfrm>
            <a:off x="8229600" y="3429000"/>
            <a:ext cx="0" cy="76200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4165" name="Line 21"/>
          <p:cNvSpPr>
            <a:spLocks noChangeShapeType="1"/>
          </p:cNvSpPr>
          <p:nvPr/>
        </p:nvSpPr>
        <p:spPr bwMode="auto">
          <a:xfrm>
            <a:off x="3733800" y="4038600"/>
            <a:ext cx="4114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4166" name="Line 22"/>
          <p:cNvSpPr>
            <a:spLocks noChangeShapeType="1"/>
          </p:cNvSpPr>
          <p:nvPr/>
        </p:nvSpPr>
        <p:spPr bwMode="auto">
          <a:xfrm flipV="1">
            <a:off x="3733800" y="3505200"/>
            <a:ext cx="0" cy="533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4167" name="Line 23"/>
          <p:cNvSpPr>
            <a:spLocks noChangeShapeType="1"/>
          </p:cNvSpPr>
          <p:nvPr/>
        </p:nvSpPr>
        <p:spPr bwMode="auto">
          <a:xfrm flipV="1">
            <a:off x="5842000" y="3162300"/>
            <a:ext cx="0" cy="8636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4168" name="Line 24"/>
          <p:cNvSpPr>
            <a:spLocks noChangeShapeType="1"/>
          </p:cNvSpPr>
          <p:nvPr/>
        </p:nvSpPr>
        <p:spPr bwMode="auto">
          <a:xfrm flipV="1">
            <a:off x="7835900" y="3441700"/>
            <a:ext cx="0" cy="584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34169" name="Group 25"/>
          <p:cNvGrpSpPr>
            <a:grpSpLocks/>
          </p:cNvGrpSpPr>
          <p:nvPr/>
        </p:nvGrpSpPr>
        <p:grpSpPr bwMode="auto">
          <a:xfrm>
            <a:off x="7294563" y="4051300"/>
            <a:ext cx="1163637" cy="1587500"/>
            <a:chOff x="4512" y="2544"/>
            <a:chExt cx="733" cy="1000"/>
          </a:xfrm>
        </p:grpSpPr>
        <p:pic>
          <p:nvPicPr>
            <p:cNvPr id="134183" name="Picture 26" descr="hrms_FSA"/>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gray">
            <a:xfrm>
              <a:off x="4560" y="2544"/>
              <a:ext cx="685" cy="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84" name="Picture 27" descr="Dollar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gray">
            <a:xfrm>
              <a:off x="4512" y="3256"/>
              <a:ext cx="4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4170" name="Rectangle 28"/>
          <p:cNvSpPr>
            <a:spLocks noChangeArrowheads="1"/>
          </p:cNvSpPr>
          <p:nvPr/>
        </p:nvSpPr>
        <p:spPr bwMode="auto">
          <a:xfrm>
            <a:off x="3592513" y="4387850"/>
            <a:ext cx="217011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pt-BR" altLang="en-US" sz="1600">
                <a:solidFill>
                  <a:srgbClr val="000000"/>
                </a:solidFill>
              </a:rPr>
              <a:t>Contabilizar até </a:t>
            </a:r>
            <a:br>
              <a:rPr lang="pt-BR" altLang="en-US" sz="1600">
                <a:solidFill>
                  <a:srgbClr val="000000"/>
                </a:solidFill>
              </a:rPr>
            </a:br>
            <a:r>
              <a:rPr lang="pt-BR" altLang="en-US" sz="1600">
                <a:solidFill>
                  <a:srgbClr val="000000"/>
                </a:solidFill>
              </a:rPr>
              <a:t>Folha de Pagamento</a:t>
            </a:r>
            <a:r>
              <a:rPr lang="en-US" altLang="en-US" sz="1600"/>
              <a:t> </a:t>
            </a:r>
          </a:p>
        </p:txBody>
      </p:sp>
      <p:pic>
        <p:nvPicPr>
          <p:cNvPr id="134171" name="Picture 29" descr="ledge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gray">
          <a:xfrm>
            <a:off x="4164013" y="4786313"/>
            <a:ext cx="1169987"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72" name="Rectangle 30"/>
          <p:cNvSpPr>
            <a:spLocks noChangeArrowheads="1"/>
          </p:cNvSpPr>
          <p:nvPr/>
        </p:nvSpPr>
        <p:spPr bwMode="auto">
          <a:xfrm>
            <a:off x="6032500" y="4400550"/>
            <a:ext cx="137160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pt-BR" altLang="en-US" sz="1600">
                <a:solidFill>
                  <a:srgbClr val="000000"/>
                </a:solidFill>
              </a:rPr>
              <a:t>Administrar Contas </a:t>
            </a:r>
            <a:br>
              <a:rPr lang="pt-BR" altLang="en-US" sz="1600">
                <a:solidFill>
                  <a:srgbClr val="000000"/>
                </a:solidFill>
              </a:rPr>
            </a:br>
            <a:r>
              <a:rPr lang="pt-BR" altLang="en-US" sz="1600">
                <a:solidFill>
                  <a:srgbClr val="000000"/>
                </a:solidFill>
              </a:rPr>
              <a:t>de Despesa de Flexfield</a:t>
            </a:r>
            <a:r>
              <a:rPr lang="en-US" altLang="en-US" sz="1600"/>
              <a:t> </a:t>
            </a:r>
          </a:p>
        </p:txBody>
      </p:sp>
      <p:sp>
        <p:nvSpPr>
          <p:cNvPr id="134173" name="Line 31"/>
          <p:cNvSpPr>
            <a:spLocks noChangeShapeType="1"/>
          </p:cNvSpPr>
          <p:nvPr/>
        </p:nvSpPr>
        <p:spPr bwMode="auto">
          <a:xfrm>
            <a:off x="2044700" y="5410200"/>
            <a:ext cx="2146300" cy="0"/>
          </a:xfrm>
          <a:prstGeom prst="line">
            <a:avLst/>
          </a:prstGeom>
          <a:noFill/>
          <a:ln w="28575">
            <a:solidFill>
              <a:schemeClr val="tx1"/>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34174" name="Rectangle 32"/>
          <p:cNvSpPr>
            <a:spLocks noChangeArrowheads="1"/>
          </p:cNvSpPr>
          <p:nvPr/>
        </p:nvSpPr>
        <p:spPr bwMode="auto">
          <a:xfrm>
            <a:off x="1924050" y="4521200"/>
            <a:ext cx="17145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pt-BR" altLang="en-US" sz="1600">
                <a:solidFill>
                  <a:srgbClr val="000000"/>
                </a:solidFill>
                <a:cs typeface="Times New Roman" panose="02020603050405020304" pitchFamily="18" charset="0"/>
              </a:rPr>
              <a:t>Folha de </a:t>
            </a:r>
            <a:br>
              <a:rPr lang="pt-BR" altLang="en-US" sz="1600">
                <a:solidFill>
                  <a:srgbClr val="000000"/>
                </a:solidFill>
                <a:cs typeface="Times New Roman" panose="02020603050405020304" pitchFamily="18" charset="0"/>
              </a:rPr>
            </a:br>
            <a:r>
              <a:rPr lang="pt-BR" altLang="en-US" sz="1600">
                <a:solidFill>
                  <a:srgbClr val="000000"/>
                </a:solidFill>
                <a:cs typeface="Times New Roman" panose="02020603050405020304" pitchFamily="18" charset="0"/>
              </a:rPr>
              <a:t>Pagamento</a:t>
            </a:r>
            <a:br>
              <a:rPr lang="pt-BR" altLang="en-US" sz="1600">
                <a:solidFill>
                  <a:srgbClr val="000000"/>
                </a:solidFill>
                <a:cs typeface="Times New Roman" panose="02020603050405020304" pitchFamily="18" charset="0"/>
              </a:rPr>
            </a:br>
            <a:r>
              <a:rPr lang="pt-BR" altLang="en-US" sz="1600">
                <a:solidFill>
                  <a:srgbClr val="000000"/>
                </a:solidFill>
                <a:cs typeface="Times New Roman" panose="02020603050405020304" pitchFamily="18" charset="0"/>
              </a:rPr>
              <a:t>até  Pagamento</a:t>
            </a:r>
            <a:r>
              <a:rPr lang="en-US" altLang="en-US" sz="1600">
                <a:cs typeface="Times New Roman" panose="02020603050405020304" pitchFamily="18" charset="0"/>
              </a:rPr>
              <a:t> </a:t>
            </a:r>
          </a:p>
        </p:txBody>
      </p:sp>
      <p:pic>
        <p:nvPicPr>
          <p:cNvPr id="134175" name="Picture 33" descr="hrms_Salary"/>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gray">
          <a:xfrm>
            <a:off x="647700" y="4540250"/>
            <a:ext cx="1763713" cy="131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76" name="Rectangle 34"/>
          <p:cNvSpPr>
            <a:spLocks noChangeArrowheads="1"/>
          </p:cNvSpPr>
          <p:nvPr/>
        </p:nvSpPr>
        <p:spPr bwMode="blackWhite">
          <a:xfrm>
            <a:off x="2994025" y="5888038"/>
            <a:ext cx="2314575" cy="365125"/>
          </a:xfrm>
          <a:prstGeom prst="rect">
            <a:avLst/>
          </a:prstGeom>
          <a:solidFill>
            <a:srgbClr val="E0B8D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Folha de Pagamento</a:t>
            </a:r>
            <a:r>
              <a:rPr lang="en-US" altLang="en-US" sz="1600"/>
              <a:t> </a:t>
            </a:r>
          </a:p>
        </p:txBody>
      </p:sp>
      <p:sp>
        <p:nvSpPr>
          <p:cNvPr id="134177" name="Rectangle 35"/>
          <p:cNvSpPr>
            <a:spLocks noChangeArrowheads="1"/>
          </p:cNvSpPr>
          <p:nvPr/>
        </p:nvSpPr>
        <p:spPr bwMode="blackWhite">
          <a:xfrm>
            <a:off x="212725" y="5862638"/>
            <a:ext cx="2341563" cy="365125"/>
          </a:xfrm>
          <a:prstGeom prst="rect">
            <a:avLst/>
          </a:prstGeom>
          <a:solidFill>
            <a:srgbClr val="E0B8D6"/>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r>
              <a:rPr lang="en-US" altLang="en-US" sz="1600">
                <a:solidFill>
                  <a:srgbClr val="000000"/>
                </a:solidFill>
              </a:rPr>
              <a:t>Folha de Pagamento</a:t>
            </a:r>
            <a:r>
              <a:rPr lang="en-US" altLang="en-US" sz="1600"/>
              <a:t> </a:t>
            </a:r>
          </a:p>
        </p:txBody>
      </p:sp>
      <p:sp>
        <p:nvSpPr>
          <p:cNvPr id="36" name="Rectangle 2"/>
          <p:cNvSpPr txBox="1">
            <a:spLocks noChangeArrowheads="1"/>
          </p:cNvSpPr>
          <p:nvPr/>
        </p:nvSpPr>
        <p:spPr bwMode="auto">
          <a:xfrm>
            <a:off x="0" y="-74613"/>
            <a:ext cx="9132888"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err="1" smtClean="0">
                <a:solidFill>
                  <a:srgbClr val="003366"/>
                </a:solidFill>
              </a:rPr>
              <a:t>eBusiness</a:t>
            </a:r>
            <a:r>
              <a:rPr lang="pt-BR" altLang="pt-BR" b="1" kern="0" dirty="0" smtClean="0">
                <a:solidFill>
                  <a:srgbClr val="003366"/>
                </a:solidFill>
              </a:rPr>
              <a:t> </a:t>
            </a:r>
            <a:r>
              <a:rPr lang="pt-BR" altLang="pt-BR" b="1" kern="0" dirty="0" err="1" smtClean="0">
                <a:solidFill>
                  <a:srgbClr val="003366"/>
                </a:solidFill>
              </a:rPr>
              <a:t>Suite</a:t>
            </a:r>
            <a:r>
              <a:rPr lang="pt-BR" altLang="pt-BR" b="1" kern="0" dirty="0" smtClean="0">
                <a:solidFill>
                  <a:srgbClr val="003366"/>
                </a:solidFill>
              </a:rPr>
              <a:t> – </a:t>
            </a:r>
            <a:r>
              <a:rPr lang="pt-BR" altLang="pt-BR" sz="3600" b="1" kern="0" dirty="0" smtClean="0">
                <a:solidFill>
                  <a:srgbClr val="003366"/>
                </a:solidFill>
              </a:rPr>
              <a:t>Entidades</a:t>
            </a:r>
          </a:p>
        </p:txBody>
      </p:sp>
      <p:sp>
        <p:nvSpPr>
          <p:cNvPr id="134179"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34180" name="Group 6"/>
          <p:cNvGrpSpPr>
            <a:grpSpLocks/>
          </p:cNvGrpSpPr>
          <p:nvPr/>
        </p:nvGrpSpPr>
        <p:grpSpPr bwMode="auto">
          <a:xfrm>
            <a:off x="7308850" y="117475"/>
            <a:ext cx="1735138" cy="647700"/>
            <a:chOff x="7380288" y="41275"/>
            <a:chExt cx="1735137" cy="647700"/>
          </a:xfrm>
        </p:grpSpPr>
        <p:sp>
          <p:nvSpPr>
            <p:cNvPr id="39"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40"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6194" name="Group 6"/>
          <p:cNvGrpSpPr>
            <a:grpSpLocks/>
          </p:cNvGrpSpPr>
          <p:nvPr/>
        </p:nvGrpSpPr>
        <p:grpSpPr bwMode="auto">
          <a:xfrm>
            <a:off x="7308850" y="117475"/>
            <a:ext cx="1735138" cy="647700"/>
            <a:chOff x="7380288" y="41275"/>
            <a:chExt cx="1735137" cy="647700"/>
          </a:xfrm>
        </p:grpSpPr>
        <p:sp>
          <p:nvSpPr>
            <p:cNvPr id="6"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7"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pic>
        <p:nvPicPr>
          <p:cNvPr id="136195"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1113" y="836613"/>
            <a:ext cx="9097962" cy="5873750"/>
          </a:xfrm>
        </p:spPr>
      </p:pic>
      <p:sp>
        <p:nvSpPr>
          <p:cNvPr id="136196" name="Line 5"/>
          <p:cNvSpPr>
            <a:spLocks noChangeShapeType="1"/>
          </p:cNvSpPr>
          <p:nvPr/>
        </p:nvSpPr>
        <p:spPr bwMode="auto">
          <a:xfrm>
            <a:off x="0" y="1125538"/>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
        <p:nvSpPr>
          <p:cNvPr id="136197" name="Rectangle 2"/>
          <p:cNvSpPr>
            <a:spLocks noGrp="1" noChangeArrowheads="1"/>
          </p:cNvSpPr>
          <p:nvPr>
            <p:ph type="title"/>
          </p:nvPr>
        </p:nvSpPr>
        <p:spPr>
          <a:xfrm>
            <a:off x="11113" y="-17463"/>
            <a:ext cx="9132887" cy="930276"/>
          </a:xfrm>
        </p:spPr>
        <p:txBody>
          <a:bodyPr/>
          <a:lstStyle/>
          <a:p>
            <a:pPr algn="l" eaLnBrk="1" hangingPunct="1"/>
            <a:r>
              <a:rPr lang="pt-BR" altLang="pt-BR" b="1" smtClean="0">
                <a:solidFill>
                  <a:srgbClr val="003366"/>
                </a:solidFill>
              </a:rPr>
              <a:t>eBusiness Suite - Arquitetura</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842963" y="1198563"/>
            <a:ext cx="7467600" cy="366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8243" name="Rectangle 2"/>
          <p:cNvSpPr>
            <a:spLocks noGrp="1" noChangeArrowheads="1"/>
          </p:cNvSpPr>
          <p:nvPr>
            <p:ph type="title"/>
          </p:nvPr>
        </p:nvSpPr>
        <p:spPr>
          <a:xfrm>
            <a:off x="11113" y="-211138"/>
            <a:ext cx="9132887" cy="1143001"/>
          </a:xfrm>
        </p:spPr>
        <p:txBody>
          <a:bodyPr/>
          <a:lstStyle/>
          <a:p>
            <a:pPr algn="l" eaLnBrk="1" hangingPunct="1"/>
            <a:r>
              <a:rPr lang="pt-BR" altLang="pt-BR" b="1" smtClean="0">
                <a:solidFill>
                  <a:srgbClr val="003366"/>
                </a:solidFill>
              </a:rPr>
              <a:t>eBusiness Suite - Login</a:t>
            </a:r>
          </a:p>
        </p:txBody>
      </p:sp>
      <p:sp>
        <p:nvSpPr>
          <p:cNvPr id="138244"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38245" name="Group 6"/>
          <p:cNvGrpSpPr>
            <a:grpSpLocks/>
          </p:cNvGrpSpPr>
          <p:nvPr/>
        </p:nvGrpSpPr>
        <p:grpSpPr bwMode="auto">
          <a:xfrm>
            <a:off x="7308850" y="117475"/>
            <a:ext cx="1735138" cy="647700"/>
            <a:chOff x="7380288" y="41275"/>
            <a:chExt cx="1735137" cy="647700"/>
          </a:xfrm>
        </p:grpSpPr>
        <p:sp>
          <p:nvSpPr>
            <p:cNvPr id="6"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7"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290" name="Group 6"/>
          <p:cNvGrpSpPr>
            <a:grpSpLocks/>
          </p:cNvGrpSpPr>
          <p:nvPr/>
        </p:nvGrpSpPr>
        <p:grpSpPr bwMode="auto">
          <a:xfrm>
            <a:off x="7308850" y="117475"/>
            <a:ext cx="1735138" cy="647700"/>
            <a:chOff x="7380288" y="41275"/>
            <a:chExt cx="1735137" cy="647700"/>
          </a:xfrm>
        </p:grpSpPr>
        <p:sp>
          <p:nvSpPr>
            <p:cNvPr id="9"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10"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140291" name="Rectangle 2"/>
          <p:cNvSpPr>
            <a:spLocks noGrp="1" noChangeArrowheads="1"/>
          </p:cNvSpPr>
          <p:nvPr>
            <p:ph type="title"/>
          </p:nvPr>
        </p:nvSpPr>
        <p:spPr>
          <a:xfrm>
            <a:off x="11113" y="-211138"/>
            <a:ext cx="9132887" cy="1143001"/>
          </a:xfrm>
        </p:spPr>
        <p:txBody>
          <a:bodyPr/>
          <a:lstStyle/>
          <a:p>
            <a:pPr algn="l" eaLnBrk="1" hangingPunct="1"/>
            <a:r>
              <a:rPr lang="pt-BR" altLang="pt-BR" b="1" smtClean="0">
                <a:solidFill>
                  <a:srgbClr val="003366"/>
                </a:solidFill>
              </a:rPr>
              <a:t>eBusiness Suite – </a:t>
            </a:r>
            <a:r>
              <a:rPr lang="pt-BR" altLang="pt-BR" sz="3600" b="1" smtClean="0">
                <a:solidFill>
                  <a:srgbClr val="003366"/>
                </a:solidFill>
              </a:rPr>
              <a:t>Tipos Aplicativos</a:t>
            </a:r>
          </a:p>
        </p:txBody>
      </p:sp>
      <p:sp>
        <p:nvSpPr>
          <p:cNvPr id="140292" name="Rectangle 3"/>
          <p:cNvSpPr>
            <a:spLocks noChangeArrowheads="1"/>
          </p:cNvSpPr>
          <p:nvPr/>
        </p:nvSpPr>
        <p:spPr bwMode="auto">
          <a:xfrm>
            <a:off x="76200" y="1447800"/>
            <a:ext cx="5410200" cy="381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1"/>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Aplicativos baseados em forms</a:t>
            </a:r>
            <a:r>
              <a:rPr lang="en-US" altLang="en-US" sz="1800">
                <a:solidFill>
                  <a:schemeClr val="bg2"/>
                </a:solidFill>
              </a:rPr>
              <a:t> </a:t>
            </a:r>
          </a:p>
        </p:txBody>
      </p:sp>
      <p:sp>
        <p:nvSpPr>
          <p:cNvPr id="140293" name="Rectangle 4"/>
          <p:cNvSpPr>
            <a:spLocks noChangeArrowheads="1"/>
          </p:cNvSpPr>
          <p:nvPr/>
        </p:nvSpPr>
        <p:spPr bwMode="auto">
          <a:xfrm>
            <a:off x="5105400" y="1460500"/>
            <a:ext cx="4038600" cy="4699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1"/>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Aplicativos self-service</a:t>
            </a:r>
            <a:r>
              <a:rPr lang="en-US" altLang="en-US" sz="1800">
                <a:solidFill>
                  <a:schemeClr val="bg2"/>
                </a:solidFill>
              </a:rPr>
              <a:t> </a:t>
            </a:r>
          </a:p>
        </p:txBody>
      </p:sp>
      <p:pic>
        <p:nvPicPr>
          <p:cNvPr id="140294" name="Picture 5" descr="iexpens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5638800" y="1981200"/>
            <a:ext cx="3089275"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295" name="Picture 6" descr="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381000" y="1981200"/>
            <a:ext cx="5176838" cy="345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6"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Tree>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2338" name="Group 6"/>
          <p:cNvGrpSpPr>
            <a:grpSpLocks/>
          </p:cNvGrpSpPr>
          <p:nvPr/>
        </p:nvGrpSpPr>
        <p:grpSpPr bwMode="auto">
          <a:xfrm>
            <a:off x="7308850" y="117475"/>
            <a:ext cx="1735138" cy="647700"/>
            <a:chOff x="7380288" y="41275"/>
            <a:chExt cx="1735137" cy="647700"/>
          </a:xfrm>
        </p:grpSpPr>
        <p:sp>
          <p:nvSpPr>
            <p:cNvPr id="14"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15"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142339" name="Rectangle 3"/>
          <p:cNvSpPr>
            <a:spLocks noChangeArrowheads="1"/>
          </p:cNvSpPr>
          <p:nvPr/>
        </p:nvSpPr>
        <p:spPr bwMode="blackWhite">
          <a:xfrm>
            <a:off x="6769100" y="1308100"/>
            <a:ext cx="1522413" cy="7112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Barra de </a:t>
            </a:r>
            <a:br>
              <a:rPr lang="en-US" altLang="en-US" sz="1800">
                <a:solidFill>
                  <a:srgbClr val="000000"/>
                </a:solidFill>
              </a:rPr>
            </a:br>
            <a:r>
              <a:rPr lang="en-US" altLang="en-US" sz="1800">
                <a:solidFill>
                  <a:srgbClr val="000000"/>
                </a:solidFill>
              </a:rPr>
              <a:t>ferramentas</a:t>
            </a:r>
            <a:r>
              <a:rPr lang="en-US" altLang="en-US" sz="1800"/>
              <a:t> </a:t>
            </a:r>
          </a:p>
        </p:txBody>
      </p:sp>
      <p:pic>
        <p:nvPicPr>
          <p:cNvPr id="142340" name="Picture 4" descr="Navigator windowtabs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384425" y="1379538"/>
            <a:ext cx="4067175" cy="477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1" name="Rectangle 5"/>
          <p:cNvSpPr>
            <a:spLocks noChangeArrowheads="1"/>
          </p:cNvSpPr>
          <p:nvPr/>
        </p:nvSpPr>
        <p:spPr bwMode="blackWhite">
          <a:xfrm>
            <a:off x="4800600" y="4165600"/>
            <a:ext cx="1257300" cy="4064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Funções</a:t>
            </a:r>
            <a:r>
              <a:rPr lang="en-US" altLang="en-US" sz="1800"/>
              <a:t> </a:t>
            </a:r>
          </a:p>
        </p:txBody>
      </p:sp>
      <p:sp>
        <p:nvSpPr>
          <p:cNvPr id="142342" name="Line 6"/>
          <p:cNvSpPr>
            <a:spLocks noChangeShapeType="1"/>
          </p:cNvSpPr>
          <p:nvPr/>
        </p:nvSpPr>
        <p:spPr bwMode="gray">
          <a:xfrm flipH="1">
            <a:off x="3670300" y="4343400"/>
            <a:ext cx="1130300" cy="0"/>
          </a:xfrm>
          <a:prstGeom prst="line">
            <a:avLst/>
          </a:prstGeom>
          <a:noFill/>
          <a:ln w="28575" cap="rnd">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2343" name="Rectangle 7"/>
          <p:cNvSpPr>
            <a:spLocks noChangeArrowheads="1"/>
          </p:cNvSpPr>
          <p:nvPr/>
        </p:nvSpPr>
        <p:spPr bwMode="blackWhite">
          <a:xfrm>
            <a:off x="6769100" y="2133600"/>
            <a:ext cx="1600200" cy="3810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Guias</a:t>
            </a:r>
            <a:r>
              <a:rPr lang="en-US" altLang="en-US" sz="1800"/>
              <a:t> </a:t>
            </a:r>
          </a:p>
        </p:txBody>
      </p:sp>
      <p:sp>
        <p:nvSpPr>
          <p:cNvPr id="142344" name="Line 8"/>
          <p:cNvSpPr>
            <a:spLocks noChangeShapeType="1"/>
          </p:cNvSpPr>
          <p:nvPr/>
        </p:nvSpPr>
        <p:spPr bwMode="gray">
          <a:xfrm flipH="1" flipV="1">
            <a:off x="4165600" y="2260600"/>
            <a:ext cx="2590800" cy="0"/>
          </a:xfrm>
          <a:prstGeom prst="line">
            <a:avLst/>
          </a:prstGeom>
          <a:noFill/>
          <a:ln w="28575" cap="rnd">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2345" name="Line 9"/>
          <p:cNvSpPr>
            <a:spLocks noChangeShapeType="1"/>
          </p:cNvSpPr>
          <p:nvPr/>
        </p:nvSpPr>
        <p:spPr bwMode="gray">
          <a:xfrm flipH="1">
            <a:off x="6235700" y="1854200"/>
            <a:ext cx="533400" cy="0"/>
          </a:xfrm>
          <a:prstGeom prst="line">
            <a:avLst/>
          </a:prstGeom>
          <a:noFill/>
          <a:ln w="28575" cap="rnd">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2346" name="Rectangle 10"/>
          <p:cNvSpPr>
            <a:spLocks noChangeArrowheads="1"/>
          </p:cNvSpPr>
          <p:nvPr/>
        </p:nvSpPr>
        <p:spPr bwMode="blackWhite">
          <a:xfrm>
            <a:off x="193675" y="1473200"/>
            <a:ext cx="1736725" cy="6604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Barra </a:t>
            </a:r>
            <a:br>
              <a:rPr lang="en-US" altLang="en-US" sz="1800">
                <a:solidFill>
                  <a:srgbClr val="000000"/>
                </a:solidFill>
              </a:rPr>
            </a:br>
            <a:r>
              <a:rPr lang="en-US" altLang="en-US" sz="1800">
                <a:solidFill>
                  <a:srgbClr val="000000"/>
                </a:solidFill>
              </a:rPr>
              <a:t>de menus</a:t>
            </a:r>
            <a:r>
              <a:rPr lang="en-US" altLang="en-US" sz="1800"/>
              <a:t> </a:t>
            </a:r>
          </a:p>
        </p:txBody>
      </p:sp>
      <p:sp>
        <p:nvSpPr>
          <p:cNvPr id="142347" name="Line 11"/>
          <p:cNvSpPr>
            <a:spLocks noChangeShapeType="1"/>
          </p:cNvSpPr>
          <p:nvPr/>
        </p:nvSpPr>
        <p:spPr bwMode="gray">
          <a:xfrm flipH="1">
            <a:off x="1943100" y="1663700"/>
            <a:ext cx="457200" cy="0"/>
          </a:xfrm>
          <a:prstGeom prst="line">
            <a:avLst/>
          </a:prstGeom>
          <a:noFill/>
          <a:ln w="28575" cap="rnd">
            <a:solidFill>
              <a:schemeClr val="accent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2348" name="Rectangle 2"/>
          <p:cNvSpPr>
            <a:spLocks noGrp="1" noChangeArrowheads="1"/>
          </p:cNvSpPr>
          <p:nvPr>
            <p:ph type="title"/>
          </p:nvPr>
        </p:nvSpPr>
        <p:spPr>
          <a:xfrm>
            <a:off x="11113" y="-211138"/>
            <a:ext cx="9132887" cy="1143001"/>
          </a:xfrm>
        </p:spPr>
        <p:txBody>
          <a:bodyPr/>
          <a:lstStyle/>
          <a:p>
            <a:pPr algn="l" eaLnBrk="1" hangingPunct="1"/>
            <a:r>
              <a:rPr lang="pt-BR" altLang="pt-BR" b="1" smtClean="0">
                <a:solidFill>
                  <a:srgbClr val="003366"/>
                </a:solidFill>
              </a:rPr>
              <a:t>eBusiness Suite – </a:t>
            </a:r>
            <a:r>
              <a:rPr lang="pt-BR" altLang="pt-BR" sz="3600" b="1" smtClean="0">
                <a:solidFill>
                  <a:srgbClr val="003366"/>
                </a:solidFill>
              </a:rPr>
              <a:t>Navegabilidade</a:t>
            </a:r>
          </a:p>
        </p:txBody>
      </p:sp>
      <p:sp>
        <p:nvSpPr>
          <p:cNvPr id="142349"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386" name="Group 6"/>
          <p:cNvGrpSpPr>
            <a:grpSpLocks/>
          </p:cNvGrpSpPr>
          <p:nvPr/>
        </p:nvGrpSpPr>
        <p:grpSpPr bwMode="auto">
          <a:xfrm>
            <a:off x="7308850" y="117475"/>
            <a:ext cx="1735138" cy="647700"/>
            <a:chOff x="7380288" y="41275"/>
            <a:chExt cx="1735137" cy="647700"/>
          </a:xfrm>
        </p:grpSpPr>
        <p:sp>
          <p:nvSpPr>
            <p:cNvPr id="31"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2"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pic>
        <p:nvPicPr>
          <p:cNvPr id="144387" name="Picture 3" descr="regiontabs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108200" y="1752600"/>
            <a:ext cx="4826000"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8" name="Rectangle 4"/>
          <p:cNvSpPr>
            <a:spLocks noChangeArrowheads="1"/>
          </p:cNvSpPr>
          <p:nvPr/>
        </p:nvSpPr>
        <p:spPr bwMode="blackWhite">
          <a:xfrm>
            <a:off x="2362200" y="1308100"/>
            <a:ext cx="1524000" cy="3810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Janela MDI</a:t>
            </a:r>
            <a:r>
              <a:rPr lang="en-US" altLang="en-US" sz="1800">
                <a:solidFill>
                  <a:schemeClr val="bg2"/>
                </a:solidFill>
              </a:rPr>
              <a:t> </a:t>
            </a:r>
          </a:p>
        </p:txBody>
      </p:sp>
      <p:sp>
        <p:nvSpPr>
          <p:cNvPr id="144389" name="Rectangle 5"/>
          <p:cNvSpPr>
            <a:spLocks noChangeArrowheads="1"/>
          </p:cNvSpPr>
          <p:nvPr/>
        </p:nvSpPr>
        <p:spPr bwMode="blackWhite">
          <a:xfrm>
            <a:off x="4286250" y="1308100"/>
            <a:ext cx="2209800" cy="3810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Dica de ferramenta</a:t>
            </a:r>
            <a:r>
              <a:rPr lang="en-US" altLang="en-US" sz="1800"/>
              <a:t> </a:t>
            </a:r>
          </a:p>
        </p:txBody>
      </p:sp>
      <p:sp>
        <p:nvSpPr>
          <p:cNvPr id="144390" name="Line 6"/>
          <p:cNvSpPr>
            <a:spLocks noChangeShapeType="1"/>
          </p:cNvSpPr>
          <p:nvPr/>
        </p:nvSpPr>
        <p:spPr bwMode="gray">
          <a:xfrm>
            <a:off x="5141913" y="1676400"/>
            <a:ext cx="1587" cy="381000"/>
          </a:xfrm>
          <a:prstGeom prst="line">
            <a:avLst/>
          </a:prstGeom>
          <a:noFill/>
          <a:ln w="28575">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44391" name="Rectangle 7"/>
          <p:cNvSpPr>
            <a:spLocks noChangeArrowheads="1"/>
          </p:cNvSpPr>
          <p:nvPr/>
        </p:nvSpPr>
        <p:spPr bwMode="blackWhite">
          <a:xfrm>
            <a:off x="7162800" y="4064000"/>
            <a:ext cx="1028700" cy="3810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Janela</a:t>
            </a:r>
            <a:r>
              <a:rPr lang="en-US" altLang="en-US" sz="1800"/>
              <a:t> </a:t>
            </a:r>
          </a:p>
        </p:txBody>
      </p:sp>
      <p:sp>
        <p:nvSpPr>
          <p:cNvPr id="144392" name="Line 8"/>
          <p:cNvSpPr>
            <a:spLocks noChangeShapeType="1"/>
          </p:cNvSpPr>
          <p:nvPr/>
        </p:nvSpPr>
        <p:spPr bwMode="gray">
          <a:xfrm flipH="1">
            <a:off x="6477000" y="4267200"/>
            <a:ext cx="685800" cy="0"/>
          </a:xfrm>
          <a:prstGeom prst="line">
            <a:avLst/>
          </a:prstGeom>
          <a:noFill/>
          <a:ln w="28575" cap="rnd">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4393" name="Line 9"/>
          <p:cNvSpPr>
            <a:spLocks noChangeShapeType="1"/>
          </p:cNvSpPr>
          <p:nvPr/>
        </p:nvSpPr>
        <p:spPr bwMode="gray">
          <a:xfrm>
            <a:off x="3124200" y="1676400"/>
            <a:ext cx="0" cy="469900"/>
          </a:xfrm>
          <a:prstGeom prst="line">
            <a:avLst/>
          </a:prstGeom>
          <a:noFill/>
          <a:ln w="28575">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44394" name="Rectangle 10"/>
          <p:cNvSpPr>
            <a:spLocks noChangeArrowheads="1"/>
          </p:cNvSpPr>
          <p:nvPr/>
        </p:nvSpPr>
        <p:spPr bwMode="blackWhite">
          <a:xfrm>
            <a:off x="7162800" y="3009900"/>
            <a:ext cx="1571625" cy="66675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Ícone de lista </a:t>
            </a:r>
            <a:br>
              <a:rPr lang="en-US" altLang="en-US" sz="1800">
                <a:solidFill>
                  <a:srgbClr val="000000"/>
                </a:solidFill>
              </a:rPr>
            </a:br>
            <a:r>
              <a:rPr lang="en-US" altLang="en-US" sz="1800">
                <a:solidFill>
                  <a:srgbClr val="000000"/>
                </a:solidFill>
              </a:rPr>
              <a:t>de valores</a:t>
            </a:r>
            <a:r>
              <a:rPr lang="en-US" altLang="en-US" sz="1800">
                <a:solidFill>
                  <a:schemeClr val="bg2"/>
                </a:solidFill>
              </a:rPr>
              <a:t> </a:t>
            </a:r>
          </a:p>
        </p:txBody>
      </p:sp>
      <p:sp>
        <p:nvSpPr>
          <p:cNvPr id="144395" name="Line 11"/>
          <p:cNvSpPr>
            <a:spLocks noChangeShapeType="1"/>
          </p:cNvSpPr>
          <p:nvPr/>
        </p:nvSpPr>
        <p:spPr bwMode="gray">
          <a:xfrm flipH="1">
            <a:off x="3886200" y="3200400"/>
            <a:ext cx="3276600" cy="0"/>
          </a:xfrm>
          <a:prstGeom prst="line">
            <a:avLst/>
          </a:prstGeom>
          <a:noFill/>
          <a:ln w="28575" cap="rnd">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4396" name="Rectangle 12"/>
          <p:cNvSpPr>
            <a:spLocks noChangeArrowheads="1"/>
          </p:cNvSpPr>
          <p:nvPr/>
        </p:nvSpPr>
        <p:spPr bwMode="blackWhite">
          <a:xfrm>
            <a:off x="581025" y="4330700"/>
            <a:ext cx="1158875" cy="6096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Registro</a:t>
            </a:r>
            <a:br>
              <a:rPr lang="en-US" altLang="en-US" sz="1800">
                <a:solidFill>
                  <a:srgbClr val="000000"/>
                </a:solidFill>
              </a:rPr>
            </a:br>
            <a:r>
              <a:rPr lang="en-US" altLang="en-US" sz="1800">
                <a:solidFill>
                  <a:srgbClr val="000000"/>
                </a:solidFill>
              </a:rPr>
              <a:t>ou linha</a:t>
            </a:r>
            <a:r>
              <a:rPr lang="en-US" altLang="en-US" sz="1800">
                <a:solidFill>
                  <a:schemeClr val="bg2"/>
                </a:solidFill>
              </a:rPr>
              <a:t> </a:t>
            </a:r>
            <a:endParaRPr lang="en-US" altLang="en-US" sz="1800"/>
          </a:p>
        </p:txBody>
      </p:sp>
      <p:sp>
        <p:nvSpPr>
          <p:cNvPr id="144397" name="Rectangle 13"/>
          <p:cNvSpPr>
            <a:spLocks noChangeArrowheads="1"/>
          </p:cNvSpPr>
          <p:nvPr/>
        </p:nvSpPr>
        <p:spPr bwMode="blackWhite">
          <a:xfrm>
            <a:off x="3924300" y="5257800"/>
            <a:ext cx="1649413" cy="3810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Lista pop-up</a:t>
            </a:r>
            <a:r>
              <a:rPr lang="en-US" altLang="en-US" sz="1800">
                <a:solidFill>
                  <a:schemeClr val="bg2"/>
                </a:solidFill>
              </a:rPr>
              <a:t> </a:t>
            </a:r>
            <a:endParaRPr lang="en-US" altLang="en-US" sz="1800"/>
          </a:p>
        </p:txBody>
      </p:sp>
      <p:sp>
        <p:nvSpPr>
          <p:cNvPr id="144398" name="Rectangle 14"/>
          <p:cNvSpPr>
            <a:spLocks noChangeArrowheads="1"/>
          </p:cNvSpPr>
          <p:nvPr/>
        </p:nvSpPr>
        <p:spPr bwMode="blackWhite">
          <a:xfrm>
            <a:off x="533400" y="2832100"/>
            <a:ext cx="1206500" cy="627063"/>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Barra de</a:t>
            </a:r>
            <a:br>
              <a:rPr lang="en-US" altLang="en-US" sz="1800">
                <a:solidFill>
                  <a:srgbClr val="000000"/>
                </a:solidFill>
              </a:rPr>
            </a:br>
            <a:r>
              <a:rPr lang="en-US" altLang="en-US" sz="1800">
                <a:solidFill>
                  <a:srgbClr val="000000"/>
                </a:solidFill>
              </a:rPr>
              <a:t>título</a:t>
            </a:r>
            <a:r>
              <a:rPr lang="en-US" altLang="en-US" sz="1800">
                <a:solidFill>
                  <a:schemeClr val="bg2"/>
                </a:solidFill>
              </a:rPr>
              <a:t> </a:t>
            </a:r>
          </a:p>
        </p:txBody>
      </p:sp>
      <p:sp>
        <p:nvSpPr>
          <p:cNvPr id="144399" name="Rectangle 15"/>
          <p:cNvSpPr>
            <a:spLocks noChangeArrowheads="1"/>
          </p:cNvSpPr>
          <p:nvPr/>
        </p:nvSpPr>
        <p:spPr bwMode="blackWhite">
          <a:xfrm>
            <a:off x="542925" y="1828800"/>
            <a:ext cx="1196975" cy="6350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Barra de </a:t>
            </a:r>
            <a:br>
              <a:rPr lang="en-US" altLang="en-US" sz="1800">
                <a:solidFill>
                  <a:srgbClr val="000000"/>
                </a:solidFill>
              </a:rPr>
            </a:br>
            <a:r>
              <a:rPr lang="en-US" altLang="en-US" sz="1800">
                <a:solidFill>
                  <a:srgbClr val="000000"/>
                </a:solidFill>
              </a:rPr>
              <a:t>menus</a:t>
            </a:r>
            <a:r>
              <a:rPr lang="en-US" altLang="en-US" sz="1800">
                <a:solidFill>
                  <a:schemeClr val="bg2"/>
                </a:solidFill>
              </a:rPr>
              <a:t> </a:t>
            </a:r>
          </a:p>
        </p:txBody>
      </p:sp>
      <p:sp>
        <p:nvSpPr>
          <p:cNvPr id="144400" name="Line 16"/>
          <p:cNvSpPr>
            <a:spLocks noChangeShapeType="1"/>
          </p:cNvSpPr>
          <p:nvPr/>
        </p:nvSpPr>
        <p:spPr bwMode="gray">
          <a:xfrm>
            <a:off x="1733550" y="4648200"/>
            <a:ext cx="857250" cy="0"/>
          </a:xfrm>
          <a:prstGeom prst="line">
            <a:avLst/>
          </a:prstGeom>
          <a:noFill/>
          <a:ln w="28575" cap="rnd">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4401" name="Line 17"/>
          <p:cNvSpPr>
            <a:spLocks noChangeShapeType="1"/>
          </p:cNvSpPr>
          <p:nvPr/>
        </p:nvSpPr>
        <p:spPr bwMode="gray">
          <a:xfrm>
            <a:off x="4724400" y="3733800"/>
            <a:ext cx="0" cy="1524000"/>
          </a:xfrm>
          <a:prstGeom prst="line">
            <a:avLst/>
          </a:prstGeom>
          <a:noFill/>
          <a:ln w="28575" cap="rnd">
            <a:solidFill>
              <a:schemeClr val="accent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4402" name="Rectangle 18"/>
          <p:cNvSpPr>
            <a:spLocks noChangeArrowheads="1"/>
          </p:cNvSpPr>
          <p:nvPr/>
        </p:nvSpPr>
        <p:spPr bwMode="blackWhite">
          <a:xfrm>
            <a:off x="7162800" y="4625975"/>
            <a:ext cx="1439863" cy="668338"/>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Caixa de</a:t>
            </a:r>
            <a:br>
              <a:rPr lang="en-US" altLang="en-US" sz="1800">
                <a:solidFill>
                  <a:srgbClr val="000000"/>
                </a:solidFill>
              </a:rPr>
            </a:br>
            <a:r>
              <a:rPr lang="en-US" altLang="en-US" sz="1800">
                <a:solidFill>
                  <a:srgbClr val="000000"/>
                </a:solidFill>
              </a:rPr>
              <a:t> seleção</a:t>
            </a:r>
            <a:r>
              <a:rPr lang="en-US" altLang="en-US" sz="1800">
                <a:solidFill>
                  <a:schemeClr val="bg2"/>
                </a:solidFill>
              </a:rPr>
              <a:t> </a:t>
            </a:r>
          </a:p>
        </p:txBody>
      </p:sp>
      <p:sp>
        <p:nvSpPr>
          <p:cNvPr id="144403" name="Freeform 19"/>
          <p:cNvSpPr>
            <a:spLocks/>
          </p:cNvSpPr>
          <p:nvPr/>
        </p:nvSpPr>
        <p:spPr bwMode="gray">
          <a:xfrm>
            <a:off x="5105400" y="3810000"/>
            <a:ext cx="2057400" cy="1143000"/>
          </a:xfrm>
          <a:custGeom>
            <a:avLst/>
            <a:gdLst>
              <a:gd name="T0" fmla="*/ 0 w 309"/>
              <a:gd name="T1" fmla="*/ 0 h 381"/>
              <a:gd name="T2" fmla="*/ 0 w 309"/>
              <a:gd name="T3" fmla="*/ 2147483646 h 381"/>
              <a:gd name="T4" fmla="*/ 2147483646 w 309"/>
              <a:gd name="T5" fmla="*/ 2147483646 h 381"/>
              <a:gd name="T6" fmla="*/ 0 60000 65536"/>
              <a:gd name="T7" fmla="*/ 0 60000 65536"/>
              <a:gd name="T8" fmla="*/ 0 60000 65536"/>
            </a:gdLst>
            <a:ahLst/>
            <a:cxnLst>
              <a:cxn ang="T6">
                <a:pos x="T0" y="T1"/>
              </a:cxn>
              <a:cxn ang="T7">
                <a:pos x="T2" y="T3"/>
              </a:cxn>
              <a:cxn ang="T8">
                <a:pos x="T4" y="T5"/>
              </a:cxn>
            </a:cxnLst>
            <a:rect l="0" t="0" r="r" b="b"/>
            <a:pathLst>
              <a:path w="309" h="381">
                <a:moveTo>
                  <a:pt x="0" y="0"/>
                </a:moveTo>
                <a:lnTo>
                  <a:pt x="0" y="380"/>
                </a:lnTo>
                <a:lnTo>
                  <a:pt x="308" y="380"/>
                </a:lnTo>
              </a:path>
            </a:pathLst>
          </a:custGeom>
          <a:noFill/>
          <a:ln w="28575" cap="rnd" cmpd="sng">
            <a:solidFill>
              <a:schemeClr val="accent2"/>
            </a:solidFill>
            <a:prstDash val="solid"/>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4404" name="Rectangle 20"/>
          <p:cNvSpPr>
            <a:spLocks noChangeArrowheads="1"/>
          </p:cNvSpPr>
          <p:nvPr/>
        </p:nvSpPr>
        <p:spPr bwMode="blackWhite">
          <a:xfrm>
            <a:off x="7162800" y="5410200"/>
            <a:ext cx="1219200" cy="677863"/>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Região de </a:t>
            </a:r>
            <a:br>
              <a:rPr lang="en-US" altLang="en-US" sz="1800">
                <a:solidFill>
                  <a:srgbClr val="000000"/>
                </a:solidFill>
              </a:rPr>
            </a:br>
            <a:r>
              <a:rPr lang="en-US" altLang="en-US" sz="1800">
                <a:solidFill>
                  <a:srgbClr val="000000"/>
                </a:solidFill>
              </a:rPr>
              <a:t>rolagem</a:t>
            </a:r>
            <a:r>
              <a:rPr lang="en-US" altLang="en-US" sz="1800">
                <a:solidFill>
                  <a:schemeClr val="bg2"/>
                </a:solidFill>
              </a:rPr>
              <a:t> </a:t>
            </a:r>
          </a:p>
        </p:txBody>
      </p:sp>
      <p:sp>
        <p:nvSpPr>
          <p:cNvPr id="144405" name="Freeform 21"/>
          <p:cNvSpPr>
            <a:spLocks/>
          </p:cNvSpPr>
          <p:nvPr/>
        </p:nvSpPr>
        <p:spPr bwMode="gray">
          <a:xfrm>
            <a:off x="6705600" y="5181600"/>
            <a:ext cx="457200" cy="609600"/>
          </a:xfrm>
          <a:custGeom>
            <a:avLst/>
            <a:gdLst>
              <a:gd name="T0" fmla="*/ 0 w 309"/>
              <a:gd name="T1" fmla="*/ 0 h 381"/>
              <a:gd name="T2" fmla="*/ 0 w 309"/>
              <a:gd name="T3" fmla="*/ 2147483646 h 381"/>
              <a:gd name="T4" fmla="*/ 2147483646 w 309"/>
              <a:gd name="T5" fmla="*/ 2147483646 h 381"/>
              <a:gd name="T6" fmla="*/ 0 60000 65536"/>
              <a:gd name="T7" fmla="*/ 0 60000 65536"/>
              <a:gd name="T8" fmla="*/ 0 60000 65536"/>
            </a:gdLst>
            <a:ahLst/>
            <a:cxnLst>
              <a:cxn ang="T6">
                <a:pos x="T0" y="T1"/>
              </a:cxn>
              <a:cxn ang="T7">
                <a:pos x="T2" y="T3"/>
              </a:cxn>
              <a:cxn ang="T8">
                <a:pos x="T4" y="T5"/>
              </a:cxn>
            </a:cxnLst>
            <a:rect l="0" t="0" r="r" b="b"/>
            <a:pathLst>
              <a:path w="309" h="381">
                <a:moveTo>
                  <a:pt x="0" y="0"/>
                </a:moveTo>
                <a:lnTo>
                  <a:pt x="0" y="380"/>
                </a:lnTo>
                <a:lnTo>
                  <a:pt x="308" y="380"/>
                </a:lnTo>
              </a:path>
            </a:pathLst>
          </a:custGeom>
          <a:noFill/>
          <a:ln w="28575" cap="rnd" cmpd="sng">
            <a:solidFill>
              <a:schemeClr val="accent2"/>
            </a:solidFill>
            <a:prstDash val="solid"/>
            <a:round/>
            <a:headEnd type="triangl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4406" name="Rectangle 22"/>
          <p:cNvSpPr>
            <a:spLocks noChangeArrowheads="1"/>
          </p:cNvSpPr>
          <p:nvPr/>
        </p:nvSpPr>
        <p:spPr bwMode="blackWhite">
          <a:xfrm>
            <a:off x="825500" y="5105400"/>
            <a:ext cx="914400" cy="3810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Bloco</a:t>
            </a:r>
            <a:r>
              <a:rPr lang="en-US" altLang="en-US" sz="1800">
                <a:solidFill>
                  <a:schemeClr val="bg2"/>
                </a:solidFill>
              </a:rPr>
              <a:t> </a:t>
            </a:r>
          </a:p>
        </p:txBody>
      </p:sp>
      <p:sp>
        <p:nvSpPr>
          <p:cNvPr id="144407" name="Freeform 23"/>
          <p:cNvSpPr>
            <a:spLocks/>
          </p:cNvSpPr>
          <p:nvPr/>
        </p:nvSpPr>
        <p:spPr bwMode="gray">
          <a:xfrm flipH="1">
            <a:off x="1993900" y="4711700"/>
            <a:ext cx="482600" cy="622300"/>
          </a:xfrm>
          <a:custGeom>
            <a:avLst/>
            <a:gdLst>
              <a:gd name="T0" fmla="*/ 0 w 191"/>
              <a:gd name="T1" fmla="*/ 0 h 547"/>
              <a:gd name="T2" fmla="*/ 2147483646 w 191"/>
              <a:gd name="T3" fmla="*/ 2147483646 h 547"/>
              <a:gd name="T4" fmla="*/ 2147483646 w 191"/>
              <a:gd name="T5" fmla="*/ 2147483646 h 547"/>
              <a:gd name="T6" fmla="*/ 2147483646 w 191"/>
              <a:gd name="T7" fmla="*/ 2147483646 h 54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1" h="547">
                <a:moveTo>
                  <a:pt x="0" y="0"/>
                </a:moveTo>
                <a:lnTo>
                  <a:pt x="190" y="2"/>
                </a:lnTo>
                <a:lnTo>
                  <a:pt x="190" y="546"/>
                </a:lnTo>
                <a:lnTo>
                  <a:pt x="6" y="546"/>
                </a:lnTo>
              </a:path>
            </a:pathLst>
          </a:custGeom>
          <a:noFill/>
          <a:ln w="28575" cap="rnd" cmpd="sng">
            <a:solidFill>
              <a:srgbClr val="FF33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4408" name="Line 24"/>
          <p:cNvSpPr>
            <a:spLocks noChangeShapeType="1"/>
          </p:cNvSpPr>
          <p:nvPr/>
        </p:nvSpPr>
        <p:spPr bwMode="gray">
          <a:xfrm>
            <a:off x="1752600" y="3048000"/>
            <a:ext cx="457200" cy="0"/>
          </a:xfrm>
          <a:prstGeom prst="line">
            <a:avLst/>
          </a:prstGeom>
          <a:noFill/>
          <a:ln w="28575" cap="rnd">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4409" name="Line 25"/>
          <p:cNvSpPr>
            <a:spLocks noChangeShapeType="1"/>
          </p:cNvSpPr>
          <p:nvPr/>
        </p:nvSpPr>
        <p:spPr bwMode="gray">
          <a:xfrm>
            <a:off x="1752600" y="2019300"/>
            <a:ext cx="381000" cy="0"/>
          </a:xfrm>
          <a:prstGeom prst="line">
            <a:avLst/>
          </a:prstGeom>
          <a:noFill/>
          <a:ln w="28575" cap="rnd">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4410" name="Line 26"/>
          <p:cNvSpPr>
            <a:spLocks noChangeShapeType="1"/>
          </p:cNvSpPr>
          <p:nvPr/>
        </p:nvSpPr>
        <p:spPr bwMode="gray">
          <a:xfrm>
            <a:off x="1727200" y="5257800"/>
            <a:ext cx="254000" cy="0"/>
          </a:xfrm>
          <a:prstGeom prst="line">
            <a:avLst/>
          </a:prstGeom>
          <a:noFill/>
          <a:ln w="28575" cap="rnd">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4411" name="Line 27"/>
          <p:cNvSpPr>
            <a:spLocks noChangeShapeType="1"/>
          </p:cNvSpPr>
          <p:nvPr/>
        </p:nvSpPr>
        <p:spPr bwMode="gray">
          <a:xfrm rot="5400000">
            <a:off x="6359525" y="1406525"/>
            <a:ext cx="6350" cy="1600200"/>
          </a:xfrm>
          <a:prstGeom prst="line">
            <a:avLst/>
          </a:prstGeom>
          <a:noFill/>
          <a:ln w="28575">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44412" name="Rectangle 28"/>
          <p:cNvSpPr>
            <a:spLocks noChangeArrowheads="1"/>
          </p:cNvSpPr>
          <p:nvPr/>
        </p:nvSpPr>
        <p:spPr bwMode="blackWhite">
          <a:xfrm>
            <a:off x="7162800" y="1981200"/>
            <a:ext cx="1028700" cy="381000"/>
          </a:xfrm>
          <a:prstGeom prst="rect">
            <a:avLst/>
          </a:prstGeom>
          <a:solidFill>
            <a:srgbClr val="99CC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Ajuda</a:t>
            </a:r>
            <a:r>
              <a:rPr lang="en-US" altLang="en-US" sz="1800"/>
              <a:t> </a:t>
            </a:r>
          </a:p>
        </p:txBody>
      </p:sp>
      <p:sp>
        <p:nvSpPr>
          <p:cNvPr id="144413" name="Rectangle 2"/>
          <p:cNvSpPr>
            <a:spLocks noGrp="1" noChangeArrowheads="1"/>
          </p:cNvSpPr>
          <p:nvPr>
            <p:ph type="title"/>
          </p:nvPr>
        </p:nvSpPr>
        <p:spPr>
          <a:xfrm>
            <a:off x="11113" y="-211138"/>
            <a:ext cx="9132887" cy="1143001"/>
          </a:xfrm>
        </p:spPr>
        <p:txBody>
          <a:bodyPr/>
          <a:lstStyle/>
          <a:p>
            <a:pPr algn="l" eaLnBrk="1" hangingPunct="1"/>
            <a:r>
              <a:rPr lang="pt-BR" altLang="pt-BR" b="1" smtClean="0">
                <a:solidFill>
                  <a:srgbClr val="003366"/>
                </a:solidFill>
              </a:rPr>
              <a:t>eBusiness Suite – </a:t>
            </a:r>
            <a:r>
              <a:rPr lang="pt-BR" altLang="pt-BR" sz="3600" b="1" smtClean="0">
                <a:solidFill>
                  <a:srgbClr val="003366"/>
                </a:solidFill>
              </a:rPr>
              <a:t>Navegabilidade</a:t>
            </a:r>
          </a:p>
        </p:txBody>
      </p:sp>
      <p:sp>
        <p:nvSpPr>
          <p:cNvPr id="144414"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434" name="Group 6"/>
          <p:cNvGrpSpPr>
            <a:grpSpLocks/>
          </p:cNvGrpSpPr>
          <p:nvPr/>
        </p:nvGrpSpPr>
        <p:grpSpPr bwMode="auto">
          <a:xfrm>
            <a:off x="7308850" y="117475"/>
            <a:ext cx="1735138" cy="647700"/>
            <a:chOff x="7380288" y="41275"/>
            <a:chExt cx="1735137" cy="647700"/>
          </a:xfrm>
        </p:grpSpPr>
        <p:sp>
          <p:nvSpPr>
            <p:cNvPr id="14"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15"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dirty="0" smtClean="0">
                  <a:solidFill>
                    <a:srgbClr val="FF0000"/>
                  </a:solidFill>
                </a:rPr>
                <a:t>#público</a:t>
              </a:r>
              <a:endParaRPr lang="pt-BR" altLang="pt-BR" sz="1200" dirty="0" smtClean="0">
                <a:solidFill>
                  <a:srgbClr val="FF0000"/>
                </a:solidFill>
              </a:endParaRPr>
            </a:p>
          </p:txBody>
        </p:sp>
      </p:grpSp>
      <p:pic>
        <p:nvPicPr>
          <p:cNvPr id="146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600200" y="1371600"/>
            <a:ext cx="6019800" cy="471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6436" name="Rectangle 4"/>
          <p:cNvSpPr>
            <a:spLocks noChangeArrowheads="1"/>
          </p:cNvSpPr>
          <p:nvPr/>
        </p:nvSpPr>
        <p:spPr bwMode="blackWhite">
          <a:xfrm>
            <a:off x="622300" y="1371600"/>
            <a:ext cx="914400" cy="463550"/>
          </a:xfrm>
          <a:prstGeom prst="rect">
            <a:avLst/>
          </a:prstGeom>
          <a:solidFill>
            <a:srgbClr val="9ACC9A"/>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Região</a:t>
            </a:r>
            <a:r>
              <a:rPr lang="en-US" altLang="en-US" sz="1800">
                <a:solidFill>
                  <a:schemeClr val="bg2"/>
                </a:solidFill>
              </a:rPr>
              <a:t> </a:t>
            </a:r>
          </a:p>
        </p:txBody>
      </p:sp>
      <p:sp>
        <p:nvSpPr>
          <p:cNvPr id="146437" name="Freeform 5"/>
          <p:cNvSpPr>
            <a:spLocks/>
          </p:cNvSpPr>
          <p:nvPr/>
        </p:nvSpPr>
        <p:spPr bwMode="gray">
          <a:xfrm>
            <a:off x="1054100" y="1841500"/>
            <a:ext cx="1003300" cy="2400300"/>
          </a:xfrm>
          <a:custGeom>
            <a:avLst/>
            <a:gdLst>
              <a:gd name="T0" fmla="*/ 0 w 309"/>
              <a:gd name="T1" fmla="*/ 0 h 381"/>
              <a:gd name="T2" fmla="*/ 0 w 309"/>
              <a:gd name="T3" fmla="*/ 2147483646 h 381"/>
              <a:gd name="T4" fmla="*/ 2147483646 w 309"/>
              <a:gd name="T5" fmla="*/ 2147483646 h 381"/>
              <a:gd name="T6" fmla="*/ 0 60000 65536"/>
              <a:gd name="T7" fmla="*/ 0 60000 65536"/>
              <a:gd name="T8" fmla="*/ 0 60000 65536"/>
            </a:gdLst>
            <a:ahLst/>
            <a:cxnLst>
              <a:cxn ang="T6">
                <a:pos x="T0" y="T1"/>
              </a:cxn>
              <a:cxn ang="T7">
                <a:pos x="T2" y="T3"/>
              </a:cxn>
              <a:cxn ang="T8">
                <a:pos x="T4" y="T5"/>
              </a:cxn>
            </a:cxnLst>
            <a:rect l="0" t="0" r="r" b="b"/>
            <a:pathLst>
              <a:path w="309" h="381">
                <a:moveTo>
                  <a:pt x="0" y="0"/>
                </a:moveTo>
                <a:lnTo>
                  <a:pt x="0" y="380"/>
                </a:lnTo>
                <a:lnTo>
                  <a:pt x="308" y="380"/>
                </a:lnTo>
              </a:path>
            </a:pathLst>
          </a:custGeom>
          <a:noFill/>
          <a:ln w="28575" cap="rnd" cmpd="sng">
            <a:solidFill>
              <a:schemeClr val="accent2"/>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6438" name="Rectangle 6"/>
          <p:cNvSpPr>
            <a:spLocks noChangeArrowheads="1"/>
          </p:cNvSpPr>
          <p:nvPr/>
        </p:nvSpPr>
        <p:spPr bwMode="blackWhite">
          <a:xfrm>
            <a:off x="2717800" y="4438650"/>
            <a:ext cx="1320800" cy="450850"/>
          </a:xfrm>
          <a:prstGeom prst="rect">
            <a:avLst/>
          </a:prstGeom>
          <a:solidFill>
            <a:srgbClr val="9ACC9A"/>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Guia</a:t>
            </a:r>
            <a:r>
              <a:rPr lang="en-US" altLang="en-US" sz="1800">
                <a:solidFill>
                  <a:schemeClr val="bg2"/>
                </a:solidFill>
              </a:rPr>
              <a:t> </a:t>
            </a:r>
          </a:p>
        </p:txBody>
      </p:sp>
      <p:sp>
        <p:nvSpPr>
          <p:cNvPr id="146439" name="Line 7"/>
          <p:cNvSpPr>
            <a:spLocks noChangeShapeType="1"/>
          </p:cNvSpPr>
          <p:nvPr/>
        </p:nvSpPr>
        <p:spPr bwMode="gray">
          <a:xfrm>
            <a:off x="2794000" y="3162300"/>
            <a:ext cx="1588" cy="1270000"/>
          </a:xfrm>
          <a:prstGeom prst="line">
            <a:avLst/>
          </a:prstGeom>
          <a:noFill/>
          <a:ln w="28575" cap="rnd">
            <a:solidFill>
              <a:schemeClr val="accent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6440" name="Rectangle 8"/>
          <p:cNvSpPr>
            <a:spLocks noChangeArrowheads="1"/>
          </p:cNvSpPr>
          <p:nvPr/>
        </p:nvSpPr>
        <p:spPr bwMode="blackWhite">
          <a:xfrm>
            <a:off x="5105400" y="4451350"/>
            <a:ext cx="914400" cy="425450"/>
          </a:xfrm>
          <a:prstGeom prst="rect">
            <a:avLst/>
          </a:prstGeom>
          <a:solidFill>
            <a:srgbClr val="9ACC9A"/>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Campo</a:t>
            </a:r>
            <a:r>
              <a:rPr lang="en-US" altLang="en-US" sz="1800">
                <a:solidFill>
                  <a:schemeClr val="bg2"/>
                </a:solidFill>
              </a:rPr>
              <a:t> </a:t>
            </a:r>
          </a:p>
        </p:txBody>
      </p:sp>
      <p:sp>
        <p:nvSpPr>
          <p:cNvPr id="146441" name="Line 9"/>
          <p:cNvSpPr>
            <a:spLocks noChangeShapeType="1"/>
          </p:cNvSpPr>
          <p:nvPr/>
        </p:nvSpPr>
        <p:spPr bwMode="gray">
          <a:xfrm>
            <a:off x="5535613" y="2787650"/>
            <a:ext cx="1587" cy="1654175"/>
          </a:xfrm>
          <a:prstGeom prst="line">
            <a:avLst/>
          </a:prstGeom>
          <a:noFill/>
          <a:ln w="28575" cap="rnd">
            <a:solidFill>
              <a:schemeClr val="accent2"/>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6442" name="Rectangle 10"/>
          <p:cNvSpPr>
            <a:spLocks noChangeArrowheads="1"/>
          </p:cNvSpPr>
          <p:nvPr/>
        </p:nvSpPr>
        <p:spPr bwMode="blackWhite">
          <a:xfrm>
            <a:off x="7658100" y="5624513"/>
            <a:ext cx="914400" cy="420687"/>
          </a:xfrm>
          <a:prstGeom prst="rect">
            <a:avLst/>
          </a:prstGeom>
          <a:solidFill>
            <a:srgbClr val="9ACC9A"/>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Botão</a:t>
            </a:r>
            <a:r>
              <a:rPr lang="en-US" altLang="en-US" sz="1800">
                <a:solidFill>
                  <a:schemeClr val="bg2"/>
                </a:solidFill>
              </a:rPr>
              <a:t> </a:t>
            </a:r>
          </a:p>
        </p:txBody>
      </p:sp>
      <p:sp>
        <p:nvSpPr>
          <p:cNvPr id="146443" name="Line 11"/>
          <p:cNvSpPr>
            <a:spLocks noChangeShapeType="1"/>
          </p:cNvSpPr>
          <p:nvPr/>
        </p:nvSpPr>
        <p:spPr bwMode="gray">
          <a:xfrm flipH="1">
            <a:off x="7200900" y="5842000"/>
            <a:ext cx="457200" cy="0"/>
          </a:xfrm>
          <a:prstGeom prst="line">
            <a:avLst/>
          </a:prstGeom>
          <a:noFill/>
          <a:ln w="28575" cap="rnd">
            <a:solidFill>
              <a:schemeClr val="accent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6444" name="Rectangle 2"/>
          <p:cNvSpPr>
            <a:spLocks noGrp="1" noChangeArrowheads="1"/>
          </p:cNvSpPr>
          <p:nvPr>
            <p:ph type="title"/>
          </p:nvPr>
        </p:nvSpPr>
        <p:spPr>
          <a:xfrm>
            <a:off x="11113" y="-211138"/>
            <a:ext cx="9132887" cy="1143001"/>
          </a:xfrm>
        </p:spPr>
        <p:txBody>
          <a:bodyPr/>
          <a:lstStyle/>
          <a:p>
            <a:pPr algn="l" eaLnBrk="1" hangingPunct="1"/>
            <a:r>
              <a:rPr lang="pt-BR" altLang="pt-BR" b="1" smtClean="0">
                <a:solidFill>
                  <a:srgbClr val="003366"/>
                </a:solidFill>
              </a:rPr>
              <a:t>eBusiness Suite – </a:t>
            </a:r>
            <a:r>
              <a:rPr lang="pt-BR" altLang="pt-BR" sz="3600" b="1" smtClean="0">
                <a:solidFill>
                  <a:srgbClr val="003366"/>
                </a:solidFill>
              </a:rPr>
              <a:t>Navegabilidade</a:t>
            </a:r>
          </a:p>
        </p:txBody>
      </p:sp>
      <p:sp>
        <p:nvSpPr>
          <p:cNvPr id="146445"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8482" name="Group 6"/>
          <p:cNvGrpSpPr>
            <a:grpSpLocks/>
          </p:cNvGrpSpPr>
          <p:nvPr/>
        </p:nvGrpSpPr>
        <p:grpSpPr bwMode="auto">
          <a:xfrm>
            <a:off x="7308850" y="117475"/>
            <a:ext cx="1735138" cy="647700"/>
            <a:chOff x="7380288" y="41275"/>
            <a:chExt cx="1735137" cy="647700"/>
          </a:xfrm>
        </p:grpSpPr>
        <p:sp>
          <p:nvSpPr>
            <p:cNvPr id="30"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1"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148483" name="Rectangle 3"/>
          <p:cNvSpPr>
            <a:spLocks noChangeArrowheads="1"/>
          </p:cNvSpPr>
          <p:nvPr/>
        </p:nvSpPr>
        <p:spPr bwMode="blackWhite">
          <a:xfrm>
            <a:off x="4038600" y="4213225"/>
            <a:ext cx="3810000" cy="73977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pt-BR" altLang="en-US" sz="1800">
                <a:solidFill>
                  <a:srgbClr val="000000"/>
                </a:solidFill>
              </a:rPr>
              <a:t>Indica os campos a serem usados no modo de “Entrada de Consulta”</a:t>
            </a:r>
            <a:r>
              <a:rPr lang="en-US" altLang="en-US" sz="1800"/>
              <a:t> </a:t>
            </a:r>
          </a:p>
        </p:txBody>
      </p:sp>
      <p:sp>
        <p:nvSpPr>
          <p:cNvPr id="148484" name="Rectangle 4"/>
          <p:cNvSpPr>
            <a:spLocks noChangeArrowheads="1"/>
          </p:cNvSpPr>
          <p:nvPr/>
        </p:nvSpPr>
        <p:spPr bwMode="blackWhite">
          <a:xfrm>
            <a:off x="1447800" y="4213225"/>
            <a:ext cx="2590800" cy="73977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en-US" altLang="en-US" sz="1800">
                <a:solidFill>
                  <a:srgbClr val="000000"/>
                </a:solidFill>
              </a:rPr>
              <a:t>Azul</a:t>
            </a:r>
            <a:r>
              <a:rPr lang="en-US" altLang="en-US" sz="1800"/>
              <a:t> </a:t>
            </a:r>
          </a:p>
        </p:txBody>
      </p:sp>
      <p:sp>
        <p:nvSpPr>
          <p:cNvPr id="148485" name="Rectangle 5"/>
          <p:cNvSpPr>
            <a:spLocks noChangeArrowheads="1"/>
          </p:cNvSpPr>
          <p:nvPr/>
        </p:nvSpPr>
        <p:spPr bwMode="blackWhite">
          <a:xfrm>
            <a:off x="4038600" y="3733800"/>
            <a:ext cx="3810000" cy="4794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en-US" altLang="en-US" sz="1800">
                <a:solidFill>
                  <a:srgbClr val="000000"/>
                </a:solidFill>
              </a:rPr>
              <a:t>É somente para exibição.</a:t>
            </a:r>
            <a:r>
              <a:rPr lang="en-US" altLang="en-US" sz="1800"/>
              <a:t> </a:t>
            </a:r>
          </a:p>
        </p:txBody>
      </p:sp>
      <p:sp>
        <p:nvSpPr>
          <p:cNvPr id="148486" name="Rectangle 6"/>
          <p:cNvSpPr>
            <a:spLocks noChangeArrowheads="1"/>
          </p:cNvSpPr>
          <p:nvPr/>
        </p:nvSpPr>
        <p:spPr bwMode="blackWhite">
          <a:xfrm>
            <a:off x="1447800" y="3733800"/>
            <a:ext cx="2590800" cy="4794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en-US" altLang="en-US" sz="1800">
                <a:solidFill>
                  <a:srgbClr val="000000"/>
                </a:solidFill>
              </a:rPr>
              <a:t>Branco com texto verde</a:t>
            </a:r>
            <a:r>
              <a:rPr lang="en-US" altLang="en-US" sz="1800"/>
              <a:t> </a:t>
            </a:r>
          </a:p>
        </p:txBody>
      </p:sp>
      <p:sp>
        <p:nvSpPr>
          <p:cNvPr id="148487" name="Rectangle 7"/>
          <p:cNvSpPr>
            <a:spLocks noChangeArrowheads="1"/>
          </p:cNvSpPr>
          <p:nvPr/>
        </p:nvSpPr>
        <p:spPr bwMode="blackWhite">
          <a:xfrm>
            <a:off x="1447800" y="3335338"/>
            <a:ext cx="2590800" cy="3984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en-US" altLang="en-US" sz="1800">
                <a:solidFill>
                  <a:srgbClr val="000000"/>
                </a:solidFill>
              </a:rPr>
              <a:t>Amarelo</a:t>
            </a:r>
            <a:r>
              <a:rPr lang="en-US" altLang="en-US" sz="1800"/>
              <a:t> </a:t>
            </a:r>
          </a:p>
        </p:txBody>
      </p:sp>
      <p:sp>
        <p:nvSpPr>
          <p:cNvPr id="148488" name="Rectangle 8"/>
          <p:cNvSpPr>
            <a:spLocks noChangeArrowheads="1"/>
          </p:cNvSpPr>
          <p:nvPr/>
        </p:nvSpPr>
        <p:spPr bwMode="blackWhite">
          <a:xfrm>
            <a:off x="1447800" y="2841625"/>
            <a:ext cx="2590800" cy="49371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en-US" altLang="en-US" sz="1800">
                <a:solidFill>
                  <a:srgbClr val="000000"/>
                </a:solidFill>
              </a:rPr>
              <a:t>Azul com texto preto</a:t>
            </a:r>
            <a:r>
              <a:rPr lang="en-US" altLang="en-US" sz="1800"/>
              <a:t> </a:t>
            </a:r>
          </a:p>
        </p:txBody>
      </p:sp>
      <p:sp>
        <p:nvSpPr>
          <p:cNvPr id="148489" name="Rectangle 9"/>
          <p:cNvSpPr>
            <a:spLocks noChangeArrowheads="1"/>
          </p:cNvSpPr>
          <p:nvPr/>
        </p:nvSpPr>
        <p:spPr bwMode="blackWhite">
          <a:xfrm>
            <a:off x="1447800" y="2362200"/>
            <a:ext cx="2590800" cy="4794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en-US" altLang="en-US" sz="1800">
                <a:solidFill>
                  <a:srgbClr val="000000"/>
                </a:solidFill>
              </a:rPr>
              <a:t>Branco</a:t>
            </a:r>
            <a:r>
              <a:rPr lang="en-US" altLang="en-US" sz="1800"/>
              <a:t> </a:t>
            </a:r>
          </a:p>
        </p:txBody>
      </p:sp>
      <p:sp>
        <p:nvSpPr>
          <p:cNvPr id="148490" name="Rectangle 10"/>
          <p:cNvSpPr>
            <a:spLocks noChangeArrowheads="1"/>
          </p:cNvSpPr>
          <p:nvPr/>
        </p:nvSpPr>
        <p:spPr bwMode="blackWhite">
          <a:xfrm>
            <a:off x="1447800" y="1905000"/>
            <a:ext cx="2590800" cy="457200"/>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en-US" altLang="en-US" sz="1800" b="1">
                <a:solidFill>
                  <a:srgbClr val="FFFFFF"/>
                </a:solidFill>
              </a:rPr>
              <a:t>Cor do campo</a:t>
            </a:r>
            <a:r>
              <a:rPr lang="en-US" altLang="en-US" sz="1800">
                <a:solidFill>
                  <a:schemeClr val="bg1"/>
                </a:solidFill>
              </a:rPr>
              <a:t> </a:t>
            </a:r>
          </a:p>
        </p:txBody>
      </p:sp>
      <p:sp>
        <p:nvSpPr>
          <p:cNvPr id="148491" name="Rectangle 11"/>
          <p:cNvSpPr>
            <a:spLocks noChangeArrowheads="1"/>
          </p:cNvSpPr>
          <p:nvPr/>
        </p:nvSpPr>
        <p:spPr bwMode="blackWhite">
          <a:xfrm>
            <a:off x="4038600" y="2362200"/>
            <a:ext cx="3810000" cy="4794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pt-BR" altLang="en-US" sz="1800">
                <a:solidFill>
                  <a:srgbClr val="000000"/>
                </a:solidFill>
              </a:rPr>
              <a:t>Permite a entrada de dados.</a:t>
            </a:r>
            <a:r>
              <a:rPr lang="en-US" altLang="en-US" sz="1800"/>
              <a:t> </a:t>
            </a:r>
          </a:p>
        </p:txBody>
      </p:sp>
      <p:sp>
        <p:nvSpPr>
          <p:cNvPr id="148492" name="Rectangle 12"/>
          <p:cNvSpPr>
            <a:spLocks noChangeArrowheads="1"/>
          </p:cNvSpPr>
          <p:nvPr/>
        </p:nvSpPr>
        <p:spPr bwMode="blackWhite">
          <a:xfrm>
            <a:off x="4038600" y="3335338"/>
            <a:ext cx="3810000" cy="3984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pt-BR" altLang="en-US" sz="1800">
                <a:solidFill>
                  <a:srgbClr val="000000"/>
                </a:solidFill>
              </a:rPr>
              <a:t>Requer a entrada de dados.</a:t>
            </a:r>
            <a:r>
              <a:rPr lang="en-US" altLang="en-US" sz="1800"/>
              <a:t> </a:t>
            </a:r>
          </a:p>
        </p:txBody>
      </p:sp>
      <p:sp>
        <p:nvSpPr>
          <p:cNvPr id="148493" name="Rectangle 13"/>
          <p:cNvSpPr>
            <a:spLocks noChangeArrowheads="1"/>
          </p:cNvSpPr>
          <p:nvPr/>
        </p:nvSpPr>
        <p:spPr bwMode="blackWhite">
          <a:xfrm>
            <a:off x="4038600" y="2841625"/>
            <a:ext cx="3810000" cy="49371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pt-BR" altLang="en-US" sz="1800">
                <a:solidFill>
                  <a:srgbClr val="000000"/>
                </a:solidFill>
              </a:rPr>
              <a:t>Indica o recurso de drill-down</a:t>
            </a:r>
            <a:r>
              <a:rPr lang="en-US" altLang="en-US" sz="1800"/>
              <a:t> </a:t>
            </a:r>
          </a:p>
        </p:txBody>
      </p:sp>
      <p:sp>
        <p:nvSpPr>
          <p:cNvPr id="148494" name="Rectangle 14"/>
          <p:cNvSpPr>
            <a:spLocks noChangeArrowheads="1"/>
          </p:cNvSpPr>
          <p:nvPr/>
        </p:nvSpPr>
        <p:spPr bwMode="blackWhite">
          <a:xfrm>
            <a:off x="4038600" y="1905000"/>
            <a:ext cx="3810000" cy="457200"/>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ts val="1800"/>
              </a:lnSpc>
              <a:spcBef>
                <a:spcPts val="600"/>
              </a:spcBef>
              <a:buSzPct val="125000"/>
              <a:buFont typeface="Wingdings" panose="05000000000000000000" pitchFamily="2" charset="2"/>
              <a:buNone/>
            </a:pPr>
            <a:r>
              <a:rPr lang="en-US" altLang="en-US" sz="1800" b="1">
                <a:solidFill>
                  <a:srgbClr val="FFFFFF"/>
                </a:solidFill>
              </a:rPr>
              <a:t>Descrição</a:t>
            </a:r>
            <a:r>
              <a:rPr lang="en-US" altLang="en-US" sz="1800" b="1">
                <a:solidFill>
                  <a:schemeClr val="bg1"/>
                </a:solidFill>
              </a:rPr>
              <a:t> </a:t>
            </a:r>
          </a:p>
        </p:txBody>
      </p:sp>
      <p:sp>
        <p:nvSpPr>
          <p:cNvPr id="148495" name="Line 15"/>
          <p:cNvSpPr>
            <a:spLocks noChangeShapeType="1"/>
          </p:cNvSpPr>
          <p:nvPr/>
        </p:nvSpPr>
        <p:spPr bwMode="blackWhite">
          <a:xfrm>
            <a:off x="1447800" y="4953000"/>
            <a:ext cx="640080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p>
            <a:endParaRPr lang="pt-BR"/>
          </a:p>
        </p:txBody>
      </p:sp>
      <p:sp>
        <p:nvSpPr>
          <p:cNvPr id="148496" name="Line 16"/>
          <p:cNvSpPr>
            <a:spLocks noChangeShapeType="1"/>
          </p:cNvSpPr>
          <p:nvPr/>
        </p:nvSpPr>
        <p:spPr bwMode="blackWhite">
          <a:xfrm>
            <a:off x="7848600" y="1905000"/>
            <a:ext cx="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p>
            <a:endParaRPr lang="pt-BR"/>
          </a:p>
        </p:txBody>
      </p:sp>
      <p:sp>
        <p:nvSpPr>
          <p:cNvPr id="148497" name="Line 17"/>
          <p:cNvSpPr>
            <a:spLocks noChangeShapeType="1"/>
          </p:cNvSpPr>
          <p:nvPr/>
        </p:nvSpPr>
        <p:spPr bwMode="blackWhite">
          <a:xfrm>
            <a:off x="1447800" y="3335338"/>
            <a:ext cx="6400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p>
            <a:endParaRPr lang="pt-BR"/>
          </a:p>
        </p:txBody>
      </p:sp>
      <p:sp>
        <p:nvSpPr>
          <p:cNvPr id="148498" name="Line 18"/>
          <p:cNvSpPr>
            <a:spLocks noChangeShapeType="1"/>
          </p:cNvSpPr>
          <p:nvPr/>
        </p:nvSpPr>
        <p:spPr bwMode="blackWhite">
          <a:xfrm>
            <a:off x="1447800" y="2841625"/>
            <a:ext cx="6400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p>
            <a:endParaRPr lang="pt-BR"/>
          </a:p>
        </p:txBody>
      </p:sp>
      <p:sp>
        <p:nvSpPr>
          <p:cNvPr id="148499" name="Line 19"/>
          <p:cNvSpPr>
            <a:spLocks noChangeShapeType="1"/>
          </p:cNvSpPr>
          <p:nvPr/>
        </p:nvSpPr>
        <p:spPr bwMode="blackWhite">
          <a:xfrm>
            <a:off x="1447800" y="1905000"/>
            <a:ext cx="6400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p>
            <a:endParaRPr lang="pt-BR"/>
          </a:p>
        </p:txBody>
      </p:sp>
      <p:sp>
        <p:nvSpPr>
          <p:cNvPr id="148500" name="Line 20"/>
          <p:cNvSpPr>
            <a:spLocks noChangeShapeType="1"/>
          </p:cNvSpPr>
          <p:nvPr/>
        </p:nvSpPr>
        <p:spPr bwMode="blackWhite">
          <a:xfrm>
            <a:off x="1447800" y="2362200"/>
            <a:ext cx="6400800"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p>
            <a:endParaRPr lang="pt-BR"/>
          </a:p>
        </p:txBody>
      </p:sp>
      <p:sp>
        <p:nvSpPr>
          <p:cNvPr id="148501" name="Line 21"/>
          <p:cNvSpPr>
            <a:spLocks noChangeShapeType="1"/>
          </p:cNvSpPr>
          <p:nvPr/>
        </p:nvSpPr>
        <p:spPr bwMode="blackWhite">
          <a:xfrm>
            <a:off x="1447800" y="1905000"/>
            <a:ext cx="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p>
            <a:endParaRPr lang="pt-BR"/>
          </a:p>
        </p:txBody>
      </p:sp>
      <p:sp>
        <p:nvSpPr>
          <p:cNvPr id="148502" name="Line 22"/>
          <p:cNvSpPr>
            <a:spLocks noChangeShapeType="1"/>
          </p:cNvSpPr>
          <p:nvPr/>
        </p:nvSpPr>
        <p:spPr bwMode="blackWhite">
          <a:xfrm>
            <a:off x="4038600" y="1905000"/>
            <a:ext cx="0" cy="4572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p>
            <a:endParaRPr lang="pt-BR"/>
          </a:p>
        </p:txBody>
      </p:sp>
      <p:sp>
        <p:nvSpPr>
          <p:cNvPr id="148503" name="Line 23"/>
          <p:cNvSpPr>
            <a:spLocks noChangeShapeType="1"/>
          </p:cNvSpPr>
          <p:nvPr/>
        </p:nvSpPr>
        <p:spPr bwMode="blackWhite">
          <a:xfrm>
            <a:off x="1447800" y="2362200"/>
            <a:ext cx="0" cy="259080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p>
            <a:endParaRPr lang="pt-BR"/>
          </a:p>
        </p:txBody>
      </p:sp>
      <p:sp>
        <p:nvSpPr>
          <p:cNvPr id="148504" name="Line 24"/>
          <p:cNvSpPr>
            <a:spLocks noChangeShapeType="1"/>
          </p:cNvSpPr>
          <p:nvPr/>
        </p:nvSpPr>
        <p:spPr bwMode="blackWhite">
          <a:xfrm>
            <a:off x="4038600" y="2362200"/>
            <a:ext cx="0" cy="259080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p>
            <a:endParaRPr lang="pt-BR"/>
          </a:p>
        </p:txBody>
      </p:sp>
      <p:sp>
        <p:nvSpPr>
          <p:cNvPr id="148505" name="Line 25"/>
          <p:cNvSpPr>
            <a:spLocks noChangeShapeType="1"/>
          </p:cNvSpPr>
          <p:nvPr/>
        </p:nvSpPr>
        <p:spPr bwMode="blackWhite">
          <a:xfrm>
            <a:off x="7848600" y="2362200"/>
            <a:ext cx="0" cy="259080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152" tIns="73152" rIns="73152" bIns="73152"/>
          <a:lstStyle/>
          <a:p>
            <a:endParaRPr lang="pt-BR"/>
          </a:p>
        </p:txBody>
      </p:sp>
      <p:sp>
        <p:nvSpPr>
          <p:cNvPr id="148506" name="Line 26"/>
          <p:cNvSpPr>
            <a:spLocks noChangeShapeType="1"/>
          </p:cNvSpPr>
          <p:nvPr/>
        </p:nvSpPr>
        <p:spPr bwMode="auto">
          <a:xfrm>
            <a:off x="1447800" y="3733800"/>
            <a:ext cx="6400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8507" name="Line 27"/>
          <p:cNvSpPr>
            <a:spLocks noChangeShapeType="1"/>
          </p:cNvSpPr>
          <p:nvPr/>
        </p:nvSpPr>
        <p:spPr bwMode="auto">
          <a:xfrm>
            <a:off x="1447800" y="4213225"/>
            <a:ext cx="6400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48508" name="Rectangle 2"/>
          <p:cNvSpPr>
            <a:spLocks noGrp="1" noChangeArrowheads="1"/>
          </p:cNvSpPr>
          <p:nvPr>
            <p:ph type="title"/>
          </p:nvPr>
        </p:nvSpPr>
        <p:spPr>
          <a:xfrm>
            <a:off x="11113" y="-211138"/>
            <a:ext cx="9132887" cy="1143001"/>
          </a:xfrm>
        </p:spPr>
        <p:txBody>
          <a:bodyPr/>
          <a:lstStyle/>
          <a:p>
            <a:pPr algn="l" eaLnBrk="1" hangingPunct="1"/>
            <a:r>
              <a:rPr lang="pt-BR" altLang="pt-BR" b="1" smtClean="0">
                <a:solidFill>
                  <a:srgbClr val="003366"/>
                </a:solidFill>
              </a:rPr>
              <a:t>eBusiness Suite – </a:t>
            </a:r>
            <a:r>
              <a:rPr lang="pt-BR" altLang="pt-BR" sz="3600" b="1" smtClean="0">
                <a:solidFill>
                  <a:srgbClr val="003366"/>
                </a:solidFill>
              </a:rPr>
              <a:t>Navegabilidade</a:t>
            </a:r>
          </a:p>
        </p:txBody>
      </p:sp>
      <p:sp>
        <p:nvSpPr>
          <p:cNvPr id="148509"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11113" y="-211138"/>
            <a:ext cx="9132887" cy="1143001"/>
          </a:xfrm>
        </p:spPr>
        <p:txBody>
          <a:bodyPr/>
          <a:lstStyle/>
          <a:p>
            <a:pPr algn="l" eaLnBrk="1" hangingPunct="1"/>
            <a:r>
              <a:rPr lang="pt-BR" altLang="pt-BR" b="1" smtClean="0">
                <a:solidFill>
                  <a:srgbClr val="003366"/>
                </a:solidFill>
              </a:rPr>
              <a:t>eBusiness Suite – </a:t>
            </a:r>
            <a:r>
              <a:rPr lang="pt-BR" altLang="pt-BR" sz="3600" b="1" smtClean="0">
                <a:solidFill>
                  <a:srgbClr val="003366"/>
                </a:solidFill>
              </a:rPr>
              <a:t>Entidades</a:t>
            </a:r>
          </a:p>
        </p:txBody>
      </p:sp>
      <p:sp>
        <p:nvSpPr>
          <p:cNvPr id="150531"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aphicFrame>
        <p:nvGraphicFramePr>
          <p:cNvPr id="38" name="Table 37"/>
          <p:cNvGraphicFramePr>
            <a:graphicFrameLocks noGrp="1"/>
          </p:cNvGraphicFramePr>
          <p:nvPr/>
        </p:nvGraphicFramePr>
        <p:xfrm>
          <a:off x="757238" y="1341438"/>
          <a:ext cx="7640637" cy="4616450"/>
        </p:xfrm>
        <a:graphic>
          <a:graphicData uri="http://schemas.openxmlformats.org/drawingml/2006/table">
            <a:tbl>
              <a:tblPr firstRow="1" bandRow="1">
                <a:tableStyleId>{00A15C55-8517-42AA-B614-E9B94910E393}</a:tableStyleId>
              </a:tblPr>
              <a:tblGrid>
                <a:gridCol w="1737150"/>
                <a:gridCol w="5903487"/>
              </a:tblGrid>
              <a:tr h="370707">
                <a:tc>
                  <a:txBody>
                    <a:bodyPr/>
                    <a:lstStyle/>
                    <a:p>
                      <a:r>
                        <a:rPr lang="pt-BR" sz="1800" dirty="0" smtClean="0"/>
                        <a:t>Entidade</a:t>
                      </a:r>
                      <a:endParaRPr lang="en-US" sz="1800" dirty="0"/>
                    </a:p>
                  </a:txBody>
                  <a:tcPr marL="91422" marR="91422" marT="45703" marB="45703"/>
                </a:tc>
                <a:tc>
                  <a:txBody>
                    <a:bodyPr/>
                    <a:lstStyle/>
                    <a:p>
                      <a:r>
                        <a:rPr lang="pt-BR" sz="1800" dirty="0" smtClean="0"/>
                        <a:t>Descrição</a:t>
                      </a:r>
                      <a:endParaRPr lang="en-US" sz="1800" dirty="0"/>
                    </a:p>
                  </a:txBody>
                  <a:tcPr marL="91422" marR="91422" marT="45703" marB="45703"/>
                </a:tc>
              </a:tr>
              <a:tr h="370707">
                <a:tc>
                  <a:txBody>
                    <a:bodyPr/>
                    <a:lstStyle/>
                    <a:p>
                      <a:r>
                        <a:rPr lang="pt-BR" sz="1800" dirty="0" smtClean="0"/>
                        <a:t>AOL</a:t>
                      </a:r>
                      <a:endParaRPr lang="en-US" sz="1800" dirty="0"/>
                    </a:p>
                  </a:txBody>
                  <a:tcPr marL="91422" marR="91422" marT="45703" marB="45703"/>
                </a:tc>
                <a:tc>
                  <a:txBody>
                    <a:bodyPr/>
                    <a:lstStyle/>
                    <a:p>
                      <a:r>
                        <a:rPr lang="pt-BR" sz="1800" dirty="0" smtClean="0"/>
                        <a:t>Administração de Aplicativos</a:t>
                      </a:r>
                      <a:endParaRPr lang="en-US" sz="1800" dirty="0"/>
                    </a:p>
                  </a:txBody>
                  <a:tcPr marL="91422" marR="91422" marT="45703" marB="45703"/>
                </a:tc>
              </a:tr>
              <a:tr h="370707">
                <a:tc>
                  <a:txBody>
                    <a:bodyPr/>
                    <a:lstStyle/>
                    <a:p>
                      <a:r>
                        <a:rPr lang="pt-BR" sz="1800" dirty="0" smtClean="0"/>
                        <a:t>Razão</a:t>
                      </a:r>
                      <a:endParaRPr lang="en-US" sz="1800" dirty="0"/>
                    </a:p>
                  </a:txBody>
                  <a:tcPr marL="91422" marR="91422" marT="45703" marB="45703"/>
                </a:tc>
                <a:tc>
                  <a:txBody>
                    <a:bodyPr/>
                    <a:lstStyle/>
                    <a:p>
                      <a:r>
                        <a:rPr lang="pt-BR" sz="1800" dirty="0" smtClean="0"/>
                        <a:t>Registro de informações contábeis</a:t>
                      </a:r>
                      <a:endParaRPr lang="en-US" sz="1800" dirty="0"/>
                    </a:p>
                  </a:txBody>
                  <a:tcPr marL="91422" marR="91422" marT="45703" marB="45703"/>
                </a:tc>
              </a:tr>
              <a:tr h="640045">
                <a:tc>
                  <a:txBody>
                    <a:bodyPr/>
                    <a:lstStyle/>
                    <a:p>
                      <a:r>
                        <a:rPr lang="pt-BR" sz="1800" dirty="0" smtClean="0"/>
                        <a:t>Unidade Medida</a:t>
                      </a:r>
                      <a:endParaRPr lang="en-US" sz="1800" dirty="0"/>
                    </a:p>
                  </a:txBody>
                  <a:tcPr marL="91422" marR="91422" marT="45703" marB="45703"/>
                </a:tc>
                <a:tc>
                  <a:txBody>
                    <a:bodyPr/>
                    <a:lstStyle/>
                    <a:p>
                      <a:r>
                        <a:rPr lang="pt-BR" sz="1800" dirty="0" smtClean="0"/>
                        <a:t>Método de quantificação de</a:t>
                      </a:r>
                      <a:r>
                        <a:rPr lang="pt-BR" sz="1800" baseline="0" dirty="0" smtClean="0"/>
                        <a:t> itens</a:t>
                      </a:r>
                      <a:endParaRPr lang="en-US" sz="1800" dirty="0"/>
                    </a:p>
                  </a:txBody>
                  <a:tcPr marL="91422" marR="91422" marT="45703" marB="45703"/>
                </a:tc>
              </a:tr>
              <a:tr h="370707">
                <a:tc>
                  <a:txBody>
                    <a:bodyPr/>
                    <a:lstStyle/>
                    <a:p>
                      <a:r>
                        <a:rPr lang="pt-BR" sz="1800" dirty="0" smtClean="0"/>
                        <a:t>Itens</a:t>
                      </a:r>
                      <a:endParaRPr lang="en-US" sz="1800" dirty="0"/>
                    </a:p>
                  </a:txBody>
                  <a:tcPr marL="91422" marR="91422" marT="45703" marB="45703"/>
                </a:tc>
                <a:tc>
                  <a:txBody>
                    <a:bodyPr/>
                    <a:lstStyle/>
                    <a:p>
                      <a:r>
                        <a:rPr lang="pt-BR" sz="1800" dirty="0" smtClean="0"/>
                        <a:t>Matérias-primas, serviços</a:t>
                      </a:r>
                      <a:r>
                        <a:rPr lang="pt-BR" sz="1800" baseline="0" dirty="0" smtClean="0"/>
                        <a:t> ou mercadorias;</a:t>
                      </a:r>
                      <a:endParaRPr lang="en-US" sz="1800" dirty="0"/>
                    </a:p>
                  </a:txBody>
                  <a:tcPr marL="91422" marR="91422" marT="45703" marB="45703"/>
                </a:tc>
              </a:tr>
              <a:tr h="370707">
                <a:tc>
                  <a:txBody>
                    <a:bodyPr/>
                    <a:lstStyle/>
                    <a:p>
                      <a:r>
                        <a:rPr lang="pt-BR" sz="1800" dirty="0" smtClean="0"/>
                        <a:t>Fornecedores</a:t>
                      </a:r>
                      <a:endParaRPr lang="en-US" sz="1800" dirty="0"/>
                    </a:p>
                  </a:txBody>
                  <a:tcPr marL="91422" marR="91422" marT="45703" marB="45703"/>
                </a:tc>
                <a:tc>
                  <a:txBody>
                    <a:bodyPr/>
                    <a:lstStyle/>
                    <a:p>
                      <a:r>
                        <a:rPr lang="pt-BR" sz="1800" dirty="0" smtClean="0"/>
                        <a:t>De quem compramos</a:t>
                      </a:r>
                      <a:endParaRPr lang="en-US" sz="1800" dirty="0"/>
                    </a:p>
                  </a:txBody>
                  <a:tcPr marL="91422" marR="91422" marT="45703" marB="45703"/>
                </a:tc>
              </a:tr>
              <a:tr h="370707">
                <a:tc>
                  <a:txBody>
                    <a:bodyPr/>
                    <a:lstStyle/>
                    <a:p>
                      <a:r>
                        <a:rPr lang="pt-BR" sz="1800" dirty="0" smtClean="0"/>
                        <a:t>Clientes</a:t>
                      </a:r>
                      <a:endParaRPr lang="en-US" sz="1800" dirty="0"/>
                    </a:p>
                  </a:txBody>
                  <a:tcPr marL="91422" marR="91422" marT="45703" marB="45703"/>
                </a:tc>
                <a:tc>
                  <a:txBody>
                    <a:bodyPr/>
                    <a:lstStyle/>
                    <a:p>
                      <a:r>
                        <a:rPr lang="pt-BR" sz="1800" dirty="0" smtClean="0"/>
                        <a:t>Para</a:t>
                      </a:r>
                      <a:r>
                        <a:rPr lang="pt-BR" sz="1800" baseline="0" dirty="0" smtClean="0"/>
                        <a:t> quem vendemos ou prestamos serviço</a:t>
                      </a:r>
                      <a:endParaRPr lang="en-US" sz="1800" dirty="0"/>
                    </a:p>
                  </a:txBody>
                  <a:tcPr marL="91422" marR="91422" marT="45703" marB="45703"/>
                </a:tc>
              </a:tr>
              <a:tr h="640045">
                <a:tc>
                  <a:txBody>
                    <a:bodyPr/>
                    <a:lstStyle/>
                    <a:p>
                      <a:r>
                        <a:rPr lang="pt-BR" sz="1800" dirty="0" smtClean="0"/>
                        <a:t>Equipe</a:t>
                      </a:r>
                      <a:r>
                        <a:rPr lang="pt-BR" sz="1800" baseline="0" dirty="0" smtClean="0"/>
                        <a:t> de Vendas</a:t>
                      </a:r>
                      <a:endParaRPr lang="en-US" sz="1800" dirty="0"/>
                    </a:p>
                  </a:txBody>
                  <a:tcPr marL="91422" marR="91422" marT="45703" marB="45703"/>
                </a:tc>
                <a:tc>
                  <a:txBody>
                    <a:bodyPr/>
                    <a:lstStyle/>
                    <a:p>
                      <a:r>
                        <a:rPr lang="pt-BR" sz="1800" dirty="0" smtClean="0"/>
                        <a:t>Indivíduos</a:t>
                      </a:r>
                      <a:r>
                        <a:rPr lang="pt-BR" sz="1800" baseline="0" dirty="0" smtClean="0"/>
                        <a:t> aos quais a receita de venda é atribuida</a:t>
                      </a:r>
                      <a:endParaRPr lang="en-US" sz="1800" dirty="0"/>
                    </a:p>
                  </a:txBody>
                  <a:tcPr marL="91422" marR="91422" marT="45703" marB="45703"/>
                </a:tc>
              </a:tr>
              <a:tr h="370707">
                <a:tc>
                  <a:txBody>
                    <a:bodyPr/>
                    <a:lstStyle/>
                    <a:p>
                      <a:r>
                        <a:rPr lang="pt-BR" sz="1800" dirty="0" smtClean="0"/>
                        <a:t>Funcionários</a:t>
                      </a:r>
                      <a:endParaRPr lang="en-US" sz="1800" dirty="0"/>
                    </a:p>
                  </a:txBody>
                  <a:tcPr marL="91422" marR="91422" marT="45703" marB="45703"/>
                </a:tc>
                <a:tc>
                  <a:txBody>
                    <a:bodyPr/>
                    <a:lstStyle/>
                    <a:p>
                      <a:r>
                        <a:rPr lang="pt-BR" sz="1800" dirty="0" smtClean="0"/>
                        <a:t>O efetivo de pessoal que executa as tarefas</a:t>
                      </a:r>
                      <a:endParaRPr lang="en-US" sz="1800" dirty="0"/>
                    </a:p>
                  </a:txBody>
                  <a:tcPr marL="91422" marR="91422" marT="45703" marB="45703"/>
                </a:tc>
              </a:tr>
              <a:tr h="370707">
                <a:tc>
                  <a:txBody>
                    <a:bodyPr/>
                    <a:lstStyle/>
                    <a:p>
                      <a:r>
                        <a:rPr lang="pt-BR" sz="1800" dirty="0" smtClean="0"/>
                        <a:t>Locais</a:t>
                      </a:r>
                      <a:endParaRPr lang="en-US" sz="1800" dirty="0"/>
                    </a:p>
                  </a:txBody>
                  <a:tcPr marL="91422" marR="91422" marT="45703" marB="45703"/>
                </a:tc>
                <a:tc>
                  <a:txBody>
                    <a:bodyPr/>
                    <a:lstStyle/>
                    <a:p>
                      <a:r>
                        <a:rPr lang="pt-BR" sz="1800" dirty="0" smtClean="0"/>
                        <a:t>Endereços de Negócios</a:t>
                      </a:r>
                      <a:endParaRPr lang="en-US" sz="1800" dirty="0"/>
                    </a:p>
                  </a:txBody>
                  <a:tcPr marL="91422" marR="91422" marT="45703" marB="45703"/>
                </a:tc>
              </a:tr>
              <a:tr h="370707">
                <a:tc>
                  <a:txBody>
                    <a:bodyPr/>
                    <a:lstStyle/>
                    <a:p>
                      <a:r>
                        <a:rPr lang="pt-BR" sz="1800" dirty="0" smtClean="0"/>
                        <a:t>Organizações</a:t>
                      </a:r>
                      <a:endParaRPr lang="en-US" sz="1800" dirty="0"/>
                    </a:p>
                  </a:txBody>
                  <a:tcPr marL="91422" marR="91422" marT="45703" marB="45703"/>
                </a:tc>
                <a:tc>
                  <a:txBody>
                    <a:bodyPr/>
                    <a:lstStyle/>
                    <a:p>
                      <a:r>
                        <a:rPr lang="pt-BR" sz="1800" dirty="0" smtClean="0"/>
                        <a:t>Entidades de Unidade Lógica</a:t>
                      </a:r>
                      <a:endParaRPr lang="en-US" sz="1800" dirty="0"/>
                    </a:p>
                  </a:txBody>
                  <a:tcPr marL="91422" marR="91422" marT="45703" marB="45703"/>
                </a:tc>
              </a:tr>
            </a:tbl>
          </a:graphicData>
        </a:graphic>
      </p:graphicFrame>
      <p:grpSp>
        <p:nvGrpSpPr>
          <p:cNvPr id="150570" name="Group 6"/>
          <p:cNvGrpSpPr>
            <a:grpSpLocks/>
          </p:cNvGrpSpPr>
          <p:nvPr/>
        </p:nvGrpSpPr>
        <p:grpSpPr bwMode="auto">
          <a:xfrm>
            <a:off x="7308850" y="117475"/>
            <a:ext cx="1735138" cy="647700"/>
            <a:chOff x="7380288" y="41275"/>
            <a:chExt cx="1735137" cy="647700"/>
          </a:xfrm>
        </p:grpSpPr>
        <p:sp>
          <p:nvSpPr>
            <p:cNvPr id="6"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7"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2578" name="Group 6"/>
          <p:cNvGrpSpPr>
            <a:grpSpLocks/>
          </p:cNvGrpSpPr>
          <p:nvPr/>
        </p:nvGrpSpPr>
        <p:grpSpPr bwMode="auto">
          <a:xfrm>
            <a:off x="7308850" y="117475"/>
            <a:ext cx="1735138" cy="647700"/>
            <a:chOff x="7380288" y="41275"/>
            <a:chExt cx="1735137" cy="647700"/>
          </a:xfrm>
        </p:grpSpPr>
        <p:sp>
          <p:nvSpPr>
            <p:cNvPr id="6"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7"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2" name="Rectangle 2"/>
          <p:cNvSpPr txBox="1">
            <a:spLocks noChangeArrowheads="1"/>
          </p:cNvSpPr>
          <p:nvPr/>
        </p:nvSpPr>
        <p:spPr bwMode="auto">
          <a:xfrm>
            <a:off x="11113" y="-211138"/>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err="1" smtClean="0">
                <a:solidFill>
                  <a:srgbClr val="003366"/>
                </a:solidFill>
              </a:rPr>
              <a:t>eBusiness</a:t>
            </a:r>
            <a:r>
              <a:rPr lang="pt-BR" altLang="pt-BR" b="1" kern="0" dirty="0" smtClean="0">
                <a:solidFill>
                  <a:srgbClr val="003366"/>
                </a:solidFill>
              </a:rPr>
              <a:t> </a:t>
            </a:r>
            <a:r>
              <a:rPr lang="pt-BR" altLang="pt-BR" b="1" kern="0" dirty="0" err="1" smtClean="0">
                <a:solidFill>
                  <a:srgbClr val="003366"/>
                </a:solidFill>
              </a:rPr>
              <a:t>Suite</a:t>
            </a:r>
            <a:r>
              <a:rPr lang="pt-BR" altLang="pt-BR" b="1" kern="0" dirty="0" smtClean="0">
                <a:solidFill>
                  <a:srgbClr val="003366"/>
                </a:solidFill>
              </a:rPr>
              <a:t> – </a:t>
            </a:r>
            <a:r>
              <a:rPr lang="pt-BR" altLang="pt-BR" sz="3600" b="1" kern="0" dirty="0" smtClean="0">
                <a:solidFill>
                  <a:srgbClr val="003366"/>
                </a:solidFill>
              </a:rPr>
              <a:t>Administração</a:t>
            </a:r>
          </a:p>
        </p:txBody>
      </p:sp>
      <p:sp>
        <p:nvSpPr>
          <p:cNvPr id="152580"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
        <p:nvSpPr>
          <p:cNvPr id="152581" name="CaixaDeTexto 3"/>
          <p:cNvSpPr txBox="1">
            <a:spLocks noChangeArrowheads="1"/>
          </p:cNvSpPr>
          <p:nvPr/>
        </p:nvSpPr>
        <p:spPr bwMode="auto">
          <a:xfrm>
            <a:off x="0" y="1052513"/>
            <a:ext cx="9144000"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Wingdings" panose="05000000000000000000" pitchFamily="2" charset="2"/>
              <a:buChar char="q"/>
            </a:pPr>
            <a:r>
              <a:rPr lang="pt-BR" altLang="en-US" sz="2400"/>
              <a:t>Acessem o Aplicativo e vamos criar:</a:t>
            </a:r>
          </a:p>
          <a:p>
            <a:pPr>
              <a:spcBef>
                <a:spcPct val="0"/>
              </a:spcBef>
              <a:buFont typeface="Wingdings" panose="05000000000000000000" pitchFamily="2" charset="2"/>
              <a:buChar char="q"/>
            </a:pPr>
            <a:endParaRPr lang="pt-BR" altLang="en-US" sz="2400"/>
          </a:p>
          <a:p>
            <a:pPr lvl="1">
              <a:spcBef>
                <a:spcPct val="0"/>
              </a:spcBef>
              <a:buFont typeface="Wingdings" panose="05000000000000000000" pitchFamily="2" charset="2"/>
              <a:buChar char="q"/>
            </a:pPr>
            <a:r>
              <a:rPr lang="pt-BR" altLang="en-US" sz="2400"/>
              <a:t>Criação de Funções;</a:t>
            </a:r>
          </a:p>
          <a:p>
            <a:pPr lvl="1">
              <a:spcBef>
                <a:spcPct val="0"/>
              </a:spcBef>
              <a:buFont typeface="Wingdings" panose="05000000000000000000" pitchFamily="2" charset="2"/>
              <a:buChar char="q"/>
            </a:pPr>
            <a:endParaRPr lang="pt-BR" altLang="en-US" sz="2400"/>
          </a:p>
          <a:p>
            <a:pPr lvl="1">
              <a:spcBef>
                <a:spcPct val="0"/>
              </a:spcBef>
              <a:buFont typeface="Wingdings" panose="05000000000000000000" pitchFamily="2" charset="2"/>
              <a:buChar char="q"/>
            </a:pPr>
            <a:r>
              <a:rPr lang="pt-BR" altLang="en-US" sz="2400"/>
              <a:t>Criação de Menus;</a:t>
            </a:r>
          </a:p>
          <a:p>
            <a:pPr lvl="1">
              <a:spcBef>
                <a:spcPct val="0"/>
              </a:spcBef>
              <a:buFont typeface="Wingdings" panose="05000000000000000000" pitchFamily="2" charset="2"/>
              <a:buChar char="q"/>
            </a:pPr>
            <a:endParaRPr lang="pt-BR" altLang="en-US" sz="2400"/>
          </a:p>
          <a:p>
            <a:pPr lvl="1">
              <a:spcBef>
                <a:spcPct val="0"/>
              </a:spcBef>
              <a:buFont typeface="Wingdings" panose="05000000000000000000" pitchFamily="2" charset="2"/>
              <a:buChar char="q"/>
            </a:pPr>
            <a:r>
              <a:rPr lang="pt-BR" altLang="en-US" sz="2400"/>
              <a:t>Criação de Responsabilidade;</a:t>
            </a:r>
          </a:p>
          <a:p>
            <a:pPr lvl="1">
              <a:spcBef>
                <a:spcPct val="0"/>
              </a:spcBef>
              <a:buFont typeface="Wingdings" panose="05000000000000000000" pitchFamily="2" charset="2"/>
              <a:buChar char="q"/>
            </a:pPr>
            <a:endParaRPr lang="pt-BR" altLang="en-US" sz="2400"/>
          </a:p>
          <a:p>
            <a:pPr lvl="1">
              <a:spcBef>
                <a:spcPct val="0"/>
              </a:spcBef>
              <a:buFont typeface="Wingdings" panose="05000000000000000000" pitchFamily="2" charset="2"/>
              <a:buChar char="q"/>
            </a:pPr>
            <a:r>
              <a:rPr lang="pt-BR" altLang="en-US" sz="2400"/>
              <a:t>Criação de Usuários;</a:t>
            </a:r>
          </a:p>
          <a:p>
            <a:pPr lvl="1">
              <a:spcBef>
                <a:spcPct val="0"/>
              </a:spcBef>
              <a:buFont typeface="Wingdings" panose="05000000000000000000" pitchFamily="2" charset="2"/>
              <a:buChar char="q"/>
            </a:pPr>
            <a:endParaRPr lang="en-US" altLang="en-US" sz="240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02" name="Group 6"/>
          <p:cNvGrpSpPr>
            <a:grpSpLocks/>
          </p:cNvGrpSpPr>
          <p:nvPr/>
        </p:nvGrpSpPr>
        <p:grpSpPr bwMode="auto">
          <a:xfrm>
            <a:off x="7308850" y="117475"/>
            <a:ext cx="1735138" cy="647700"/>
            <a:chOff x="7380288" y="41275"/>
            <a:chExt cx="1735137" cy="647700"/>
          </a:xfrm>
        </p:grpSpPr>
        <p:sp>
          <p:nvSpPr>
            <p:cNvPr id="39"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40"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791555" name="myRectangle 2A"/>
          <p:cNvSpPr>
            <a:spLocks noChangeArrowheads="1"/>
          </p:cNvSpPr>
          <p:nvPr/>
        </p:nvSpPr>
        <p:spPr bwMode="blackWhite">
          <a:xfrm>
            <a:off x="3225800" y="1701800"/>
            <a:ext cx="4368800" cy="1816100"/>
          </a:xfrm>
          <a:prstGeom prst="rect">
            <a:avLst/>
          </a:prstGeom>
          <a:solidFill>
            <a:srgbClr val="66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bg2"/>
              </a:solidFill>
              <a:effectLst>
                <a:outerShdw blurRad="38100" dist="38100" dir="2700000" algn="tl">
                  <a:srgbClr val="FFFFFF"/>
                </a:outerShdw>
              </a:effectLst>
              <a:latin typeface="Arial" panose="020B0604020202020204" pitchFamily="34" charset="0"/>
            </a:endParaRPr>
          </a:p>
        </p:txBody>
      </p:sp>
      <p:sp>
        <p:nvSpPr>
          <p:cNvPr id="153604" name="myRectangle 3A"/>
          <p:cNvSpPr>
            <a:spLocks noChangeArrowheads="1"/>
          </p:cNvSpPr>
          <p:nvPr/>
        </p:nvSpPr>
        <p:spPr bwMode="auto">
          <a:xfrm>
            <a:off x="3430588" y="1893888"/>
            <a:ext cx="35623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__ Item Information _________</a:t>
            </a:r>
            <a:r>
              <a:rPr lang="en-US" altLang="en-US" sz="1800">
                <a:solidFill>
                  <a:schemeClr val="bg2"/>
                </a:solidFill>
              </a:rPr>
              <a:t> </a:t>
            </a:r>
          </a:p>
        </p:txBody>
      </p:sp>
      <p:sp>
        <p:nvSpPr>
          <p:cNvPr id="153605" name="myRectangle 4A"/>
          <p:cNvSpPr>
            <a:spLocks noChangeArrowheads="1"/>
          </p:cNvSpPr>
          <p:nvPr/>
        </p:nvSpPr>
        <p:spPr bwMode="auto">
          <a:xfrm>
            <a:off x="3279775" y="2284413"/>
            <a:ext cx="12382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Category</a:t>
            </a:r>
            <a:r>
              <a:rPr lang="en-US" altLang="en-US" sz="1800">
                <a:solidFill>
                  <a:schemeClr val="bg2"/>
                </a:solidFill>
              </a:rPr>
              <a:t> </a:t>
            </a:r>
          </a:p>
        </p:txBody>
      </p:sp>
      <p:sp>
        <p:nvSpPr>
          <p:cNvPr id="153606" name="myRectangle 5A"/>
          <p:cNvSpPr>
            <a:spLocks noChangeArrowheads="1"/>
          </p:cNvSpPr>
          <p:nvPr/>
        </p:nvSpPr>
        <p:spPr bwMode="auto">
          <a:xfrm>
            <a:off x="3795713" y="2684463"/>
            <a:ext cx="7175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715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Item</a:t>
            </a:r>
            <a:r>
              <a:rPr lang="en-US" altLang="en-US" sz="1800">
                <a:solidFill>
                  <a:schemeClr val="bg2"/>
                </a:solidFill>
              </a:rPr>
              <a:t> </a:t>
            </a:r>
          </a:p>
        </p:txBody>
      </p:sp>
      <p:sp>
        <p:nvSpPr>
          <p:cNvPr id="153607" name="myRectangle 6A"/>
          <p:cNvSpPr>
            <a:spLocks noChangeArrowheads="1"/>
          </p:cNvSpPr>
          <p:nvPr/>
        </p:nvSpPr>
        <p:spPr bwMode="auto">
          <a:xfrm>
            <a:off x="3670300" y="3046413"/>
            <a:ext cx="8445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96900" indent="-254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Color</a:t>
            </a:r>
            <a:r>
              <a:rPr lang="en-US" altLang="en-US" sz="1800">
                <a:solidFill>
                  <a:schemeClr val="bg2"/>
                </a:solidFill>
              </a:rPr>
              <a:t> </a:t>
            </a:r>
          </a:p>
        </p:txBody>
      </p:sp>
      <p:sp>
        <p:nvSpPr>
          <p:cNvPr id="153608" name="myRectangle 7A"/>
          <p:cNvSpPr>
            <a:spLocks noChangeArrowheads="1"/>
          </p:cNvSpPr>
          <p:nvPr/>
        </p:nvSpPr>
        <p:spPr bwMode="auto">
          <a:xfrm>
            <a:off x="6283325" y="2284413"/>
            <a:ext cx="13271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Computer</a:t>
            </a:r>
            <a:r>
              <a:rPr lang="en-US" altLang="en-US" sz="1800">
                <a:solidFill>
                  <a:schemeClr val="bg2"/>
                </a:solidFill>
              </a:rPr>
              <a:t> </a:t>
            </a:r>
          </a:p>
        </p:txBody>
      </p:sp>
      <p:sp>
        <p:nvSpPr>
          <p:cNvPr id="153609" name="myRectangle 8A"/>
          <p:cNvSpPr>
            <a:spLocks noChangeArrowheads="1"/>
          </p:cNvSpPr>
          <p:nvPr/>
        </p:nvSpPr>
        <p:spPr bwMode="auto">
          <a:xfrm>
            <a:off x="6283325" y="2684463"/>
            <a:ext cx="10858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Monitor</a:t>
            </a:r>
            <a:r>
              <a:rPr lang="en-US" altLang="en-US" sz="1800">
                <a:solidFill>
                  <a:schemeClr val="bg2"/>
                </a:solidFill>
              </a:rPr>
              <a:t> </a:t>
            </a:r>
          </a:p>
        </p:txBody>
      </p:sp>
      <p:sp>
        <p:nvSpPr>
          <p:cNvPr id="153610" name="myRectangle 9A"/>
          <p:cNvSpPr>
            <a:spLocks noChangeArrowheads="1"/>
          </p:cNvSpPr>
          <p:nvPr/>
        </p:nvSpPr>
        <p:spPr bwMode="auto">
          <a:xfrm>
            <a:off x="6289675" y="3046413"/>
            <a:ext cx="12128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Light tan</a:t>
            </a:r>
            <a:r>
              <a:rPr lang="en-US" altLang="en-US" sz="1800">
                <a:solidFill>
                  <a:schemeClr val="bg2"/>
                </a:solidFill>
              </a:rPr>
              <a:t> </a:t>
            </a:r>
          </a:p>
        </p:txBody>
      </p:sp>
      <p:sp>
        <p:nvSpPr>
          <p:cNvPr id="153611" name="myRectangle 10A"/>
          <p:cNvSpPr>
            <a:spLocks noChangeArrowheads="1"/>
          </p:cNvSpPr>
          <p:nvPr/>
        </p:nvSpPr>
        <p:spPr bwMode="gray">
          <a:xfrm>
            <a:off x="4510088" y="3073400"/>
            <a:ext cx="1498600" cy="292100"/>
          </a:xfrm>
          <a:prstGeom prst="rect">
            <a:avLst/>
          </a:prstGeom>
          <a:solidFill>
            <a:srgbClr val="FFFFFF"/>
          </a:solidFill>
          <a:ln w="28575">
            <a:solidFill>
              <a:srgbClr val="86868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114300"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25463"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366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493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065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637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209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1781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50000"/>
              </a:spcBef>
              <a:buFontTx/>
              <a:buNone/>
            </a:pPr>
            <a:r>
              <a:rPr lang="en-US" altLang="en-US" sz="1800">
                <a:solidFill>
                  <a:srgbClr val="000000"/>
                </a:solidFill>
              </a:rPr>
              <a:t>  LTN</a:t>
            </a:r>
            <a:r>
              <a:rPr lang="en-US" altLang="en-US" sz="1800">
                <a:solidFill>
                  <a:schemeClr val="bg2"/>
                </a:solidFill>
              </a:rPr>
              <a:t> </a:t>
            </a:r>
          </a:p>
        </p:txBody>
      </p:sp>
      <p:sp>
        <p:nvSpPr>
          <p:cNvPr id="791564" name="myRectangle 11A"/>
          <p:cNvSpPr>
            <a:spLocks noChangeArrowheads="1"/>
          </p:cNvSpPr>
          <p:nvPr/>
        </p:nvSpPr>
        <p:spPr bwMode="gray">
          <a:xfrm>
            <a:off x="4510088" y="2692400"/>
            <a:ext cx="1498600" cy="292100"/>
          </a:xfrm>
          <a:prstGeom prst="rect">
            <a:avLst/>
          </a:prstGeom>
          <a:solidFill>
            <a:srgbClr val="FFFFFF"/>
          </a:solidFill>
          <a:ln w="28575">
            <a:solidFill>
              <a:srgbClr val="86868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bg2"/>
              </a:solidFill>
              <a:effectLst>
                <a:outerShdw blurRad="38100" dist="38100" dir="2700000" algn="tl">
                  <a:srgbClr val="C0C0C0"/>
                </a:outerShdw>
              </a:effectLst>
              <a:latin typeface="Arial" panose="020B0604020202020204" pitchFamily="34" charset="0"/>
            </a:endParaRPr>
          </a:p>
        </p:txBody>
      </p:sp>
      <p:sp>
        <p:nvSpPr>
          <p:cNvPr id="791565" name="myRectangle 12A"/>
          <p:cNvSpPr>
            <a:spLocks noChangeArrowheads="1"/>
          </p:cNvSpPr>
          <p:nvPr/>
        </p:nvSpPr>
        <p:spPr bwMode="gray">
          <a:xfrm>
            <a:off x="4510088" y="2311400"/>
            <a:ext cx="1498600" cy="292100"/>
          </a:xfrm>
          <a:prstGeom prst="rect">
            <a:avLst/>
          </a:prstGeom>
          <a:solidFill>
            <a:srgbClr val="FFFFFF"/>
          </a:solidFill>
          <a:ln w="28575">
            <a:solidFill>
              <a:srgbClr val="86868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bg2"/>
              </a:solidFill>
              <a:effectLst>
                <a:outerShdw blurRad="38100" dist="38100" dir="2700000" algn="tl">
                  <a:srgbClr val="C0C0C0"/>
                </a:outerShdw>
              </a:effectLst>
              <a:latin typeface="Arial" panose="020B0604020202020204" pitchFamily="34" charset="0"/>
            </a:endParaRPr>
          </a:p>
        </p:txBody>
      </p:sp>
      <p:sp>
        <p:nvSpPr>
          <p:cNvPr id="791566" name="myRectangle 13A"/>
          <p:cNvSpPr>
            <a:spLocks noChangeArrowheads="1"/>
          </p:cNvSpPr>
          <p:nvPr/>
        </p:nvSpPr>
        <p:spPr bwMode="gray">
          <a:xfrm>
            <a:off x="3282950" y="1736725"/>
            <a:ext cx="4241800" cy="15240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bg2"/>
              </a:solidFill>
              <a:effectLst>
                <a:outerShdw blurRad="38100" dist="38100" dir="2700000" algn="tl">
                  <a:srgbClr val="FFFFFF"/>
                </a:outerShdw>
              </a:effectLst>
              <a:latin typeface="Arial" panose="020B0604020202020204" pitchFamily="34" charset="0"/>
            </a:endParaRPr>
          </a:p>
        </p:txBody>
      </p:sp>
      <p:sp>
        <p:nvSpPr>
          <p:cNvPr id="153615" name="myRectangle 14A"/>
          <p:cNvSpPr>
            <a:spLocks noChangeArrowheads="1"/>
          </p:cNvSpPr>
          <p:nvPr/>
        </p:nvSpPr>
        <p:spPr bwMode="auto">
          <a:xfrm>
            <a:off x="4564063" y="2281238"/>
            <a:ext cx="7810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715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COM</a:t>
            </a:r>
            <a:r>
              <a:rPr lang="en-US" altLang="en-US" sz="1800">
                <a:solidFill>
                  <a:schemeClr val="bg2"/>
                </a:solidFill>
              </a:rPr>
              <a:t> </a:t>
            </a:r>
          </a:p>
        </p:txBody>
      </p:sp>
      <p:sp>
        <p:nvSpPr>
          <p:cNvPr id="153616" name="myRectangle 15A"/>
          <p:cNvSpPr>
            <a:spLocks noChangeArrowheads="1"/>
          </p:cNvSpPr>
          <p:nvPr/>
        </p:nvSpPr>
        <p:spPr bwMode="auto">
          <a:xfrm>
            <a:off x="4640263" y="2662238"/>
            <a:ext cx="6286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715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876</a:t>
            </a:r>
            <a:r>
              <a:rPr lang="en-US" altLang="en-US" sz="1800">
                <a:solidFill>
                  <a:schemeClr val="bg2"/>
                </a:solidFill>
              </a:rPr>
              <a:t> </a:t>
            </a:r>
          </a:p>
        </p:txBody>
      </p:sp>
      <p:sp>
        <p:nvSpPr>
          <p:cNvPr id="153617" name="myRectangle 18A"/>
          <p:cNvSpPr>
            <a:spLocks noChangeArrowheads="1"/>
          </p:cNvSpPr>
          <p:nvPr/>
        </p:nvSpPr>
        <p:spPr bwMode="auto">
          <a:xfrm>
            <a:off x="2041525" y="1858963"/>
            <a:ext cx="184150" cy="70167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11430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715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endParaRPr lang="en-US" altLang="en-US" sz="2000"/>
          </a:p>
          <a:p>
            <a:pPr>
              <a:spcBef>
                <a:spcPct val="0"/>
              </a:spcBef>
              <a:buFontTx/>
              <a:buNone/>
            </a:pPr>
            <a:endParaRPr lang="en-US" altLang="en-US" sz="2000"/>
          </a:p>
        </p:txBody>
      </p:sp>
      <p:sp>
        <p:nvSpPr>
          <p:cNvPr id="153618" name="myRectangle 19A"/>
          <p:cNvSpPr>
            <a:spLocks noChangeArrowheads="1"/>
          </p:cNvSpPr>
          <p:nvPr/>
        </p:nvSpPr>
        <p:spPr bwMode="auto">
          <a:xfrm>
            <a:off x="469900" y="1652588"/>
            <a:ext cx="2749550" cy="915987"/>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Flexfields-chave</a:t>
            </a:r>
            <a:r>
              <a:rPr lang="en-US" altLang="en-US" sz="1800"/>
              <a:t> </a:t>
            </a:r>
          </a:p>
          <a:p>
            <a:pPr>
              <a:spcBef>
                <a:spcPct val="0"/>
              </a:spcBef>
              <a:buFontTx/>
              <a:buNone/>
            </a:pPr>
            <a:r>
              <a:rPr lang="en-US" altLang="en-US" sz="1800">
                <a:solidFill>
                  <a:srgbClr val="000000"/>
                </a:solidFill>
              </a:rPr>
              <a:t>criam identificadores</a:t>
            </a:r>
            <a:r>
              <a:rPr lang="en-US" altLang="en-US" sz="1800"/>
              <a:t> </a:t>
            </a:r>
          </a:p>
          <a:p>
            <a:pPr>
              <a:spcBef>
                <a:spcPct val="0"/>
              </a:spcBef>
              <a:buFontTx/>
              <a:buNone/>
            </a:pPr>
            <a:r>
              <a:rPr lang="en-US" altLang="en-US" sz="1800">
                <a:solidFill>
                  <a:srgbClr val="000000"/>
                </a:solidFill>
              </a:rPr>
              <a:t>de entidade exclusivos</a:t>
            </a:r>
            <a:r>
              <a:rPr lang="en-US" altLang="en-US" sz="1800"/>
              <a:t> </a:t>
            </a:r>
          </a:p>
        </p:txBody>
      </p:sp>
      <p:sp>
        <p:nvSpPr>
          <p:cNvPr id="153619" name="myRectangle 20A"/>
          <p:cNvSpPr>
            <a:spLocks noChangeArrowheads="1"/>
          </p:cNvSpPr>
          <p:nvPr/>
        </p:nvSpPr>
        <p:spPr bwMode="auto">
          <a:xfrm>
            <a:off x="4937125" y="4014788"/>
            <a:ext cx="3076575" cy="915987"/>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Flexfields descritivos</a:t>
            </a:r>
            <a:r>
              <a:rPr lang="en-US" altLang="en-US" sz="1800"/>
              <a:t> </a:t>
            </a:r>
          </a:p>
          <a:p>
            <a:pPr>
              <a:spcBef>
                <a:spcPct val="0"/>
              </a:spcBef>
              <a:buFontTx/>
              <a:buNone/>
            </a:pPr>
            <a:r>
              <a:rPr lang="en-US" altLang="en-US" sz="1800">
                <a:solidFill>
                  <a:srgbClr val="000000"/>
                </a:solidFill>
              </a:rPr>
              <a:t>reúnem informações</a:t>
            </a:r>
            <a:r>
              <a:rPr lang="en-US" altLang="en-US" sz="1800"/>
              <a:t> </a:t>
            </a:r>
          </a:p>
          <a:p>
            <a:pPr>
              <a:spcBef>
                <a:spcPct val="0"/>
              </a:spcBef>
              <a:buFontTx/>
              <a:buNone/>
            </a:pPr>
            <a:r>
              <a:rPr lang="en-US" altLang="en-US" sz="1800">
                <a:solidFill>
                  <a:srgbClr val="000000"/>
                </a:solidFill>
              </a:rPr>
              <a:t>adicionais</a:t>
            </a:r>
            <a:r>
              <a:rPr lang="en-US" altLang="en-US" sz="1800"/>
              <a:t> </a:t>
            </a:r>
          </a:p>
        </p:txBody>
      </p:sp>
      <p:sp>
        <p:nvSpPr>
          <p:cNvPr id="791572" name="myRectangle 21A"/>
          <p:cNvSpPr>
            <a:spLocks noChangeArrowheads="1"/>
          </p:cNvSpPr>
          <p:nvPr/>
        </p:nvSpPr>
        <p:spPr bwMode="blackWhite">
          <a:xfrm>
            <a:off x="1949450" y="4064000"/>
            <a:ext cx="2959100" cy="1968500"/>
          </a:xfrm>
          <a:prstGeom prst="rect">
            <a:avLst/>
          </a:prstGeom>
          <a:solidFill>
            <a:srgbClr val="66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bg2"/>
              </a:solidFill>
              <a:effectLst>
                <a:outerShdw blurRad="38100" dist="38100" dir="2700000" algn="tl">
                  <a:srgbClr val="FFFFFF"/>
                </a:outerShdw>
              </a:effectLst>
              <a:latin typeface="Arial" panose="020B0604020202020204" pitchFamily="34" charset="0"/>
            </a:endParaRPr>
          </a:p>
        </p:txBody>
      </p:sp>
      <p:sp>
        <p:nvSpPr>
          <p:cNvPr id="153621" name="myRectangle 22A"/>
          <p:cNvSpPr>
            <a:spLocks noChangeArrowheads="1"/>
          </p:cNvSpPr>
          <p:nvPr/>
        </p:nvSpPr>
        <p:spPr bwMode="auto">
          <a:xfrm>
            <a:off x="2289175" y="4694238"/>
            <a:ext cx="8318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84200" indent="-127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Store</a:t>
            </a:r>
            <a:r>
              <a:rPr lang="en-US" altLang="en-US" sz="1800">
                <a:solidFill>
                  <a:schemeClr val="bg2"/>
                </a:solidFill>
              </a:rPr>
              <a:t> </a:t>
            </a:r>
          </a:p>
        </p:txBody>
      </p:sp>
      <p:sp>
        <p:nvSpPr>
          <p:cNvPr id="791574" name="myRectangle 23A"/>
          <p:cNvSpPr>
            <a:spLocks noChangeArrowheads="1"/>
          </p:cNvSpPr>
          <p:nvPr/>
        </p:nvSpPr>
        <p:spPr bwMode="auto">
          <a:xfrm>
            <a:off x="3086100" y="4743450"/>
            <a:ext cx="1722438" cy="228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bg2"/>
              </a:solidFill>
              <a:effectLst>
                <a:outerShdw blurRad="38100" dist="38100" dir="2700000" algn="tl">
                  <a:srgbClr val="C0C0C0"/>
                </a:outerShdw>
              </a:effectLst>
              <a:latin typeface="Arial" panose="020B0604020202020204" pitchFamily="34" charset="0"/>
            </a:endParaRPr>
          </a:p>
        </p:txBody>
      </p:sp>
      <p:sp>
        <p:nvSpPr>
          <p:cNvPr id="153623" name="myRectangle 24A"/>
          <p:cNvSpPr>
            <a:spLocks noChangeArrowheads="1"/>
          </p:cNvSpPr>
          <p:nvPr/>
        </p:nvSpPr>
        <p:spPr bwMode="auto">
          <a:xfrm>
            <a:off x="2378075" y="4999038"/>
            <a:ext cx="7556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715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Dept</a:t>
            </a:r>
            <a:r>
              <a:rPr lang="en-US" altLang="en-US" sz="1800">
                <a:solidFill>
                  <a:schemeClr val="bg2"/>
                </a:solidFill>
              </a:rPr>
              <a:t> </a:t>
            </a:r>
          </a:p>
        </p:txBody>
      </p:sp>
      <p:sp>
        <p:nvSpPr>
          <p:cNvPr id="791576" name="myRectangle 25A"/>
          <p:cNvSpPr>
            <a:spLocks noChangeArrowheads="1"/>
          </p:cNvSpPr>
          <p:nvPr/>
        </p:nvSpPr>
        <p:spPr bwMode="auto">
          <a:xfrm>
            <a:off x="3086100" y="5048250"/>
            <a:ext cx="1722438" cy="228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bg2"/>
              </a:solidFill>
              <a:effectLst>
                <a:outerShdw blurRad="38100" dist="38100" dir="2700000" algn="tl">
                  <a:srgbClr val="C0C0C0"/>
                </a:outerShdw>
              </a:effectLst>
              <a:latin typeface="Arial" panose="020B0604020202020204" pitchFamily="34" charset="0"/>
            </a:endParaRPr>
          </a:p>
        </p:txBody>
      </p:sp>
      <p:sp>
        <p:nvSpPr>
          <p:cNvPr id="153625" name="myRectangle 26A"/>
          <p:cNvSpPr>
            <a:spLocks noChangeArrowheads="1"/>
          </p:cNvSpPr>
          <p:nvPr/>
        </p:nvSpPr>
        <p:spPr bwMode="auto">
          <a:xfrm>
            <a:off x="2060575" y="5316538"/>
            <a:ext cx="11112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Number</a:t>
            </a:r>
            <a:r>
              <a:rPr lang="en-US" altLang="en-US" sz="1800">
                <a:solidFill>
                  <a:schemeClr val="bg2"/>
                </a:solidFill>
              </a:rPr>
              <a:t> </a:t>
            </a:r>
          </a:p>
        </p:txBody>
      </p:sp>
      <p:sp>
        <p:nvSpPr>
          <p:cNvPr id="791578" name="myRectangle 27A"/>
          <p:cNvSpPr>
            <a:spLocks noChangeArrowheads="1"/>
          </p:cNvSpPr>
          <p:nvPr/>
        </p:nvSpPr>
        <p:spPr bwMode="auto">
          <a:xfrm>
            <a:off x="3086100" y="5353050"/>
            <a:ext cx="1724025" cy="228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bg2"/>
              </a:solidFill>
              <a:effectLst>
                <a:outerShdw blurRad="38100" dist="38100" dir="2700000" algn="tl">
                  <a:srgbClr val="C0C0C0"/>
                </a:outerShdw>
              </a:effectLst>
              <a:latin typeface="Arial" panose="020B0604020202020204" pitchFamily="34" charset="0"/>
            </a:endParaRPr>
          </a:p>
        </p:txBody>
      </p:sp>
      <p:sp>
        <p:nvSpPr>
          <p:cNvPr id="791579" name="myRectangle 28A"/>
          <p:cNvSpPr>
            <a:spLocks noChangeArrowheads="1"/>
          </p:cNvSpPr>
          <p:nvPr/>
        </p:nvSpPr>
        <p:spPr bwMode="auto">
          <a:xfrm>
            <a:off x="1974850" y="4095750"/>
            <a:ext cx="2882900" cy="15240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bg2"/>
              </a:solidFill>
              <a:effectLst>
                <a:outerShdw blurRad="38100" dist="38100" dir="2700000" algn="tl">
                  <a:srgbClr val="FFFFFF"/>
                </a:outerShdw>
              </a:effectLst>
              <a:latin typeface="Arial" panose="020B0604020202020204" pitchFamily="34" charset="0"/>
            </a:endParaRPr>
          </a:p>
        </p:txBody>
      </p:sp>
      <p:sp>
        <p:nvSpPr>
          <p:cNvPr id="791580" name="myRectangle 29A"/>
          <p:cNvSpPr>
            <a:spLocks noChangeArrowheads="1"/>
          </p:cNvSpPr>
          <p:nvPr/>
        </p:nvSpPr>
        <p:spPr bwMode="auto">
          <a:xfrm>
            <a:off x="3086100" y="5657850"/>
            <a:ext cx="1722438" cy="228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bg2"/>
              </a:solidFill>
              <a:effectLst>
                <a:outerShdw blurRad="38100" dist="38100" dir="2700000" algn="tl">
                  <a:srgbClr val="C0C0C0"/>
                </a:outerShdw>
              </a:effectLst>
              <a:latin typeface="Arial" panose="020B0604020202020204" pitchFamily="34" charset="0"/>
            </a:endParaRPr>
          </a:p>
        </p:txBody>
      </p:sp>
      <p:sp>
        <p:nvSpPr>
          <p:cNvPr id="153629" name="myRectangle 30A"/>
          <p:cNvSpPr>
            <a:spLocks noChangeArrowheads="1"/>
          </p:cNvSpPr>
          <p:nvPr/>
        </p:nvSpPr>
        <p:spPr bwMode="auto">
          <a:xfrm>
            <a:off x="2108200" y="5621338"/>
            <a:ext cx="10350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Exp. Dt</a:t>
            </a:r>
            <a:r>
              <a:rPr lang="en-US" altLang="en-US" sz="1800">
                <a:solidFill>
                  <a:schemeClr val="bg2"/>
                </a:solidFill>
              </a:rPr>
              <a:t> </a:t>
            </a:r>
          </a:p>
        </p:txBody>
      </p:sp>
      <p:sp>
        <p:nvSpPr>
          <p:cNvPr id="153630" name="myRectangle 31A"/>
          <p:cNvSpPr>
            <a:spLocks noChangeArrowheads="1"/>
          </p:cNvSpPr>
          <p:nvPr/>
        </p:nvSpPr>
        <p:spPr bwMode="auto">
          <a:xfrm>
            <a:off x="2000250" y="4383088"/>
            <a:ext cx="17970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Payment Type</a:t>
            </a:r>
            <a:r>
              <a:rPr lang="en-US" altLang="en-US" sz="1800">
                <a:solidFill>
                  <a:schemeClr val="bg2"/>
                </a:solidFill>
              </a:rPr>
              <a:t> </a:t>
            </a:r>
          </a:p>
        </p:txBody>
      </p:sp>
      <p:sp>
        <p:nvSpPr>
          <p:cNvPr id="791583" name="myRectangle 32A"/>
          <p:cNvSpPr>
            <a:spLocks noChangeArrowheads="1"/>
          </p:cNvSpPr>
          <p:nvPr/>
        </p:nvSpPr>
        <p:spPr bwMode="auto">
          <a:xfrm>
            <a:off x="3822700" y="4438650"/>
            <a:ext cx="539750" cy="2286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bg2"/>
              </a:solidFill>
              <a:effectLst>
                <a:outerShdw blurRad="38100" dist="38100" dir="2700000" algn="tl">
                  <a:srgbClr val="C0C0C0"/>
                </a:outerShdw>
              </a:effectLst>
              <a:latin typeface="Arial" panose="020B0604020202020204" pitchFamily="34" charset="0"/>
            </a:endParaRPr>
          </a:p>
        </p:txBody>
      </p:sp>
      <p:sp>
        <p:nvSpPr>
          <p:cNvPr id="153632" name="myRectangle 33A"/>
          <p:cNvSpPr>
            <a:spLocks noChangeArrowheads="1"/>
          </p:cNvSpPr>
          <p:nvPr/>
        </p:nvSpPr>
        <p:spPr bwMode="auto">
          <a:xfrm>
            <a:off x="3775075" y="4395788"/>
            <a:ext cx="5778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30200" indent="-2159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715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CC</a:t>
            </a:r>
            <a:r>
              <a:rPr lang="en-US" altLang="en-US" sz="1800">
                <a:solidFill>
                  <a:schemeClr val="bg2"/>
                </a:solidFill>
              </a:rPr>
              <a:t> </a:t>
            </a:r>
          </a:p>
        </p:txBody>
      </p:sp>
      <p:sp>
        <p:nvSpPr>
          <p:cNvPr id="153633" name="myRectangle 34A"/>
          <p:cNvSpPr>
            <a:spLocks noChangeArrowheads="1"/>
          </p:cNvSpPr>
          <p:nvPr/>
        </p:nvSpPr>
        <p:spPr bwMode="auto">
          <a:xfrm>
            <a:off x="3006725" y="4681538"/>
            <a:ext cx="8826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35000" indent="-635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54321</a:t>
            </a:r>
            <a:r>
              <a:rPr lang="en-US" altLang="en-US" sz="1800">
                <a:solidFill>
                  <a:schemeClr val="bg2"/>
                </a:solidFill>
              </a:rPr>
              <a:t> </a:t>
            </a:r>
          </a:p>
        </p:txBody>
      </p:sp>
      <p:sp>
        <p:nvSpPr>
          <p:cNvPr id="153634" name="myRectangle 35A"/>
          <p:cNvSpPr>
            <a:spLocks noChangeArrowheads="1"/>
          </p:cNvSpPr>
          <p:nvPr/>
        </p:nvSpPr>
        <p:spPr bwMode="auto">
          <a:xfrm>
            <a:off x="3006725" y="4986338"/>
            <a:ext cx="6286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715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987</a:t>
            </a:r>
            <a:r>
              <a:rPr lang="en-US" altLang="en-US" sz="1800">
                <a:solidFill>
                  <a:schemeClr val="bg2"/>
                </a:solidFill>
              </a:rPr>
              <a:t> </a:t>
            </a:r>
          </a:p>
        </p:txBody>
      </p:sp>
      <p:sp>
        <p:nvSpPr>
          <p:cNvPr id="153635" name="myRectangle 37A"/>
          <p:cNvSpPr>
            <a:spLocks noChangeArrowheads="1"/>
          </p:cNvSpPr>
          <p:nvPr/>
        </p:nvSpPr>
        <p:spPr bwMode="auto">
          <a:xfrm>
            <a:off x="2997200" y="5595938"/>
            <a:ext cx="9588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12 - 99</a:t>
            </a:r>
            <a:r>
              <a:rPr lang="en-US" altLang="en-US" sz="1800">
                <a:solidFill>
                  <a:schemeClr val="bg2"/>
                </a:solidFill>
              </a:rPr>
              <a:t> </a:t>
            </a:r>
          </a:p>
        </p:txBody>
      </p:sp>
      <p:sp>
        <p:nvSpPr>
          <p:cNvPr id="153636" name="myRectangle 36A"/>
          <p:cNvSpPr>
            <a:spLocks noChangeArrowheads="1"/>
          </p:cNvSpPr>
          <p:nvPr/>
        </p:nvSpPr>
        <p:spPr bwMode="auto">
          <a:xfrm>
            <a:off x="3016250" y="5291138"/>
            <a:ext cx="19240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4958-2938-4747</a:t>
            </a:r>
            <a:r>
              <a:rPr lang="en-US" altLang="en-US" sz="1800">
                <a:solidFill>
                  <a:schemeClr val="bg2"/>
                </a:solidFill>
              </a:rPr>
              <a:t> </a:t>
            </a:r>
          </a:p>
        </p:txBody>
      </p:sp>
      <p:sp>
        <p:nvSpPr>
          <p:cNvPr id="37" name="Rectangle 2"/>
          <p:cNvSpPr txBox="1">
            <a:spLocks noChangeArrowheads="1"/>
          </p:cNvSpPr>
          <p:nvPr/>
        </p:nvSpPr>
        <p:spPr bwMode="auto">
          <a:xfrm>
            <a:off x="11113" y="-211138"/>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err="1" smtClean="0">
                <a:solidFill>
                  <a:srgbClr val="003366"/>
                </a:solidFill>
              </a:rPr>
              <a:t>eBusiness</a:t>
            </a:r>
            <a:r>
              <a:rPr lang="pt-BR" altLang="pt-BR" b="1" kern="0" dirty="0" smtClean="0">
                <a:solidFill>
                  <a:srgbClr val="003366"/>
                </a:solidFill>
              </a:rPr>
              <a:t> </a:t>
            </a:r>
            <a:r>
              <a:rPr lang="pt-BR" altLang="pt-BR" b="1" kern="0" dirty="0" err="1" smtClean="0">
                <a:solidFill>
                  <a:srgbClr val="003366"/>
                </a:solidFill>
              </a:rPr>
              <a:t>Suite</a:t>
            </a:r>
            <a:r>
              <a:rPr lang="pt-BR" altLang="pt-BR" b="1" kern="0" dirty="0" smtClean="0">
                <a:solidFill>
                  <a:srgbClr val="003366"/>
                </a:solidFill>
              </a:rPr>
              <a:t> – </a:t>
            </a:r>
            <a:r>
              <a:rPr lang="pt-BR" altLang="pt-BR" sz="3600" b="1" kern="0" dirty="0" smtClean="0">
                <a:solidFill>
                  <a:srgbClr val="003366"/>
                </a:solidFill>
              </a:rPr>
              <a:t>Chave e Descr.</a:t>
            </a:r>
          </a:p>
        </p:txBody>
      </p:sp>
      <p:sp>
        <p:nvSpPr>
          <p:cNvPr id="153638"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3"/>
          <p:cNvSpPr>
            <a:spLocks noGrp="1" noChangeArrowheads="1"/>
          </p:cNvSpPr>
          <p:nvPr>
            <p:ph type="body" sz="half" idx="1"/>
          </p:nvPr>
        </p:nvSpPr>
        <p:spPr>
          <a:xfrm>
            <a:off x="609600" y="1449388"/>
            <a:ext cx="3962400" cy="4408487"/>
          </a:xfrm>
        </p:spPr>
        <p:txBody>
          <a:bodyPr/>
          <a:lstStyle/>
          <a:p>
            <a:pPr marL="339725" lvl="1" indent="-225425"/>
            <a:r>
              <a:rPr lang="en-US" altLang="en-US" smtClean="0">
                <a:solidFill>
                  <a:schemeClr val="accent2"/>
                </a:solidFill>
                <a:ea typeface="Arial" panose="020B0604020202020204" pitchFamily="34" charset="0"/>
              </a:rPr>
              <a:t>General Ledger </a:t>
            </a:r>
          </a:p>
          <a:p>
            <a:pPr marL="909638" lvl="2" indent="-331788"/>
            <a:r>
              <a:rPr lang="en-US" altLang="en-US" sz="1800" smtClean="0">
                <a:solidFill>
                  <a:schemeClr val="accent2"/>
                </a:solidFill>
                <a:ea typeface="Arial" panose="020B0604020202020204" pitchFamily="34" charset="0"/>
              </a:rPr>
              <a:t>Flexfield Contábil </a:t>
            </a:r>
          </a:p>
          <a:p>
            <a:pPr marL="339725" lvl="1" indent="-225425"/>
            <a:r>
              <a:rPr lang="en-US" altLang="en-US" smtClean="0">
                <a:solidFill>
                  <a:schemeClr val="accent2"/>
                </a:solidFill>
                <a:ea typeface="Arial" panose="020B0604020202020204" pitchFamily="34" charset="0"/>
              </a:rPr>
              <a:t>Assets </a:t>
            </a:r>
          </a:p>
          <a:p>
            <a:pPr marL="909638" lvl="2" indent="-331788"/>
            <a:r>
              <a:rPr lang="en-US" altLang="en-US" sz="1800" smtClean="0">
                <a:solidFill>
                  <a:schemeClr val="accent2"/>
                </a:solidFill>
                <a:ea typeface="Arial" panose="020B0604020202020204" pitchFamily="34" charset="0"/>
              </a:rPr>
              <a:t>Flexfield-Chave de Ativo </a:t>
            </a:r>
          </a:p>
          <a:p>
            <a:pPr marL="909638" lvl="2" indent="-331788"/>
            <a:r>
              <a:rPr lang="en-US" altLang="en-US" sz="1800" smtClean="0">
                <a:solidFill>
                  <a:schemeClr val="accent2"/>
                </a:solidFill>
                <a:ea typeface="Arial" panose="020B0604020202020204" pitchFamily="34" charset="0"/>
              </a:rPr>
              <a:t>Flexfield de Local </a:t>
            </a:r>
          </a:p>
          <a:p>
            <a:pPr marL="909638" lvl="2" indent="-331788"/>
            <a:r>
              <a:rPr lang="en-US" altLang="en-US" sz="1800" smtClean="0">
                <a:solidFill>
                  <a:schemeClr val="accent2"/>
                </a:solidFill>
                <a:ea typeface="Arial" panose="020B0604020202020204" pitchFamily="34" charset="0"/>
              </a:rPr>
              <a:t>Flexfield de Categoria </a:t>
            </a:r>
          </a:p>
          <a:p>
            <a:pPr marL="339725" lvl="1" indent="-225425"/>
            <a:r>
              <a:rPr lang="en-US" altLang="en-US" smtClean="0">
                <a:solidFill>
                  <a:schemeClr val="accent2"/>
                </a:solidFill>
                <a:ea typeface="Arial" panose="020B0604020202020204" pitchFamily="34" charset="0"/>
              </a:rPr>
              <a:t>Service </a:t>
            </a:r>
          </a:p>
          <a:p>
            <a:pPr marL="909638" lvl="2" indent="-331788"/>
            <a:r>
              <a:rPr lang="pt-BR" altLang="en-US" sz="1800" smtClean="0">
                <a:solidFill>
                  <a:schemeClr val="accent2"/>
                </a:solidFill>
                <a:ea typeface="Arial" panose="020B0604020202020204" pitchFamily="34" charset="0"/>
              </a:rPr>
              <a:t>Flexfield de Item de Serviço</a:t>
            </a:r>
            <a:r>
              <a:rPr lang="en-US" altLang="en-US" sz="1800" smtClean="0">
                <a:solidFill>
                  <a:schemeClr val="accent2"/>
                </a:solidFill>
                <a:ea typeface="Arial" panose="020B0604020202020204" pitchFamily="34" charset="0"/>
              </a:rPr>
              <a:t> </a:t>
            </a:r>
          </a:p>
          <a:p>
            <a:pPr marL="339725" lvl="1" indent="-225425"/>
            <a:r>
              <a:rPr lang="en-US" altLang="en-US" smtClean="0">
                <a:solidFill>
                  <a:schemeClr val="accent2"/>
                </a:solidFill>
                <a:ea typeface="Arial" panose="020B0604020202020204" pitchFamily="34" charset="0"/>
              </a:rPr>
              <a:t>Human Resources </a:t>
            </a:r>
          </a:p>
          <a:p>
            <a:pPr marL="909638" lvl="2" indent="-331788"/>
            <a:r>
              <a:rPr lang="pt-BR" altLang="en-US" sz="1800" smtClean="0">
                <a:solidFill>
                  <a:schemeClr val="accent2"/>
                </a:solidFill>
                <a:ea typeface="Arial" panose="020B0604020202020204" pitchFamily="34" charset="0"/>
              </a:rPr>
              <a:t>Flexfield de Grupo de Pessoas</a:t>
            </a:r>
            <a:r>
              <a:rPr lang="en-US" altLang="en-US" sz="1800" smtClean="0">
                <a:solidFill>
                  <a:schemeClr val="accent2"/>
                </a:solidFill>
                <a:ea typeface="Arial" panose="020B0604020202020204" pitchFamily="34" charset="0"/>
              </a:rPr>
              <a:t> </a:t>
            </a:r>
          </a:p>
          <a:p>
            <a:pPr marL="909638" lvl="2" indent="-331788"/>
            <a:r>
              <a:rPr lang="pt-BR" altLang="en-US" sz="1800" smtClean="0">
                <a:solidFill>
                  <a:schemeClr val="accent2"/>
                </a:solidFill>
                <a:ea typeface="Arial" panose="020B0604020202020204" pitchFamily="34" charset="0"/>
              </a:rPr>
              <a:t>Flexfield de Código de Cargo</a:t>
            </a:r>
            <a:r>
              <a:rPr lang="en-US" altLang="en-US" sz="1800" smtClean="0">
                <a:solidFill>
                  <a:schemeClr val="accent2"/>
                </a:solidFill>
                <a:ea typeface="Arial" panose="020B0604020202020204" pitchFamily="34" charset="0"/>
              </a:rPr>
              <a:t> </a:t>
            </a:r>
          </a:p>
        </p:txBody>
      </p:sp>
      <p:sp>
        <p:nvSpPr>
          <p:cNvPr id="155651" name="Rectangle 4"/>
          <p:cNvSpPr>
            <a:spLocks noGrp="1" noChangeArrowheads="1"/>
          </p:cNvSpPr>
          <p:nvPr>
            <p:ph type="body" sz="half" idx="2"/>
          </p:nvPr>
        </p:nvSpPr>
        <p:spPr>
          <a:xfrm>
            <a:off x="4645025" y="1449388"/>
            <a:ext cx="3736975" cy="3017837"/>
          </a:xfrm>
        </p:spPr>
        <p:txBody>
          <a:bodyPr/>
          <a:lstStyle/>
          <a:p>
            <a:pPr marL="339725" lvl="1" indent="-225425"/>
            <a:r>
              <a:rPr lang="en-US" altLang="en-US" smtClean="0">
                <a:solidFill>
                  <a:schemeClr val="accent2"/>
                </a:solidFill>
                <a:ea typeface="Arial" panose="020B0604020202020204" pitchFamily="34" charset="0"/>
              </a:rPr>
              <a:t>Receivables </a:t>
            </a:r>
          </a:p>
          <a:p>
            <a:pPr marL="909638" lvl="2" indent="-331788"/>
            <a:r>
              <a:rPr lang="en-US" altLang="en-US" sz="1800" smtClean="0">
                <a:solidFill>
                  <a:schemeClr val="accent2"/>
                </a:solidFill>
                <a:ea typeface="Arial" panose="020B0604020202020204" pitchFamily="34" charset="0"/>
              </a:rPr>
              <a:t>Flexfield de Território </a:t>
            </a:r>
          </a:p>
          <a:p>
            <a:pPr marL="909638" lvl="2" indent="-331788"/>
            <a:r>
              <a:rPr lang="en-US" altLang="en-US" sz="1800" smtClean="0">
                <a:solidFill>
                  <a:schemeClr val="accent2"/>
                </a:solidFill>
                <a:ea typeface="Arial" panose="020B0604020202020204" pitchFamily="34" charset="0"/>
              </a:rPr>
              <a:t>Flexfield de Local de Imposto sobre Vendas </a:t>
            </a:r>
          </a:p>
          <a:p>
            <a:pPr marL="339725" lvl="1" indent="-225425"/>
            <a:r>
              <a:rPr lang="en-US" altLang="en-US" smtClean="0">
                <a:solidFill>
                  <a:schemeClr val="accent2"/>
                </a:solidFill>
                <a:ea typeface="Arial" panose="020B0604020202020204" pitchFamily="34" charset="0"/>
              </a:rPr>
              <a:t>Inventory </a:t>
            </a:r>
          </a:p>
          <a:p>
            <a:pPr marL="909638" lvl="2" indent="-331788"/>
            <a:r>
              <a:rPr lang="en-US" altLang="en-US" sz="1800" smtClean="0">
                <a:solidFill>
                  <a:schemeClr val="accent2"/>
                </a:solidFill>
                <a:ea typeface="Arial" panose="020B0604020202020204" pitchFamily="34" charset="0"/>
              </a:rPr>
              <a:t>Categorias de Itens </a:t>
            </a:r>
          </a:p>
          <a:p>
            <a:pPr marL="909638" lvl="2" indent="-331788"/>
            <a:r>
              <a:rPr lang="en-US" altLang="en-US" sz="1800" smtClean="0">
                <a:solidFill>
                  <a:schemeClr val="accent2"/>
                </a:solidFill>
                <a:ea typeface="Arial" panose="020B0604020202020204" pitchFamily="34" charset="0"/>
              </a:rPr>
              <a:t>Itens do Sistema </a:t>
            </a:r>
          </a:p>
          <a:p>
            <a:pPr marL="909638" lvl="2" indent="-331788"/>
            <a:r>
              <a:rPr lang="en-US" altLang="en-US" sz="1800" smtClean="0">
                <a:solidFill>
                  <a:schemeClr val="accent2"/>
                </a:solidFill>
                <a:ea typeface="Arial" panose="020B0604020202020204" pitchFamily="34" charset="0"/>
              </a:rPr>
              <a:t>Catálogos de Itens </a:t>
            </a:r>
          </a:p>
        </p:txBody>
      </p:sp>
      <p:sp>
        <p:nvSpPr>
          <p:cNvPr id="155652" name="Line 5"/>
          <p:cNvSpPr>
            <a:spLocks noChangeShapeType="1"/>
          </p:cNvSpPr>
          <p:nvPr/>
        </p:nvSpPr>
        <p:spPr bwMode="auto">
          <a:xfrm>
            <a:off x="0"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
        <p:nvSpPr>
          <p:cNvPr id="7" name="Rectangle 2"/>
          <p:cNvSpPr txBox="1">
            <a:spLocks noChangeArrowheads="1"/>
          </p:cNvSpPr>
          <p:nvPr/>
        </p:nvSpPr>
        <p:spPr bwMode="auto">
          <a:xfrm>
            <a:off x="11113" y="-211138"/>
            <a:ext cx="9132887"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err="1" smtClean="0">
                <a:solidFill>
                  <a:srgbClr val="003366"/>
                </a:solidFill>
              </a:rPr>
              <a:t>eBusiness</a:t>
            </a:r>
            <a:r>
              <a:rPr lang="pt-BR" altLang="pt-BR" b="1" kern="0" dirty="0" smtClean="0">
                <a:solidFill>
                  <a:srgbClr val="003366"/>
                </a:solidFill>
              </a:rPr>
              <a:t> </a:t>
            </a:r>
            <a:r>
              <a:rPr lang="pt-BR" altLang="pt-BR" b="1" kern="0" dirty="0" err="1" smtClean="0">
                <a:solidFill>
                  <a:srgbClr val="003366"/>
                </a:solidFill>
              </a:rPr>
              <a:t>Suite</a:t>
            </a:r>
            <a:r>
              <a:rPr lang="pt-BR" altLang="pt-BR" b="1" kern="0" dirty="0" smtClean="0">
                <a:solidFill>
                  <a:srgbClr val="003366"/>
                </a:solidFill>
              </a:rPr>
              <a:t> – </a:t>
            </a:r>
            <a:r>
              <a:rPr lang="pt-BR" altLang="pt-BR" sz="3600" b="1" kern="0" dirty="0" smtClean="0">
                <a:solidFill>
                  <a:srgbClr val="003366"/>
                </a:solidFill>
              </a:rPr>
              <a:t>Chave</a:t>
            </a:r>
          </a:p>
        </p:txBody>
      </p:sp>
      <p:grpSp>
        <p:nvGrpSpPr>
          <p:cNvPr id="155654" name="Group 6"/>
          <p:cNvGrpSpPr>
            <a:grpSpLocks/>
          </p:cNvGrpSpPr>
          <p:nvPr/>
        </p:nvGrpSpPr>
        <p:grpSpPr bwMode="auto">
          <a:xfrm>
            <a:off x="7308850" y="117475"/>
            <a:ext cx="1735138" cy="647700"/>
            <a:chOff x="7380288" y="41275"/>
            <a:chExt cx="1735137" cy="647700"/>
          </a:xfrm>
        </p:grpSpPr>
        <p:sp>
          <p:nvSpPr>
            <p:cNvPr id="8"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9"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ChangeArrowheads="1"/>
          </p:cNvSpPr>
          <p:nvPr/>
        </p:nvSpPr>
        <p:spPr bwMode="blackWhite">
          <a:xfrm>
            <a:off x="3568700" y="2362200"/>
            <a:ext cx="4584700" cy="936625"/>
          </a:xfrm>
          <a:prstGeom prst="rect">
            <a:avLst/>
          </a:prstGeom>
          <a:solidFill>
            <a:srgbClr val="CCFFCC"/>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latin typeface="Times New Roman" panose="02020603050405020304" pitchFamily="18" charset="0"/>
            </a:endParaRPr>
          </a:p>
        </p:txBody>
      </p:sp>
      <p:sp>
        <p:nvSpPr>
          <p:cNvPr id="157699" name="Rectangle 3"/>
          <p:cNvSpPr>
            <a:spLocks noChangeArrowheads="1"/>
          </p:cNvSpPr>
          <p:nvPr/>
        </p:nvSpPr>
        <p:spPr bwMode="blackWhite">
          <a:xfrm>
            <a:off x="3568700" y="3463925"/>
            <a:ext cx="4584700" cy="936625"/>
          </a:xfrm>
          <a:prstGeom prst="rect">
            <a:avLst/>
          </a:prstGeom>
          <a:solidFill>
            <a:srgbClr val="CCEC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latin typeface="Times New Roman" panose="02020603050405020304" pitchFamily="18" charset="0"/>
            </a:endParaRPr>
          </a:p>
        </p:txBody>
      </p:sp>
      <p:sp>
        <p:nvSpPr>
          <p:cNvPr id="157700" name="Rectangle 4"/>
          <p:cNvSpPr>
            <a:spLocks noChangeArrowheads="1"/>
          </p:cNvSpPr>
          <p:nvPr/>
        </p:nvSpPr>
        <p:spPr bwMode="blackWhite">
          <a:xfrm>
            <a:off x="3568700" y="4572000"/>
            <a:ext cx="4584700" cy="1689100"/>
          </a:xfrm>
          <a:prstGeom prst="rect">
            <a:avLst/>
          </a:prstGeom>
          <a:solidFill>
            <a:srgbClr val="CCCC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latin typeface="Times New Roman" panose="02020603050405020304" pitchFamily="18" charset="0"/>
            </a:endParaRPr>
          </a:p>
        </p:txBody>
      </p:sp>
      <p:sp>
        <p:nvSpPr>
          <p:cNvPr id="157701" name="Rectangle 7"/>
          <p:cNvSpPr>
            <a:spLocks noChangeArrowheads="1"/>
          </p:cNvSpPr>
          <p:nvPr/>
        </p:nvSpPr>
        <p:spPr bwMode="blackWhite">
          <a:xfrm>
            <a:off x="3748088" y="3702050"/>
            <a:ext cx="1824037" cy="457200"/>
          </a:xfrm>
          <a:prstGeom prst="rect">
            <a:avLst/>
          </a:prstGeom>
          <a:solidFill>
            <a:srgbClr val="99CC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latin typeface="Times New Roman" panose="02020603050405020304" pitchFamily="18" charset="0"/>
            </a:endParaRPr>
          </a:p>
        </p:txBody>
      </p:sp>
      <p:sp>
        <p:nvSpPr>
          <p:cNvPr id="157702" name="Rectangle 8"/>
          <p:cNvSpPr>
            <a:spLocks noChangeArrowheads="1"/>
          </p:cNvSpPr>
          <p:nvPr/>
        </p:nvSpPr>
        <p:spPr bwMode="blackWhite">
          <a:xfrm>
            <a:off x="3717925" y="3759200"/>
            <a:ext cx="191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800">
                <a:solidFill>
                  <a:srgbClr val="000000"/>
                </a:solidFill>
              </a:rPr>
              <a:t>COMPUTADOR</a:t>
            </a:r>
            <a:r>
              <a:rPr lang="en-US" altLang="en-US" sz="1800"/>
              <a:t> </a:t>
            </a:r>
          </a:p>
        </p:txBody>
      </p:sp>
      <p:grpSp>
        <p:nvGrpSpPr>
          <p:cNvPr id="157703" name="Group 9"/>
          <p:cNvGrpSpPr>
            <a:grpSpLocks/>
          </p:cNvGrpSpPr>
          <p:nvPr/>
        </p:nvGrpSpPr>
        <p:grpSpPr bwMode="auto">
          <a:xfrm>
            <a:off x="6346825" y="3511550"/>
            <a:ext cx="1441450" cy="857250"/>
            <a:chOff x="4154" y="2184"/>
            <a:chExt cx="908" cy="540"/>
          </a:xfrm>
        </p:grpSpPr>
        <p:sp>
          <p:nvSpPr>
            <p:cNvPr id="157724" name="Rectangle 10"/>
            <p:cNvSpPr>
              <a:spLocks noChangeArrowheads="1"/>
            </p:cNvSpPr>
            <p:nvPr/>
          </p:nvSpPr>
          <p:spPr bwMode="blackWhite">
            <a:xfrm>
              <a:off x="4200" y="2208"/>
              <a:ext cx="792" cy="486"/>
            </a:xfrm>
            <a:prstGeom prst="rect">
              <a:avLst/>
            </a:prstGeom>
            <a:solidFill>
              <a:srgbClr val="99CC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buClr>
                  <a:srgbClr val="FF0000"/>
                </a:buClr>
                <a:buFontTx/>
                <a:buNone/>
              </a:pPr>
              <a:endParaRPr lang="pt-BR" altLang="en-US" sz="1800">
                <a:latin typeface="Times New Roman" panose="02020603050405020304" pitchFamily="18" charset="0"/>
              </a:endParaRPr>
            </a:p>
          </p:txBody>
        </p:sp>
        <p:sp>
          <p:nvSpPr>
            <p:cNvPr id="157725" name="Rectangle 11"/>
            <p:cNvSpPr>
              <a:spLocks noChangeArrowheads="1"/>
            </p:cNvSpPr>
            <p:nvPr/>
          </p:nvSpPr>
          <p:spPr bwMode="blackWhite">
            <a:xfrm>
              <a:off x="4430" y="2184"/>
              <a:ext cx="3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800">
                  <a:solidFill>
                    <a:srgbClr val="000000"/>
                  </a:solidFill>
                </a:rPr>
                <a:t>PC</a:t>
              </a:r>
              <a:r>
                <a:rPr lang="en-US" altLang="en-US" sz="1800"/>
                <a:t> </a:t>
              </a:r>
            </a:p>
          </p:txBody>
        </p:sp>
        <p:sp>
          <p:nvSpPr>
            <p:cNvPr id="157726" name="Rectangle 12"/>
            <p:cNvSpPr>
              <a:spLocks noChangeArrowheads="1"/>
            </p:cNvSpPr>
            <p:nvPr/>
          </p:nvSpPr>
          <p:spPr bwMode="blackWhite">
            <a:xfrm>
              <a:off x="4238" y="2493"/>
              <a:ext cx="7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800">
                  <a:solidFill>
                    <a:srgbClr val="000000"/>
                  </a:solidFill>
                </a:rPr>
                <a:t>LAPTOP</a:t>
              </a:r>
              <a:r>
                <a:rPr lang="en-US" altLang="en-US" sz="1800"/>
                <a:t> </a:t>
              </a:r>
            </a:p>
          </p:txBody>
        </p:sp>
        <p:sp>
          <p:nvSpPr>
            <p:cNvPr id="157727" name="Rectangle 13"/>
            <p:cNvSpPr>
              <a:spLocks noChangeArrowheads="1"/>
            </p:cNvSpPr>
            <p:nvPr/>
          </p:nvSpPr>
          <p:spPr bwMode="blackWhite">
            <a:xfrm>
              <a:off x="4154" y="2334"/>
              <a:ext cx="9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800">
                  <a:solidFill>
                    <a:srgbClr val="000000"/>
                  </a:solidFill>
                </a:rPr>
                <a:t>SERVIDOR</a:t>
              </a:r>
              <a:r>
                <a:rPr lang="en-US" altLang="en-US" sz="1800"/>
                <a:t> </a:t>
              </a:r>
            </a:p>
          </p:txBody>
        </p:sp>
      </p:grpSp>
      <p:sp>
        <p:nvSpPr>
          <p:cNvPr id="157704" name="Rectangle 14"/>
          <p:cNvSpPr>
            <a:spLocks noChangeArrowheads="1"/>
          </p:cNvSpPr>
          <p:nvPr/>
        </p:nvSpPr>
        <p:spPr bwMode="blackWhite">
          <a:xfrm>
            <a:off x="3762375" y="4686300"/>
            <a:ext cx="2160588" cy="1493838"/>
          </a:xfrm>
          <a:prstGeom prst="rect">
            <a:avLst/>
          </a:prstGeom>
          <a:solidFill>
            <a:srgbClr val="CCFF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800">
                <a:solidFill>
                  <a:srgbClr val="000000"/>
                </a:solidFill>
              </a:rPr>
              <a:t>10</a:t>
            </a:r>
            <a:r>
              <a:rPr lang="en-US" altLang="en-US" sz="1800"/>
              <a:t> </a:t>
            </a:r>
            <a:r>
              <a:rPr lang="en-US" altLang="en-US" sz="1800">
                <a:solidFill>
                  <a:srgbClr val="000000"/>
                </a:solidFill>
              </a:rPr>
              <a:t>CAR.</a:t>
            </a:r>
            <a:r>
              <a:rPr lang="en-US" altLang="en-US" sz="1800"/>
              <a:t> </a:t>
            </a:r>
          </a:p>
          <a:p>
            <a:pPr algn="ctr">
              <a:spcBef>
                <a:spcPct val="0"/>
              </a:spcBef>
              <a:buFontTx/>
              <a:buNone/>
            </a:pPr>
            <a:r>
              <a:rPr lang="en-US" altLang="en-US" sz="1800">
                <a:solidFill>
                  <a:srgbClr val="000000"/>
                </a:solidFill>
              </a:rPr>
              <a:t>Independente</a:t>
            </a:r>
            <a:r>
              <a:rPr lang="en-US" altLang="en-US" sz="1800"/>
              <a:t> </a:t>
            </a:r>
          </a:p>
          <a:p>
            <a:pPr algn="ctr">
              <a:spcBef>
                <a:spcPct val="0"/>
              </a:spcBef>
              <a:buFontTx/>
              <a:buNone/>
            </a:pPr>
            <a:r>
              <a:rPr lang="en-US" altLang="en-US" sz="1800">
                <a:solidFill>
                  <a:srgbClr val="000000"/>
                </a:solidFill>
              </a:rPr>
              <a:t>Uso Obrigatório de Letras Maiúsculas</a:t>
            </a:r>
            <a:r>
              <a:rPr lang="en-US" altLang="en-US" sz="1800"/>
              <a:t> </a:t>
            </a:r>
          </a:p>
        </p:txBody>
      </p:sp>
      <p:sp>
        <p:nvSpPr>
          <p:cNvPr id="157705" name="Rectangle 15"/>
          <p:cNvSpPr>
            <a:spLocks noChangeArrowheads="1"/>
          </p:cNvSpPr>
          <p:nvPr/>
        </p:nvSpPr>
        <p:spPr bwMode="blackWhite">
          <a:xfrm>
            <a:off x="6043613" y="4686300"/>
            <a:ext cx="1995487" cy="1493838"/>
          </a:xfrm>
          <a:prstGeom prst="rect">
            <a:avLst/>
          </a:prstGeom>
          <a:solidFill>
            <a:srgbClr val="CCFF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800">
                <a:solidFill>
                  <a:srgbClr val="000000"/>
                </a:solidFill>
              </a:rPr>
              <a:t>12 Car.</a:t>
            </a:r>
            <a:r>
              <a:rPr lang="en-US" altLang="en-US" sz="1800"/>
              <a:t> </a:t>
            </a:r>
          </a:p>
          <a:p>
            <a:pPr algn="ctr">
              <a:spcBef>
                <a:spcPct val="0"/>
              </a:spcBef>
              <a:buFontTx/>
              <a:buNone/>
            </a:pPr>
            <a:r>
              <a:rPr lang="en-US" altLang="en-US" sz="1800">
                <a:solidFill>
                  <a:srgbClr val="000000"/>
                </a:solidFill>
              </a:rPr>
              <a:t>Dependente</a:t>
            </a:r>
            <a:r>
              <a:rPr lang="en-US" altLang="en-US" sz="1800"/>
              <a:t> </a:t>
            </a:r>
          </a:p>
          <a:p>
            <a:pPr algn="ctr">
              <a:spcBef>
                <a:spcPct val="0"/>
              </a:spcBef>
              <a:buFontTx/>
              <a:buNone/>
            </a:pPr>
            <a:r>
              <a:rPr lang="en-US" altLang="en-US" sz="1800">
                <a:solidFill>
                  <a:srgbClr val="000000"/>
                </a:solidFill>
              </a:rPr>
              <a:t>Uso Obrigatório de Letras Maiúsculas</a:t>
            </a:r>
            <a:r>
              <a:rPr lang="en-US" altLang="en-US" sz="1800"/>
              <a:t> </a:t>
            </a:r>
          </a:p>
        </p:txBody>
      </p:sp>
      <p:sp>
        <p:nvSpPr>
          <p:cNvPr id="157706" name="Rectangle 16"/>
          <p:cNvSpPr>
            <a:spLocks noChangeArrowheads="1"/>
          </p:cNvSpPr>
          <p:nvPr/>
        </p:nvSpPr>
        <p:spPr bwMode="blackWhite">
          <a:xfrm>
            <a:off x="825500" y="1339850"/>
            <a:ext cx="2282825" cy="395288"/>
          </a:xfrm>
          <a:prstGeom prst="rect">
            <a:avLst/>
          </a:prstGeom>
          <a:solidFill>
            <a:srgbClr val="CCEC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Flexfield/Estrutura</a:t>
            </a:r>
            <a:r>
              <a:rPr lang="en-US" altLang="en-US" sz="1800"/>
              <a:t> </a:t>
            </a:r>
          </a:p>
        </p:txBody>
      </p:sp>
      <p:sp>
        <p:nvSpPr>
          <p:cNvPr id="157707" name="Rectangle 17"/>
          <p:cNvSpPr>
            <a:spLocks noChangeArrowheads="1"/>
          </p:cNvSpPr>
          <p:nvPr/>
        </p:nvSpPr>
        <p:spPr bwMode="blackWhite">
          <a:xfrm>
            <a:off x="868363" y="2628900"/>
            <a:ext cx="1508125" cy="395288"/>
          </a:xfrm>
          <a:prstGeom prst="rect">
            <a:avLst/>
          </a:prstGeom>
          <a:solidFill>
            <a:srgbClr val="CCEC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Segmentos</a:t>
            </a:r>
            <a:r>
              <a:rPr lang="en-US" altLang="en-US" sz="1800"/>
              <a:t> </a:t>
            </a:r>
          </a:p>
        </p:txBody>
      </p:sp>
      <p:sp>
        <p:nvSpPr>
          <p:cNvPr id="157708" name="Rectangle 18"/>
          <p:cNvSpPr>
            <a:spLocks noChangeArrowheads="1"/>
          </p:cNvSpPr>
          <p:nvPr/>
        </p:nvSpPr>
        <p:spPr bwMode="blackWhite">
          <a:xfrm>
            <a:off x="896938" y="3619500"/>
            <a:ext cx="1552575" cy="944563"/>
          </a:xfrm>
          <a:prstGeom prst="rect">
            <a:avLst/>
          </a:prstGeom>
          <a:solidFill>
            <a:srgbClr val="CCEC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800">
                <a:solidFill>
                  <a:srgbClr val="000000"/>
                </a:solidFill>
              </a:rPr>
              <a:t>Valores</a:t>
            </a:r>
            <a:r>
              <a:rPr lang="en-US" altLang="en-US" sz="1800"/>
              <a:t> </a:t>
            </a:r>
          </a:p>
          <a:p>
            <a:pPr algn="ctr">
              <a:spcBef>
                <a:spcPct val="0"/>
              </a:spcBef>
              <a:buFontTx/>
              <a:buNone/>
            </a:pPr>
            <a:r>
              <a:rPr lang="en-US" altLang="en-US" sz="1800">
                <a:solidFill>
                  <a:srgbClr val="000000"/>
                </a:solidFill>
              </a:rPr>
              <a:t>(se necessário)</a:t>
            </a:r>
            <a:r>
              <a:rPr lang="en-US" altLang="en-US" sz="1800"/>
              <a:t> </a:t>
            </a:r>
          </a:p>
        </p:txBody>
      </p:sp>
      <p:sp>
        <p:nvSpPr>
          <p:cNvPr id="157709" name="Rectangle 19"/>
          <p:cNvSpPr>
            <a:spLocks noChangeArrowheads="1"/>
          </p:cNvSpPr>
          <p:nvPr/>
        </p:nvSpPr>
        <p:spPr bwMode="blackWhite">
          <a:xfrm>
            <a:off x="896938" y="5156200"/>
            <a:ext cx="2133600" cy="944563"/>
          </a:xfrm>
          <a:prstGeom prst="rect">
            <a:avLst/>
          </a:prstGeom>
          <a:solidFill>
            <a:srgbClr val="CCECFF"/>
          </a:solidFill>
          <a:ln w="2857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286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228600" indent="-285750" defTabSz="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457200" indent="-228600" defTabSz="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858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914400" indent="-228600" defTabSz="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3716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8288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2860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743200" indent="-228600" defTabSz="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pt-BR" altLang="en-US" sz="1800">
                <a:solidFill>
                  <a:srgbClr val="000000"/>
                </a:solidFill>
              </a:rPr>
              <a:t>Conjunto de valores – formato e validação</a:t>
            </a:r>
            <a:r>
              <a:rPr lang="en-US" altLang="en-US" sz="1800"/>
              <a:t> </a:t>
            </a:r>
          </a:p>
        </p:txBody>
      </p:sp>
      <p:sp>
        <p:nvSpPr>
          <p:cNvPr id="157710" name="Line 20"/>
          <p:cNvSpPr>
            <a:spLocks noChangeShapeType="1"/>
          </p:cNvSpPr>
          <p:nvPr/>
        </p:nvSpPr>
        <p:spPr bwMode="blackGray">
          <a:xfrm rot="5400000">
            <a:off x="3870325" y="804863"/>
            <a:ext cx="3175" cy="1476375"/>
          </a:xfrm>
          <a:prstGeom prst="line">
            <a:avLst/>
          </a:prstGeom>
          <a:noFill/>
          <a:ln w="28575" cap="rnd">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57711" name="Line 21"/>
          <p:cNvSpPr>
            <a:spLocks noChangeShapeType="1"/>
          </p:cNvSpPr>
          <p:nvPr/>
        </p:nvSpPr>
        <p:spPr bwMode="blackGray">
          <a:xfrm rot="5400000">
            <a:off x="3014663" y="3414712"/>
            <a:ext cx="1588" cy="1096963"/>
          </a:xfrm>
          <a:prstGeom prst="line">
            <a:avLst/>
          </a:prstGeom>
          <a:noFill/>
          <a:ln w="28575" cap="rnd">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57712" name="Line 22"/>
          <p:cNvSpPr>
            <a:spLocks noChangeShapeType="1"/>
          </p:cNvSpPr>
          <p:nvPr/>
        </p:nvSpPr>
        <p:spPr bwMode="blackGray">
          <a:xfrm rot="5400000">
            <a:off x="3305969" y="5225256"/>
            <a:ext cx="3175" cy="519113"/>
          </a:xfrm>
          <a:prstGeom prst="line">
            <a:avLst/>
          </a:prstGeom>
          <a:noFill/>
          <a:ln w="28575" cap="rnd">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57713" name="Freeform 23"/>
          <p:cNvSpPr>
            <a:spLocks/>
          </p:cNvSpPr>
          <p:nvPr/>
        </p:nvSpPr>
        <p:spPr bwMode="blackGray">
          <a:xfrm>
            <a:off x="4584700" y="2209800"/>
            <a:ext cx="2540000" cy="419100"/>
          </a:xfrm>
          <a:custGeom>
            <a:avLst/>
            <a:gdLst>
              <a:gd name="T0" fmla="*/ 0 w 1776"/>
              <a:gd name="T1" fmla="*/ 2147483646 h 192"/>
              <a:gd name="T2" fmla="*/ 0 w 1776"/>
              <a:gd name="T3" fmla="*/ 0 h 192"/>
              <a:gd name="T4" fmla="*/ 2147483646 w 1776"/>
              <a:gd name="T5" fmla="*/ 0 h 192"/>
              <a:gd name="T6" fmla="*/ 2147483646 w 1776"/>
              <a:gd name="T7" fmla="*/ 2147483646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76" h="192">
                <a:moveTo>
                  <a:pt x="0" y="144"/>
                </a:moveTo>
                <a:lnTo>
                  <a:pt x="0" y="0"/>
                </a:lnTo>
                <a:lnTo>
                  <a:pt x="1776" y="0"/>
                </a:lnTo>
                <a:lnTo>
                  <a:pt x="1776" y="192"/>
                </a:lnTo>
              </a:path>
            </a:pathLst>
          </a:custGeom>
          <a:noFill/>
          <a:ln w="28575" cap="flat"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57714" name="Rectangle 24"/>
          <p:cNvSpPr>
            <a:spLocks noChangeArrowheads="1"/>
          </p:cNvSpPr>
          <p:nvPr/>
        </p:nvSpPr>
        <p:spPr bwMode="blackWhite">
          <a:xfrm>
            <a:off x="3721100" y="2501900"/>
            <a:ext cx="1905000" cy="698500"/>
          </a:xfrm>
          <a:prstGeom prst="rect">
            <a:avLst/>
          </a:prstGeom>
          <a:solidFill>
            <a:srgbClr val="99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Segmento 1</a:t>
            </a:r>
            <a:r>
              <a:rPr lang="en-US" altLang="en-US" sz="1800"/>
              <a:t> </a:t>
            </a:r>
          </a:p>
        </p:txBody>
      </p:sp>
      <p:sp>
        <p:nvSpPr>
          <p:cNvPr id="157715" name="Rectangle 25"/>
          <p:cNvSpPr>
            <a:spLocks noChangeArrowheads="1"/>
          </p:cNvSpPr>
          <p:nvPr/>
        </p:nvSpPr>
        <p:spPr bwMode="blackWhite">
          <a:xfrm>
            <a:off x="6096000" y="2501900"/>
            <a:ext cx="1905000" cy="698500"/>
          </a:xfrm>
          <a:prstGeom prst="rect">
            <a:avLst/>
          </a:prstGeom>
          <a:solidFill>
            <a:srgbClr val="99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Segmento 2</a:t>
            </a:r>
            <a:r>
              <a:rPr lang="en-US" altLang="en-US" sz="1800"/>
              <a:t> </a:t>
            </a:r>
          </a:p>
        </p:txBody>
      </p:sp>
      <p:sp>
        <p:nvSpPr>
          <p:cNvPr id="157716" name="Line 26"/>
          <p:cNvSpPr>
            <a:spLocks noChangeShapeType="1"/>
          </p:cNvSpPr>
          <p:nvPr/>
        </p:nvSpPr>
        <p:spPr bwMode="blackGray">
          <a:xfrm flipV="1">
            <a:off x="5816600" y="1905000"/>
            <a:ext cx="0" cy="304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57717" name="Line 27"/>
          <p:cNvSpPr>
            <a:spLocks noChangeShapeType="1"/>
          </p:cNvSpPr>
          <p:nvPr/>
        </p:nvSpPr>
        <p:spPr bwMode="blackGray">
          <a:xfrm rot="5400000">
            <a:off x="2961481" y="2228057"/>
            <a:ext cx="3175" cy="1201738"/>
          </a:xfrm>
          <a:prstGeom prst="line">
            <a:avLst/>
          </a:prstGeom>
          <a:noFill/>
          <a:ln w="28575" cap="rnd">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57718" name="Rectangle 28"/>
          <p:cNvSpPr>
            <a:spLocks noChangeArrowheads="1"/>
          </p:cNvSpPr>
          <p:nvPr/>
        </p:nvSpPr>
        <p:spPr bwMode="blackWhite">
          <a:xfrm>
            <a:off x="4624388" y="1231900"/>
            <a:ext cx="2530475" cy="685800"/>
          </a:xfrm>
          <a:prstGeom prst="rect">
            <a:avLst/>
          </a:prstGeom>
          <a:solidFill>
            <a:srgbClr val="99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 Estrutura de Flexfield</a:t>
            </a:r>
            <a:r>
              <a:rPr lang="en-US" altLang="en-US" sz="1800"/>
              <a:t> </a:t>
            </a:r>
          </a:p>
        </p:txBody>
      </p:sp>
      <p:sp>
        <p:nvSpPr>
          <p:cNvPr id="29"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Flexfield</a:t>
            </a:r>
          </a:p>
        </p:txBody>
      </p:sp>
      <p:sp>
        <p:nvSpPr>
          <p:cNvPr id="157720"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57721" name="Group 6"/>
          <p:cNvGrpSpPr>
            <a:grpSpLocks/>
          </p:cNvGrpSpPr>
          <p:nvPr/>
        </p:nvGrpSpPr>
        <p:grpSpPr bwMode="auto">
          <a:xfrm>
            <a:off x="7308850" y="117475"/>
            <a:ext cx="1735138" cy="647700"/>
            <a:chOff x="7380288" y="41275"/>
            <a:chExt cx="1735137" cy="647700"/>
          </a:xfrm>
        </p:grpSpPr>
        <p:sp>
          <p:nvSpPr>
            <p:cNvPr id="31"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2"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3"/>
          <p:cNvSpPr>
            <a:spLocks noGrp="1" noChangeArrowheads="1"/>
          </p:cNvSpPr>
          <p:nvPr>
            <p:ph type="body" idx="1"/>
          </p:nvPr>
        </p:nvSpPr>
        <p:spPr>
          <a:xfrm>
            <a:off x="11113" y="936625"/>
            <a:ext cx="9132887" cy="5300663"/>
          </a:xfrm>
        </p:spPr>
        <p:txBody>
          <a:bodyPr/>
          <a:lstStyle/>
          <a:p>
            <a:pPr marL="457200" lvl="1" indent="-342900" algn="just">
              <a:buFont typeface="Wingdings" panose="05000000000000000000" pitchFamily="2" charset="2"/>
              <a:buChar char="q"/>
            </a:pPr>
            <a:r>
              <a:rPr lang="pt-BR" altLang="en-US" sz="2400" smtClean="0">
                <a:ea typeface="Arial" panose="020B0604020202020204" pitchFamily="34" charset="0"/>
              </a:rPr>
              <a:t>Segmento global: Exibe informações comuns a todos </a:t>
            </a:r>
            <a:br>
              <a:rPr lang="pt-BR" altLang="en-US" sz="2400" smtClean="0">
                <a:ea typeface="Arial" panose="020B0604020202020204" pitchFamily="34" charset="0"/>
              </a:rPr>
            </a:br>
            <a:r>
              <a:rPr lang="pt-BR" altLang="en-US" sz="2400" smtClean="0">
                <a:ea typeface="Arial" panose="020B0604020202020204" pitchFamily="34" charset="0"/>
              </a:rPr>
              <a:t>os contextos;</a:t>
            </a:r>
          </a:p>
          <a:p>
            <a:pPr marL="457200" lvl="1" indent="-342900" algn="just">
              <a:buFont typeface="Wingdings" panose="05000000000000000000" pitchFamily="2" charset="2"/>
              <a:buChar char="q"/>
            </a:pPr>
            <a:endParaRPr lang="pt-BR" altLang="en-US" sz="2400" smtClean="0">
              <a:ea typeface="Arial" panose="020B0604020202020204" pitchFamily="34" charset="0"/>
            </a:endParaRPr>
          </a:p>
          <a:p>
            <a:pPr marL="457200" lvl="1" indent="-342900" algn="just">
              <a:buFont typeface="Wingdings" panose="05000000000000000000" pitchFamily="2" charset="2"/>
              <a:buChar char="q"/>
            </a:pPr>
            <a:r>
              <a:rPr lang="pt-BR" altLang="en-US" sz="2400" smtClean="0">
                <a:ea typeface="Arial" panose="020B0604020202020204" pitchFamily="34" charset="0"/>
              </a:rPr>
              <a:t>Segmento contextual: Exibe informações apropriadas somente a um contexto específico;</a:t>
            </a:r>
          </a:p>
          <a:p>
            <a:pPr marL="457200" lvl="1" indent="-342900" algn="just">
              <a:buFont typeface="Wingdings" panose="05000000000000000000" pitchFamily="2" charset="2"/>
              <a:buChar char="q"/>
            </a:pPr>
            <a:endParaRPr lang="pt-BR" altLang="en-US" sz="2400" smtClean="0">
              <a:ea typeface="Arial" panose="020B0604020202020204" pitchFamily="34" charset="0"/>
            </a:endParaRPr>
          </a:p>
          <a:p>
            <a:pPr marL="457200" lvl="1" indent="-342900" algn="just">
              <a:buFont typeface="Wingdings" panose="05000000000000000000" pitchFamily="2" charset="2"/>
              <a:buChar char="q"/>
            </a:pPr>
            <a:r>
              <a:rPr lang="pt-BR" altLang="en-US" sz="2400" smtClean="0">
                <a:ea typeface="Arial" panose="020B0604020202020204" pitchFamily="34" charset="0"/>
              </a:rPr>
              <a:t>Campo de referência: Um campo na janela do aplicativo cujo valor é usado para determinar contextos;</a:t>
            </a:r>
          </a:p>
          <a:p>
            <a:pPr marL="457200" lvl="1" indent="-342900" algn="just">
              <a:buFont typeface="Wingdings" panose="05000000000000000000" pitchFamily="2" charset="2"/>
              <a:buChar char="q"/>
            </a:pPr>
            <a:endParaRPr lang="pt-BR" altLang="en-US" sz="2400" smtClean="0">
              <a:ea typeface="Arial" panose="020B0604020202020204" pitchFamily="34" charset="0"/>
            </a:endParaRPr>
          </a:p>
          <a:p>
            <a:pPr marL="457200" lvl="1" indent="-342900" algn="just">
              <a:buFont typeface="Wingdings" panose="05000000000000000000" pitchFamily="2" charset="2"/>
              <a:buChar char="q"/>
            </a:pPr>
            <a:r>
              <a:rPr lang="pt-BR" altLang="en-US" sz="2400" smtClean="0">
                <a:ea typeface="Arial" panose="020B0604020202020204" pitchFamily="34" charset="0"/>
              </a:rPr>
              <a:t>Campo de contexto: Um campo na estrutura cujo valor </a:t>
            </a:r>
            <a:br>
              <a:rPr lang="pt-BR" altLang="en-US" sz="2400" smtClean="0">
                <a:ea typeface="Arial" panose="020B0604020202020204" pitchFamily="34" charset="0"/>
              </a:rPr>
            </a:br>
            <a:r>
              <a:rPr lang="pt-BR" altLang="en-US" sz="2400" smtClean="0">
                <a:ea typeface="Arial" panose="020B0604020202020204" pitchFamily="34" charset="0"/>
              </a:rPr>
              <a:t>é usado para determinar contextos</a:t>
            </a:r>
            <a:endParaRPr lang="en-US" altLang="en-US" sz="2400" smtClean="0">
              <a:ea typeface="Arial" panose="020B0604020202020204" pitchFamily="34" charset="0"/>
            </a:endParaRPr>
          </a:p>
        </p:txBody>
      </p:sp>
      <p:sp>
        <p:nvSpPr>
          <p:cNvPr id="4" name="Rectangle 2"/>
          <p:cNvSpPr txBox="1">
            <a:spLocks noChangeArrowheads="1"/>
          </p:cNvSpPr>
          <p:nvPr/>
        </p:nvSpPr>
        <p:spPr bwMode="auto">
          <a:xfrm>
            <a:off x="11113" y="-22225"/>
            <a:ext cx="9132887"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Flexfield</a:t>
            </a:r>
          </a:p>
        </p:txBody>
      </p:sp>
      <p:sp>
        <p:nvSpPr>
          <p:cNvPr id="159748"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59749" name="Group 6"/>
          <p:cNvGrpSpPr>
            <a:grpSpLocks/>
          </p:cNvGrpSpPr>
          <p:nvPr/>
        </p:nvGrpSpPr>
        <p:grpSpPr bwMode="auto">
          <a:xfrm>
            <a:off x="7308850" y="117475"/>
            <a:ext cx="1735138" cy="647700"/>
            <a:chOff x="7380288" y="41275"/>
            <a:chExt cx="1735137" cy="647700"/>
          </a:xfrm>
        </p:grpSpPr>
        <p:sp>
          <p:nvSpPr>
            <p:cNvPr id="6"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7"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10" name="myRectangle 4A"/>
          <p:cNvSpPr>
            <a:spLocks noChangeArrowheads="1"/>
          </p:cNvSpPr>
          <p:nvPr/>
        </p:nvSpPr>
        <p:spPr bwMode="blackWhite">
          <a:xfrm>
            <a:off x="5156200" y="1758950"/>
            <a:ext cx="2882900" cy="1739900"/>
          </a:xfrm>
          <a:prstGeom prst="rect">
            <a:avLst/>
          </a:prstGeom>
          <a:solidFill>
            <a:srgbClr val="66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87811" name="Rectangle 3"/>
          <p:cNvSpPr>
            <a:spLocks noChangeArrowheads="1"/>
          </p:cNvSpPr>
          <p:nvPr/>
        </p:nvSpPr>
        <p:spPr bwMode="blackWhite">
          <a:xfrm>
            <a:off x="1254125" y="3994150"/>
            <a:ext cx="2882900" cy="1511300"/>
          </a:xfrm>
          <a:prstGeom prst="rect">
            <a:avLst/>
          </a:prstGeom>
          <a:solidFill>
            <a:srgbClr val="66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87812" name="Rectangle 4"/>
          <p:cNvSpPr>
            <a:spLocks noChangeArrowheads="1"/>
          </p:cNvSpPr>
          <p:nvPr/>
        </p:nvSpPr>
        <p:spPr bwMode="blackWhite">
          <a:xfrm>
            <a:off x="5194300" y="3994150"/>
            <a:ext cx="2882900" cy="1416050"/>
          </a:xfrm>
          <a:prstGeom prst="rect">
            <a:avLst/>
          </a:prstGeom>
          <a:solidFill>
            <a:srgbClr val="CC99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87813" name="myRectangle 5A"/>
          <p:cNvSpPr>
            <a:spLocks noChangeArrowheads="1"/>
          </p:cNvSpPr>
          <p:nvPr/>
        </p:nvSpPr>
        <p:spPr bwMode="auto">
          <a:xfrm>
            <a:off x="6292850" y="2190750"/>
            <a:ext cx="1676400" cy="228600"/>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87814" name="Rectangle 6"/>
          <p:cNvSpPr>
            <a:spLocks noChangeArrowheads="1"/>
          </p:cNvSpPr>
          <p:nvPr/>
        </p:nvSpPr>
        <p:spPr bwMode="auto">
          <a:xfrm>
            <a:off x="6330950" y="4445000"/>
            <a:ext cx="1676400" cy="228600"/>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87815" name="Rectangle 7"/>
          <p:cNvSpPr>
            <a:spLocks noChangeArrowheads="1"/>
          </p:cNvSpPr>
          <p:nvPr/>
        </p:nvSpPr>
        <p:spPr bwMode="auto">
          <a:xfrm>
            <a:off x="2390775" y="4502150"/>
            <a:ext cx="1676400" cy="228600"/>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161800" name="myRectangle 3A"/>
          <p:cNvSpPr>
            <a:spLocks noChangeArrowheads="1"/>
          </p:cNvSpPr>
          <p:nvPr/>
        </p:nvSpPr>
        <p:spPr bwMode="auto">
          <a:xfrm>
            <a:off x="1660525" y="1584325"/>
            <a:ext cx="1582738" cy="1096963"/>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200">
                <a:solidFill>
                  <a:srgbClr val="000000"/>
                </a:solidFill>
              </a:rPr>
              <a:t>Segmentos</a:t>
            </a:r>
            <a:r>
              <a:rPr lang="en-US" altLang="en-US" sz="2200"/>
              <a:t> </a:t>
            </a:r>
          </a:p>
          <a:p>
            <a:pPr algn="ctr">
              <a:spcBef>
                <a:spcPct val="0"/>
              </a:spcBef>
              <a:buFontTx/>
              <a:buNone/>
            </a:pPr>
            <a:r>
              <a:rPr lang="en-US" altLang="en-US" sz="2200">
                <a:solidFill>
                  <a:srgbClr val="000000"/>
                </a:solidFill>
              </a:rPr>
              <a:t>Globais</a:t>
            </a:r>
            <a:r>
              <a:rPr lang="en-US" altLang="en-US" sz="2200"/>
              <a:t> </a:t>
            </a:r>
          </a:p>
          <a:p>
            <a:pPr algn="ctr">
              <a:spcBef>
                <a:spcPct val="0"/>
              </a:spcBef>
              <a:buFontTx/>
              <a:buNone/>
            </a:pPr>
            <a:r>
              <a:rPr lang="en-US" altLang="en-US" sz="2200">
                <a:solidFill>
                  <a:srgbClr val="000000"/>
                </a:solidFill>
              </a:rPr>
              <a:t>(Comuns)</a:t>
            </a:r>
            <a:r>
              <a:rPr lang="en-US" altLang="en-US" sz="2200"/>
              <a:t> </a:t>
            </a:r>
          </a:p>
        </p:txBody>
      </p:sp>
      <p:sp>
        <p:nvSpPr>
          <p:cNvPr id="161801" name="Rectangle 10"/>
          <p:cNvSpPr>
            <a:spLocks noChangeArrowheads="1"/>
          </p:cNvSpPr>
          <p:nvPr/>
        </p:nvSpPr>
        <p:spPr bwMode="auto">
          <a:xfrm>
            <a:off x="1171575" y="3621088"/>
            <a:ext cx="32194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Contexto: cartão de crédito</a:t>
            </a:r>
            <a:r>
              <a:rPr lang="en-US" altLang="en-US" sz="1800"/>
              <a:t> </a:t>
            </a:r>
          </a:p>
        </p:txBody>
      </p:sp>
      <p:sp>
        <p:nvSpPr>
          <p:cNvPr id="161802" name="myRectangle 17A"/>
          <p:cNvSpPr>
            <a:spLocks noChangeArrowheads="1"/>
          </p:cNvSpPr>
          <p:nvPr/>
        </p:nvSpPr>
        <p:spPr bwMode="auto">
          <a:xfrm>
            <a:off x="5027613" y="1347788"/>
            <a:ext cx="29273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60338"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366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493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065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637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209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1781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Contexto: financiamento</a:t>
            </a:r>
            <a:r>
              <a:rPr lang="en-US" altLang="en-US" sz="1800"/>
              <a:t> </a:t>
            </a:r>
          </a:p>
        </p:txBody>
      </p:sp>
      <p:sp>
        <p:nvSpPr>
          <p:cNvPr id="161803" name="Rectangle 12"/>
          <p:cNvSpPr>
            <a:spLocks noChangeArrowheads="1"/>
          </p:cNvSpPr>
          <p:nvPr/>
        </p:nvSpPr>
        <p:spPr bwMode="auto">
          <a:xfrm>
            <a:off x="5070475" y="3621088"/>
            <a:ext cx="21780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Contexto: cheque</a:t>
            </a:r>
            <a:r>
              <a:rPr lang="en-US" altLang="en-US" sz="1800"/>
              <a:t> </a:t>
            </a:r>
          </a:p>
        </p:txBody>
      </p:sp>
      <p:sp>
        <p:nvSpPr>
          <p:cNvPr id="887821" name="myRectangle 6A"/>
          <p:cNvSpPr>
            <a:spLocks noChangeArrowheads="1"/>
          </p:cNvSpPr>
          <p:nvPr/>
        </p:nvSpPr>
        <p:spPr bwMode="auto">
          <a:xfrm>
            <a:off x="6029325" y="2501900"/>
            <a:ext cx="1933575"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87822" name="myRectangle 7A"/>
          <p:cNvSpPr>
            <a:spLocks noChangeArrowheads="1"/>
          </p:cNvSpPr>
          <p:nvPr/>
        </p:nvSpPr>
        <p:spPr bwMode="auto">
          <a:xfrm>
            <a:off x="6029325" y="2806700"/>
            <a:ext cx="1933575"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87823" name="myRectangle 8A"/>
          <p:cNvSpPr>
            <a:spLocks noChangeArrowheads="1"/>
          </p:cNvSpPr>
          <p:nvPr/>
        </p:nvSpPr>
        <p:spPr bwMode="auto">
          <a:xfrm>
            <a:off x="6029325" y="3111500"/>
            <a:ext cx="1933575"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87824" name="Rectangle 16"/>
          <p:cNvSpPr>
            <a:spLocks noChangeArrowheads="1"/>
          </p:cNvSpPr>
          <p:nvPr/>
        </p:nvSpPr>
        <p:spPr bwMode="auto">
          <a:xfrm>
            <a:off x="6083300" y="4737100"/>
            <a:ext cx="1917700"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87825" name="Rectangle 17"/>
          <p:cNvSpPr>
            <a:spLocks noChangeArrowheads="1"/>
          </p:cNvSpPr>
          <p:nvPr/>
        </p:nvSpPr>
        <p:spPr bwMode="auto">
          <a:xfrm>
            <a:off x="2193925" y="4813300"/>
            <a:ext cx="1866900"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87826" name="Rectangle 18"/>
          <p:cNvSpPr>
            <a:spLocks noChangeArrowheads="1"/>
          </p:cNvSpPr>
          <p:nvPr/>
        </p:nvSpPr>
        <p:spPr bwMode="auto">
          <a:xfrm>
            <a:off x="2193925" y="5118100"/>
            <a:ext cx="1866900"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1810" name="Rectangle 19"/>
          <p:cNvSpPr>
            <a:spLocks noChangeArrowheads="1"/>
          </p:cNvSpPr>
          <p:nvPr/>
        </p:nvSpPr>
        <p:spPr bwMode="auto">
          <a:xfrm>
            <a:off x="2197100" y="4419600"/>
            <a:ext cx="1860550" cy="376238"/>
          </a:xfrm>
          <a:prstGeom prst="rect">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Número da loja</a:t>
            </a:r>
            <a:r>
              <a:rPr lang="en-US" altLang="en-US" sz="1800">
                <a:solidFill>
                  <a:schemeClr val="bg2"/>
                </a:solidFill>
              </a:rPr>
              <a:t> </a:t>
            </a:r>
          </a:p>
        </p:txBody>
      </p:sp>
      <p:sp>
        <p:nvSpPr>
          <p:cNvPr id="161811" name="Rectangle 20"/>
          <p:cNvSpPr>
            <a:spLocks noChangeArrowheads="1"/>
          </p:cNvSpPr>
          <p:nvPr/>
        </p:nvSpPr>
        <p:spPr bwMode="auto">
          <a:xfrm>
            <a:off x="6022975" y="2108200"/>
            <a:ext cx="1933575" cy="376238"/>
          </a:xfrm>
          <a:prstGeom prst="rect">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Número da loja</a:t>
            </a:r>
            <a:r>
              <a:rPr lang="en-US" altLang="en-US" sz="1800">
                <a:solidFill>
                  <a:schemeClr val="bg2"/>
                </a:solidFill>
              </a:rPr>
              <a:t> </a:t>
            </a:r>
          </a:p>
        </p:txBody>
      </p:sp>
      <p:sp>
        <p:nvSpPr>
          <p:cNvPr id="161812" name="Rectangle 21"/>
          <p:cNvSpPr>
            <a:spLocks noChangeArrowheads="1"/>
          </p:cNvSpPr>
          <p:nvPr/>
        </p:nvSpPr>
        <p:spPr bwMode="auto">
          <a:xfrm>
            <a:off x="6062663" y="4343400"/>
            <a:ext cx="1938337" cy="376238"/>
          </a:xfrm>
          <a:prstGeom prst="rect">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Número da loja</a:t>
            </a:r>
            <a:r>
              <a:rPr lang="en-US" altLang="en-US" sz="1800">
                <a:solidFill>
                  <a:schemeClr val="bg2"/>
                </a:solidFill>
              </a:rPr>
              <a:t> </a:t>
            </a:r>
          </a:p>
        </p:txBody>
      </p:sp>
      <p:sp>
        <p:nvSpPr>
          <p:cNvPr id="22"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Flexfield</a:t>
            </a:r>
          </a:p>
        </p:txBody>
      </p:sp>
      <p:sp>
        <p:nvSpPr>
          <p:cNvPr id="161814"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61815" name="Group 6"/>
          <p:cNvGrpSpPr>
            <a:grpSpLocks/>
          </p:cNvGrpSpPr>
          <p:nvPr/>
        </p:nvGrpSpPr>
        <p:grpSpPr bwMode="auto">
          <a:xfrm>
            <a:off x="7308850" y="117475"/>
            <a:ext cx="1735138" cy="647700"/>
            <a:chOff x="7380288" y="41275"/>
            <a:chExt cx="1735137" cy="647700"/>
          </a:xfrm>
        </p:grpSpPr>
        <p:sp>
          <p:nvSpPr>
            <p:cNvPr id="24"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25"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8" name="Rectangle 2"/>
          <p:cNvSpPr>
            <a:spLocks noChangeArrowheads="1"/>
          </p:cNvSpPr>
          <p:nvPr/>
        </p:nvSpPr>
        <p:spPr bwMode="blackWhite">
          <a:xfrm>
            <a:off x="5194300" y="3994150"/>
            <a:ext cx="2882900" cy="1492250"/>
          </a:xfrm>
          <a:prstGeom prst="rect">
            <a:avLst/>
          </a:prstGeom>
          <a:solidFill>
            <a:srgbClr val="66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89859" name="myRectangle 4A"/>
          <p:cNvSpPr>
            <a:spLocks noChangeArrowheads="1"/>
          </p:cNvSpPr>
          <p:nvPr/>
        </p:nvSpPr>
        <p:spPr bwMode="blackWhite">
          <a:xfrm>
            <a:off x="5156200" y="1758950"/>
            <a:ext cx="2882900" cy="1739900"/>
          </a:xfrm>
          <a:prstGeom prst="rect">
            <a:avLst/>
          </a:prstGeom>
          <a:solidFill>
            <a:srgbClr val="CC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89860" name="Rectangle 4"/>
          <p:cNvSpPr>
            <a:spLocks noChangeArrowheads="1"/>
          </p:cNvSpPr>
          <p:nvPr/>
        </p:nvSpPr>
        <p:spPr bwMode="blackWhite">
          <a:xfrm>
            <a:off x="1254125" y="3994150"/>
            <a:ext cx="2882900" cy="1490663"/>
          </a:xfrm>
          <a:prstGeom prst="rect">
            <a:avLst/>
          </a:prstGeom>
          <a:solidFill>
            <a:srgbClr val="CCFF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163845" name="myRectangle 3A"/>
          <p:cNvSpPr>
            <a:spLocks noChangeArrowheads="1"/>
          </p:cNvSpPr>
          <p:nvPr/>
        </p:nvSpPr>
        <p:spPr bwMode="auto">
          <a:xfrm>
            <a:off x="1223963" y="1584325"/>
            <a:ext cx="2455862" cy="143192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200">
                <a:solidFill>
                  <a:srgbClr val="000000"/>
                </a:solidFill>
              </a:rPr>
              <a:t>Segmentos</a:t>
            </a:r>
            <a:r>
              <a:rPr lang="en-US" altLang="en-US" sz="2200"/>
              <a:t> </a:t>
            </a:r>
          </a:p>
          <a:p>
            <a:pPr algn="ctr">
              <a:spcBef>
                <a:spcPct val="0"/>
              </a:spcBef>
              <a:buFontTx/>
              <a:buNone/>
            </a:pPr>
            <a:r>
              <a:rPr lang="en-US" altLang="en-US" sz="2200">
                <a:solidFill>
                  <a:srgbClr val="000000"/>
                </a:solidFill>
              </a:rPr>
              <a:t>Contextuais</a:t>
            </a:r>
            <a:r>
              <a:rPr lang="en-US" altLang="en-US" sz="2200"/>
              <a:t> </a:t>
            </a:r>
          </a:p>
          <a:p>
            <a:pPr algn="ctr">
              <a:spcBef>
                <a:spcPct val="0"/>
              </a:spcBef>
              <a:buFontTx/>
              <a:buNone/>
            </a:pPr>
            <a:r>
              <a:rPr lang="en-US" altLang="en-US" sz="2200"/>
              <a:t> </a:t>
            </a:r>
          </a:p>
          <a:p>
            <a:pPr algn="ctr">
              <a:spcBef>
                <a:spcPct val="0"/>
              </a:spcBef>
              <a:buFontTx/>
              <a:buNone/>
            </a:pPr>
            <a:r>
              <a:rPr lang="pt-BR" altLang="en-US" sz="2200">
                <a:solidFill>
                  <a:srgbClr val="000000"/>
                </a:solidFill>
              </a:rPr>
              <a:t>(Variam de acordo com o contexto)</a:t>
            </a:r>
            <a:r>
              <a:rPr lang="en-US" altLang="en-US" sz="2200"/>
              <a:t> </a:t>
            </a:r>
          </a:p>
        </p:txBody>
      </p:sp>
      <p:sp>
        <p:nvSpPr>
          <p:cNvPr id="889863" name="myRectangle 5A"/>
          <p:cNvSpPr>
            <a:spLocks noChangeArrowheads="1"/>
          </p:cNvSpPr>
          <p:nvPr/>
        </p:nvSpPr>
        <p:spPr bwMode="auto">
          <a:xfrm>
            <a:off x="6292850" y="2190750"/>
            <a:ext cx="1676400" cy="228600"/>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89864" name="myRectangle 6A"/>
          <p:cNvSpPr>
            <a:spLocks noChangeArrowheads="1"/>
          </p:cNvSpPr>
          <p:nvPr/>
        </p:nvSpPr>
        <p:spPr bwMode="auto">
          <a:xfrm>
            <a:off x="5964238" y="2287588"/>
            <a:ext cx="1998662" cy="220662"/>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89865" name="myRectangle 7A"/>
          <p:cNvSpPr>
            <a:spLocks noChangeArrowheads="1"/>
          </p:cNvSpPr>
          <p:nvPr/>
        </p:nvSpPr>
        <p:spPr bwMode="auto">
          <a:xfrm>
            <a:off x="5989638" y="2574925"/>
            <a:ext cx="1973262" cy="466725"/>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89866" name="myRectangle 8A"/>
          <p:cNvSpPr>
            <a:spLocks noChangeArrowheads="1"/>
          </p:cNvSpPr>
          <p:nvPr/>
        </p:nvSpPr>
        <p:spPr bwMode="auto">
          <a:xfrm>
            <a:off x="6003925" y="3111500"/>
            <a:ext cx="1958975"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3850" name="myRectangle 9A"/>
          <p:cNvSpPr>
            <a:spLocks noChangeArrowheads="1"/>
          </p:cNvSpPr>
          <p:nvPr/>
        </p:nvSpPr>
        <p:spPr bwMode="auto">
          <a:xfrm>
            <a:off x="5114925" y="1347788"/>
            <a:ext cx="19240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60338"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366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493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065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637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209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1781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Contexto: financiamento</a:t>
            </a:r>
            <a:r>
              <a:rPr lang="en-US" altLang="en-US" sz="1800"/>
              <a:t> </a:t>
            </a:r>
          </a:p>
        </p:txBody>
      </p:sp>
      <p:sp>
        <p:nvSpPr>
          <p:cNvPr id="163851" name="myRectangle 10A"/>
          <p:cNvSpPr>
            <a:spLocks noChangeArrowheads="1"/>
          </p:cNvSpPr>
          <p:nvPr/>
        </p:nvSpPr>
        <p:spPr bwMode="auto">
          <a:xfrm>
            <a:off x="5995988" y="3062288"/>
            <a:ext cx="1995487" cy="3365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60338"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366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493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065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637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209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1781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solidFill>
                  <a:srgbClr val="000000"/>
                </a:solidFill>
              </a:rPr>
              <a:t>Pagamento parcial</a:t>
            </a:r>
            <a:r>
              <a:rPr lang="en-US" altLang="en-US" sz="1600">
                <a:solidFill>
                  <a:schemeClr val="bg2"/>
                </a:solidFill>
              </a:rPr>
              <a:t> </a:t>
            </a:r>
          </a:p>
        </p:txBody>
      </p:sp>
      <p:sp>
        <p:nvSpPr>
          <p:cNvPr id="163852" name="myRectangle 11A"/>
          <p:cNvSpPr>
            <a:spLocks noChangeArrowheads="1"/>
          </p:cNvSpPr>
          <p:nvPr/>
        </p:nvSpPr>
        <p:spPr bwMode="auto">
          <a:xfrm>
            <a:off x="6013450" y="2528888"/>
            <a:ext cx="1619250" cy="58102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60338"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366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493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065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637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209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1781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50000"/>
              </a:spcBef>
              <a:buFontTx/>
              <a:buNone/>
            </a:pPr>
            <a:r>
              <a:rPr lang="en-US" altLang="en-US" sz="1600">
                <a:solidFill>
                  <a:srgbClr val="000000"/>
                </a:solidFill>
              </a:rPr>
              <a:t>Condições do</a:t>
            </a:r>
            <a:br>
              <a:rPr lang="en-US" altLang="en-US" sz="1600">
                <a:solidFill>
                  <a:srgbClr val="000000"/>
                </a:solidFill>
              </a:rPr>
            </a:br>
            <a:r>
              <a:rPr lang="en-US" altLang="en-US" sz="1600">
                <a:solidFill>
                  <a:srgbClr val="000000"/>
                </a:solidFill>
              </a:rPr>
              <a:t>financiamento</a:t>
            </a:r>
            <a:r>
              <a:rPr lang="en-US" altLang="en-US" sz="1600">
                <a:solidFill>
                  <a:schemeClr val="bg2"/>
                </a:solidFill>
              </a:rPr>
              <a:t> </a:t>
            </a:r>
          </a:p>
        </p:txBody>
      </p:sp>
      <p:sp>
        <p:nvSpPr>
          <p:cNvPr id="163853" name="myRectangle 12A"/>
          <p:cNvSpPr>
            <a:spLocks noChangeArrowheads="1"/>
          </p:cNvSpPr>
          <p:nvPr/>
        </p:nvSpPr>
        <p:spPr bwMode="auto">
          <a:xfrm>
            <a:off x="6045200" y="2238375"/>
            <a:ext cx="815975" cy="3365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60338"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366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493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065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637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209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1781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solidFill>
                  <a:srgbClr val="000000"/>
                </a:solidFill>
              </a:rPr>
              <a:t>Conta</a:t>
            </a:r>
            <a:r>
              <a:rPr lang="en-US" altLang="en-US" sz="1600">
                <a:solidFill>
                  <a:schemeClr val="bg2"/>
                </a:solidFill>
              </a:rPr>
              <a:t> </a:t>
            </a:r>
          </a:p>
        </p:txBody>
      </p:sp>
      <p:sp>
        <p:nvSpPr>
          <p:cNvPr id="889871" name="Rectangle 15"/>
          <p:cNvSpPr>
            <a:spLocks noChangeArrowheads="1"/>
          </p:cNvSpPr>
          <p:nvPr/>
        </p:nvSpPr>
        <p:spPr bwMode="auto">
          <a:xfrm>
            <a:off x="6330950" y="4445000"/>
            <a:ext cx="1676400" cy="228600"/>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89872" name="Rectangle 16"/>
          <p:cNvSpPr>
            <a:spLocks noChangeArrowheads="1"/>
          </p:cNvSpPr>
          <p:nvPr/>
        </p:nvSpPr>
        <p:spPr bwMode="auto">
          <a:xfrm>
            <a:off x="6054725" y="4737100"/>
            <a:ext cx="1946275"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3856" name="Rectangle 17"/>
          <p:cNvSpPr>
            <a:spLocks noChangeArrowheads="1"/>
          </p:cNvSpPr>
          <p:nvPr/>
        </p:nvSpPr>
        <p:spPr bwMode="auto">
          <a:xfrm>
            <a:off x="4930775" y="3621088"/>
            <a:ext cx="21145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t>Contexto: cheque</a:t>
            </a:r>
          </a:p>
        </p:txBody>
      </p:sp>
      <p:sp>
        <p:nvSpPr>
          <p:cNvPr id="163857" name="Rectangle 18"/>
          <p:cNvSpPr>
            <a:spLocks noChangeArrowheads="1"/>
          </p:cNvSpPr>
          <p:nvPr/>
        </p:nvSpPr>
        <p:spPr bwMode="auto">
          <a:xfrm>
            <a:off x="6183313" y="4681538"/>
            <a:ext cx="1549400" cy="3365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solidFill>
                  <a:srgbClr val="000000"/>
                </a:solidFill>
              </a:rPr>
              <a:t>ID Secundário</a:t>
            </a:r>
          </a:p>
        </p:txBody>
      </p:sp>
      <p:sp>
        <p:nvSpPr>
          <p:cNvPr id="889875" name="Rectangle 19"/>
          <p:cNvSpPr>
            <a:spLocks noChangeArrowheads="1"/>
          </p:cNvSpPr>
          <p:nvPr/>
        </p:nvSpPr>
        <p:spPr bwMode="auto">
          <a:xfrm>
            <a:off x="2390775" y="4502150"/>
            <a:ext cx="1676400" cy="228600"/>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89876" name="Rectangle 20"/>
          <p:cNvSpPr>
            <a:spLocks noChangeArrowheads="1"/>
          </p:cNvSpPr>
          <p:nvPr/>
        </p:nvSpPr>
        <p:spPr bwMode="auto">
          <a:xfrm>
            <a:off x="2170113" y="4813300"/>
            <a:ext cx="1890712"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89877" name="Rectangle 21"/>
          <p:cNvSpPr>
            <a:spLocks noChangeArrowheads="1"/>
          </p:cNvSpPr>
          <p:nvPr/>
        </p:nvSpPr>
        <p:spPr bwMode="auto">
          <a:xfrm>
            <a:off x="2166938" y="5118100"/>
            <a:ext cx="1893887"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3861" name="Rectangle 22"/>
          <p:cNvSpPr>
            <a:spLocks noChangeArrowheads="1"/>
          </p:cNvSpPr>
          <p:nvPr/>
        </p:nvSpPr>
        <p:spPr bwMode="auto">
          <a:xfrm>
            <a:off x="1157288" y="3621088"/>
            <a:ext cx="32194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pt-BR" altLang="en-US" sz="1800"/>
              <a:t>Contexto: cartão de crédito </a:t>
            </a:r>
            <a:endParaRPr lang="en-US" altLang="en-US" sz="1800"/>
          </a:p>
        </p:txBody>
      </p:sp>
      <p:sp>
        <p:nvSpPr>
          <p:cNvPr id="163862" name="Rectangle 23"/>
          <p:cNvSpPr>
            <a:spLocks noChangeArrowheads="1"/>
          </p:cNvSpPr>
          <p:nvPr/>
        </p:nvSpPr>
        <p:spPr bwMode="auto">
          <a:xfrm>
            <a:off x="2176463" y="4764088"/>
            <a:ext cx="1979612" cy="3365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pt-BR" altLang="en-US" sz="1600">
                <a:solidFill>
                  <a:srgbClr val="000000"/>
                </a:solidFill>
              </a:rPr>
              <a:t>Número do cartão </a:t>
            </a:r>
            <a:endParaRPr lang="en-US" altLang="en-US" sz="1600">
              <a:solidFill>
                <a:srgbClr val="000000"/>
              </a:solidFill>
            </a:endParaRPr>
          </a:p>
        </p:txBody>
      </p:sp>
      <p:sp>
        <p:nvSpPr>
          <p:cNvPr id="163863" name="Rectangle 24"/>
          <p:cNvSpPr>
            <a:spLocks noChangeArrowheads="1"/>
          </p:cNvSpPr>
          <p:nvPr/>
        </p:nvSpPr>
        <p:spPr bwMode="auto">
          <a:xfrm>
            <a:off x="2165350" y="5068888"/>
            <a:ext cx="1979613" cy="3365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pt-BR" altLang="en-US" sz="1600">
                <a:solidFill>
                  <a:srgbClr val="000000"/>
                </a:solidFill>
              </a:rPr>
              <a:t>Data de expiração </a:t>
            </a:r>
            <a:endParaRPr lang="en-US" altLang="en-US" sz="1600">
              <a:solidFill>
                <a:srgbClr val="000000"/>
              </a:solidFill>
            </a:endParaRPr>
          </a:p>
        </p:txBody>
      </p:sp>
      <p:sp>
        <p:nvSpPr>
          <p:cNvPr id="163864" name="Rectangle 25"/>
          <p:cNvSpPr>
            <a:spLocks noChangeArrowheads="1"/>
          </p:cNvSpPr>
          <p:nvPr/>
        </p:nvSpPr>
        <p:spPr bwMode="auto">
          <a:xfrm>
            <a:off x="2166938" y="4419600"/>
            <a:ext cx="1890712" cy="395288"/>
          </a:xfrm>
          <a:prstGeom prst="rect">
            <a:avLst/>
          </a:prstGeom>
          <a:solidFill>
            <a:srgbClr val="FFCC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chemeClr val="bg2"/>
                </a:solidFill>
              </a:rPr>
              <a:t>Número da loja</a:t>
            </a:r>
          </a:p>
        </p:txBody>
      </p:sp>
      <p:sp>
        <p:nvSpPr>
          <p:cNvPr id="163865" name="Rectangle 26"/>
          <p:cNvSpPr>
            <a:spLocks noChangeArrowheads="1"/>
          </p:cNvSpPr>
          <p:nvPr/>
        </p:nvSpPr>
        <p:spPr bwMode="auto">
          <a:xfrm>
            <a:off x="5949950" y="1881188"/>
            <a:ext cx="2000250" cy="395287"/>
          </a:xfrm>
          <a:prstGeom prst="rect">
            <a:avLst/>
          </a:prstGeom>
          <a:solidFill>
            <a:srgbClr val="FFCC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chemeClr val="bg2"/>
                </a:solidFill>
              </a:rPr>
              <a:t>Número da loja</a:t>
            </a:r>
          </a:p>
        </p:txBody>
      </p:sp>
      <p:sp>
        <p:nvSpPr>
          <p:cNvPr id="163866" name="Rectangle 27"/>
          <p:cNvSpPr>
            <a:spLocks noChangeArrowheads="1"/>
          </p:cNvSpPr>
          <p:nvPr/>
        </p:nvSpPr>
        <p:spPr bwMode="auto">
          <a:xfrm>
            <a:off x="6062663" y="4330700"/>
            <a:ext cx="1893887" cy="395288"/>
          </a:xfrm>
          <a:prstGeom prst="rect">
            <a:avLst/>
          </a:prstGeom>
          <a:solidFill>
            <a:srgbClr val="FFCC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chemeClr val="bg2"/>
                </a:solidFill>
              </a:rPr>
              <a:t>Número da loja</a:t>
            </a:r>
          </a:p>
        </p:txBody>
      </p:sp>
      <p:sp>
        <p:nvSpPr>
          <p:cNvPr id="28"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Flexfield</a:t>
            </a:r>
          </a:p>
        </p:txBody>
      </p:sp>
      <p:sp>
        <p:nvSpPr>
          <p:cNvPr id="163868"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63869" name="Group 6"/>
          <p:cNvGrpSpPr>
            <a:grpSpLocks/>
          </p:cNvGrpSpPr>
          <p:nvPr/>
        </p:nvGrpSpPr>
        <p:grpSpPr bwMode="auto">
          <a:xfrm>
            <a:off x="7308850" y="117475"/>
            <a:ext cx="1735138" cy="647700"/>
            <a:chOff x="7380288" y="41275"/>
            <a:chExt cx="1735137" cy="647700"/>
          </a:xfrm>
        </p:grpSpPr>
        <p:sp>
          <p:nvSpPr>
            <p:cNvPr id="30"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1"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myRectangle 4A"/>
          <p:cNvSpPr>
            <a:spLocks noChangeArrowheads="1"/>
          </p:cNvSpPr>
          <p:nvPr/>
        </p:nvSpPr>
        <p:spPr bwMode="auto">
          <a:xfrm>
            <a:off x="3783013" y="3532188"/>
            <a:ext cx="128905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60338"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366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493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065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637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209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1781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0000"/>
              </a:lnSpc>
              <a:spcBef>
                <a:spcPct val="0"/>
              </a:spcBef>
              <a:buFontTx/>
              <a:buNone/>
            </a:pPr>
            <a:r>
              <a:rPr lang="en-US" altLang="en-US" sz="1800">
                <a:solidFill>
                  <a:srgbClr val="000000"/>
                </a:solidFill>
              </a:rPr>
              <a:t>Campo de</a:t>
            </a:r>
            <a:br>
              <a:rPr lang="en-US" altLang="en-US" sz="1800">
                <a:solidFill>
                  <a:srgbClr val="000000"/>
                </a:solidFill>
              </a:rPr>
            </a:br>
            <a:r>
              <a:rPr lang="en-US" altLang="en-US" sz="1800">
                <a:solidFill>
                  <a:srgbClr val="000000"/>
                </a:solidFill>
              </a:rPr>
              <a:t>contexto</a:t>
            </a:r>
            <a:r>
              <a:rPr lang="en-US" altLang="en-US" sz="1800"/>
              <a:t> </a:t>
            </a:r>
          </a:p>
        </p:txBody>
      </p:sp>
      <p:sp>
        <p:nvSpPr>
          <p:cNvPr id="165891" name="Line 4"/>
          <p:cNvSpPr>
            <a:spLocks noChangeShapeType="1"/>
          </p:cNvSpPr>
          <p:nvPr/>
        </p:nvSpPr>
        <p:spPr bwMode="auto">
          <a:xfrm>
            <a:off x="3435350" y="3875088"/>
            <a:ext cx="681038" cy="0"/>
          </a:xfrm>
          <a:prstGeom prst="line">
            <a:avLst/>
          </a:prstGeom>
          <a:noFill/>
          <a:ln w="28575">
            <a:solidFill>
              <a:schemeClr val="tx1"/>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891909" name="Rectangle 5"/>
          <p:cNvSpPr>
            <a:spLocks noChangeArrowheads="1"/>
          </p:cNvSpPr>
          <p:nvPr/>
        </p:nvSpPr>
        <p:spPr bwMode="blackWhite">
          <a:xfrm>
            <a:off x="1254125" y="4065588"/>
            <a:ext cx="2882900" cy="1511300"/>
          </a:xfrm>
          <a:prstGeom prst="rect">
            <a:avLst/>
          </a:prstGeom>
          <a:solidFill>
            <a:srgbClr val="CCFF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91910" name="Rectangle 6"/>
          <p:cNvSpPr>
            <a:spLocks noChangeArrowheads="1"/>
          </p:cNvSpPr>
          <p:nvPr/>
        </p:nvSpPr>
        <p:spPr bwMode="auto">
          <a:xfrm>
            <a:off x="2390775" y="4573588"/>
            <a:ext cx="1676400" cy="228600"/>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91911" name="Rectangle 7"/>
          <p:cNvSpPr>
            <a:spLocks noChangeArrowheads="1"/>
          </p:cNvSpPr>
          <p:nvPr/>
        </p:nvSpPr>
        <p:spPr bwMode="auto">
          <a:xfrm>
            <a:off x="2166938" y="4884738"/>
            <a:ext cx="1890712"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91912" name="Rectangle 8"/>
          <p:cNvSpPr>
            <a:spLocks noChangeArrowheads="1"/>
          </p:cNvSpPr>
          <p:nvPr/>
        </p:nvSpPr>
        <p:spPr bwMode="auto">
          <a:xfrm>
            <a:off x="2192338" y="5189538"/>
            <a:ext cx="1865312" cy="290512"/>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5896" name="Rectangle 9"/>
          <p:cNvSpPr>
            <a:spLocks noChangeArrowheads="1"/>
          </p:cNvSpPr>
          <p:nvPr/>
        </p:nvSpPr>
        <p:spPr bwMode="auto">
          <a:xfrm>
            <a:off x="1320800" y="3349625"/>
            <a:ext cx="2063750" cy="6413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Contexto: cartão </a:t>
            </a:r>
            <a:br>
              <a:rPr lang="en-US" altLang="en-US" sz="1800">
                <a:solidFill>
                  <a:srgbClr val="000000"/>
                </a:solidFill>
              </a:rPr>
            </a:br>
            <a:r>
              <a:rPr lang="en-US" altLang="en-US" sz="1800">
                <a:solidFill>
                  <a:srgbClr val="000000"/>
                </a:solidFill>
              </a:rPr>
              <a:t>de crédito</a:t>
            </a:r>
            <a:r>
              <a:rPr lang="en-US" altLang="en-US" sz="1800"/>
              <a:t> </a:t>
            </a:r>
          </a:p>
        </p:txBody>
      </p:sp>
      <p:sp>
        <p:nvSpPr>
          <p:cNvPr id="165897" name="Rectangle 10"/>
          <p:cNvSpPr>
            <a:spLocks noChangeArrowheads="1"/>
          </p:cNvSpPr>
          <p:nvPr/>
        </p:nvSpPr>
        <p:spPr bwMode="auto">
          <a:xfrm>
            <a:off x="2181225" y="4835525"/>
            <a:ext cx="1933575" cy="3365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solidFill>
                  <a:srgbClr val="000000"/>
                </a:solidFill>
              </a:rPr>
              <a:t>Número do cartão</a:t>
            </a:r>
            <a:r>
              <a:rPr lang="en-US" altLang="en-US" sz="1600">
                <a:solidFill>
                  <a:schemeClr val="bg2"/>
                </a:solidFill>
              </a:rPr>
              <a:t> </a:t>
            </a:r>
          </a:p>
        </p:txBody>
      </p:sp>
      <p:sp>
        <p:nvSpPr>
          <p:cNvPr id="165898" name="Rectangle 11"/>
          <p:cNvSpPr>
            <a:spLocks noChangeArrowheads="1"/>
          </p:cNvSpPr>
          <p:nvPr/>
        </p:nvSpPr>
        <p:spPr bwMode="auto">
          <a:xfrm>
            <a:off x="2179638" y="5140325"/>
            <a:ext cx="1979612" cy="3365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solidFill>
                  <a:srgbClr val="000000"/>
                </a:solidFill>
              </a:rPr>
              <a:t>Data de expiração</a:t>
            </a:r>
            <a:r>
              <a:rPr lang="en-US" altLang="en-US" sz="1600">
                <a:solidFill>
                  <a:schemeClr val="bg2"/>
                </a:solidFill>
              </a:rPr>
              <a:t> </a:t>
            </a:r>
          </a:p>
        </p:txBody>
      </p:sp>
      <p:sp>
        <p:nvSpPr>
          <p:cNvPr id="891916" name="Rectangle 12"/>
          <p:cNvSpPr>
            <a:spLocks noChangeArrowheads="1"/>
          </p:cNvSpPr>
          <p:nvPr/>
        </p:nvSpPr>
        <p:spPr bwMode="blackWhite">
          <a:xfrm>
            <a:off x="5194300" y="4038600"/>
            <a:ext cx="2882900" cy="1524000"/>
          </a:xfrm>
          <a:prstGeom prst="rect">
            <a:avLst/>
          </a:prstGeom>
          <a:solidFill>
            <a:srgbClr val="66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91917" name="Rectangle 13"/>
          <p:cNvSpPr>
            <a:spLocks noChangeArrowheads="1"/>
          </p:cNvSpPr>
          <p:nvPr/>
        </p:nvSpPr>
        <p:spPr bwMode="gray">
          <a:xfrm>
            <a:off x="6330950" y="4445000"/>
            <a:ext cx="1676400" cy="228600"/>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91918" name="Rectangle 14"/>
          <p:cNvSpPr>
            <a:spLocks noChangeArrowheads="1"/>
          </p:cNvSpPr>
          <p:nvPr/>
        </p:nvSpPr>
        <p:spPr bwMode="auto">
          <a:xfrm>
            <a:off x="6073775" y="4737100"/>
            <a:ext cx="1909763" cy="249238"/>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5902" name="Rectangle 15"/>
          <p:cNvSpPr>
            <a:spLocks noChangeArrowheads="1"/>
          </p:cNvSpPr>
          <p:nvPr/>
        </p:nvSpPr>
        <p:spPr bwMode="auto">
          <a:xfrm>
            <a:off x="6140450" y="4681538"/>
            <a:ext cx="1606550" cy="3365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solidFill>
                  <a:srgbClr val="000000"/>
                </a:solidFill>
              </a:rPr>
              <a:t>ID Secundário</a:t>
            </a:r>
            <a:r>
              <a:rPr lang="en-US" altLang="en-US" sz="1600">
                <a:solidFill>
                  <a:schemeClr val="bg2"/>
                </a:solidFill>
              </a:rPr>
              <a:t> </a:t>
            </a:r>
          </a:p>
        </p:txBody>
      </p:sp>
      <p:sp>
        <p:nvSpPr>
          <p:cNvPr id="891920" name="myRectangle 4A"/>
          <p:cNvSpPr>
            <a:spLocks noChangeArrowheads="1"/>
          </p:cNvSpPr>
          <p:nvPr/>
        </p:nvSpPr>
        <p:spPr bwMode="blackWhite">
          <a:xfrm>
            <a:off x="5156200" y="1758950"/>
            <a:ext cx="2882900" cy="1739900"/>
          </a:xfrm>
          <a:prstGeom prst="rect">
            <a:avLst/>
          </a:prstGeom>
          <a:solidFill>
            <a:srgbClr val="CC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91921" name="myRectangle 5A"/>
          <p:cNvSpPr>
            <a:spLocks noChangeArrowheads="1"/>
          </p:cNvSpPr>
          <p:nvPr/>
        </p:nvSpPr>
        <p:spPr bwMode="auto">
          <a:xfrm>
            <a:off x="6292850" y="2190750"/>
            <a:ext cx="1676400" cy="228600"/>
          </a:xfrm>
          <a:prstGeom prst="rect">
            <a:avLst/>
          </a:prstGeom>
          <a:solidFill>
            <a:srgbClr val="CC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91923" name="myRectangle 6A"/>
          <p:cNvSpPr>
            <a:spLocks noChangeArrowheads="1"/>
          </p:cNvSpPr>
          <p:nvPr/>
        </p:nvSpPr>
        <p:spPr bwMode="auto">
          <a:xfrm>
            <a:off x="5959475" y="2287588"/>
            <a:ext cx="2003425" cy="2476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91924" name="myRectangle 7A"/>
          <p:cNvSpPr>
            <a:spLocks noChangeArrowheads="1"/>
          </p:cNvSpPr>
          <p:nvPr/>
        </p:nvSpPr>
        <p:spPr bwMode="auto">
          <a:xfrm>
            <a:off x="5973763" y="2592388"/>
            <a:ext cx="1989137" cy="439737"/>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91925" name="myRectangle 8A"/>
          <p:cNvSpPr>
            <a:spLocks noChangeArrowheads="1"/>
          </p:cNvSpPr>
          <p:nvPr/>
        </p:nvSpPr>
        <p:spPr bwMode="auto">
          <a:xfrm>
            <a:off x="5988050" y="3140075"/>
            <a:ext cx="1974850" cy="234950"/>
          </a:xfrm>
          <a:prstGeom prst="rect">
            <a:avLst/>
          </a:prstGeom>
          <a:solidFill>
            <a:srgbClr val="FFFFFF"/>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114300" algn="l" defTabSz="822325">
              <a:defRPr sz="2400">
                <a:solidFill>
                  <a:schemeClr val="tx1"/>
                </a:solidFill>
                <a:latin typeface="Times New Roman" panose="02020603050405020304" pitchFamily="18" charset="0"/>
              </a:defRPr>
            </a:lvl2pPr>
            <a:lvl3pPr marL="525463" algn="l" defTabSz="822325">
              <a:defRPr sz="2400">
                <a:solidFill>
                  <a:schemeClr val="tx1"/>
                </a:solidFill>
                <a:latin typeface="Times New Roman" panose="02020603050405020304" pitchFamily="18" charset="0"/>
              </a:defRPr>
            </a:lvl3pPr>
            <a:lvl4pPr marL="936625" algn="l" defTabSz="822325">
              <a:defRPr sz="2400">
                <a:solidFill>
                  <a:schemeClr val="tx1"/>
                </a:solidFill>
                <a:latin typeface="Times New Roman" panose="02020603050405020304" pitchFamily="18" charset="0"/>
              </a:defRPr>
            </a:lvl4pPr>
            <a:lvl5pPr marL="1349375" algn="l" defTabSz="822325">
              <a:defRPr sz="2400">
                <a:solidFill>
                  <a:schemeClr val="tx1"/>
                </a:solidFill>
                <a:latin typeface="Times New Roman" panose="02020603050405020304" pitchFamily="18" charset="0"/>
              </a:defRPr>
            </a:lvl5pPr>
            <a:lvl6pPr marL="1806575" defTabSz="822325" fontAlgn="base">
              <a:spcBef>
                <a:spcPct val="0"/>
              </a:spcBef>
              <a:spcAft>
                <a:spcPct val="0"/>
              </a:spcAft>
              <a:defRPr sz="2400">
                <a:solidFill>
                  <a:schemeClr val="tx1"/>
                </a:solidFill>
                <a:latin typeface="Times New Roman" panose="02020603050405020304" pitchFamily="18" charset="0"/>
              </a:defRPr>
            </a:lvl6pPr>
            <a:lvl7pPr marL="2263775" defTabSz="822325" fontAlgn="base">
              <a:spcBef>
                <a:spcPct val="0"/>
              </a:spcBef>
              <a:spcAft>
                <a:spcPct val="0"/>
              </a:spcAft>
              <a:defRPr sz="2400">
                <a:solidFill>
                  <a:schemeClr val="tx1"/>
                </a:solidFill>
                <a:latin typeface="Times New Roman" panose="02020603050405020304" pitchFamily="18" charset="0"/>
              </a:defRPr>
            </a:lvl7pPr>
            <a:lvl8pPr marL="2720975" defTabSz="822325" fontAlgn="base">
              <a:spcBef>
                <a:spcPct val="0"/>
              </a:spcBef>
              <a:spcAft>
                <a:spcPct val="0"/>
              </a:spcAft>
              <a:defRPr sz="2400">
                <a:solidFill>
                  <a:schemeClr val="tx1"/>
                </a:solidFill>
                <a:latin typeface="Times New Roman" panose="02020603050405020304" pitchFamily="18" charset="0"/>
              </a:defRPr>
            </a:lvl8pPr>
            <a:lvl9pPr marL="31781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5908" name="myRectangle 9A"/>
          <p:cNvSpPr>
            <a:spLocks noChangeArrowheads="1"/>
          </p:cNvSpPr>
          <p:nvPr/>
        </p:nvSpPr>
        <p:spPr bwMode="auto">
          <a:xfrm>
            <a:off x="5156200" y="1347788"/>
            <a:ext cx="29273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60338"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366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493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065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637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209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1781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Contexto: financiamento</a:t>
            </a:r>
            <a:r>
              <a:rPr lang="en-US" altLang="en-US" sz="1800"/>
              <a:t> </a:t>
            </a:r>
          </a:p>
        </p:txBody>
      </p:sp>
      <p:sp>
        <p:nvSpPr>
          <p:cNvPr id="165909" name="myRectangle 10A"/>
          <p:cNvSpPr>
            <a:spLocks noChangeArrowheads="1"/>
          </p:cNvSpPr>
          <p:nvPr/>
        </p:nvSpPr>
        <p:spPr bwMode="auto">
          <a:xfrm>
            <a:off x="6213475" y="3062288"/>
            <a:ext cx="1628775" cy="3365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60338"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366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493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065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637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209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1781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solidFill>
                  <a:srgbClr val="000000"/>
                </a:solidFill>
              </a:rPr>
              <a:t>Pagamento parcial</a:t>
            </a:r>
            <a:r>
              <a:rPr lang="en-US" altLang="en-US" sz="1600">
                <a:solidFill>
                  <a:schemeClr val="bg2"/>
                </a:solidFill>
              </a:rPr>
              <a:t> </a:t>
            </a:r>
          </a:p>
        </p:txBody>
      </p:sp>
      <p:sp>
        <p:nvSpPr>
          <p:cNvPr id="165910" name="myRectangle 11A"/>
          <p:cNvSpPr>
            <a:spLocks noChangeArrowheads="1"/>
          </p:cNvSpPr>
          <p:nvPr/>
        </p:nvSpPr>
        <p:spPr bwMode="auto">
          <a:xfrm>
            <a:off x="6056313" y="2514600"/>
            <a:ext cx="1619250" cy="58102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60338"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366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493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065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637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209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1781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solidFill>
                  <a:srgbClr val="000000"/>
                </a:solidFill>
              </a:rPr>
              <a:t>Condições do </a:t>
            </a:r>
            <a:br>
              <a:rPr lang="en-US" altLang="en-US" sz="1600">
                <a:solidFill>
                  <a:srgbClr val="000000"/>
                </a:solidFill>
              </a:rPr>
            </a:br>
            <a:r>
              <a:rPr lang="en-US" altLang="en-US" sz="1600">
                <a:solidFill>
                  <a:srgbClr val="000000"/>
                </a:solidFill>
              </a:rPr>
              <a:t>financiamento</a:t>
            </a:r>
            <a:r>
              <a:rPr lang="en-US" altLang="en-US" sz="1600">
                <a:solidFill>
                  <a:schemeClr val="bg2"/>
                </a:solidFill>
              </a:rPr>
              <a:t> </a:t>
            </a:r>
          </a:p>
        </p:txBody>
      </p:sp>
      <p:sp>
        <p:nvSpPr>
          <p:cNvPr id="165911" name="myRectangle 12A"/>
          <p:cNvSpPr>
            <a:spLocks noChangeArrowheads="1"/>
          </p:cNvSpPr>
          <p:nvPr/>
        </p:nvSpPr>
        <p:spPr bwMode="auto">
          <a:xfrm>
            <a:off x="6045200" y="2238375"/>
            <a:ext cx="815975" cy="3365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60338"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366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493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065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637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209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1781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600">
                <a:solidFill>
                  <a:srgbClr val="000000"/>
                </a:solidFill>
              </a:rPr>
              <a:t>Conta</a:t>
            </a:r>
            <a:r>
              <a:rPr lang="en-US" altLang="en-US" sz="1600">
                <a:solidFill>
                  <a:schemeClr val="bg2"/>
                </a:solidFill>
              </a:rPr>
              <a:t> </a:t>
            </a:r>
          </a:p>
        </p:txBody>
      </p:sp>
      <p:sp>
        <p:nvSpPr>
          <p:cNvPr id="165912" name="Rectangle 26"/>
          <p:cNvSpPr>
            <a:spLocks noChangeArrowheads="1"/>
          </p:cNvSpPr>
          <p:nvPr/>
        </p:nvSpPr>
        <p:spPr bwMode="auto">
          <a:xfrm>
            <a:off x="5170488" y="3621088"/>
            <a:ext cx="21780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Contexto: cheque</a:t>
            </a:r>
            <a:r>
              <a:rPr lang="en-US" altLang="en-US" sz="1800"/>
              <a:t> </a:t>
            </a:r>
          </a:p>
        </p:txBody>
      </p:sp>
      <p:sp>
        <p:nvSpPr>
          <p:cNvPr id="165913" name="Freeform 27"/>
          <p:cNvSpPr>
            <a:spLocks/>
          </p:cNvSpPr>
          <p:nvPr/>
        </p:nvSpPr>
        <p:spPr bwMode="auto">
          <a:xfrm>
            <a:off x="4267200" y="1524000"/>
            <a:ext cx="838200" cy="1905000"/>
          </a:xfrm>
          <a:custGeom>
            <a:avLst/>
            <a:gdLst>
              <a:gd name="T0" fmla="*/ 0 w 528"/>
              <a:gd name="T1" fmla="*/ 2147483646 h 1200"/>
              <a:gd name="T2" fmla="*/ 0 w 528"/>
              <a:gd name="T3" fmla="*/ 0 h 1200"/>
              <a:gd name="T4" fmla="*/ 2147483646 w 528"/>
              <a:gd name="T5" fmla="*/ 0 h 1200"/>
              <a:gd name="T6" fmla="*/ 0 60000 65536"/>
              <a:gd name="T7" fmla="*/ 0 60000 65536"/>
              <a:gd name="T8" fmla="*/ 0 60000 65536"/>
            </a:gdLst>
            <a:ahLst/>
            <a:cxnLst>
              <a:cxn ang="T6">
                <a:pos x="T0" y="T1"/>
              </a:cxn>
              <a:cxn ang="T7">
                <a:pos x="T2" y="T3"/>
              </a:cxn>
              <a:cxn ang="T8">
                <a:pos x="T4" y="T5"/>
              </a:cxn>
            </a:cxnLst>
            <a:rect l="0" t="0" r="r" b="b"/>
            <a:pathLst>
              <a:path w="528" h="1200">
                <a:moveTo>
                  <a:pt x="0" y="1200"/>
                </a:moveTo>
                <a:lnTo>
                  <a:pt x="0" y="0"/>
                </a:lnTo>
                <a:lnTo>
                  <a:pt x="528" y="0"/>
                </a:lnTo>
              </a:path>
            </a:pathLst>
          </a:custGeom>
          <a:noFill/>
          <a:ln w="28575" cap="flat" cmpd="sng">
            <a:solidFill>
              <a:schemeClr val="tx1"/>
            </a:solidFill>
            <a:prstDash val="solid"/>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65914" name="Line 28"/>
          <p:cNvSpPr>
            <a:spLocks noChangeShapeType="1"/>
          </p:cNvSpPr>
          <p:nvPr/>
        </p:nvSpPr>
        <p:spPr bwMode="auto">
          <a:xfrm>
            <a:off x="4732338" y="3803650"/>
            <a:ext cx="411162" cy="0"/>
          </a:xfrm>
          <a:prstGeom prst="line">
            <a:avLst/>
          </a:prstGeom>
          <a:noFill/>
          <a:ln w="28575">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65915" name="Rectangle 29"/>
          <p:cNvSpPr>
            <a:spLocks noChangeArrowheads="1"/>
          </p:cNvSpPr>
          <p:nvPr/>
        </p:nvSpPr>
        <p:spPr bwMode="auto">
          <a:xfrm>
            <a:off x="2155825" y="4491038"/>
            <a:ext cx="1901825" cy="395287"/>
          </a:xfrm>
          <a:prstGeom prst="rect">
            <a:avLst/>
          </a:prstGeom>
          <a:solidFill>
            <a:srgbClr val="FFCC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Número da loja</a:t>
            </a:r>
            <a:r>
              <a:rPr lang="en-US" altLang="en-US" sz="1800">
                <a:solidFill>
                  <a:schemeClr val="bg2"/>
                </a:solidFill>
              </a:rPr>
              <a:t> </a:t>
            </a:r>
          </a:p>
        </p:txBody>
      </p:sp>
      <p:sp>
        <p:nvSpPr>
          <p:cNvPr id="165916" name="Rectangle 30"/>
          <p:cNvSpPr>
            <a:spLocks noChangeArrowheads="1"/>
          </p:cNvSpPr>
          <p:nvPr/>
        </p:nvSpPr>
        <p:spPr bwMode="auto">
          <a:xfrm>
            <a:off x="6073775" y="4343400"/>
            <a:ext cx="1908175" cy="395288"/>
          </a:xfrm>
          <a:prstGeom prst="rect">
            <a:avLst/>
          </a:prstGeom>
          <a:solidFill>
            <a:srgbClr val="FFCC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Número da loja</a:t>
            </a:r>
            <a:r>
              <a:rPr lang="en-US" altLang="en-US" sz="1800">
                <a:solidFill>
                  <a:schemeClr val="bg2"/>
                </a:solidFill>
              </a:rPr>
              <a:t> </a:t>
            </a:r>
          </a:p>
        </p:txBody>
      </p:sp>
      <p:sp>
        <p:nvSpPr>
          <p:cNvPr id="165917" name="Rectangle 31"/>
          <p:cNvSpPr>
            <a:spLocks noChangeArrowheads="1"/>
          </p:cNvSpPr>
          <p:nvPr/>
        </p:nvSpPr>
        <p:spPr bwMode="auto">
          <a:xfrm>
            <a:off x="5967413" y="1885950"/>
            <a:ext cx="1995487" cy="395288"/>
          </a:xfrm>
          <a:prstGeom prst="rect">
            <a:avLst/>
          </a:prstGeom>
          <a:solidFill>
            <a:srgbClr val="FFCC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a:solidFill>
                  <a:srgbClr val="000000"/>
                </a:solidFill>
              </a:rPr>
              <a:t>Número da loja</a:t>
            </a:r>
            <a:r>
              <a:rPr lang="en-US" altLang="en-US" sz="1800">
                <a:solidFill>
                  <a:schemeClr val="bg2"/>
                </a:solidFill>
              </a:rPr>
              <a:t> </a:t>
            </a:r>
          </a:p>
        </p:txBody>
      </p:sp>
      <p:sp>
        <p:nvSpPr>
          <p:cNvPr id="31"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Flexfield</a:t>
            </a:r>
          </a:p>
        </p:txBody>
      </p:sp>
      <p:sp>
        <p:nvSpPr>
          <p:cNvPr id="165919"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65920" name="Group 6"/>
          <p:cNvGrpSpPr>
            <a:grpSpLocks/>
          </p:cNvGrpSpPr>
          <p:nvPr/>
        </p:nvGrpSpPr>
        <p:grpSpPr bwMode="auto">
          <a:xfrm>
            <a:off x="7308850" y="117475"/>
            <a:ext cx="1735138" cy="647700"/>
            <a:chOff x="7380288" y="41275"/>
            <a:chExt cx="1735137" cy="647700"/>
          </a:xfrm>
        </p:grpSpPr>
        <p:sp>
          <p:nvSpPr>
            <p:cNvPr id="33"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34"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xfrm>
            <a:off x="14288" y="935038"/>
            <a:ext cx="7451725" cy="503237"/>
          </a:xfrm>
        </p:spPr>
        <p:txBody>
          <a:bodyPr/>
          <a:lstStyle/>
          <a:p>
            <a:pPr marL="285750" indent="-285750" algn="l">
              <a:buFont typeface="Wingdings" panose="05000000000000000000" pitchFamily="2" charset="2"/>
              <a:buChar char="q"/>
            </a:pPr>
            <a:r>
              <a:rPr lang="en-US" altLang="en-US" sz="1400" smtClean="0">
                <a:solidFill>
                  <a:schemeClr val="accent2"/>
                </a:solidFill>
              </a:rPr>
              <a:t>Usando Campos de Referência</a:t>
            </a:r>
          </a:p>
        </p:txBody>
      </p:sp>
      <p:sp>
        <p:nvSpPr>
          <p:cNvPr id="167939" name="myRectangle 3A"/>
          <p:cNvSpPr>
            <a:spLocks noChangeArrowheads="1"/>
          </p:cNvSpPr>
          <p:nvPr/>
        </p:nvSpPr>
        <p:spPr bwMode="auto">
          <a:xfrm>
            <a:off x="914400" y="1397000"/>
            <a:ext cx="1390650" cy="915988"/>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Janela de</a:t>
            </a:r>
            <a:r>
              <a:rPr lang="en-US" altLang="en-US" sz="1800">
                <a:solidFill>
                  <a:schemeClr val="tx2"/>
                </a:solidFill>
              </a:rPr>
              <a:t> </a:t>
            </a:r>
          </a:p>
          <a:p>
            <a:pPr>
              <a:spcBef>
                <a:spcPct val="0"/>
              </a:spcBef>
              <a:buFontTx/>
              <a:buNone/>
            </a:pPr>
            <a:r>
              <a:rPr lang="en-US" altLang="en-US" sz="1800">
                <a:solidFill>
                  <a:srgbClr val="000000"/>
                </a:solidFill>
              </a:rPr>
              <a:t>aplicação</a:t>
            </a:r>
            <a:r>
              <a:rPr lang="en-US" altLang="en-US" sz="1800">
                <a:solidFill>
                  <a:schemeClr val="tx2"/>
                </a:solidFill>
              </a:rPr>
              <a:t> </a:t>
            </a:r>
          </a:p>
          <a:p>
            <a:pPr>
              <a:spcBef>
                <a:spcPct val="0"/>
              </a:spcBef>
              <a:buFontTx/>
              <a:buNone/>
            </a:pPr>
            <a:r>
              <a:rPr lang="en-US" altLang="en-US" sz="1800">
                <a:solidFill>
                  <a:srgbClr val="000000"/>
                </a:solidFill>
              </a:rPr>
              <a:t>existente</a:t>
            </a:r>
            <a:r>
              <a:rPr lang="en-US" altLang="en-US" sz="1800">
                <a:solidFill>
                  <a:schemeClr val="tx2"/>
                </a:solidFill>
              </a:rPr>
              <a:t> </a:t>
            </a:r>
          </a:p>
        </p:txBody>
      </p:sp>
      <p:sp>
        <p:nvSpPr>
          <p:cNvPr id="167940" name="myRectangle 4A"/>
          <p:cNvSpPr>
            <a:spLocks noChangeArrowheads="1"/>
          </p:cNvSpPr>
          <p:nvPr/>
        </p:nvSpPr>
        <p:spPr bwMode="auto">
          <a:xfrm>
            <a:off x="4876800" y="3527425"/>
            <a:ext cx="1238250" cy="915988"/>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Designs de</a:t>
            </a:r>
            <a:r>
              <a:rPr lang="en-US" altLang="en-US" sz="1800">
                <a:solidFill>
                  <a:schemeClr val="tx2"/>
                </a:solidFill>
              </a:rPr>
              <a:t> </a:t>
            </a:r>
          </a:p>
          <a:p>
            <a:pPr>
              <a:spcBef>
                <a:spcPct val="0"/>
              </a:spcBef>
              <a:buFontTx/>
              <a:buNone/>
            </a:pPr>
            <a:r>
              <a:rPr lang="en-US" altLang="en-US" sz="1800">
                <a:solidFill>
                  <a:srgbClr val="000000"/>
                </a:solidFill>
              </a:rPr>
              <a:t>flexfield</a:t>
            </a:r>
            <a:r>
              <a:rPr lang="en-US" altLang="en-US" sz="1800">
                <a:solidFill>
                  <a:schemeClr val="tx2"/>
                </a:solidFill>
              </a:rPr>
              <a:t> </a:t>
            </a:r>
          </a:p>
          <a:p>
            <a:pPr>
              <a:spcBef>
                <a:spcPct val="0"/>
              </a:spcBef>
              <a:buFontTx/>
              <a:buNone/>
            </a:pPr>
            <a:r>
              <a:rPr lang="en-US" altLang="en-US" sz="1800">
                <a:solidFill>
                  <a:srgbClr val="000000"/>
                </a:solidFill>
              </a:rPr>
              <a:t>propostos</a:t>
            </a:r>
            <a:r>
              <a:rPr lang="en-US" altLang="en-US" sz="1800">
                <a:solidFill>
                  <a:schemeClr val="tx2"/>
                </a:solidFill>
              </a:rPr>
              <a:t> </a:t>
            </a:r>
            <a:endParaRPr lang="en-US" altLang="en-US" sz="1800"/>
          </a:p>
        </p:txBody>
      </p:sp>
      <p:sp>
        <p:nvSpPr>
          <p:cNvPr id="896005" name="Rectangle 5"/>
          <p:cNvSpPr>
            <a:spLocks noChangeArrowheads="1"/>
          </p:cNvSpPr>
          <p:nvPr/>
        </p:nvSpPr>
        <p:spPr bwMode="blackWhite">
          <a:xfrm>
            <a:off x="2368550" y="1479550"/>
            <a:ext cx="1739900" cy="730250"/>
          </a:xfrm>
          <a:prstGeom prst="rect">
            <a:avLst/>
          </a:prstGeom>
          <a:solidFill>
            <a:srgbClr val="66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96006" name="Rectangle 6"/>
          <p:cNvSpPr>
            <a:spLocks noChangeArrowheads="1"/>
          </p:cNvSpPr>
          <p:nvPr/>
        </p:nvSpPr>
        <p:spPr bwMode="blackWhite">
          <a:xfrm>
            <a:off x="2514600" y="1606550"/>
            <a:ext cx="990600" cy="228600"/>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96007" name="Rectangle 7"/>
          <p:cNvSpPr>
            <a:spLocks noChangeArrowheads="1"/>
          </p:cNvSpPr>
          <p:nvPr/>
        </p:nvSpPr>
        <p:spPr bwMode="blackWhite">
          <a:xfrm>
            <a:off x="2514600" y="1911350"/>
            <a:ext cx="990600" cy="2286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96008" name="Rectangle 8"/>
          <p:cNvSpPr>
            <a:spLocks noChangeArrowheads="1"/>
          </p:cNvSpPr>
          <p:nvPr/>
        </p:nvSpPr>
        <p:spPr bwMode="auto">
          <a:xfrm>
            <a:off x="3733800" y="1911350"/>
            <a:ext cx="762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7945" name="myRectangle 10A"/>
          <p:cNvSpPr>
            <a:spLocks noChangeArrowheads="1"/>
          </p:cNvSpPr>
          <p:nvPr/>
        </p:nvSpPr>
        <p:spPr bwMode="auto">
          <a:xfrm>
            <a:off x="5645150" y="1601788"/>
            <a:ext cx="18224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Campo de referência</a:t>
            </a:r>
            <a:r>
              <a:rPr lang="en-US" altLang="en-US" sz="1800"/>
              <a:t> </a:t>
            </a:r>
          </a:p>
        </p:txBody>
      </p:sp>
      <p:sp>
        <p:nvSpPr>
          <p:cNvPr id="896010" name="Rectangle 10"/>
          <p:cNvSpPr>
            <a:spLocks noChangeArrowheads="1"/>
          </p:cNvSpPr>
          <p:nvPr/>
        </p:nvSpPr>
        <p:spPr bwMode="blackWhite">
          <a:xfrm>
            <a:off x="3128963" y="2927350"/>
            <a:ext cx="1360487" cy="2806700"/>
          </a:xfrm>
          <a:prstGeom prst="rect">
            <a:avLst/>
          </a:prstGeom>
          <a:solidFill>
            <a:srgbClr val="66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96011" name="Rectangle 11"/>
          <p:cNvSpPr>
            <a:spLocks noChangeArrowheads="1"/>
          </p:cNvSpPr>
          <p:nvPr/>
        </p:nvSpPr>
        <p:spPr bwMode="blackWhite">
          <a:xfrm>
            <a:off x="3181350" y="2997200"/>
            <a:ext cx="1066800" cy="3048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7948" name="Rectangle 12"/>
          <p:cNvSpPr>
            <a:spLocks noChangeArrowheads="1"/>
          </p:cNvSpPr>
          <p:nvPr/>
        </p:nvSpPr>
        <p:spPr bwMode="auto">
          <a:xfrm>
            <a:off x="3181350" y="2973388"/>
            <a:ext cx="895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Global</a:t>
            </a:r>
          </a:p>
        </p:txBody>
      </p:sp>
      <p:sp>
        <p:nvSpPr>
          <p:cNvPr id="896013" name="Rectangle 13"/>
          <p:cNvSpPr>
            <a:spLocks noChangeArrowheads="1"/>
          </p:cNvSpPr>
          <p:nvPr/>
        </p:nvSpPr>
        <p:spPr bwMode="blackWhite">
          <a:xfrm>
            <a:off x="3181350" y="3378200"/>
            <a:ext cx="1066800" cy="3048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7950" name="Rectangle 14"/>
          <p:cNvSpPr>
            <a:spLocks noChangeArrowheads="1"/>
          </p:cNvSpPr>
          <p:nvPr/>
        </p:nvSpPr>
        <p:spPr bwMode="auto">
          <a:xfrm>
            <a:off x="3181350" y="3354388"/>
            <a:ext cx="679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Data</a:t>
            </a:r>
          </a:p>
        </p:txBody>
      </p:sp>
      <p:grpSp>
        <p:nvGrpSpPr>
          <p:cNvPr id="167951" name="Group 15"/>
          <p:cNvGrpSpPr>
            <a:grpSpLocks/>
          </p:cNvGrpSpPr>
          <p:nvPr/>
        </p:nvGrpSpPr>
        <p:grpSpPr bwMode="auto">
          <a:xfrm>
            <a:off x="3181350" y="3721100"/>
            <a:ext cx="1228725" cy="395288"/>
            <a:chOff x="1988" y="2529"/>
            <a:chExt cx="774" cy="249"/>
          </a:xfrm>
        </p:grpSpPr>
        <p:sp>
          <p:nvSpPr>
            <p:cNvPr id="896016" name="Rectangle 16"/>
            <p:cNvSpPr>
              <a:spLocks noChangeArrowheads="1"/>
            </p:cNvSpPr>
            <p:nvPr/>
          </p:nvSpPr>
          <p:spPr bwMode="blackWhite">
            <a:xfrm>
              <a:off x="2028" y="2544"/>
              <a:ext cx="672" cy="192"/>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7982" name="Rectangle 17"/>
            <p:cNvSpPr>
              <a:spLocks noChangeArrowheads="1"/>
            </p:cNvSpPr>
            <p:nvPr/>
          </p:nvSpPr>
          <p:spPr bwMode="blackWhite">
            <a:xfrm>
              <a:off x="1988" y="2529"/>
              <a:ext cx="774" cy="249"/>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Elements</a:t>
              </a:r>
            </a:p>
          </p:txBody>
        </p:sp>
      </p:grpSp>
      <p:sp>
        <p:nvSpPr>
          <p:cNvPr id="896018" name="Rectangle 18"/>
          <p:cNvSpPr>
            <a:spLocks noChangeArrowheads="1"/>
          </p:cNvSpPr>
          <p:nvPr/>
        </p:nvSpPr>
        <p:spPr bwMode="ltGray">
          <a:xfrm>
            <a:off x="3219450" y="4140200"/>
            <a:ext cx="1066800" cy="3048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167953" name="Rectangle 19"/>
          <p:cNvSpPr>
            <a:spLocks noChangeArrowheads="1"/>
          </p:cNvSpPr>
          <p:nvPr/>
        </p:nvSpPr>
        <p:spPr bwMode="blackGray">
          <a:xfrm>
            <a:off x="3203575" y="4116388"/>
            <a:ext cx="10350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Context</a:t>
            </a:r>
          </a:p>
        </p:txBody>
      </p:sp>
      <p:sp>
        <p:nvSpPr>
          <p:cNvPr id="896020" name="Rectangle 20"/>
          <p:cNvSpPr>
            <a:spLocks noChangeArrowheads="1"/>
          </p:cNvSpPr>
          <p:nvPr/>
        </p:nvSpPr>
        <p:spPr bwMode="blackGray">
          <a:xfrm>
            <a:off x="3238500" y="4521200"/>
            <a:ext cx="1066800" cy="3048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167955" name="Rectangle 21"/>
          <p:cNvSpPr>
            <a:spLocks noChangeArrowheads="1"/>
          </p:cNvSpPr>
          <p:nvPr/>
        </p:nvSpPr>
        <p:spPr bwMode="auto">
          <a:xfrm>
            <a:off x="3146425" y="4497388"/>
            <a:ext cx="11874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Sensitive</a:t>
            </a:r>
          </a:p>
        </p:txBody>
      </p:sp>
      <p:sp>
        <p:nvSpPr>
          <p:cNvPr id="896022" name="Rectangle 22"/>
          <p:cNvSpPr>
            <a:spLocks noChangeArrowheads="1"/>
          </p:cNvSpPr>
          <p:nvPr/>
        </p:nvSpPr>
        <p:spPr bwMode="blackGray">
          <a:xfrm>
            <a:off x="3238500" y="4902200"/>
            <a:ext cx="1066800" cy="3048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167957" name="Rectangle 23"/>
          <p:cNvSpPr>
            <a:spLocks noChangeArrowheads="1"/>
          </p:cNvSpPr>
          <p:nvPr/>
        </p:nvSpPr>
        <p:spPr bwMode="auto">
          <a:xfrm>
            <a:off x="3222625" y="4878388"/>
            <a:ext cx="8445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Fields</a:t>
            </a:r>
          </a:p>
        </p:txBody>
      </p:sp>
      <p:sp>
        <p:nvSpPr>
          <p:cNvPr id="896024" name="Rectangle 24"/>
          <p:cNvSpPr>
            <a:spLocks noChangeArrowheads="1"/>
          </p:cNvSpPr>
          <p:nvPr/>
        </p:nvSpPr>
        <p:spPr bwMode="blackGray">
          <a:xfrm>
            <a:off x="3238500" y="5257800"/>
            <a:ext cx="1066800" cy="3048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accent2"/>
              </a:solidFill>
              <a:effectLst>
                <a:outerShdw blurRad="38100" dist="38100" dir="2700000" algn="tl">
                  <a:srgbClr val="000000"/>
                </a:outerShdw>
              </a:effectLst>
              <a:latin typeface="Arial" panose="020B0604020202020204" pitchFamily="34" charset="0"/>
            </a:endParaRPr>
          </a:p>
        </p:txBody>
      </p:sp>
      <p:sp>
        <p:nvSpPr>
          <p:cNvPr id="167959" name="myRectangle 32A"/>
          <p:cNvSpPr>
            <a:spLocks noChangeArrowheads="1"/>
          </p:cNvSpPr>
          <p:nvPr/>
        </p:nvSpPr>
        <p:spPr bwMode="auto">
          <a:xfrm>
            <a:off x="3168650" y="5765800"/>
            <a:ext cx="1225550" cy="366713"/>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Contexto 1</a:t>
            </a:r>
            <a:r>
              <a:rPr lang="en-US" altLang="en-US" sz="1800"/>
              <a:t> </a:t>
            </a:r>
          </a:p>
        </p:txBody>
      </p:sp>
      <p:sp>
        <p:nvSpPr>
          <p:cNvPr id="167960" name="myRectangle 33A"/>
          <p:cNvSpPr>
            <a:spLocks noChangeArrowheads="1"/>
          </p:cNvSpPr>
          <p:nvPr/>
        </p:nvSpPr>
        <p:spPr bwMode="auto">
          <a:xfrm>
            <a:off x="6673850" y="5765800"/>
            <a:ext cx="1225550" cy="366713"/>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1143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0287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485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943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40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85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31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000000"/>
                </a:solidFill>
              </a:rPr>
              <a:t>Contexto 2</a:t>
            </a:r>
            <a:r>
              <a:rPr lang="en-US" altLang="en-US" sz="1800"/>
              <a:t> </a:t>
            </a:r>
          </a:p>
        </p:txBody>
      </p:sp>
      <p:sp>
        <p:nvSpPr>
          <p:cNvPr id="896027" name="Rectangle 27"/>
          <p:cNvSpPr>
            <a:spLocks noChangeArrowheads="1"/>
          </p:cNvSpPr>
          <p:nvPr/>
        </p:nvSpPr>
        <p:spPr bwMode="blackWhite">
          <a:xfrm>
            <a:off x="6634163" y="2927350"/>
            <a:ext cx="1360487" cy="2425700"/>
          </a:xfrm>
          <a:prstGeom prst="rect">
            <a:avLst/>
          </a:prstGeom>
          <a:solidFill>
            <a:srgbClr val="66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896028" name="Rectangle 28"/>
          <p:cNvSpPr>
            <a:spLocks noChangeArrowheads="1"/>
          </p:cNvSpPr>
          <p:nvPr/>
        </p:nvSpPr>
        <p:spPr bwMode="blackWhite">
          <a:xfrm>
            <a:off x="6699250" y="2997200"/>
            <a:ext cx="1066800" cy="3048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7963" name="Rectangle 29"/>
          <p:cNvSpPr>
            <a:spLocks noChangeArrowheads="1"/>
          </p:cNvSpPr>
          <p:nvPr/>
        </p:nvSpPr>
        <p:spPr bwMode="auto">
          <a:xfrm>
            <a:off x="6699250" y="2973388"/>
            <a:ext cx="8953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Global</a:t>
            </a:r>
          </a:p>
        </p:txBody>
      </p:sp>
      <p:sp>
        <p:nvSpPr>
          <p:cNvPr id="896030" name="Rectangle 30"/>
          <p:cNvSpPr>
            <a:spLocks noChangeArrowheads="1"/>
          </p:cNvSpPr>
          <p:nvPr/>
        </p:nvSpPr>
        <p:spPr bwMode="blackWhite">
          <a:xfrm>
            <a:off x="6699250" y="3378200"/>
            <a:ext cx="1066800" cy="3048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67965" name="Rectangle 31"/>
          <p:cNvSpPr>
            <a:spLocks noChangeArrowheads="1"/>
          </p:cNvSpPr>
          <p:nvPr/>
        </p:nvSpPr>
        <p:spPr bwMode="auto">
          <a:xfrm>
            <a:off x="6699250" y="3354388"/>
            <a:ext cx="6794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Data</a:t>
            </a:r>
          </a:p>
        </p:txBody>
      </p:sp>
      <p:sp>
        <p:nvSpPr>
          <p:cNvPr id="896032" name="Rectangle 32"/>
          <p:cNvSpPr>
            <a:spLocks noChangeArrowheads="1"/>
          </p:cNvSpPr>
          <p:nvPr/>
        </p:nvSpPr>
        <p:spPr bwMode="blackWhite">
          <a:xfrm>
            <a:off x="6699250" y="3759200"/>
            <a:ext cx="1219200" cy="3048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896033" name="Rectangle 33"/>
          <p:cNvSpPr>
            <a:spLocks noChangeArrowheads="1"/>
          </p:cNvSpPr>
          <p:nvPr/>
        </p:nvSpPr>
        <p:spPr bwMode="ltGray">
          <a:xfrm>
            <a:off x="6743700" y="4521200"/>
            <a:ext cx="1066800" cy="3048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167968" name="Rectangle 34"/>
          <p:cNvSpPr>
            <a:spLocks noChangeArrowheads="1"/>
          </p:cNvSpPr>
          <p:nvPr/>
        </p:nvSpPr>
        <p:spPr bwMode="blackGray">
          <a:xfrm>
            <a:off x="6651625" y="4497388"/>
            <a:ext cx="11874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Sensitive</a:t>
            </a:r>
          </a:p>
        </p:txBody>
      </p:sp>
      <p:sp>
        <p:nvSpPr>
          <p:cNvPr id="896035" name="Rectangle 35"/>
          <p:cNvSpPr>
            <a:spLocks noChangeArrowheads="1"/>
          </p:cNvSpPr>
          <p:nvPr/>
        </p:nvSpPr>
        <p:spPr bwMode="blackGray">
          <a:xfrm>
            <a:off x="6743700" y="4902200"/>
            <a:ext cx="1066800" cy="30480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defRPr sz="2400">
                <a:solidFill>
                  <a:schemeClr val="tx1"/>
                </a:solidFill>
                <a:latin typeface="Times New Roman" panose="02020603050405020304" pitchFamily="18" charset="0"/>
              </a:defRPr>
            </a:lvl1pPr>
            <a:lvl2pPr marL="411163" algn="l" defTabSz="822325">
              <a:defRPr sz="2400">
                <a:solidFill>
                  <a:schemeClr val="tx1"/>
                </a:solidFill>
                <a:latin typeface="Times New Roman" panose="02020603050405020304" pitchFamily="18" charset="0"/>
              </a:defRPr>
            </a:lvl2pPr>
            <a:lvl3pPr marL="822325" algn="l" defTabSz="822325">
              <a:defRPr sz="2400">
                <a:solidFill>
                  <a:schemeClr val="tx1"/>
                </a:solidFill>
                <a:latin typeface="Times New Roman" panose="02020603050405020304" pitchFamily="18" charset="0"/>
              </a:defRPr>
            </a:lvl3pPr>
            <a:lvl4pPr marL="1235075" algn="l" defTabSz="822325">
              <a:defRPr sz="2400">
                <a:solidFill>
                  <a:schemeClr val="tx1"/>
                </a:solidFill>
                <a:latin typeface="Times New Roman" panose="02020603050405020304" pitchFamily="18" charset="0"/>
              </a:defRPr>
            </a:lvl4pPr>
            <a:lvl5pPr marL="1646238" algn="l" defTabSz="822325">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pt-BR" altLang="en-US" sz="1800" smtClean="0">
              <a:solidFill>
                <a:schemeClr val="folHlink"/>
              </a:solidFill>
              <a:effectLst>
                <a:outerShdw blurRad="38100" dist="38100" dir="2700000" algn="tl">
                  <a:srgbClr val="000000"/>
                </a:outerShdw>
              </a:effectLst>
              <a:latin typeface="Arial" panose="020B0604020202020204" pitchFamily="34" charset="0"/>
            </a:endParaRPr>
          </a:p>
        </p:txBody>
      </p:sp>
      <p:sp>
        <p:nvSpPr>
          <p:cNvPr id="167970" name="Rectangle 36"/>
          <p:cNvSpPr>
            <a:spLocks noChangeArrowheads="1"/>
          </p:cNvSpPr>
          <p:nvPr/>
        </p:nvSpPr>
        <p:spPr bwMode="auto">
          <a:xfrm>
            <a:off x="6727825" y="4878388"/>
            <a:ext cx="8445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Fields</a:t>
            </a:r>
          </a:p>
        </p:txBody>
      </p:sp>
      <p:grpSp>
        <p:nvGrpSpPr>
          <p:cNvPr id="167971" name="Group 37"/>
          <p:cNvGrpSpPr>
            <a:grpSpLocks/>
          </p:cNvGrpSpPr>
          <p:nvPr/>
        </p:nvGrpSpPr>
        <p:grpSpPr bwMode="auto">
          <a:xfrm>
            <a:off x="3733800" y="1701800"/>
            <a:ext cx="3606800" cy="1219200"/>
            <a:chOff x="2352" y="1248"/>
            <a:chExt cx="2272" cy="768"/>
          </a:xfrm>
        </p:grpSpPr>
        <p:sp>
          <p:nvSpPr>
            <p:cNvPr id="167979" name="Freeform 38"/>
            <p:cNvSpPr>
              <a:spLocks/>
            </p:cNvSpPr>
            <p:nvPr/>
          </p:nvSpPr>
          <p:spPr bwMode="auto">
            <a:xfrm>
              <a:off x="2352" y="1728"/>
              <a:ext cx="2272" cy="288"/>
            </a:xfrm>
            <a:custGeom>
              <a:avLst/>
              <a:gdLst>
                <a:gd name="T0" fmla="*/ 0 w 2272"/>
                <a:gd name="T1" fmla="*/ 288 h 288"/>
                <a:gd name="T2" fmla="*/ 0 w 2272"/>
                <a:gd name="T3" fmla="*/ 0 h 288"/>
                <a:gd name="T4" fmla="*/ 2272 w 2272"/>
                <a:gd name="T5" fmla="*/ 0 h 288"/>
                <a:gd name="T6" fmla="*/ 2272 w 2272"/>
                <a:gd name="T7" fmla="*/ 28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72" h="288">
                  <a:moveTo>
                    <a:pt x="0" y="288"/>
                  </a:moveTo>
                  <a:lnTo>
                    <a:pt x="0" y="0"/>
                  </a:lnTo>
                  <a:lnTo>
                    <a:pt x="2272" y="0"/>
                  </a:lnTo>
                  <a:lnTo>
                    <a:pt x="2272" y="280"/>
                  </a:lnTo>
                </a:path>
              </a:pathLst>
            </a:custGeom>
            <a:noFill/>
            <a:ln w="28575" cap="flat" cmpd="sng">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67980" name="Freeform 39"/>
            <p:cNvSpPr>
              <a:spLocks/>
            </p:cNvSpPr>
            <p:nvPr/>
          </p:nvSpPr>
          <p:spPr bwMode="auto">
            <a:xfrm>
              <a:off x="2592" y="1248"/>
              <a:ext cx="912" cy="480"/>
            </a:xfrm>
            <a:custGeom>
              <a:avLst/>
              <a:gdLst>
                <a:gd name="T0" fmla="*/ 0 w 768"/>
                <a:gd name="T1" fmla="*/ 0 h 480"/>
                <a:gd name="T2" fmla="*/ 8513 w 768"/>
                <a:gd name="T3" fmla="*/ 0 h 480"/>
                <a:gd name="T4" fmla="*/ 8513 w 768"/>
                <a:gd name="T5" fmla="*/ 480 h 480"/>
                <a:gd name="T6" fmla="*/ 0 60000 65536"/>
                <a:gd name="T7" fmla="*/ 0 60000 65536"/>
                <a:gd name="T8" fmla="*/ 0 60000 65536"/>
              </a:gdLst>
              <a:ahLst/>
              <a:cxnLst>
                <a:cxn ang="T6">
                  <a:pos x="T0" y="T1"/>
                </a:cxn>
                <a:cxn ang="T7">
                  <a:pos x="T2" y="T3"/>
                </a:cxn>
                <a:cxn ang="T8">
                  <a:pos x="T4" y="T5"/>
                </a:cxn>
              </a:cxnLst>
              <a:rect l="0" t="0" r="r" b="b"/>
              <a:pathLst>
                <a:path w="768" h="480">
                  <a:moveTo>
                    <a:pt x="0" y="0"/>
                  </a:moveTo>
                  <a:lnTo>
                    <a:pt x="768" y="0"/>
                  </a:lnTo>
                  <a:lnTo>
                    <a:pt x="768" y="480"/>
                  </a:lnTo>
                </a:path>
              </a:pathLst>
            </a:custGeom>
            <a:noFill/>
            <a:ln w="28575" cap="flat"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sp>
        <p:nvSpPr>
          <p:cNvPr id="167972" name="Rectangle 40"/>
          <p:cNvSpPr>
            <a:spLocks noChangeArrowheads="1"/>
          </p:cNvSpPr>
          <p:nvPr/>
        </p:nvSpPr>
        <p:spPr bwMode="blackGray">
          <a:xfrm>
            <a:off x="6699250" y="3735388"/>
            <a:ext cx="12001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Elements</a:t>
            </a:r>
          </a:p>
        </p:txBody>
      </p:sp>
      <p:sp>
        <p:nvSpPr>
          <p:cNvPr id="167973" name="Rectangle 41"/>
          <p:cNvSpPr>
            <a:spLocks noChangeArrowheads="1"/>
          </p:cNvSpPr>
          <p:nvPr/>
        </p:nvSpPr>
        <p:spPr bwMode="blackGray">
          <a:xfrm>
            <a:off x="6708775" y="4116388"/>
            <a:ext cx="1035050" cy="36671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chemeClr val="bg2"/>
                </a:solidFill>
              </a:rPr>
              <a:t>Context</a:t>
            </a:r>
          </a:p>
        </p:txBody>
      </p:sp>
      <p:sp>
        <p:nvSpPr>
          <p:cNvPr id="42"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Flexfield</a:t>
            </a:r>
          </a:p>
        </p:txBody>
      </p:sp>
      <p:sp>
        <p:nvSpPr>
          <p:cNvPr id="167975"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67976" name="Group 6"/>
          <p:cNvGrpSpPr>
            <a:grpSpLocks/>
          </p:cNvGrpSpPr>
          <p:nvPr/>
        </p:nvGrpSpPr>
        <p:grpSpPr bwMode="auto">
          <a:xfrm>
            <a:off x="7308850" y="117475"/>
            <a:ext cx="1735138" cy="647700"/>
            <a:chOff x="7380288" y="41275"/>
            <a:chExt cx="1735137" cy="647700"/>
          </a:xfrm>
        </p:grpSpPr>
        <p:sp>
          <p:nvSpPr>
            <p:cNvPr id="45"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46"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6896" name="Group 64"/>
          <p:cNvGraphicFramePr>
            <a:graphicFrameLocks noGrp="1"/>
          </p:cNvGraphicFramePr>
          <p:nvPr>
            <p:ph idx="1"/>
          </p:nvPr>
        </p:nvGraphicFramePr>
        <p:xfrm>
          <a:off x="1219200" y="1676400"/>
          <a:ext cx="6705600" cy="3151188"/>
        </p:xfrm>
        <a:graphic>
          <a:graphicData uri="http://schemas.openxmlformats.org/drawingml/2006/table">
            <a:tbl>
              <a:tblPr/>
              <a:tblGrid>
                <a:gridCol w="2190750"/>
                <a:gridCol w="4514850"/>
              </a:tblGrid>
              <a:tr h="420568">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800" b="1" i="0" u="none" strike="noStrike" cap="none" normalizeH="0" baseline="0" smtClean="0">
                          <a:ln>
                            <a:noFill/>
                          </a:ln>
                          <a:solidFill>
                            <a:schemeClr val="bg1"/>
                          </a:solidFill>
                          <a:effectLst/>
                          <a:latin typeface="Arial" panose="020B0604020202020204" pitchFamily="34" charset="0"/>
                        </a:rPr>
                        <a:t>Default Type</a:t>
                      </a:r>
                    </a:p>
                  </a:txBody>
                  <a:tcPr marL="73152" marR="73152" marT="73125" marB="73125" anchor="ct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57150" cap="flat" cmpd="sng" algn="ctr">
                      <a:solidFill>
                        <a:schemeClr val="tx1"/>
                      </a:solidFill>
                      <a:prstDash val="solid"/>
                      <a:round/>
                      <a:headEnd type="none" w="sm" len="sm"/>
                      <a:tailEnd type="none" w="sm" len="sm"/>
                    </a:lnB>
                    <a:lnTlToBr>
                      <a:noFill/>
                    </a:lnTlToBr>
                    <a:lnBlToTr>
                      <a:noFill/>
                    </a:lnBlToTr>
                    <a:solidFill>
                      <a:schemeClr val="accent2"/>
                    </a:solidFill>
                  </a:tcPr>
                </a:tc>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800" b="1" i="0" u="none" strike="noStrike" cap="none" normalizeH="0" baseline="0" smtClean="0">
                          <a:ln>
                            <a:noFill/>
                          </a:ln>
                          <a:solidFill>
                            <a:schemeClr val="bg1"/>
                          </a:solidFill>
                          <a:effectLst/>
                          <a:latin typeface="Arial" panose="020B0604020202020204" pitchFamily="34" charset="0"/>
                        </a:rPr>
                        <a:t>Default Value</a:t>
                      </a:r>
                    </a:p>
                  </a:txBody>
                  <a:tcPr marL="73152" marR="73152" marT="73125" marB="73125" anchor="ct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57150" cap="flat" cmpd="sng" algn="ctr">
                      <a:solidFill>
                        <a:schemeClr val="tx1"/>
                      </a:solidFill>
                      <a:prstDash val="solid"/>
                      <a:round/>
                      <a:headEnd type="none" w="sm" len="sm"/>
                      <a:tailEnd type="none" w="sm" len="sm"/>
                    </a:lnB>
                    <a:lnTlToBr>
                      <a:noFill/>
                    </a:lnTlToBr>
                    <a:lnBlToTr>
                      <a:noFill/>
                    </a:lnBlToTr>
                    <a:solidFill>
                      <a:schemeClr val="accent2"/>
                    </a:solidFill>
                  </a:tcPr>
                </a:tc>
              </a:tr>
              <a:tr h="390089">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Constant</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5715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Any literal value</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5715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r>
              <a:tr h="390089">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Current Date</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Current time</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r>
              <a:tr h="390089">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Current time</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Current time or current date/time</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r>
              <a:tr h="390089">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Field</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Default Value field value</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r>
              <a:tr h="390089">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Profile</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Value of profile in Default Value</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r>
              <a:tr h="390089">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Segment</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Value in prior segment</a:t>
                      </a:r>
                      <a:endParaRPr kumimoji="0" lang="en-US" altLang="en-US" sz="1600" b="1" i="0" u="none" strike="noStrike" cap="none" normalizeH="0" baseline="0" smtClean="0">
                        <a:ln>
                          <a:noFill/>
                        </a:ln>
                        <a:solidFill>
                          <a:schemeClr val="tx1"/>
                        </a:solidFill>
                        <a:effectLst/>
                        <a:latin typeface="Arial" panose="020B0604020202020204" pitchFamily="34" charset="0"/>
                      </a:endParaRP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r>
              <a:tr h="390089">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SQL Statement</a:t>
                      </a: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lvl1pPr algn="l" defTabSz="228600">
                        <a:buClr>
                          <a:srgbClr val="000000"/>
                        </a:buClr>
                        <a:defRPr sz="2000" b="1">
                          <a:solidFill>
                            <a:schemeClr val="tx1"/>
                          </a:solidFill>
                          <a:latin typeface="Arial" panose="020B0604020202020204" pitchFamily="34" charset="0"/>
                        </a:defRPr>
                      </a:lvl1pPr>
                      <a:lvl2pPr marL="100013" indent="14288" algn="l" defTabSz="228600">
                        <a:defRPr sz="2000" b="1">
                          <a:solidFill>
                            <a:schemeClr val="tx1"/>
                          </a:solidFill>
                          <a:latin typeface="Arial" panose="020B0604020202020204" pitchFamily="34" charset="0"/>
                        </a:defRPr>
                      </a:lvl2pPr>
                      <a:lvl3pPr marL="495300" indent="82550" algn="l" defTabSz="228600">
                        <a:defRPr b="1">
                          <a:solidFill>
                            <a:schemeClr val="tx1"/>
                          </a:solidFill>
                          <a:latin typeface="Arial" panose="020B0604020202020204" pitchFamily="34" charset="0"/>
                        </a:defRPr>
                      </a:lvl3pPr>
                      <a:lvl4pPr marL="1147763" indent="-123825" algn="l" defTabSz="228600">
                        <a:buClr>
                          <a:schemeClr val="accent2"/>
                        </a:buClr>
                        <a:buSzPct val="45000"/>
                        <a:defRPr sz="1600" b="1">
                          <a:solidFill>
                            <a:schemeClr val="tx1"/>
                          </a:solidFill>
                          <a:latin typeface="Arial" panose="020B0604020202020204" pitchFamily="34" charset="0"/>
                        </a:defRPr>
                      </a:lvl4pPr>
                      <a:lvl5pPr marL="1497013" indent="-125413" algn="l" defTabSz="228600">
                        <a:buClr>
                          <a:schemeClr val="accent2"/>
                        </a:buClr>
                        <a:buSzPct val="55000"/>
                        <a:defRPr sz="1400" b="1">
                          <a:solidFill>
                            <a:schemeClr val="tx1"/>
                          </a:solidFill>
                          <a:latin typeface="Arial" panose="020B0604020202020204" pitchFamily="34" charset="0"/>
                        </a:defRPr>
                      </a:lvl5pPr>
                      <a:lvl6pPr marL="19542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6pPr>
                      <a:lvl7pPr marL="24114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7pPr>
                      <a:lvl8pPr marL="28686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8pPr>
                      <a:lvl9pPr marL="3325813" indent="-125413" defTabSz="228600" fontAlgn="base">
                        <a:spcBef>
                          <a:spcPct val="20000"/>
                        </a:spcBef>
                        <a:spcAft>
                          <a:spcPct val="0"/>
                        </a:spcAft>
                        <a:buClr>
                          <a:schemeClr val="accent2"/>
                        </a:buClr>
                        <a:buSzPct val="55000"/>
                        <a:buFont typeface="Arial" panose="020B0604020202020204" pitchFamily="34" charset="0"/>
                        <a:defRPr sz="1400" b="1">
                          <a:solidFill>
                            <a:schemeClr val="tx1"/>
                          </a:solidFill>
                          <a:latin typeface="Arial" panose="020B0604020202020204" pitchFamily="34" charset="0"/>
                        </a:defRPr>
                      </a:lvl9pPr>
                    </a:lstStyle>
                    <a:p>
                      <a:pPr marL="0" marR="0" lvl="0" indent="0" algn="l" defTabSz="228600" rtl="0" eaLnBrk="0" fontAlgn="base" latinLnBrk="0" hangingPunct="0">
                        <a:lnSpc>
                          <a:spcPct val="100000"/>
                        </a:lnSpc>
                        <a:spcBef>
                          <a:spcPct val="0"/>
                        </a:spcBef>
                        <a:spcAft>
                          <a:spcPct val="0"/>
                        </a:spcAft>
                        <a:buClrTx/>
                        <a:buSzTx/>
                        <a:buFont typeface="Arial" panose="020B0604020202020204" pitchFamily="34" charset="0"/>
                        <a:buNone/>
                        <a:tabLst/>
                      </a:pPr>
                      <a:r>
                        <a:rPr kumimoji="0" lang="en-US" altLang="en-US" sz="1600" b="1" i="0" u="none" strike="noStrike" cap="none" normalizeH="0" baseline="0" smtClean="0">
                          <a:ln>
                            <a:noFill/>
                          </a:ln>
                          <a:solidFill>
                            <a:schemeClr val="bg2"/>
                          </a:solidFill>
                          <a:effectLst/>
                          <a:latin typeface="Arial" panose="020B0604020202020204" pitchFamily="34" charset="0"/>
                        </a:rPr>
                        <a:t>Result of SQL query</a:t>
                      </a:r>
                      <a:endParaRPr kumimoji="0" lang="en-US" altLang="en-US" sz="1600" b="1" i="0" u="none" strike="noStrike" cap="none" normalizeH="0" baseline="0" smtClean="0">
                        <a:ln>
                          <a:noFill/>
                        </a:ln>
                        <a:solidFill>
                          <a:schemeClr val="tx1"/>
                        </a:solidFill>
                        <a:effectLst/>
                        <a:latin typeface="Arial" panose="020B0604020202020204" pitchFamily="34" charset="0"/>
                      </a:endParaRPr>
                    </a:p>
                  </a:txBody>
                  <a:tcPr marL="73152" marR="73152" marT="73125" marB="731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DDDDDD"/>
                    </a:solidFill>
                  </a:tcPr>
                </a:tc>
              </a:tr>
            </a:tbl>
          </a:graphicData>
        </a:graphic>
      </p:graphicFrame>
      <p:sp>
        <p:nvSpPr>
          <p:cNvPr id="5"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Flexfield</a:t>
            </a:r>
          </a:p>
        </p:txBody>
      </p:sp>
      <p:sp>
        <p:nvSpPr>
          <p:cNvPr id="170016"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70017" name="Group 6"/>
          <p:cNvGrpSpPr>
            <a:grpSpLocks/>
          </p:cNvGrpSpPr>
          <p:nvPr/>
        </p:nvGrpSpPr>
        <p:grpSpPr bwMode="auto">
          <a:xfrm>
            <a:off x="7308850" y="117475"/>
            <a:ext cx="1735138" cy="647700"/>
            <a:chOff x="7380288" y="41275"/>
            <a:chExt cx="1735137" cy="647700"/>
          </a:xfrm>
        </p:grpSpPr>
        <p:sp>
          <p:nvSpPr>
            <p:cNvPr id="7"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8"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8" name="Rectangle 4"/>
          <p:cNvSpPr>
            <a:spLocks noChangeArrowheads="1"/>
          </p:cNvSpPr>
          <p:nvPr/>
        </p:nvSpPr>
        <p:spPr bwMode="auto">
          <a:xfrm>
            <a:off x="2465388" y="1885950"/>
            <a:ext cx="184150"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0" name="Rectangle 2"/>
          <p:cNvSpPr txBox="1">
            <a:spLocks noChangeArrowheads="1"/>
          </p:cNvSpPr>
          <p:nvPr/>
        </p:nvSpPr>
        <p:spPr bwMode="auto">
          <a:xfrm>
            <a:off x="11113" y="-68263"/>
            <a:ext cx="9132887"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Flexfield</a:t>
            </a:r>
          </a:p>
        </p:txBody>
      </p:sp>
      <p:sp>
        <p:nvSpPr>
          <p:cNvPr id="172036" name="Line 5"/>
          <p:cNvSpPr>
            <a:spLocks noChangeShapeType="1"/>
          </p:cNvSpPr>
          <p:nvPr/>
        </p:nvSpPr>
        <p:spPr bwMode="auto">
          <a:xfrm>
            <a:off x="11113" y="1052513"/>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aphicFrame>
        <p:nvGraphicFramePr>
          <p:cNvPr id="2" name="Table 1"/>
          <p:cNvGraphicFramePr>
            <a:graphicFrameLocks noGrp="1"/>
          </p:cNvGraphicFramePr>
          <p:nvPr/>
        </p:nvGraphicFramePr>
        <p:xfrm>
          <a:off x="274638" y="1397000"/>
          <a:ext cx="8689975" cy="2022475"/>
        </p:xfrm>
        <a:graphic>
          <a:graphicData uri="http://schemas.openxmlformats.org/drawingml/2006/table">
            <a:tbl>
              <a:tblPr firstRow="1" bandRow="1">
                <a:tableStyleId>{00A15C55-8517-42AA-B614-E9B94910E393}</a:tableStyleId>
              </a:tblPr>
              <a:tblGrid>
                <a:gridCol w="2944951"/>
                <a:gridCol w="5745024"/>
              </a:tblGrid>
              <a:tr h="370956">
                <a:tc>
                  <a:txBody>
                    <a:bodyPr/>
                    <a:lstStyle/>
                    <a:p>
                      <a:r>
                        <a:rPr lang="pt-BR" sz="1800" dirty="0" smtClean="0"/>
                        <a:t>Referencia</a:t>
                      </a:r>
                      <a:endParaRPr lang="en-US" sz="1800" dirty="0"/>
                    </a:p>
                  </a:txBody>
                  <a:tcPr marL="91433" marR="91433" marT="45734" marB="45734"/>
                </a:tc>
                <a:tc>
                  <a:txBody>
                    <a:bodyPr/>
                    <a:lstStyle/>
                    <a:p>
                      <a:r>
                        <a:rPr lang="pt-BR" sz="1800" dirty="0" smtClean="0"/>
                        <a:t>Descrição</a:t>
                      </a:r>
                      <a:endParaRPr lang="en-US" sz="1800" dirty="0"/>
                    </a:p>
                  </a:txBody>
                  <a:tcPr marL="91433" marR="91433" marT="45734" marB="45734"/>
                </a:tc>
              </a:tr>
              <a:tr h="370956">
                <a:tc>
                  <a:txBody>
                    <a:bodyPr/>
                    <a:lstStyle/>
                    <a:p>
                      <a:r>
                        <a:rPr lang="pt-BR" sz="1800" dirty="0" smtClean="0"/>
                        <a:t>$PROFILES$</a:t>
                      </a:r>
                      <a:endParaRPr lang="en-US" sz="1800" dirty="0"/>
                    </a:p>
                  </a:txBody>
                  <a:tcPr marL="91433" marR="91433" marT="45734" marB="45734"/>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ltLang="en-US" sz="1800" dirty="0" smtClean="0">
                          <a:ea typeface="Arial" panose="020B0604020202020204" pitchFamily="34" charset="0"/>
                        </a:rPr>
                        <a:t>References the current value of a profile option</a:t>
                      </a:r>
                    </a:p>
                  </a:txBody>
                  <a:tcPr marL="91433" marR="91433" marT="45734" marB="45734"/>
                </a:tc>
              </a:tr>
              <a:tr h="640281">
                <a:tc>
                  <a:txBody>
                    <a:bodyPr/>
                    <a:lstStyle/>
                    <a:p>
                      <a:r>
                        <a:rPr lang="pt-BR" sz="1800" dirty="0" smtClean="0"/>
                        <a:t>:Block.field</a:t>
                      </a:r>
                      <a:endParaRPr lang="en-US" sz="1800" dirty="0"/>
                    </a:p>
                  </a:txBody>
                  <a:tcPr marL="91433" marR="91433" marT="45734" marB="45734"/>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ltLang="en-US" sz="1800" dirty="0" smtClean="0">
                          <a:ea typeface="Arial" panose="020B0604020202020204" pitchFamily="34" charset="0"/>
                        </a:rPr>
                        <a:t>References the value of an earlier appearing field on the same form</a:t>
                      </a:r>
                      <a:endParaRPr lang="en-US" sz="1800" dirty="0"/>
                    </a:p>
                  </a:txBody>
                  <a:tcPr marL="91433" marR="91433" marT="45734" marB="45734"/>
                </a:tc>
              </a:tr>
              <a:tr h="640281">
                <a:tc>
                  <a:txBody>
                    <a:bodyPr/>
                    <a:lstStyle/>
                    <a:p>
                      <a:r>
                        <a:rPr lang="pt-BR" sz="1800" dirty="0" smtClean="0"/>
                        <a:t>$FLEX$</a:t>
                      </a:r>
                      <a:endParaRPr lang="en-US" sz="1800" dirty="0"/>
                    </a:p>
                  </a:txBody>
                  <a:tcPr marL="91433" marR="91433" marT="45734" marB="45734"/>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altLang="en-US" sz="1800" dirty="0" smtClean="0">
                          <a:ea typeface="Arial" panose="020B0604020202020204" pitchFamily="34" charset="0"/>
                        </a:rPr>
                        <a:t>References the value from a value set used earlier on the same form</a:t>
                      </a:r>
                      <a:endParaRPr lang="en-US" sz="1800" dirty="0"/>
                    </a:p>
                  </a:txBody>
                  <a:tcPr marL="91433" marR="91433" marT="45734" marB="45734"/>
                </a:tc>
              </a:tr>
            </a:tbl>
          </a:graphicData>
        </a:graphic>
      </p:graphicFrame>
      <p:sp>
        <p:nvSpPr>
          <p:cNvPr id="12" name="Rectangle 6"/>
          <p:cNvSpPr txBox="1">
            <a:spLocks noChangeArrowheads="1"/>
          </p:cNvSpPr>
          <p:nvPr/>
        </p:nvSpPr>
        <p:spPr bwMode="auto">
          <a:xfrm>
            <a:off x="25400" y="3644900"/>
            <a:ext cx="914400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ea typeface="Arial" charset="0"/>
                <a:cs typeface="+mn-cs"/>
              </a:defRPr>
            </a:lvl6pPr>
            <a:lvl7pPr marL="2971800" indent="-228600" algn="l" rtl="0" fontAlgn="base">
              <a:spcBef>
                <a:spcPct val="20000"/>
              </a:spcBef>
              <a:spcAft>
                <a:spcPct val="0"/>
              </a:spcAft>
              <a:buChar char="»"/>
              <a:defRPr sz="2000">
                <a:solidFill>
                  <a:schemeClr val="tx1"/>
                </a:solidFill>
                <a:latin typeface="+mn-lt"/>
                <a:ea typeface="Arial" charset="0"/>
                <a:cs typeface="+mn-cs"/>
              </a:defRPr>
            </a:lvl7pPr>
            <a:lvl8pPr marL="3429000" indent="-228600" algn="l" rtl="0" fontAlgn="base">
              <a:spcBef>
                <a:spcPct val="20000"/>
              </a:spcBef>
              <a:spcAft>
                <a:spcPct val="0"/>
              </a:spcAft>
              <a:buChar char="»"/>
              <a:defRPr sz="2000">
                <a:solidFill>
                  <a:schemeClr val="tx1"/>
                </a:solidFill>
                <a:latin typeface="+mn-lt"/>
                <a:ea typeface="Arial" charset="0"/>
                <a:cs typeface="+mn-cs"/>
              </a:defRPr>
            </a:lvl8pPr>
            <a:lvl9pPr marL="3886200" indent="-228600" algn="l" rtl="0" fontAlgn="base">
              <a:spcBef>
                <a:spcPct val="20000"/>
              </a:spcBef>
              <a:spcAft>
                <a:spcPct val="0"/>
              </a:spcAft>
              <a:buChar char="»"/>
              <a:defRPr sz="2000">
                <a:solidFill>
                  <a:schemeClr val="tx1"/>
                </a:solidFill>
                <a:latin typeface="+mn-lt"/>
                <a:ea typeface="Arial" charset="0"/>
                <a:cs typeface="+mn-cs"/>
              </a:defRPr>
            </a:lvl9pPr>
          </a:lstStyle>
          <a:p>
            <a:pPr>
              <a:buFont typeface="Wingdings" panose="05000000000000000000" pitchFamily="2" charset="2"/>
              <a:buChar char="q"/>
              <a:defRPr/>
            </a:pPr>
            <a:r>
              <a:rPr lang="en-US" altLang="en-US" sz="2400" kern="0" smtClean="0"/>
              <a:t>Use $FLEX$.value_set_name to reference the value in a previous segment of the same flexfield structure. </a:t>
            </a:r>
          </a:p>
          <a:p>
            <a:pPr>
              <a:buFont typeface="Wingdings" panose="05000000000000000000" pitchFamily="2" charset="2"/>
              <a:buChar char="q"/>
              <a:defRPr/>
            </a:pPr>
            <a:r>
              <a:rPr lang="en-US" altLang="en-US" sz="2400" kern="0" smtClean="0"/>
              <a:t>Value_set_name refers to the value set used by the previous segment. </a:t>
            </a:r>
          </a:p>
          <a:p>
            <a:pPr>
              <a:buFont typeface="Wingdings" panose="05000000000000000000" pitchFamily="2" charset="2"/>
              <a:buChar char="q"/>
              <a:defRPr/>
            </a:pPr>
            <a:r>
              <a:rPr lang="en-US" altLang="en-US" sz="2400" kern="0" smtClean="0"/>
              <a:t>If two segments use the same value set, the value from the closest segment is used.</a:t>
            </a:r>
            <a:endParaRPr lang="en-US" altLang="en-US" sz="2400" kern="0" dirty="0" smtClean="0"/>
          </a:p>
        </p:txBody>
      </p:sp>
      <p:grpSp>
        <p:nvGrpSpPr>
          <p:cNvPr id="172055" name="Group 6"/>
          <p:cNvGrpSpPr>
            <a:grpSpLocks/>
          </p:cNvGrpSpPr>
          <p:nvPr/>
        </p:nvGrpSpPr>
        <p:grpSpPr bwMode="auto">
          <a:xfrm>
            <a:off x="7308850" y="117475"/>
            <a:ext cx="1735138" cy="647700"/>
            <a:chOff x="7380288" y="41275"/>
            <a:chExt cx="1735137" cy="647700"/>
          </a:xfrm>
        </p:grpSpPr>
        <p:sp>
          <p:nvSpPr>
            <p:cNvPr id="8"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9"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082" name="Group 6"/>
          <p:cNvGrpSpPr>
            <a:grpSpLocks/>
          </p:cNvGrpSpPr>
          <p:nvPr/>
        </p:nvGrpSpPr>
        <p:grpSpPr bwMode="auto">
          <a:xfrm>
            <a:off x="7308850" y="117475"/>
            <a:ext cx="1735138" cy="647700"/>
            <a:chOff x="7380288" y="41275"/>
            <a:chExt cx="1735137" cy="647700"/>
          </a:xfrm>
        </p:grpSpPr>
        <p:sp>
          <p:nvSpPr>
            <p:cNvPr id="63"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64"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174083" name="myFreeform 2A"/>
          <p:cNvSpPr>
            <a:spLocks/>
          </p:cNvSpPr>
          <p:nvPr/>
        </p:nvSpPr>
        <p:spPr bwMode="auto">
          <a:xfrm>
            <a:off x="2906713" y="3641725"/>
            <a:ext cx="1257300" cy="909638"/>
          </a:xfrm>
          <a:custGeom>
            <a:avLst/>
            <a:gdLst>
              <a:gd name="T0" fmla="*/ 0 w 792"/>
              <a:gd name="T1" fmla="*/ 2147483646 h 573"/>
              <a:gd name="T2" fmla="*/ 0 w 792"/>
              <a:gd name="T3" fmla="*/ 0 h 573"/>
              <a:gd name="T4" fmla="*/ 2147483646 w 792"/>
              <a:gd name="T5" fmla="*/ 0 h 573"/>
              <a:gd name="T6" fmla="*/ 0 60000 65536"/>
              <a:gd name="T7" fmla="*/ 0 60000 65536"/>
              <a:gd name="T8" fmla="*/ 0 60000 65536"/>
            </a:gdLst>
            <a:ahLst/>
            <a:cxnLst>
              <a:cxn ang="T6">
                <a:pos x="T0" y="T1"/>
              </a:cxn>
              <a:cxn ang="T7">
                <a:pos x="T2" y="T3"/>
              </a:cxn>
              <a:cxn ang="T8">
                <a:pos x="T4" y="T5"/>
              </a:cxn>
            </a:cxnLst>
            <a:rect l="0" t="0" r="r" b="b"/>
            <a:pathLst>
              <a:path w="792" h="573">
                <a:moveTo>
                  <a:pt x="0" y="572"/>
                </a:moveTo>
                <a:lnTo>
                  <a:pt x="0" y="0"/>
                </a:lnTo>
                <a:lnTo>
                  <a:pt x="791" y="0"/>
                </a:lnTo>
              </a:path>
            </a:pathLst>
          </a:custGeom>
          <a:noFill/>
          <a:ln w="254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pt-BR"/>
          </a:p>
        </p:txBody>
      </p:sp>
      <p:sp>
        <p:nvSpPr>
          <p:cNvPr id="174084" name="myFreeform 3A"/>
          <p:cNvSpPr>
            <a:spLocks/>
          </p:cNvSpPr>
          <p:nvPr/>
        </p:nvSpPr>
        <p:spPr bwMode="auto">
          <a:xfrm>
            <a:off x="2906713" y="2428875"/>
            <a:ext cx="1257300" cy="752475"/>
          </a:xfrm>
          <a:custGeom>
            <a:avLst/>
            <a:gdLst>
              <a:gd name="T0" fmla="*/ 0 w 792"/>
              <a:gd name="T1" fmla="*/ 0 h 474"/>
              <a:gd name="T2" fmla="*/ 0 w 792"/>
              <a:gd name="T3" fmla="*/ 2147483646 h 474"/>
              <a:gd name="T4" fmla="*/ 2147483646 w 792"/>
              <a:gd name="T5" fmla="*/ 2147483646 h 474"/>
              <a:gd name="T6" fmla="*/ 0 60000 65536"/>
              <a:gd name="T7" fmla="*/ 0 60000 65536"/>
              <a:gd name="T8" fmla="*/ 0 60000 65536"/>
            </a:gdLst>
            <a:ahLst/>
            <a:cxnLst>
              <a:cxn ang="T6">
                <a:pos x="T0" y="T1"/>
              </a:cxn>
              <a:cxn ang="T7">
                <a:pos x="T2" y="T3"/>
              </a:cxn>
              <a:cxn ang="T8">
                <a:pos x="T4" y="T5"/>
              </a:cxn>
            </a:cxnLst>
            <a:rect l="0" t="0" r="r" b="b"/>
            <a:pathLst>
              <a:path w="792" h="474">
                <a:moveTo>
                  <a:pt x="0" y="0"/>
                </a:moveTo>
                <a:lnTo>
                  <a:pt x="0" y="473"/>
                </a:lnTo>
                <a:lnTo>
                  <a:pt x="791" y="473"/>
                </a:lnTo>
              </a:path>
            </a:pathLst>
          </a:custGeom>
          <a:noFill/>
          <a:ln w="254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pt-BR"/>
          </a:p>
        </p:txBody>
      </p:sp>
      <p:sp>
        <p:nvSpPr>
          <p:cNvPr id="174085" name="myLine 4A"/>
          <p:cNvSpPr>
            <a:spLocks noChangeShapeType="1"/>
          </p:cNvSpPr>
          <p:nvPr/>
        </p:nvSpPr>
        <p:spPr bwMode="auto">
          <a:xfrm flipH="1">
            <a:off x="5030788" y="3419475"/>
            <a:ext cx="1757362" cy="11113"/>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4086" name="myRectangle 6A"/>
          <p:cNvSpPr>
            <a:spLocks noChangeArrowheads="1"/>
          </p:cNvSpPr>
          <p:nvPr/>
        </p:nvSpPr>
        <p:spPr bwMode="blackWhite">
          <a:xfrm>
            <a:off x="2262188" y="1677988"/>
            <a:ext cx="1382712" cy="889000"/>
          </a:xfrm>
          <a:prstGeom prst="rect">
            <a:avLst/>
          </a:prstGeom>
          <a:solidFill>
            <a:srgbClr val="FFCCFF"/>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47700" indent="-1905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8223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6922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1494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6066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0638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5000"/>
              </a:lnSpc>
              <a:spcBef>
                <a:spcPct val="0"/>
              </a:spcBef>
              <a:buClr>
                <a:srgbClr val="000000"/>
              </a:buClr>
              <a:buFontTx/>
              <a:buNone/>
            </a:pPr>
            <a:r>
              <a:rPr lang="en-US" altLang="en-US" sz="1800" b="1">
                <a:solidFill>
                  <a:schemeClr val="bg2"/>
                </a:solidFill>
              </a:rPr>
              <a:t>Print</a:t>
            </a:r>
            <a:br>
              <a:rPr lang="en-US" altLang="en-US" sz="1800" b="1">
                <a:solidFill>
                  <a:schemeClr val="bg2"/>
                </a:solidFill>
              </a:rPr>
            </a:br>
            <a:r>
              <a:rPr lang="en-US" altLang="en-US" sz="1800" b="1">
                <a:solidFill>
                  <a:schemeClr val="bg2"/>
                </a:solidFill>
              </a:rPr>
              <a:t>styles</a:t>
            </a:r>
          </a:p>
        </p:txBody>
      </p:sp>
      <p:sp>
        <p:nvSpPr>
          <p:cNvPr id="174087" name="myRectangle 7A"/>
          <p:cNvSpPr>
            <a:spLocks noChangeArrowheads="1"/>
          </p:cNvSpPr>
          <p:nvPr/>
        </p:nvSpPr>
        <p:spPr bwMode="blackWhite">
          <a:xfrm>
            <a:off x="2228850" y="4443413"/>
            <a:ext cx="1382713" cy="889000"/>
          </a:xfrm>
          <a:prstGeom prst="rect">
            <a:avLst/>
          </a:prstGeom>
          <a:solidFill>
            <a:srgbClr val="FFCCFF"/>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8223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6922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1494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6066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0638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5000"/>
              </a:lnSpc>
              <a:spcBef>
                <a:spcPct val="0"/>
              </a:spcBef>
              <a:buClr>
                <a:srgbClr val="000000"/>
              </a:buClr>
              <a:buFontTx/>
              <a:buNone/>
            </a:pPr>
            <a:r>
              <a:rPr lang="en-US" altLang="en-US" sz="1800" b="1">
                <a:solidFill>
                  <a:schemeClr val="bg2"/>
                </a:solidFill>
              </a:rPr>
              <a:t>Printer</a:t>
            </a:r>
            <a:br>
              <a:rPr lang="en-US" altLang="en-US" sz="1800" b="1">
                <a:solidFill>
                  <a:schemeClr val="bg2"/>
                </a:solidFill>
              </a:rPr>
            </a:br>
            <a:r>
              <a:rPr lang="en-US" altLang="en-US" sz="1800" b="1">
                <a:solidFill>
                  <a:schemeClr val="bg2"/>
                </a:solidFill>
              </a:rPr>
              <a:t>drivers</a:t>
            </a:r>
          </a:p>
        </p:txBody>
      </p:sp>
      <p:sp>
        <p:nvSpPr>
          <p:cNvPr id="174088" name="myRectangle 8A"/>
          <p:cNvSpPr>
            <a:spLocks noChangeArrowheads="1"/>
          </p:cNvSpPr>
          <p:nvPr/>
        </p:nvSpPr>
        <p:spPr bwMode="blackWhite">
          <a:xfrm>
            <a:off x="6434138" y="2954338"/>
            <a:ext cx="1403350" cy="884237"/>
          </a:xfrm>
          <a:prstGeom prst="rect">
            <a:avLst/>
          </a:prstGeom>
          <a:solidFill>
            <a:srgbClr val="FFCCFF"/>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863600"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6922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1494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6066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0638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5000"/>
              </a:lnSpc>
              <a:spcBef>
                <a:spcPct val="0"/>
              </a:spcBef>
              <a:buClr>
                <a:srgbClr val="000000"/>
              </a:buClr>
              <a:buFontTx/>
              <a:buNone/>
            </a:pPr>
            <a:r>
              <a:rPr lang="en-US" altLang="en-US" sz="1800" b="1">
                <a:solidFill>
                  <a:schemeClr val="bg2"/>
                </a:solidFill>
              </a:rPr>
              <a:t>Printers</a:t>
            </a:r>
          </a:p>
        </p:txBody>
      </p:sp>
      <p:sp>
        <p:nvSpPr>
          <p:cNvPr id="174089" name="myRectangle 9A"/>
          <p:cNvSpPr>
            <a:spLocks noChangeArrowheads="1"/>
          </p:cNvSpPr>
          <p:nvPr/>
        </p:nvSpPr>
        <p:spPr bwMode="blackWhite">
          <a:xfrm>
            <a:off x="4067175" y="2968625"/>
            <a:ext cx="1403350" cy="884238"/>
          </a:xfrm>
          <a:prstGeom prst="rect">
            <a:avLst/>
          </a:prstGeom>
          <a:solidFill>
            <a:srgbClr val="FFCCFF"/>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8223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6922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1494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6066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0638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95000"/>
              </a:lnSpc>
              <a:spcBef>
                <a:spcPct val="0"/>
              </a:spcBef>
              <a:buClr>
                <a:srgbClr val="000000"/>
              </a:buClr>
              <a:buFontTx/>
              <a:buNone/>
            </a:pPr>
            <a:r>
              <a:rPr lang="en-US" altLang="en-US" sz="1800" b="1">
                <a:solidFill>
                  <a:schemeClr val="bg2"/>
                </a:solidFill>
              </a:rPr>
              <a:t>Printer</a:t>
            </a:r>
            <a:br>
              <a:rPr lang="en-US" altLang="en-US" sz="1800" b="1">
                <a:solidFill>
                  <a:schemeClr val="bg2"/>
                </a:solidFill>
              </a:rPr>
            </a:br>
            <a:r>
              <a:rPr lang="en-US" altLang="en-US" sz="1800" b="1">
                <a:solidFill>
                  <a:schemeClr val="bg2"/>
                </a:solidFill>
              </a:rPr>
              <a:t>types</a:t>
            </a:r>
          </a:p>
        </p:txBody>
      </p:sp>
      <p:grpSp>
        <p:nvGrpSpPr>
          <p:cNvPr id="174090" name="myGroup 122"/>
          <p:cNvGrpSpPr>
            <a:grpSpLocks/>
          </p:cNvGrpSpPr>
          <p:nvPr/>
        </p:nvGrpSpPr>
        <p:grpSpPr bwMode="auto">
          <a:xfrm>
            <a:off x="1157288" y="1651000"/>
            <a:ext cx="1365250" cy="1784350"/>
            <a:chOff x="729" y="1040"/>
            <a:chExt cx="860" cy="1124"/>
          </a:xfrm>
        </p:grpSpPr>
        <p:pic>
          <p:nvPicPr>
            <p:cNvPr id="174141" name="Picture 1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 y="1040"/>
              <a:ext cx="399" cy="68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42" name="Rectangle 12"/>
            <p:cNvSpPr>
              <a:spLocks noChangeArrowheads="1"/>
            </p:cNvSpPr>
            <p:nvPr/>
          </p:nvSpPr>
          <p:spPr bwMode="auto">
            <a:xfrm>
              <a:off x="729" y="1760"/>
              <a:ext cx="860" cy="404"/>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b="1"/>
                <a:t>Page size</a:t>
              </a:r>
              <a:br>
                <a:rPr lang="en-US" altLang="en-US" sz="1800" b="1"/>
              </a:br>
              <a:r>
                <a:rPr lang="en-US" altLang="en-US" sz="1800" b="1"/>
                <a:t>orientation</a:t>
              </a:r>
            </a:p>
          </p:txBody>
        </p:sp>
      </p:grpSp>
      <p:sp>
        <p:nvSpPr>
          <p:cNvPr id="174091" name="myRectangle 13A"/>
          <p:cNvSpPr>
            <a:spLocks noChangeArrowheads="1"/>
          </p:cNvSpPr>
          <p:nvPr/>
        </p:nvSpPr>
        <p:spPr bwMode="auto">
          <a:xfrm>
            <a:off x="1135063" y="5389563"/>
            <a:ext cx="1428750" cy="36671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6922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1494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6066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0638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50000"/>
              </a:spcBef>
              <a:buClr>
                <a:srgbClr val="000000"/>
              </a:buClr>
              <a:buFontTx/>
              <a:buNone/>
            </a:pPr>
            <a:r>
              <a:rPr lang="en-US" altLang="en-US" sz="1800" b="1"/>
              <a:t>Commands</a:t>
            </a:r>
          </a:p>
        </p:txBody>
      </p:sp>
      <p:pic>
        <p:nvPicPr>
          <p:cNvPr id="581646" name="myPicture 14A"/>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0338" y="4521200"/>
            <a:ext cx="731837" cy="8128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093" name="myRectangle 15A"/>
          <p:cNvSpPr>
            <a:spLocks noChangeArrowheads="1"/>
          </p:cNvSpPr>
          <p:nvPr/>
        </p:nvSpPr>
        <p:spPr bwMode="auto">
          <a:xfrm>
            <a:off x="1382713" y="4733925"/>
            <a:ext cx="806450" cy="366713"/>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22300" indent="-1651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82232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6922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1494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6066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063875"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50000"/>
              </a:spcBef>
              <a:buClr>
                <a:srgbClr val="000000"/>
              </a:buClr>
              <a:buFontTx/>
              <a:buNone/>
            </a:pPr>
            <a:r>
              <a:rPr lang="en-US" altLang="en-US" sz="1800" b="1">
                <a:solidFill>
                  <a:schemeClr val="bg2"/>
                </a:solidFill>
              </a:rPr>
              <a:t>Reset</a:t>
            </a:r>
          </a:p>
        </p:txBody>
      </p:sp>
      <p:grpSp>
        <p:nvGrpSpPr>
          <p:cNvPr id="174094" name="myGroup 372"/>
          <p:cNvGrpSpPr>
            <a:grpSpLocks/>
          </p:cNvGrpSpPr>
          <p:nvPr/>
        </p:nvGrpSpPr>
        <p:grpSpPr bwMode="auto">
          <a:xfrm>
            <a:off x="4502150" y="3754438"/>
            <a:ext cx="1089025" cy="1830387"/>
            <a:chOff x="2836" y="2365"/>
            <a:chExt cx="686" cy="1153"/>
          </a:xfrm>
        </p:grpSpPr>
        <p:grpSp>
          <p:nvGrpSpPr>
            <p:cNvPr id="174120" name="Group 17"/>
            <p:cNvGrpSpPr>
              <a:grpSpLocks/>
            </p:cNvGrpSpPr>
            <p:nvPr/>
          </p:nvGrpSpPr>
          <p:grpSpPr bwMode="auto">
            <a:xfrm>
              <a:off x="2836" y="2365"/>
              <a:ext cx="686" cy="585"/>
              <a:chOff x="2836" y="2365"/>
              <a:chExt cx="686" cy="585"/>
            </a:xfrm>
          </p:grpSpPr>
          <p:sp>
            <p:nvSpPr>
              <p:cNvPr id="174122" name="Freeform 18"/>
              <p:cNvSpPr>
                <a:spLocks/>
              </p:cNvSpPr>
              <p:nvPr/>
            </p:nvSpPr>
            <p:spPr bwMode="auto">
              <a:xfrm>
                <a:off x="2838" y="2365"/>
                <a:ext cx="659" cy="257"/>
              </a:xfrm>
              <a:custGeom>
                <a:avLst/>
                <a:gdLst>
                  <a:gd name="T0" fmla="*/ 383 w 659"/>
                  <a:gd name="T1" fmla="*/ 0 h 257"/>
                  <a:gd name="T2" fmla="*/ 0 w 659"/>
                  <a:gd name="T3" fmla="*/ 100 h 257"/>
                  <a:gd name="T4" fmla="*/ 272 w 659"/>
                  <a:gd name="T5" fmla="*/ 256 h 257"/>
                  <a:gd name="T6" fmla="*/ 658 w 659"/>
                  <a:gd name="T7" fmla="*/ 155 h 257"/>
                  <a:gd name="T8" fmla="*/ 383 w 659"/>
                  <a:gd name="T9" fmla="*/ 0 h 2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9" h="257">
                    <a:moveTo>
                      <a:pt x="383" y="0"/>
                    </a:moveTo>
                    <a:lnTo>
                      <a:pt x="0" y="100"/>
                    </a:lnTo>
                    <a:lnTo>
                      <a:pt x="272" y="256"/>
                    </a:lnTo>
                    <a:lnTo>
                      <a:pt x="658" y="155"/>
                    </a:lnTo>
                    <a:lnTo>
                      <a:pt x="383" y="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23" name="Freeform 19"/>
              <p:cNvSpPr>
                <a:spLocks/>
              </p:cNvSpPr>
              <p:nvPr/>
            </p:nvSpPr>
            <p:spPr bwMode="auto">
              <a:xfrm>
                <a:off x="2970" y="2424"/>
                <a:ext cx="448" cy="159"/>
              </a:xfrm>
              <a:custGeom>
                <a:avLst/>
                <a:gdLst>
                  <a:gd name="T0" fmla="*/ 285 w 448"/>
                  <a:gd name="T1" fmla="*/ 0 h 159"/>
                  <a:gd name="T2" fmla="*/ 0 w 448"/>
                  <a:gd name="T3" fmla="*/ 75 h 159"/>
                  <a:gd name="T4" fmla="*/ 152 w 448"/>
                  <a:gd name="T5" fmla="*/ 158 h 159"/>
                  <a:gd name="T6" fmla="*/ 447 w 448"/>
                  <a:gd name="T7" fmla="*/ 77 h 159"/>
                  <a:gd name="T8" fmla="*/ 285 w 448"/>
                  <a:gd name="T9" fmla="*/ 0 h 1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8" h="159">
                    <a:moveTo>
                      <a:pt x="285" y="0"/>
                    </a:moveTo>
                    <a:lnTo>
                      <a:pt x="0" y="75"/>
                    </a:lnTo>
                    <a:lnTo>
                      <a:pt x="152" y="158"/>
                    </a:lnTo>
                    <a:lnTo>
                      <a:pt x="447" y="77"/>
                    </a:lnTo>
                    <a:lnTo>
                      <a:pt x="285" y="0"/>
                    </a:lnTo>
                  </a:path>
                </a:pathLst>
              </a:custGeom>
              <a:solidFill>
                <a:srgbClr val="9999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24" name="Freeform 20"/>
              <p:cNvSpPr>
                <a:spLocks/>
              </p:cNvSpPr>
              <p:nvPr/>
            </p:nvSpPr>
            <p:spPr bwMode="auto">
              <a:xfrm>
                <a:off x="3009" y="2454"/>
                <a:ext cx="389" cy="126"/>
              </a:xfrm>
              <a:custGeom>
                <a:avLst/>
                <a:gdLst>
                  <a:gd name="T0" fmla="*/ 274 w 389"/>
                  <a:gd name="T1" fmla="*/ 0 h 126"/>
                  <a:gd name="T2" fmla="*/ 0 w 389"/>
                  <a:gd name="T3" fmla="*/ 62 h 126"/>
                  <a:gd name="T4" fmla="*/ 106 w 389"/>
                  <a:gd name="T5" fmla="*/ 125 h 126"/>
                  <a:gd name="T6" fmla="*/ 388 w 389"/>
                  <a:gd name="T7" fmla="*/ 49 h 126"/>
                  <a:gd name="T8" fmla="*/ 274 w 389"/>
                  <a:gd name="T9" fmla="*/ 0 h 1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9" h="126">
                    <a:moveTo>
                      <a:pt x="274" y="0"/>
                    </a:moveTo>
                    <a:lnTo>
                      <a:pt x="0" y="62"/>
                    </a:lnTo>
                    <a:lnTo>
                      <a:pt x="106" y="125"/>
                    </a:lnTo>
                    <a:lnTo>
                      <a:pt x="388" y="49"/>
                    </a:lnTo>
                    <a:lnTo>
                      <a:pt x="274" y="0"/>
                    </a:lnTo>
                  </a:path>
                </a:pathLst>
              </a:custGeom>
              <a:solidFill>
                <a:srgbClr val="9999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25" name="Freeform 21"/>
              <p:cNvSpPr>
                <a:spLocks/>
              </p:cNvSpPr>
              <p:nvPr/>
            </p:nvSpPr>
            <p:spPr bwMode="auto">
              <a:xfrm>
                <a:off x="2836" y="2464"/>
                <a:ext cx="277" cy="486"/>
              </a:xfrm>
              <a:custGeom>
                <a:avLst/>
                <a:gdLst>
                  <a:gd name="T0" fmla="*/ 2 w 277"/>
                  <a:gd name="T1" fmla="*/ 0 h 486"/>
                  <a:gd name="T2" fmla="*/ 0 w 277"/>
                  <a:gd name="T3" fmla="*/ 319 h 486"/>
                  <a:gd name="T4" fmla="*/ 276 w 277"/>
                  <a:gd name="T5" fmla="*/ 485 h 486"/>
                  <a:gd name="T6" fmla="*/ 275 w 277"/>
                  <a:gd name="T7" fmla="*/ 156 h 486"/>
                  <a:gd name="T8" fmla="*/ 2 w 277"/>
                  <a:gd name="T9" fmla="*/ 0 h 4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486">
                    <a:moveTo>
                      <a:pt x="2" y="0"/>
                    </a:moveTo>
                    <a:lnTo>
                      <a:pt x="0" y="319"/>
                    </a:lnTo>
                    <a:lnTo>
                      <a:pt x="276" y="485"/>
                    </a:lnTo>
                    <a:lnTo>
                      <a:pt x="275" y="156"/>
                    </a:lnTo>
                    <a:lnTo>
                      <a:pt x="2" y="0"/>
                    </a:lnTo>
                  </a:path>
                </a:pathLst>
              </a:custGeom>
              <a:solidFill>
                <a:srgbClr val="9999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26" name="Freeform 22"/>
              <p:cNvSpPr>
                <a:spLocks/>
              </p:cNvSpPr>
              <p:nvPr/>
            </p:nvSpPr>
            <p:spPr bwMode="auto">
              <a:xfrm>
                <a:off x="2856" y="2509"/>
                <a:ext cx="227" cy="131"/>
              </a:xfrm>
              <a:custGeom>
                <a:avLst/>
                <a:gdLst>
                  <a:gd name="T0" fmla="*/ 0 w 227"/>
                  <a:gd name="T1" fmla="*/ 0 h 131"/>
                  <a:gd name="T2" fmla="*/ 1 w 227"/>
                  <a:gd name="T3" fmla="*/ 4 h 131"/>
                  <a:gd name="T4" fmla="*/ 226 w 227"/>
                  <a:gd name="T5" fmla="*/ 130 h 131"/>
                  <a:gd name="T6" fmla="*/ 226 w 227"/>
                  <a:gd name="T7" fmla="*/ 124 h 131"/>
                  <a:gd name="T8" fmla="*/ 0 w 227"/>
                  <a:gd name="T9" fmla="*/ 0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7" h="131">
                    <a:moveTo>
                      <a:pt x="0" y="0"/>
                    </a:moveTo>
                    <a:lnTo>
                      <a:pt x="1" y="4"/>
                    </a:lnTo>
                    <a:lnTo>
                      <a:pt x="226" y="130"/>
                    </a:lnTo>
                    <a:lnTo>
                      <a:pt x="226" y="124"/>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27" name="Freeform 23"/>
              <p:cNvSpPr>
                <a:spLocks/>
              </p:cNvSpPr>
              <p:nvPr/>
            </p:nvSpPr>
            <p:spPr bwMode="auto">
              <a:xfrm>
                <a:off x="2856" y="2529"/>
                <a:ext cx="227" cy="132"/>
              </a:xfrm>
              <a:custGeom>
                <a:avLst/>
                <a:gdLst>
                  <a:gd name="T0" fmla="*/ 0 w 227"/>
                  <a:gd name="T1" fmla="*/ 0 h 132"/>
                  <a:gd name="T2" fmla="*/ 1 w 227"/>
                  <a:gd name="T3" fmla="*/ 5 h 132"/>
                  <a:gd name="T4" fmla="*/ 226 w 227"/>
                  <a:gd name="T5" fmla="*/ 131 h 132"/>
                  <a:gd name="T6" fmla="*/ 226 w 227"/>
                  <a:gd name="T7" fmla="*/ 125 h 132"/>
                  <a:gd name="T8" fmla="*/ 0 w 227"/>
                  <a:gd name="T9" fmla="*/ 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7" h="132">
                    <a:moveTo>
                      <a:pt x="0" y="0"/>
                    </a:moveTo>
                    <a:lnTo>
                      <a:pt x="1" y="5"/>
                    </a:lnTo>
                    <a:lnTo>
                      <a:pt x="226" y="131"/>
                    </a:lnTo>
                    <a:lnTo>
                      <a:pt x="226" y="125"/>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28" name="Freeform 24"/>
              <p:cNvSpPr>
                <a:spLocks/>
              </p:cNvSpPr>
              <p:nvPr/>
            </p:nvSpPr>
            <p:spPr bwMode="auto">
              <a:xfrm>
                <a:off x="2856" y="2551"/>
                <a:ext cx="227" cy="131"/>
              </a:xfrm>
              <a:custGeom>
                <a:avLst/>
                <a:gdLst>
                  <a:gd name="T0" fmla="*/ 0 w 227"/>
                  <a:gd name="T1" fmla="*/ 0 h 131"/>
                  <a:gd name="T2" fmla="*/ 1 w 227"/>
                  <a:gd name="T3" fmla="*/ 4 h 131"/>
                  <a:gd name="T4" fmla="*/ 226 w 227"/>
                  <a:gd name="T5" fmla="*/ 130 h 131"/>
                  <a:gd name="T6" fmla="*/ 226 w 227"/>
                  <a:gd name="T7" fmla="*/ 124 h 131"/>
                  <a:gd name="T8" fmla="*/ 0 w 227"/>
                  <a:gd name="T9" fmla="*/ 0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7" h="131">
                    <a:moveTo>
                      <a:pt x="0" y="0"/>
                    </a:moveTo>
                    <a:lnTo>
                      <a:pt x="1" y="4"/>
                    </a:lnTo>
                    <a:lnTo>
                      <a:pt x="226" y="130"/>
                    </a:lnTo>
                    <a:lnTo>
                      <a:pt x="226" y="124"/>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29" name="Freeform 25"/>
              <p:cNvSpPr>
                <a:spLocks/>
              </p:cNvSpPr>
              <p:nvPr/>
            </p:nvSpPr>
            <p:spPr bwMode="auto">
              <a:xfrm>
                <a:off x="2856" y="2568"/>
                <a:ext cx="227" cy="135"/>
              </a:xfrm>
              <a:custGeom>
                <a:avLst/>
                <a:gdLst>
                  <a:gd name="T0" fmla="*/ 0 w 227"/>
                  <a:gd name="T1" fmla="*/ 0 h 135"/>
                  <a:gd name="T2" fmla="*/ 1 w 227"/>
                  <a:gd name="T3" fmla="*/ 4 h 135"/>
                  <a:gd name="T4" fmla="*/ 226 w 227"/>
                  <a:gd name="T5" fmla="*/ 134 h 135"/>
                  <a:gd name="T6" fmla="*/ 226 w 227"/>
                  <a:gd name="T7" fmla="*/ 128 h 135"/>
                  <a:gd name="T8" fmla="*/ 0 w 227"/>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7" h="135">
                    <a:moveTo>
                      <a:pt x="0" y="0"/>
                    </a:moveTo>
                    <a:lnTo>
                      <a:pt x="1" y="4"/>
                    </a:lnTo>
                    <a:lnTo>
                      <a:pt x="226" y="134"/>
                    </a:lnTo>
                    <a:lnTo>
                      <a:pt x="226" y="128"/>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30" name="Freeform 26"/>
              <p:cNvSpPr>
                <a:spLocks/>
              </p:cNvSpPr>
              <p:nvPr/>
            </p:nvSpPr>
            <p:spPr bwMode="auto">
              <a:xfrm>
                <a:off x="3111" y="2519"/>
                <a:ext cx="387" cy="429"/>
              </a:xfrm>
              <a:custGeom>
                <a:avLst/>
                <a:gdLst>
                  <a:gd name="T0" fmla="*/ 0 w 387"/>
                  <a:gd name="T1" fmla="*/ 428 h 429"/>
                  <a:gd name="T2" fmla="*/ 0 w 387"/>
                  <a:gd name="T3" fmla="*/ 101 h 429"/>
                  <a:gd name="T4" fmla="*/ 386 w 387"/>
                  <a:gd name="T5" fmla="*/ 0 h 429"/>
                  <a:gd name="T6" fmla="*/ 386 w 387"/>
                  <a:gd name="T7" fmla="*/ 323 h 429"/>
                  <a:gd name="T8" fmla="*/ 0 w 387"/>
                  <a:gd name="T9" fmla="*/ 428 h 4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7" h="429">
                    <a:moveTo>
                      <a:pt x="0" y="428"/>
                    </a:moveTo>
                    <a:lnTo>
                      <a:pt x="0" y="101"/>
                    </a:lnTo>
                    <a:lnTo>
                      <a:pt x="386" y="0"/>
                    </a:lnTo>
                    <a:lnTo>
                      <a:pt x="386" y="323"/>
                    </a:lnTo>
                    <a:lnTo>
                      <a:pt x="0" y="428"/>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31" name="Freeform 27"/>
              <p:cNvSpPr>
                <a:spLocks/>
              </p:cNvSpPr>
              <p:nvPr/>
            </p:nvSpPr>
            <p:spPr bwMode="auto">
              <a:xfrm>
                <a:off x="3231" y="2783"/>
                <a:ext cx="291" cy="107"/>
              </a:xfrm>
              <a:custGeom>
                <a:avLst/>
                <a:gdLst>
                  <a:gd name="T0" fmla="*/ 0 w 291"/>
                  <a:gd name="T1" fmla="*/ 106 h 107"/>
                  <a:gd name="T2" fmla="*/ 0 w 291"/>
                  <a:gd name="T3" fmla="*/ 75 h 107"/>
                  <a:gd name="T4" fmla="*/ 290 w 291"/>
                  <a:gd name="T5" fmla="*/ 0 h 107"/>
                  <a:gd name="T6" fmla="*/ 290 w 291"/>
                  <a:gd name="T7" fmla="*/ 26 h 107"/>
                  <a:gd name="T8" fmla="*/ 0 w 291"/>
                  <a:gd name="T9" fmla="*/ 106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107">
                    <a:moveTo>
                      <a:pt x="0" y="106"/>
                    </a:moveTo>
                    <a:lnTo>
                      <a:pt x="0" y="75"/>
                    </a:lnTo>
                    <a:lnTo>
                      <a:pt x="290" y="0"/>
                    </a:lnTo>
                    <a:lnTo>
                      <a:pt x="290" y="26"/>
                    </a:lnTo>
                    <a:lnTo>
                      <a:pt x="0" y="10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32" name="Freeform 28"/>
              <p:cNvSpPr>
                <a:spLocks/>
              </p:cNvSpPr>
              <p:nvPr/>
            </p:nvSpPr>
            <p:spPr bwMode="auto">
              <a:xfrm>
                <a:off x="3162" y="2710"/>
                <a:ext cx="358" cy="149"/>
              </a:xfrm>
              <a:custGeom>
                <a:avLst/>
                <a:gdLst>
                  <a:gd name="T0" fmla="*/ 341 w 358"/>
                  <a:gd name="T1" fmla="*/ 40 h 149"/>
                  <a:gd name="T2" fmla="*/ 284 w 358"/>
                  <a:gd name="T3" fmla="*/ 0 h 149"/>
                  <a:gd name="T4" fmla="*/ 0 w 358"/>
                  <a:gd name="T5" fmla="*/ 71 h 149"/>
                  <a:gd name="T6" fmla="*/ 54 w 358"/>
                  <a:gd name="T7" fmla="*/ 114 h 149"/>
                  <a:gd name="T8" fmla="*/ 68 w 358"/>
                  <a:gd name="T9" fmla="*/ 148 h 149"/>
                  <a:gd name="T10" fmla="*/ 357 w 358"/>
                  <a:gd name="T11" fmla="*/ 73 h 149"/>
                  <a:gd name="T12" fmla="*/ 341 w 358"/>
                  <a:gd name="T13" fmla="*/ 40 h 14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8" h="149">
                    <a:moveTo>
                      <a:pt x="341" y="40"/>
                    </a:moveTo>
                    <a:lnTo>
                      <a:pt x="284" y="0"/>
                    </a:lnTo>
                    <a:lnTo>
                      <a:pt x="0" y="71"/>
                    </a:lnTo>
                    <a:lnTo>
                      <a:pt x="54" y="114"/>
                    </a:lnTo>
                    <a:lnTo>
                      <a:pt x="68" y="148"/>
                    </a:lnTo>
                    <a:lnTo>
                      <a:pt x="357" y="73"/>
                    </a:lnTo>
                    <a:lnTo>
                      <a:pt x="341" y="4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33" name="Freeform 29"/>
              <p:cNvSpPr>
                <a:spLocks/>
              </p:cNvSpPr>
              <p:nvPr/>
            </p:nvSpPr>
            <p:spPr bwMode="auto">
              <a:xfrm>
                <a:off x="3231" y="2676"/>
                <a:ext cx="291" cy="106"/>
              </a:xfrm>
              <a:custGeom>
                <a:avLst/>
                <a:gdLst>
                  <a:gd name="T0" fmla="*/ 0 w 291"/>
                  <a:gd name="T1" fmla="*/ 105 h 106"/>
                  <a:gd name="T2" fmla="*/ 0 w 291"/>
                  <a:gd name="T3" fmla="*/ 72 h 106"/>
                  <a:gd name="T4" fmla="*/ 290 w 291"/>
                  <a:gd name="T5" fmla="*/ 0 h 106"/>
                  <a:gd name="T6" fmla="*/ 290 w 291"/>
                  <a:gd name="T7" fmla="*/ 27 h 106"/>
                  <a:gd name="T8" fmla="*/ 0 w 291"/>
                  <a:gd name="T9" fmla="*/ 105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106">
                    <a:moveTo>
                      <a:pt x="0" y="105"/>
                    </a:moveTo>
                    <a:lnTo>
                      <a:pt x="0" y="72"/>
                    </a:lnTo>
                    <a:lnTo>
                      <a:pt x="290" y="0"/>
                    </a:lnTo>
                    <a:lnTo>
                      <a:pt x="290" y="27"/>
                    </a:lnTo>
                    <a:lnTo>
                      <a:pt x="0" y="105"/>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34" name="Freeform 30"/>
              <p:cNvSpPr>
                <a:spLocks/>
              </p:cNvSpPr>
              <p:nvPr/>
            </p:nvSpPr>
            <p:spPr bwMode="auto">
              <a:xfrm>
                <a:off x="3162" y="2602"/>
                <a:ext cx="358" cy="148"/>
              </a:xfrm>
              <a:custGeom>
                <a:avLst/>
                <a:gdLst>
                  <a:gd name="T0" fmla="*/ 341 w 358"/>
                  <a:gd name="T1" fmla="*/ 40 h 148"/>
                  <a:gd name="T2" fmla="*/ 284 w 358"/>
                  <a:gd name="T3" fmla="*/ 0 h 148"/>
                  <a:gd name="T4" fmla="*/ 0 w 358"/>
                  <a:gd name="T5" fmla="*/ 70 h 148"/>
                  <a:gd name="T6" fmla="*/ 54 w 358"/>
                  <a:gd name="T7" fmla="*/ 114 h 148"/>
                  <a:gd name="T8" fmla="*/ 68 w 358"/>
                  <a:gd name="T9" fmla="*/ 147 h 148"/>
                  <a:gd name="T10" fmla="*/ 357 w 358"/>
                  <a:gd name="T11" fmla="*/ 75 h 148"/>
                  <a:gd name="T12" fmla="*/ 341 w 358"/>
                  <a:gd name="T13" fmla="*/ 40 h 1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8" h="148">
                    <a:moveTo>
                      <a:pt x="341" y="40"/>
                    </a:moveTo>
                    <a:lnTo>
                      <a:pt x="284" y="0"/>
                    </a:lnTo>
                    <a:lnTo>
                      <a:pt x="0" y="70"/>
                    </a:lnTo>
                    <a:lnTo>
                      <a:pt x="54" y="114"/>
                    </a:lnTo>
                    <a:lnTo>
                      <a:pt x="68" y="147"/>
                    </a:lnTo>
                    <a:lnTo>
                      <a:pt x="357" y="75"/>
                    </a:lnTo>
                    <a:lnTo>
                      <a:pt x="341" y="4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35" name="Freeform 31"/>
              <p:cNvSpPr>
                <a:spLocks/>
              </p:cNvSpPr>
              <p:nvPr/>
            </p:nvSpPr>
            <p:spPr bwMode="auto">
              <a:xfrm>
                <a:off x="3161" y="2673"/>
                <a:ext cx="71" cy="108"/>
              </a:xfrm>
              <a:custGeom>
                <a:avLst/>
                <a:gdLst>
                  <a:gd name="T0" fmla="*/ 68 w 71"/>
                  <a:gd name="T1" fmla="*/ 107 h 108"/>
                  <a:gd name="T2" fmla="*/ 70 w 71"/>
                  <a:gd name="T3" fmla="*/ 76 h 108"/>
                  <a:gd name="T4" fmla="*/ 68 w 71"/>
                  <a:gd name="T5" fmla="*/ 75 h 108"/>
                  <a:gd name="T6" fmla="*/ 54 w 71"/>
                  <a:gd name="T7" fmla="*/ 43 h 108"/>
                  <a:gd name="T8" fmla="*/ 0 w 71"/>
                  <a:gd name="T9" fmla="*/ 0 h 108"/>
                  <a:gd name="T10" fmla="*/ 0 w 71"/>
                  <a:gd name="T11" fmla="*/ 46 h 108"/>
                  <a:gd name="T12" fmla="*/ 68 w 71"/>
                  <a:gd name="T13" fmla="*/ 107 h 1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108">
                    <a:moveTo>
                      <a:pt x="68" y="107"/>
                    </a:moveTo>
                    <a:lnTo>
                      <a:pt x="70" y="76"/>
                    </a:lnTo>
                    <a:lnTo>
                      <a:pt x="68" y="75"/>
                    </a:lnTo>
                    <a:lnTo>
                      <a:pt x="54" y="43"/>
                    </a:lnTo>
                    <a:lnTo>
                      <a:pt x="0" y="0"/>
                    </a:lnTo>
                    <a:lnTo>
                      <a:pt x="0" y="46"/>
                    </a:lnTo>
                    <a:lnTo>
                      <a:pt x="68" y="107"/>
                    </a:lnTo>
                  </a:path>
                </a:pathLst>
              </a:custGeom>
              <a:solidFill>
                <a:srgbClr val="9999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36" name="Freeform 32"/>
              <p:cNvSpPr>
                <a:spLocks/>
              </p:cNvSpPr>
              <p:nvPr/>
            </p:nvSpPr>
            <p:spPr bwMode="auto">
              <a:xfrm>
                <a:off x="3161" y="2783"/>
                <a:ext cx="71" cy="108"/>
              </a:xfrm>
              <a:custGeom>
                <a:avLst/>
                <a:gdLst>
                  <a:gd name="T0" fmla="*/ 68 w 71"/>
                  <a:gd name="T1" fmla="*/ 107 h 108"/>
                  <a:gd name="T2" fmla="*/ 70 w 71"/>
                  <a:gd name="T3" fmla="*/ 75 h 108"/>
                  <a:gd name="T4" fmla="*/ 68 w 71"/>
                  <a:gd name="T5" fmla="*/ 74 h 108"/>
                  <a:gd name="T6" fmla="*/ 54 w 71"/>
                  <a:gd name="T7" fmla="*/ 42 h 108"/>
                  <a:gd name="T8" fmla="*/ 0 w 71"/>
                  <a:gd name="T9" fmla="*/ 0 h 108"/>
                  <a:gd name="T10" fmla="*/ 0 w 71"/>
                  <a:gd name="T11" fmla="*/ 46 h 108"/>
                  <a:gd name="T12" fmla="*/ 68 w 71"/>
                  <a:gd name="T13" fmla="*/ 107 h 1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108">
                    <a:moveTo>
                      <a:pt x="68" y="107"/>
                    </a:moveTo>
                    <a:lnTo>
                      <a:pt x="70" y="75"/>
                    </a:lnTo>
                    <a:lnTo>
                      <a:pt x="68" y="74"/>
                    </a:lnTo>
                    <a:lnTo>
                      <a:pt x="54" y="42"/>
                    </a:lnTo>
                    <a:lnTo>
                      <a:pt x="0" y="0"/>
                    </a:lnTo>
                    <a:lnTo>
                      <a:pt x="0" y="46"/>
                    </a:lnTo>
                    <a:lnTo>
                      <a:pt x="68" y="107"/>
                    </a:lnTo>
                  </a:path>
                </a:pathLst>
              </a:custGeom>
              <a:solidFill>
                <a:srgbClr val="9999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37" name="Freeform 33"/>
              <p:cNvSpPr>
                <a:spLocks/>
              </p:cNvSpPr>
              <p:nvPr/>
            </p:nvSpPr>
            <p:spPr bwMode="auto">
              <a:xfrm>
                <a:off x="3023" y="2439"/>
                <a:ext cx="210" cy="71"/>
              </a:xfrm>
              <a:custGeom>
                <a:avLst/>
                <a:gdLst>
                  <a:gd name="T0" fmla="*/ 209 w 210"/>
                  <a:gd name="T1" fmla="*/ 0 h 71"/>
                  <a:gd name="T2" fmla="*/ 0 w 210"/>
                  <a:gd name="T3" fmla="*/ 52 h 71"/>
                  <a:gd name="T4" fmla="*/ 0 w 210"/>
                  <a:gd name="T5" fmla="*/ 70 h 71"/>
                  <a:gd name="T6" fmla="*/ 209 w 210"/>
                  <a:gd name="T7" fmla="*/ 17 h 71"/>
                  <a:gd name="T8" fmla="*/ 209 w 210"/>
                  <a:gd name="T9" fmla="*/ 0 h 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 h="71">
                    <a:moveTo>
                      <a:pt x="209" y="0"/>
                    </a:moveTo>
                    <a:lnTo>
                      <a:pt x="0" y="52"/>
                    </a:lnTo>
                    <a:lnTo>
                      <a:pt x="0" y="70"/>
                    </a:lnTo>
                    <a:lnTo>
                      <a:pt x="209" y="17"/>
                    </a:lnTo>
                    <a:lnTo>
                      <a:pt x="209"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38" name="Freeform 34"/>
              <p:cNvSpPr>
                <a:spLocks/>
              </p:cNvSpPr>
              <p:nvPr/>
            </p:nvSpPr>
            <p:spPr bwMode="auto">
              <a:xfrm>
                <a:off x="3032" y="2457"/>
                <a:ext cx="321" cy="121"/>
              </a:xfrm>
              <a:custGeom>
                <a:avLst/>
                <a:gdLst>
                  <a:gd name="T0" fmla="*/ 193 w 321"/>
                  <a:gd name="T1" fmla="*/ 0 h 121"/>
                  <a:gd name="T2" fmla="*/ 197 w 321"/>
                  <a:gd name="T3" fmla="*/ 0 h 121"/>
                  <a:gd name="T4" fmla="*/ 207 w 321"/>
                  <a:gd name="T5" fmla="*/ 3 h 121"/>
                  <a:gd name="T6" fmla="*/ 221 w 321"/>
                  <a:gd name="T7" fmla="*/ 9 h 121"/>
                  <a:gd name="T8" fmla="*/ 237 w 321"/>
                  <a:gd name="T9" fmla="*/ 15 h 121"/>
                  <a:gd name="T10" fmla="*/ 254 w 321"/>
                  <a:gd name="T11" fmla="*/ 23 h 121"/>
                  <a:gd name="T12" fmla="*/ 272 w 321"/>
                  <a:gd name="T13" fmla="*/ 31 h 121"/>
                  <a:gd name="T14" fmla="*/ 287 w 321"/>
                  <a:gd name="T15" fmla="*/ 39 h 121"/>
                  <a:gd name="T16" fmla="*/ 299 w 321"/>
                  <a:gd name="T17" fmla="*/ 48 h 121"/>
                  <a:gd name="T18" fmla="*/ 307 w 321"/>
                  <a:gd name="T19" fmla="*/ 55 h 121"/>
                  <a:gd name="T20" fmla="*/ 313 w 321"/>
                  <a:gd name="T21" fmla="*/ 61 h 121"/>
                  <a:gd name="T22" fmla="*/ 316 w 321"/>
                  <a:gd name="T23" fmla="*/ 65 h 121"/>
                  <a:gd name="T24" fmla="*/ 318 w 321"/>
                  <a:gd name="T25" fmla="*/ 69 h 121"/>
                  <a:gd name="T26" fmla="*/ 320 w 321"/>
                  <a:gd name="T27" fmla="*/ 71 h 121"/>
                  <a:gd name="T28" fmla="*/ 320 w 321"/>
                  <a:gd name="T29" fmla="*/ 72 h 121"/>
                  <a:gd name="T30" fmla="*/ 320 w 321"/>
                  <a:gd name="T31" fmla="*/ 73 h 121"/>
                  <a:gd name="T32" fmla="*/ 320 w 321"/>
                  <a:gd name="T33" fmla="*/ 73 h 121"/>
                  <a:gd name="T34" fmla="*/ 132 w 321"/>
                  <a:gd name="T35" fmla="*/ 120 h 121"/>
                  <a:gd name="T36" fmla="*/ 130 w 321"/>
                  <a:gd name="T37" fmla="*/ 118 h 121"/>
                  <a:gd name="T38" fmla="*/ 123 w 321"/>
                  <a:gd name="T39" fmla="*/ 112 h 121"/>
                  <a:gd name="T40" fmla="*/ 112 w 321"/>
                  <a:gd name="T41" fmla="*/ 104 h 121"/>
                  <a:gd name="T42" fmla="*/ 100 w 321"/>
                  <a:gd name="T43" fmla="*/ 94 h 121"/>
                  <a:gd name="T44" fmla="*/ 86 w 321"/>
                  <a:gd name="T45" fmla="*/ 85 h 121"/>
                  <a:gd name="T46" fmla="*/ 71 w 321"/>
                  <a:gd name="T47" fmla="*/ 75 h 121"/>
                  <a:gd name="T48" fmla="*/ 58 w 321"/>
                  <a:gd name="T49" fmla="*/ 67 h 121"/>
                  <a:gd name="T50" fmla="*/ 47 w 321"/>
                  <a:gd name="T51" fmla="*/ 62 h 121"/>
                  <a:gd name="T52" fmla="*/ 37 w 321"/>
                  <a:gd name="T53" fmla="*/ 59 h 121"/>
                  <a:gd name="T54" fmla="*/ 27 w 321"/>
                  <a:gd name="T55" fmla="*/ 56 h 121"/>
                  <a:gd name="T56" fmla="*/ 19 w 321"/>
                  <a:gd name="T57" fmla="*/ 54 h 121"/>
                  <a:gd name="T58" fmla="*/ 13 w 321"/>
                  <a:gd name="T59" fmla="*/ 52 h 121"/>
                  <a:gd name="T60" fmla="*/ 7 w 321"/>
                  <a:gd name="T61" fmla="*/ 51 h 121"/>
                  <a:gd name="T62" fmla="*/ 3 w 321"/>
                  <a:gd name="T63" fmla="*/ 50 h 121"/>
                  <a:gd name="T64" fmla="*/ 0 w 321"/>
                  <a:gd name="T65" fmla="*/ 49 h 121"/>
                  <a:gd name="T66" fmla="*/ 0 w 321"/>
                  <a:gd name="T67" fmla="*/ 49 h 121"/>
                  <a:gd name="T68" fmla="*/ 193 w 321"/>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21" h="121">
                    <a:moveTo>
                      <a:pt x="193" y="0"/>
                    </a:moveTo>
                    <a:lnTo>
                      <a:pt x="197" y="0"/>
                    </a:lnTo>
                    <a:lnTo>
                      <a:pt x="207" y="3"/>
                    </a:lnTo>
                    <a:lnTo>
                      <a:pt x="221" y="9"/>
                    </a:lnTo>
                    <a:lnTo>
                      <a:pt x="237" y="15"/>
                    </a:lnTo>
                    <a:lnTo>
                      <a:pt x="254" y="23"/>
                    </a:lnTo>
                    <a:lnTo>
                      <a:pt x="272" y="31"/>
                    </a:lnTo>
                    <a:lnTo>
                      <a:pt x="287" y="39"/>
                    </a:lnTo>
                    <a:lnTo>
                      <a:pt x="299" y="48"/>
                    </a:lnTo>
                    <a:lnTo>
                      <a:pt x="307" y="55"/>
                    </a:lnTo>
                    <a:lnTo>
                      <a:pt x="313" y="61"/>
                    </a:lnTo>
                    <a:lnTo>
                      <a:pt x="316" y="65"/>
                    </a:lnTo>
                    <a:lnTo>
                      <a:pt x="318" y="69"/>
                    </a:lnTo>
                    <a:lnTo>
                      <a:pt x="320" y="71"/>
                    </a:lnTo>
                    <a:lnTo>
                      <a:pt x="320" y="72"/>
                    </a:lnTo>
                    <a:lnTo>
                      <a:pt x="320" y="73"/>
                    </a:lnTo>
                    <a:lnTo>
                      <a:pt x="132" y="120"/>
                    </a:lnTo>
                    <a:lnTo>
                      <a:pt x="130" y="118"/>
                    </a:lnTo>
                    <a:lnTo>
                      <a:pt x="123" y="112"/>
                    </a:lnTo>
                    <a:lnTo>
                      <a:pt x="112" y="104"/>
                    </a:lnTo>
                    <a:lnTo>
                      <a:pt x="100" y="94"/>
                    </a:lnTo>
                    <a:lnTo>
                      <a:pt x="86" y="85"/>
                    </a:lnTo>
                    <a:lnTo>
                      <a:pt x="71" y="75"/>
                    </a:lnTo>
                    <a:lnTo>
                      <a:pt x="58" y="67"/>
                    </a:lnTo>
                    <a:lnTo>
                      <a:pt x="47" y="62"/>
                    </a:lnTo>
                    <a:lnTo>
                      <a:pt x="37" y="59"/>
                    </a:lnTo>
                    <a:lnTo>
                      <a:pt x="27" y="56"/>
                    </a:lnTo>
                    <a:lnTo>
                      <a:pt x="19" y="54"/>
                    </a:lnTo>
                    <a:lnTo>
                      <a:pt x="13" y="52"/>
                    </a:lnTo>
                    <a:lnTo>
                      <a:pt x="7" y="51"/>
                    </a:lnTo>
                    <a:lnTo>
                      <a:pt x="3" y="50"/>
                    </a:lnTo>
                    <a:lnTo>
                      <a:pt x="0" y="49"/>
                    </a:lnTo>
                    <a:lnTo>
                      <a:pt x="193" y="0"/>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39" name="Freeform 35"/>
              <p:cNvSpPr>
                <a:spLocks/>
              </p:cNvSpPr>
              <p:nvPr/>
            </p:nvSpPr>
            <p:spPr bwMode="auto">
              <a:xfrm>
                <a:off x="3031" y="2450"/>
                <a:ext cx="322" cy="121"/>
              </a:xfrm>
              <a:custGeom>
                <a:avLst/>
                <a:gdLst>
                  <a:gd name="T0" fmla="*/ 194 w 322"/>
                  <a:gd name="T1" fmla="*/ 0 h 121"/>
                  <a:gd name="T2" fmla="*/ 198 w 322"/>
                  <a:gd name="T3" fmla="*/ 1 h 121"/>
                  <a:gd name="T4" fmla="*/ 208 w 322"/>
                  <a:gd name="T5" fmla="*/ 4 h 121"/>
                  <a:gd name="T6" fmla="*/ 221 w 322"/>
                  <a:gd name="T7" fmla="*/ 9 h 121"/>
                  <a:gd name="T8" fmla="*/ 237 w 322"/>
                  <a:gd name="T9" fmla="*/ 15 h 121"/>
                  <a:gd name="T10" fmla="*/ 255 w 322"/>
                  <a:gd name="T11" fmla="*/ 22 h 121"/>
                  <a:gd name="T12" fmla="*/ 273 w 322"/>
                  <a:gd name="T13" fmla="*/ 31 h 121"/>
                  <a:gd name="T14" fmla="*/ 288 w 322"/>
                  <a:gd name="T15" fmla="*/ 40 h 121"/>
                  <a:gd name="T16" fmla="*/ 300 w 322"/>
                  <a:gd name="T17" fmla="*/ 48 h 121"/>
                  <a:gd name="T18" fmla="*/ 308 w 322"/>
                  <a:gd name="T19" fmla="*/ 55 h 121"/>
                  <a:gd name="T20" fmla="*/ 313 w 322"/>
                  <a:gd name="T21" fmla="*/ 61 h 121"/>
                  <a:gd name="T22" fmla="*/ 317 w 322"/>
                  <a:gd name="T23" fmla="*/ 65 h 121"/>
                  <a:gd name="T24" fmla="*/ 319 w 322"/>
                  <a:gd name="T25" fmla="*/ 68 h 121"/>
                  <a:gd name="T26" fmla="*/ 321 w 322"/>
                  <a:gd name="T27" fmla="*/ 70 h 121"/>
                  <a:gd name="T28" fmla="*/ 321 w 322"/>
                  <a:gd name="T29" fmla="*/ 72 h 121"/>
                  <a:gd name="T30" fmla="*/ 321 w 322"/>
                  <a:gd name="T31" fmla="*/ 72 h 121"/>
                  <a:gd name="T32" fmla="*/ 321 w 322"/>
                  <a:gd name="T33" fmla="*/ 72 h 121"/>
                  <a:gd name="T34" fmla="*/ 133 w 322"/>
                  <a:gd name="T35" fmla="*/ 120 h 121"/>
                  <a:gd name="T36" fmla="*/ 130 w 322"/>
                  <a:gd name="T37" fmla="*/ 117 h 121"/>
                  <a:gd name="T38" fmla="*/ 123 w 322"/>
                  <a:gd name="T39" fmla="*/ 112 h 121"/>
                  <a:gd name="T40" fmla="*/ 113 w 322"/>
                  <a:gd name="T41" fmla="*/ 104 h 121"/>
                  <a:gd name="T42" fmla="*/ 101 w 322"/>
                  <a:gd name="T43" fmla="*/ 94 h 121"/>
                  <a:gd name="T44" fmla="*/ 87 w 322"/>
                  <a:gd name="T45" fmla="*/ 84 h 121"/>
                  <a:gd name="T46" fmla="*/ 72 w 322"/>
                  <a:gd name="T47" fmla="*/ 75 h 121"/>
                  <a:gd name="T48" fmla="*/ 59 w 322"/>
                  <a:gd name="T49" fmla="*/ 67 h 121"/>
                  <a:gd name="T50" fmla="*/ 47 w 322"/>
                  <a:gd name="T51" fmla="*/ 62 h 121"/>
                  <a:gd name="T52" fmla="*/ 37 w 322"/>
                  <a:gd name="T53" fmla="*/ 59 h 121"/>
                  <a:gd name="T54" fmla="*/ 28 w 322"/>
                  <a:gd name="T55" fmla="*/ 56 h 121"/>
                  <a:gd name="T56" fmla="*/ 20 w 322"/>
                  <a:gd name="T57" fmla="*/ 54 h 121"/>
                  <a:gd name="T58" fmla="*/ 13 w 322"/>
                  <a:gd name="T59" fmla="*/ 52 h 121"/>
                  <a:gd name="T60" fmla="*/ 7 w 322"/>
                  <a:gd name="T61" fmla="*/ 51 h 121"/>
                  <a:gd name="T62" fmla="*/ 3 w 322"/>
                  <a:gd name="T63" fmla="*/ 50 h 121"/>
                  <a:gd name="T64" fmla="*/ 1 w 322"/>
                  <a:gd name="T65" fmla="*/ 49 h 121"/>
                  <a:gd name="T66" fmla="*/ 0 w 322"/>
                  <a:gd name="T67" fmla="*/ 49 h 121"/>
                  <a:gd name="T68" fmla="*/ 194 w 322"/>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22" h="121">
                    <a:moveTo>
                      <a:pt x="194" y="0"/>
                    </a:moveTo>
                    <a:lnTo>
                      <a:pt x="198" y="1"/>
                    </a:lnTo>
                    <a:lnTo>
                      <a:pt x="208" y="4"/>
                    </a:lnTo>
                    <a:lnTo>
                      <a:pt x="221" y="9"/>
                    </a:lnTo>
                    <a:lnTo>
                      <a:pt x="237" y="15"/>
                    </a:lnTo>
                    <a:lnTo>
                      <a:pt x="255" y="22"/>
                    </a:lnTo>
                    <a:lnTo>
                      <a:pt x="273" y="31"/>
                    </a:lnTo>
                    <a:lnTo>
                      <a:pt x="288" y="40"/>
                    </a:lnTo>
                    <a:lnTo>
                      <a:pt x="300" y="48"/>
                    </a:lnTo>
                    <a:lnTo>
                      <a:pt x="308" y="55"/>
                    </a:lnTo>
                    <a:lnTo>
                      <a:pt x="313" y="61"/>
                    </a:lnTo>
                    <a:lnTo>
                      <a:pt x="317" y="65"/>
                    </a:lnTo>
                    <a:lnTo>
                      <a:pt x="319" y="68"/>
                    </a:lnTo>
                    <a:lnTo>
                      <a:pt x="321" y="70"/>
                    </a:lnTo>
                    <a:lnTo>
                      <a:pt x="321" y="72"/>
                    </a:lnTo>
                    <a:lnTo>
                      <a:pt x="133" y="120"/>
                    </a:lnTo>
                    <a:lnTo>
                      <a:pt x="130" y="117"/>
                    </a:lnTo>
                    <a:lnTo>
                      <a:pt x="123" y="112"/>
                    </a:lnTo>
                    <a:lnTo>
                      <a:pt x="113" y="104"/>
                    </a:lnTo>
                    <a:lnTo>
                      <a:pt x="101" y="94"/>
                    </a:lnTo>
                    <a:lnTo>
                      <a:pt x="87" y="84"/>
                    </a:lnTo>
                    <a:lnTo>
                      <a:pt x="72" y="75"/>
                    </a:lnTo>
                    <a:lnTo>
                      <a:pt x="59" y="67"/>
                    </a:lnTo>
                    <a:lnTo>
                      <a:pt x="47" y="62"/>
                    </a:lnTo>
                    <a:lnTo>
                      <a:pt x="37" y="59"/>
                    </a:lnTo>
                    <a:lnTo>
                      <a:pt x="28" y="56"/>
                    </a:lnTo>
                    <a:lnTo>
                      <a:pt x="20" y="54"/>
                    </a:lnTo>
                    <a:lnTo>
                      <a:pt x="13" y="52"/>
                    </a:lnTo>
                    <a:lnTo>
                      <a:pt x="7" y="51"/>
                    </a:lnTo>
                    <a:lnTo>
                      <a:pt x="3" y="50"/>
                    </a:lnTo>
                    <a:lnTo>
                      <a:pt x="1" y="49"/>
                    </a:lnTo>
                    <a:lnTo>
                      <a:pt x="0" y="49"/>
                    </a:lnTo>
                    <a:lnTo>
                      <a:pt x="194" y="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40" name="Freeform 36"/>
              <p:cNvSpPr>
                <a:spLocks/>
              </p:cNvSpPr>
              <p:nvPr/>
            </p:nvSpPr>
            <p:spPr bwMode="auto">
              <a:xfrm>
                <a:off x="3031" y="2443"/>
                <a:ext cx="322" cy="121"/>
              </a:xfrm>
              <a:custGeom>
                <a:avLst/>
                <a:gdLst>
                  <a:gd name="T0" fmla="*/ 194 w 322"/>
                  <a:gd name="T1" fmla="*/ 0 h 121"/>
                  <a:gd name="T2" fmla="*/ 198 w 322"/>
                  <a:gd name="T3" fmla="*/ 1 h 121"/>
                  <a:gd name="T4" fmla="*/ 207 w 322"/>
                  <a:gd name="T5" fmla="*/ 4 h 121"/>
                  <a:gd name="T6" fmla="*/ 221 w 322"/>
                  <a:gd name="T7" fmla="*/ 9 h 121"/>
                  <a:gd name="T8" fmla="*/ 237 w 322"/>
                  <a:gd name="T9" fmla="*/ 15 h 121"/>
                  <a:gd name="T10" fmla="*/ 255 w 322"/>
                  <a:gd name="T11" fmla="*/ 23 h 121"/>
                  <a:gd name="T12" fmla="*/ 273 w 322"/>
                  <a:gd name="T13" fmla="*/ 31 h 121"/>
                  <a:gd name="T14" fmla="*/ 288 w 322"/>
                  <a:gd name="T15" fmla="*/ 40 h 121"/>
                  <a:gd name="T16" fmla="*/ 299 w 322"/>
                  <a:gd name="T17" fmla="*/ 48 h 121"/>
                  <a:gd name="T18" fmla="*/ 308 w 322"/>
                  <a:gd name="T19" fmla="*/ 55 h 121"/>
                  <a:gd name="T20" fmla="*/ 313 w 322"/>
                  <a:gd name="T21" fmla="*/ 61 h 121"/>
                  <a:gd name="T22" fmla="*/ 317 w 322"/>
                  <a:gd name="T23" fmla="*/ 66 h 121"/>
                  <a:gd name="T24" fmla="*/ 319 w 322"/>
                  <a:gd name="T25" fmla="*/ 68 h 121"/>
                  <a:gd name="T26" fmla="*/ 320 w 322"/>
                  <a:gd name="T27" fmla="*/ 71 h 121"/>
                  <a:gd name="T28" fmla="*/ 321 w 322"/>
                  <a:gd name="T29" fmla="*/ 72 h 121"/>
                  <a:gd name="T30" fmla="*/ 321 w 322"/>
                  <a:gd name="T31" fmla="*/ 73 h 121"/>
                  <a:gd name="T32" fmla="*/ 320 w 322"/>
                  <a:gd name="T33" fmla="*/ 73 h 121"/>
                  <a:gd name="T34" fmla="*/ 132 w 322"/>
                  <a:gd name="T35" fmla="*/ 120 h 121"/>
                  <a:gd name="T36" fmla="*/ 130 w 322"/>
                  <a:gd name="T37" fmla="*/ 118 h 121"/>
                  <a:gd name="T38" fmla="*/ 123 w 322"/>
                  <a:gd name="T39" fmla="*/ 112 h 121"/>
                  <a:gd name="T40" fmla="*/ 112 w 322"/>
                  <a:gd name="T41" fmla="*/ 104 h 121"/>
                  <a:gd name="T42" fmla="*/ 100 w 322"/>
                  <a:gd name="T43" fmla="*/ 94 h 121"/>
                  <a:gd name="T44" fmla="*/ 86 w 322"/>
                  <a:gd name="T45" fmla="*/ 84 h 121"/>
                  <a:gd name="T46" fmla="*/ 72 w 322"/>
                  <a:gd name="T47" fmla="*/ 75 h 121"/>
                  <a:gd name="T48" fmla="*/ 59 w 322"/>
                  <a:gd name="T49" fmla="*/ 67 h 121"/>
                  <a:gd name="T50" fmla="*/ 47 w 322"/>
                  <a:gd name="T51" fmla="*/ 62 h 121"/>
                  <a:gd name="T52" fmla="*/ 37 w 322"/>
                  <a:gd name="T53" fmla="*/ 59 h 121"/>
                  <a:gd name="T54" fmla="*/ 28 w 322"/>
                  <a:gd name="T55" fmla="*/ 57 h 121"/>
                  <a:gd name="T56" fmla="*/ 20 w 322"/>
                  <a:gd name="T57" fmla="*/ 54 h 121"/>
                  <a:gd name="T58" fmla="*/ 13 w 322"/>
                  <a:gd name="T59" fmla="*/ 52 h 121"/>
                  <a:gd name="T60" fmla="*/ 7 w 322"/>
                  <a:gd name="T61" fmla="*/ 51 h 121"/>
                  <a:gd name="T62" fmla="*/ 3 w 322"/>
                  <a:gd name="T63" fmla="*/ 50 h 121"/>
                  <a:gd name="T64" fmla="*/ 0 w 322"/>
                  <a:gd name="T65" fmla="*/ 49 h 121"/>
                  <a:gd name="T66" fmla="*/ 0 w 322"/>
                  <a:gd name="T67" fmla="*/ 49 h 121"/>
                  <a:gd name="T68" fmla="*/ 194 w 322"/>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22" h="121">
                    <a:moveTo>
                      <a:pt x="194" y="0"/>
                    </a:moveTo>
                    <a:lnTo>
                      <a:pt x="198" y="1"/>
                    </a:lnTo>
                    <a:lnTo>
                      <a:pt x="207" y="4"/>
                    </a:lnTo>
                    <a:lnTo>
                      <a:pt x="221" y="9"/>
                    </a:lnTo>
                    <a:lnTo>
                      <a:pt x="237" y="15"/>
                    </a:lnTo>
                    <a:lnTo>
                      <a:pt x="255" y="23"/>
                    </a:lnTo>
                    <a:lnTo>
                      <a:pt x="273" y="31"/>
                    </a:lnTo>
                    <a:lnTo>
                      <a:pt x="288" y="40"/>
                    </a:lnTo>
                    <a:lnTo>
                      <a:pt x="299" y="48"/>
                    </a:lnTo>
                    <a:lnTo>
                      <a:pt x="308" y="55"/>
                    </a:lnTo>
                    <a:lnTo>
                      <a:pt x="313" y="61"/>
                    </a:lnTo>
                    <a:lnTo>
                      <a:pt x="317" y="66"/>
                    </a:lnTo>
                    <a:lnTo>
                      <a:pt x="319" y="68"/>
                    </a:lnTo>
                    <a:lnTo>
                      <a:pt x="320" y="71"/>
                    </a:lnTo>
                    <a:lnTo>
                      <a:pt x="321" y="72"/>
                    </a:lnTo>
                    <a:lnTo>
                      <a:pt x="321" y="73"/>
                    </a:lnTo>
                    <a:lnTo>
                      <a:pt x="320" y="73"/>
                    </a:lnTo>
                    <a:lnTo>
                      <a:pt x="132" y="120"/>
                    </a:lnTo>
                    <a:lnTo>
                      <a:pt x="130" y="118"/>
                    </a:lnTo>
                    <a:lnTo>
                      <a:pt x="123" y="112"/>
                    </a:lnTo>
                    <a:lnTo>
                      <a:pt x="112" y="104"/>
                    </a:lnTo>
                    <a:lnTo>
                      <a:pt x="100" y="94"/>
                    </a:lnTo>
                    <a:lnTo>
                      <a:pt x="86" y="84"/>
                    </a:lnTo>
                    <a:lnTo>
                      <a:pt x="72" y="75"/>
                    </a:lnTo>
                    <a:lnTo>
                      <a:pt x="59" y="67"/>
                    </a:lnTo>
                    <a:lnTo>
                      <a:pt x="47" y="62"/>
                    </a:lnTo>
                    <a:lnTo>
                      <a:pt x="37" y="59"/>
                    </a:lnTo>
                    <a:lnTo>
                      <a:pt x="28" y="57"/>
                    </a:lnTo>
                    <a:lnTo>
                      <a:pt x="20" y="54"/>
                    </a:lnTo>
                    <a:lnTo>
                      <a:pt x="13" y="52"/>
                    </a:lnTo>
                    <a:lnTo>
                      <a:pt x="7" y="51"/>
                    </a:lnTo>
                    <a:lnTo>
                      <a:pt x="3" y="50"/>
                    </a:lnTo>
                    <a:lnTo>
                      <a:pt x="0" y="49"/>
                    </a:lnTo>
                    <a:lnTo>
                      <a:pt x="194"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sp>
          <p:nvSpPr>
            <p:cNvPr id="174121" name="Rectangle 37"/>
            <p:cNvSpPr>
              <a:spLocks noChangeArrowheads="1"/>
            </p:cNvSpPr>
            <p:nvPr/>
          </p:nvSpPr>
          <p:spPr bwMode="auto">
            <a:xfrm>
              <a:off x="2908" y="2941"/>
              <a:ext cx="540" cy="577"/>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b="1"/>
                <a:t>Make</a:t>
              </a:r>
              <a:br>
                <a:rPr lang="en-US" altLang="en-US" sz="1800" b="1"/>
              </a:br>
              <a:r>
                <a:rPr lang="en-US" altLang="en-US" sz="1800" b="1"/>
                <a:t>model</a:t>
              </a:r>
              <a:br>
                <a:rPr lang="en-US" altLang="en-US" sz="1800" b="1"/>
              </a:br>
              <a:r>
                <a:rPr lang="en-US" altLang="en-US" sz="1800" b="1"/>
                <a:t>LN03</a:t>
              </a:r>
            </a:p>
          </p:txBody>
        </p:sp>
      </p:grpSp>
      <p:grpSp>
        <p:nvGrpSpPr>
          <p:cNvPr id="174095" name="myGroup 592"/>
          <p:cNvGrpSpPr>
            <a:grpSpLocks/>
          </p:cNvGrpSpPr>
          <p:nvPr/>
        </p:nvGrpSpPr>
        <p:grpSpPr bwMode="auto">
          <a:xfrm>
            <a:off x="6257925" y="3656013"/>
            <a:ext cx="1812925" cy="1657350"/>
            <a:chOff x="3942" y="2303"/>
            <a:chExt cx="1142" cy="1044"/>
          </a:xfrm>
        </p:grpSpPr>
        <p:grpSp>
          <p:nvGrpSpPr>
            <p:cNvPr id="174099" name="Group 39"/>
            <p:cNvGrpSpPr>
              <a:grpSpLocks/>
            </p:cNvGrpSpPr>
            <p:nvPr/>
          </p:nvGrpSpPr>
          <p:grpSpPr bwMode="auto">
            <a:xfrm>
              <a:off x="4171" y="2303"/>
              <a:ext cx="686" cy="585"/>
              <a:chOff x="4171" y="2303"/>
              <a:chExt cx="686" cy="585"/>
            </a:xfrm>
          </p:grpSpPr>
          <p:sp>
            <p:nvSpPr>
              <p:cNvPr id="174101" name="Freeform 40"/>
              <p:cNvSpPr>
                <a:spLocks/>
              </p:cNvSpPr>
              <p:nvPr/>
            </p:nvSpPr>
            <p:spPr bwMode="auto">
              <a:xfrm>
                <a:off x="4173" y="2303"/>
                <a:ext cx="659" cy="257"/>
              </a:xfrm>
              <a:custGeom>
                <a:avLst/>
                <a:gdLst>
                  <a:gd name="T0" fmla="*/ 383 w 659"/>
                  <a:gd name="T1" fmla="*/ 0 h 257"/>
                  <a:gd name="T2" fmla="*/ 0 w 659"/>
                  <a:gd name="T3" fmla="*/ 100 h 257"/>
                  <a:gd name="T4" fmla="*/ 272 w 659"/>
                  <a:gd name="T5" fmla="*/ 256 h 257"/>
                  <a:gd name="T6" fmla="*/ 658 w 659"/>
                  <a:gd name="T7" fmla="*/ 155 h 257"/>
                  <a:gd name="T8" fmla="*/ 383 w 659"/>
                  <a:gd name="T9" fmla="*/ 0 h 2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9" h="257">
                    <a:moveTo>
                      <a:pt x="383" y="0"/>
                    </a:moveTo>
                    <a:lnTo>
                      <a:pt x="0" y="100"/>
                    </a:lnTo>
                    <a:lnTo>
                      <a:pt x="272" y="256"/>
                    </a:lnTo>
                    <a:lnTo>
                      <a:pt x="658" y="155"/>
                    </a:lnTo>
                    <a:lnTo>
                      <a:pt x="383" y="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02" name="Freeform 41"/>
              <p:cNvSpPr>
                <a:spLocks/>
              </p:cNvSpPr>
              <p:nvPr/>
            </p:nvSpPr>
            <p:spPr bwMode="auto">
              <a:xfrm>
                <a:off x="4305" y="2362"/>
                <a:ext cx="448" cy="159"/>
              </a:xfrm>
              <a:custGeom>
                <a:avLst/>
                <a:gdLst>
                  <a:gd name="T0" fmla="*/ 285 w 448"/>
                  <a:gd name="T1" fmla="*/ 0 h 159"/>
                  <a:gd name="T2" fmla="*/ 0 w 448"/>
                  <a:gd name="T3" fmla="*/ 75 h 159"/>
                  <a:gd name="T4" fmla="*/ 152 w 448"/>
                  <a:gd name="T5" fmla="*/ 158 h 159"/>
                  <a:gd name="T6" fmla="*/ 447 w 448"/>
                  <a:gd name="T7" fmla="*/ 77 h 159"/>
                  <a:gd name="T8" fmla="*/ 285 w 448"/>
                  <a:gd name="T9" fmla="*/ 0 h 1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8" h="159">
                    <a:moveTo>
                      <a:pt x="285" y="0"/>
                    </a:moveTo>
                    <a:lnTo>
                      <a:pt x="0" y="75"/>
                    </a:lnTo>
                    <a:lnTo>
                      <a:pt x="152" y="158"/>
                    </a:lnTo>
                    <a:lnTo>
                      <a:pt x="447" y="77"/>
                    </a:lnTo>
                    <a:lnTo>
                      <a:pt x="285" y="0"/>
                    </a:lnTo>
                  </a:path>
                </a:pathLst>
              </a:custGeom>
              <a:solidFill>
                <a:srgbClr val="9999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03" name="Freeform 42"/>
              <p:cNvSpPr>
                <a:spLocks/>
              </p:cNvSpPr>
              <p:nvPr/>
            </p:nvSpPr>
            <p:spPr bwMode="auto">
              <a:xfrm>
                <a:off x="4344" y="2392"/>
                <a:ext cx="389" cy="126"/>
              </a:xfrm>
              <a:custGeom>
                <a:avLst/>
                <a:gdLst>
                  <a:gd name="T0" fmla="*/ 274 w 389"/>
                  <a:gd name="T1" fmla="*/ 0 h 126"/>
                  <a:gd name="T2" fmla="*/ 0 w 389"/>
                  <a:gd name="T3" fmla="*/ 62 h 126"/>
                  <a:gd name="T4" fmla="*/ 106 w 389"/>
                  <a:gd name="T5" fmla="*/ 125 h 126"/>
                  <a:gd name="T6" fmla="*/ 388 w 389"/>
                  <a:gd name="T7" fmla="*/ 49 h 126"/>
                  <a:gd name="T8" fmla="*/ 274 w 389"/>
                  <a:gd name="T9" fmla="*/ 0 h 1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9" h="126">
                    <a:moveTo>
                      <a:pt x="274" y="0"/>
                    </a:moveTo>
                    <a:lnTo>
                      <a:pt x="0" y="62"/>
                    </a:lnTo>
                    <a:lnTo>
                      <a:pt x="106" y="125"/>
                    </a:lnTo>
                    <a:lnTo>
                      <a:pt x="388" y="49"/>
                    </a:lnTo>
                    <a:lnTo>
                      <a:pt x="274" y="0"/>
                    </a:lnTo>
                  </a:path>
                </a:pathLst>
              </a:custGeom>
              <a:solidFill>
                <a:srgbClr val="9999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04" name="Freeform 43"/>
              <p:cNvSpPr>
                <a:spLocks/>
              </p:cNvSpPr>
              <p:nvPr/>
            </p:nvSpPr>
            <p:spPr bwMode="auto">
              <a:xfrm>
                <a:off x="4171" y="2402"/>
                <a:ext cx="277" cy="486"/>
              </a:xfrm>
              <a:custGeom>
                <a:avLst/>
                <a:gdLst>
                  <a:gd name="T0" fmla="*/ 2 w 277"/>
                  <a:gd name="T1" fmla="*/ 0 h 486"/>
                  <a:gd name="T2" fmla="*/ 0 w 277"/>
                  <a:gd name="T3" fmla="*/ 319 h 486"/>
                  <a:gd name="T4" fmla="*/ 276 w 277"/>
                  <a:gd name="T5" fmla="*/ 485 h 486"/>
                  <a:gd name="T6" fmla="*/ 275 w 277"/>
                  <a:gd name="T7" fmla="*/ 156 h 486"/>
                  <a:gd name="T8" fmla="*/ 2 w 277"/>
                  <a:gd name="T9" fmla="*/ 0 h 4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7" h="486">
                    <a:moveTo>
                      <a:pt x="2" y="0"/>
                    </a:moveTo>
                    <a:lnTo>
                      <a:pt x="0" y="319"/>
                    </a:lnTo>
                    <a:lnTo>
                      <a:pt x="276" y="485"/>
                    </a:lnTo>
                    <a:lnTo>
                      <a:pt x="275" y="156"/>
                    </a:lnTo>
                    <a:lnTo>
                      <a:pt x="2" y="0"/>
                    </a:lnTo>
                  </a:path>
                </a:pathLst>
              </a:custGeom>
              <a:solidFill>
                <a:srgbClr val="9999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05" name="Freeform 44"/>
              <p:cNvSpPr>
                <a:spLocks/>
              </p:cNvSpPr>
              <p:nvPr/>
            </p:nvSpPr>
            <p:spPr bwMode="auto">
              <a:xfrm>
                <a:off x="4191" y="2447"/>
                <a:ext cx="227" cy="131"/>
              </a:xfrm>
              <a:custGeom>
                <a:avLst/>
                <a:gdLst>
                  <a:gd name="T0" fmla="*/ 0 w 227"/>
                  <a:gd name="T1" fmla="*/ 0 h 131"/>
                  <a:gd name="T2" fmla="*/ 1 w 227"/>
                  <a:gd name="T3" fmla="*/ 4 h 131"/>
                  <a:gd name="T4" fmla="*/ 226 w 227"/>
                  <a:gd name="T5" fmla="*/ 130 h 131"/>
                  <a:gd name="T6" fmla="*/ 226 w 227"/>
                  <a:gd name="T7" fmla="*/ 124 h 131"/>
                  <a:gd name="T8" fmla="*/ 0 w 227"/>
                  <a:gd name="T9" fmla="*/ 0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7" h="131">
                    <a:moveTo>
                      <a:pt x="0" y="0"/>
                    </a:moveTo>
                    <a:lnTo>
                      <a:pt x="1" y="4"/>
                    </a:lnTo>
                    <a:lnTo>
                      <a:pt x="226" y="130"/>
                    </a:lnTo>
                    <a:lnTo>
                      <a:pt x="226" y="124"/>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06" name="Freeform 45"/>
              <p:cNvSpPr>
                <a:spLocks/>
              </p:cNvSpPr>
              <p:nvPr/>
            </p:nvSpPr>
            <p:spPr bwMode="auto">
              <a:xfrm>
                <a:off x="4191" y="2467"/>
                <a:ext cx="227" cy="132"/>
              </a:xfrm>
              <a:custGeom>
                <a:avLst/>
                <a:gdLst>
                  <a:gd name="T0" fmla="*/ 0 w 227"/>
                  <a:gd name="T1" fmla="*/ 0 h 132"/>
                  <a:gd name="T2" fmla="*/ 1 w 227"/>
                  <a:gd name="T3" fmla="*/ 5 h 132"/>
                  <a:gd name="T4" fmla="*/ 226 w 227"/>
                  <a:gd name="T5" fmla="*/ 131 h 132"/>
                  <a:gd name="T6" fmla="*/ 226 w 227"/>
                  <a:gd name="T7" fmla="*/ 125 h 132"/>
                  <a:gd name="T8" fmla="*/ 0 w 227"/>
                  <a:gd name="T9" fmla="*/ 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7" h="132">
                    <a:moveTo>
                      <a:pt x="0" y="0"/>
                    </a:moveTo>
                    <a:lnTo>
                      <a:pt x="1" y="5"/>
                    </a:lnTo>
                    <a:lnTo>
                      <a:pt x="226" y="131"/>
                    </a:lnTo>
                    <a:lnTo>
                      <a:pt x="226" y="125"/>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07" name="Freeform 46"/>
              <p:cNvSpPr>
                <a:spLocks/>
              </p:cNvSpPr>
              <p:nvPr/>
            </p:nvSpPr>
            <p:spPr bwMode="auto">
              <a:xfrm>
                <a:off x="4191" y="2489"/>
                <a:ext cx="227" cy="131"/>
              </a:xfrm>
              <a:custGeom>
                <a:avLst/>
                <a:gdLst>
                  <a:gd name="T0" fmla="*/ 0 w 227"/>
                  <a:gd name="T1" fmla="*/ 0 h 131"/>
                  <a:gd name="T2" fmla="*/ 1 w 227"/>
                  <a:gd name="T3" fmla="*/ 4 h 131"/>
                  <a:gd name="T4" fmla="*/ 226 w 227"/>
                  <a:gd name="T5" fmla="*/ 130 h 131"/>
                  <a:gd name="T6" fmla="*/ 226 w 227"/>
                  <a:gd name="T7" fmla="*/ 124 h 131"/>
                  <a:gd name="T8" fmla="*/ 0 w 227"/>
                  <a:gd name="T9" fmla="*/ 0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7" h="131">
                    <a:moveTo>
                      <a:pt x="0" y="0"/>
                    </a:moveTo>
                    <a:lnTo>
                      <a:pt x="1" y="4"/>
                    </a:lnTo>
                    <a:lnTo>
                      <a:pt x="226" y="130"/>
                    </a:lnTo>
                    <a:lnTo>
                      <a:pt x="226" y="124"/>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08" name="Freeform 47"/>
              <p:cNvSpPr>
                <a:spLocks/>
              </p:cNvSpPr>
              <p:nvPr/>
            </p:nvSpPr>
            <p:spPr bwMode="auto">
              <a:xfrm>
                <a:off x="4191" y="2506"/>
                <a:ext cx="227" cy="135"/>
              </a:xfrm>
              <a:custGeom>
                <a:avLst/>
                <a:gdLst>
                  <a:gd name="T0" fmla="*/ 0 w 227"/>
                  <a:gd name="T1" fmla="*/ 0 h 135"/>
                  <a:gd name="T2" fmla="*/ 1 w 227"/>
                  <a:gd name="T3" fmla="*/ 4 h 135"/>
                  <a:gd name="T4" fmla="*/ 226 w 227"/>
                  <a:gd name="T5" fmla="*/ 134 h 135"/>
                  <a:gd name="T6" fmla="*/ 226 w 227"/>
                  <a:gd name="T7" fmla="*/ 128 h 135"/>
                  <a:gd name="T8" fmla="*/ 0 w 227"/>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7" h="135">
                    <a:moveTo>
                      <a:pt x="0" y="0"/>
                    </a:moveTo>
                    <a:lnTo>
                      <a:pt x="1" y="4"/>
                    </a:lnTo>
                    <a:lnTo>
                      <a:pt x="226" y="134"/>
                    </a:lnTo>
                    <a:lnTo>
                      <a:pt x="226" y="128"/>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09" name="Freeform 48"/>
              <p:cNvSpPr>
                <a:spLocks/>
              </p:cNvSpPr>
              <p:nvPr/>
            </p:nvSpPr>
            <p:spPr bwMode="auto">
              <a:xfrm>
                <a:off x="4446" y="2457"/>
                <a:ext cx="387" cy="429"/>
              </a:xfrm>
              <a:custGeom>
                <a:avLst/>
                <a:gdLst>
                  <a:gd name="T0" fmla="*/ 0 w 387"/>
                  <a:gd name="T1" fmla="*/ 428 h 429"/>
                  <a:gd name="T2" fmla="*/ 0 w 387"/>
                  <a:gd name="T3" fmla="*/ 101 h 429"/>
                  <a:gd name="T4" fmla="*/ 386 w 387"/>
                  <a:gd name="T5" fmla="*/ 0 h 429"/>
                  <a:gd name="T6" fmla="*/ 386 w 387"/>
                  <a:gd name="T7" fmla="*/ 323 h 429"/>
                  <a:gd name="T8" fmla="*/ 0 w 387"/>
                  <a:gd name="T9" fmla="*/ 428 h 4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7" h="429">
                    <a:moveTo>
                      <a:pt x="0" y="428"/>
                    </a:moveTo>
                    <a:lnTo>
                      <a:pt x="0" y="101"/>
                    </a:lnTo>
                    <a:lnTo>
                      <a:pt x="386" y="0"/>
                    </a:lnTo>
                    <a:lnTo>
                      <a:pt x="386" y="323"/>
                    </a:lnTo>
                    <a:lnTo>
                      <a:pt x="0" y="428"/>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10" name="Freeform 49"/>
              <p:cNvSpPr>
                <a:spLocks/>
              </p:cNvSpPr>
              <p:nvPr/>
            </p:nvSpPr>
            <p:spPr bwMode="auto">
              <a:xfrm>
                <a:off x="4566" y="2721"/>
                <a:ext cx="291" cy="107"/>
              </a:xfrm>
              <a:custGeom>
                <a:avLst/>
                <a:gdLst>
                  <a:gd name="T0" fmla="*/ 0 w 291"/>
                  <a:gd name="T1" fmla="*/ 106 h 107"/>
                  <a:gd name="T2" fmla="*/ 0 w 291"/>
                  <a:gd name="T3" fmla="*/ 75 h 107"/>
                  <a:gd name="T4" fmla="*/ 290 w 291"/>
                  <a:gd name="T5" fmla="*/ 0 h 107"/>
                  <a:gd name="T6" fmla="*/ 290 w 291"/>
                  <a:gd name="T7" fmla="*/ 26 h 107"/>
                  <a:gd name="T8" fmla="*/ 0 w 291"/>
                  <a:gd name="T9" fmla="*/ 106 h 10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107">
                    <a:moveTo>
                      <a:pt x="0" y="106"/>
                    </a:moveTo>
                    <a:lnTo>
                      <a:pt x="0" y="75"/>
                    </a:lnTo>
                    <a:lnTo>
                      <a:pt x="290" y="0"/>
                    </a:lnTo>
                    <a:lnTo>
                      <a:pt x="290" y="26"/>
                    </a:lnTo>
                    <a:lnTo>
                      <a:pt x="0" y="10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11" name="Freeform 50"/>
              <p:cNvSpPr>
                <a:spLocks/>
              </p:cNvSpPr>
              <p:nvPr/>
            </p:nvSpPr>
            <p:spPr bwMode="auto">
              <a:xfrm>
                <a:off x="4497" y="2648"/>
                <a:ext cx="358" cy="149"/>
              </a:xfrm>
              <a:custGeom>
                <a:avLst/>
                <a:gdLst>
                  <a:gd name="T0" fmla="*/ 341 w 358"/>
                  <a:gd name="T1" fmla="*/ 40 h 149"/>
                  <a:gd name="T2" fmla="*/ 284 w 358"/>
                  <a:gd name="T3" fmla="*/ 0 h 149"/>
                  <a:gd name="T4" fmla="*/ 0 w 358"/>
                  <a:gd name="T5" fmla="*/ 71 h 149"/>
                  <a:gd name="T6" fmla="*/ 54 w 358"/>
                  <a:gd name="T7" fmla="*/ 114 h 149"/>
                  <a:gd name="T8" fmla="*/ 68 w 358"/>
                  <a:gd name="T9" fmla="*/ 148 h 149"/>
                  <a:gd name="T10" fmla="*/ 357 w 358"/>
                  <a:gd name="T11" fmla="*/ 73 h 149"/>
                  <a:gd name="T12" fmla="*/ 341 w 358"/>
                  <a:gd name="T13" fmla="*/ 40 h 14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8" h="149">
                    <a:moveTo>
                      <a:pt x="341" y="40"/>
                    </a:moveTo>
                    <a:lnTo>
                      <a:pt x="284" y="0"/>
                    </a:lnTo>
                    <a:lnTo>
                      <a:pt x="0" y="71"/>
                    </a:lnTo>
                    <a:lnTo>
                      <a:pt x="54" y="114"/>
                    </a:lnTo>
                    <a:lnTo>
                      <a:pt x="68" y="148"/>
                    </a:lnTo>
                    <a:lnTo>
                      <a:pt x="357" y="73"/>
                    </a:lnTo>
                    <a:lnTo>
                      <a:pt x="341" y="4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12" name="Freeform 51"/>
              <p:cNvSpPr>
                <a:spLocks/>
              </p:cNvSpPr>
              <p:nvPr/>
            </p:nvSpPr>
            <p:spPr bwMode="auto">
              <a:xfrm>
                <a:off x="4566" y="2614"/>
                <a:ext cx="291" cy="106"/>
              </a:xfrm>
              <a:custGeom>
                <a:avLst/>
                <a:gdLst>
                  <a:gd name="T0" fmla="*/ 0 w 291"/>
                  <a:gd name="T1" fmla="*/ 105 h 106"/>
                  <a:gd name="T2" fmla="*/ 0 w 291"/>
                  <a:gd name="T3" fmla="*/ 72 h 106"/>
                  <a:gd name="T4" fmla="*/ 290 w 291"/>
                  <a:gd name="T5" fmla="*/ 0 h 106"/>
                  <a:gd name="T6" fmla="*/ 290 w 291"/>
                  <a:gd name="T7" fmla="*/ 27 h 106"/>
                  <a:gd name="T8" fmla="*/ 0 w 291"/>
                  <a:gd name="T9" fmla="*/ 105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 h="106">
                    <a:moveTo>
                      <a:pt x="0" y="105"/>
                    </a:moveTo>
                    <a:lnTo>
                      <a:pt x="0" y="72"/>
                    </a:lnTo>
                    <a:lnTo>
                      <a:pt x="290" y="0"/>
                    </a:lnTo>
                    <a:lnTo>
                      <a:pt x="290" y="27"/>
                    </a:lnTo>
                    <a:lnTo>
                      <a:pt x="0" y="105"/>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13" name="Freeform 52"/>
              <p:cNvSpPr>
                <a:spLocks/>
              </p:cNvSpPr>
              <p:nvPr/>
            </p:nvSpPr>
            <p:spPr bwMode="auto">
              <a:xfrm>
                <a:off x="4497" y="2540"/>
                <a:ext cx="358" cy="148"/>
              </a:xfrm>
              <a:custGeom>
                <a:avLst/>
                <a:gdLst>
                  <a:gd name="T0" fmla="*/ 341 w 358"/>
                  <a:gd name="T1" fmla="*/ 40 h 148"/>
                  <a:gd name="T2" fmla="*/ 284 w 358"/>
                  <a:gd name="T3" fmla="*/ 0 h 148"/>
                  <a:gd name="T4" fmla="*/ 0 w 358"/>
                  <a:gd name="T5" fmla="*/ 70 h 148"/>
                  <a:gd name="T6" fmla="*/ 54 w 358"/>
                  <a:gd name="T7" fmla="*/ 114 h 148"/>
                  <a:gd name="T8" fmla="*/ 68 w 358"/>
                  <a:gd name="T9" fmla="*/ 147 h 148"/>
                  <a:gd name="T10" fmla="*/ 357 w 358"/>
                  <a:gd name="T11" fmla="*/ 75 h 148"/>
                  <a:gd name="T12" fmla="*/ 341 w 358"/>
                  <a:gd name="T13" fmla="*/ 40 h 1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8" h="148">
                    <a:moveTo>
                      <a:pt x="341" y="40"/>
                    </a:moveTo>
                    <a:lnTo>
                      <a:pt x="284" y="0"/>
                    </a:lnTo>
                    <a:lnTo>
                      <a:pt x="0" y="70"/>
                    </a:lnTo>
                    <a:lnTo>
                      <a:pt x="54" y="114"/>
                    </a:lnTo>
                    <a:lnTo>
                      <a:pt x="68" y="147"/>
                    </a:lnTo>
                    <a:lnTo>
                      <a:pt x="357" y="75"/>
                    </a:lnTo>
                    <a:lnTo>
                      <a:pt x="341" y="4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14" name="Freeform 53"/>
              <p:cNvSpPr>
                <a:spLocks/>
              </p:cNvSpPr>
              <p:nvPr/>
            </p:nvSpPr>
            <p:spPr bwMode="auto">
              <a:xfrm>
                <a:off x="4496" y="2611"/>
                <a:ext cx="71" cy="108"/>
              </a:xfrm>
              <a:custGeom>
                <a:avLst/>
                <a:gdLst>
                  <a:gd name="T0" fmla="*/ 68 w 71"/>
                  <a:gd name="T1" fmla="*/ 107 h 108"/>
                  <a:gd name="T2" fmla="*/ 70 w 71"/>
                  <a:gd name="T3" fmla="*/ 76 h 108"/>
                  <a:gd name="T4" fmla="*/ 68 w 71"/>
                  <a:gd name="T5" fmla="*/ 75 h 108"/>
                  <a:gd name="T6" fmla="*/ 54 w 71"/>
                  <a:gd name="T7" fmla="*/ 43 h 108"/>
                  <a:gd name="T8" fmla="*/ 0 w 71"/>
                  <a:gd name="T9" fmla="*/ 0 h 108"/>
                  <a:gd name="T10" fmla="*/ 0 w 71"/>
                  <a:gd name="T11" fmla="*/ 46 h 108"/>
                  <a:gd name="T12" fmla="*/ 68 w 71"/>
                  <a:gd name="T13" fmla="*/ 107 h 1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108">
                    <a:moveTo>
                      <a:pt x="68" y="107"/>
                    </a:moveTo>
                    <a:lnTo>
                      <a:pt x="70" y="76"/>
                    </a:lnTo>
                    <a:lnTo>
                      <a:pt x="68" y="75"/>
                    </a:lnTo>
                    <a:lnTo>
                      <a:pt x="54" y="43"/>
                    </a:lnTo>
                    <a:lnTo>
                      <a:pt x="0" y="0"/>
                    </a:lnTo>
                    <a:lnTo>
                      <a:pt x="0" y="46"/>
                    </a:lnTo>
                    <a:lnTo>
                      <a:pt x="68" y="107"/>
                    </a:lnTo>
                  </a:path>
                </a:pathLst>
              </a:custGeom>
              <a:solidFill>
                <a:srgbClr val="9999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15" name="Freeform 54"/>
              <p:cNvSpPr>
                <a:spLocks/>
              </p:cNvSpPr>
              <p:nvPr/>
            </p:nvSpPr>
            <p:spPr bwMode="auto">
              <a:xfrm>
                <a:off x="4496" y="2721"/>
                <a:ext cx="71" cy="108"/>
              </a:xfrm>
              <a:custGeom>
                <a:avLst/>
                <a:gdLst>
                  <a:gd name="T0" fmla="*/ 68 w 71"/>
                  <a:gd name="T1" fmla="*/ 107 h 108"/>
                  <a:gd name="T2" fmla="*/ 70 w 71"/>
                  <a:gd name="T3" fmla="*/ 75 h 108"/>
                  <a:gd name="T4" fmla="*/ 68 w 71"/>
                  <a:gd name="T5" fmla="*/ 74 h 108"/>
                  <a:gd name="T6" fmla="*/ 54 w 71"/>
                  <a:gd name="T7" fmla="*/ 42 h 108"/>
                  <a:gd name="T8" fmla="*/ 0 w 71"/>
                  <a:gd name="T9" fmla="*/ 0 h 108"/>
                  <a:gd name="T10" fmla="*/ 0 w 71"/>
                  <a:gd name="T11" fmla="*/ 46 h 108"/>
                  <a:gd name="T12" fmla="*/ 68 w 71"/>
                  <a:gd name="T13" fmla="*/ 107 h 1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108">
                    <a:moveTo>
                      <a:pt x="68" y="107"/>
                    </a:moveTo>
                    <a:lnTo>
                      <a:pt x="70" y="75"/>
                    </a:lnTo>
                    <a:lnTo>
                      <a:pt x="68" y="74"/>
                    </a:lnTo>
                    <a:lnTo>
                      <a:pt x="54" y="42"/>
                    </a:lnTo>
                    <a:lnTo>
                      <a:pt x="0" y="0"/>
                    </a:lnTo>
                    <a:lnTo>
                      <a:pt x="0" y="46"/>
                    </a:lnTo>
                    <a:lnTo>
                      <a:pt x="68" y="107"/>
                    </a:lnTo>
                  </a:path>
                </a:pathLst>
              </a:custGeom>
              <a:solidFill>
                <a:srgbClr val="99999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16" name="Freeform 55"/>
              <p:cNvSpPr>
                <a:spLocks/>
              </p:cNvSpPr>
              <p:nvPr/>
            </p:nvSpPr>
            <p:spPr bwMode="auto">
              <a:xfrm>
                <a:off x="4358" y="2377"/>
                <a:ext cx="210" cy="71"/>
              </a:xfrm>
              <a:custGeom>
                <a:avLst/>
                <a:gdLst>
                  <a:gd name="T0" fmla="*/ 209 w 210"/>
                  <a:gd name="T1" fmla="*/ 0 h 71"/>
                  <a:gd name="T2" fmla="*/ 0 w 210"/>
                  <a:gd name="T3" fmla="*/ 52 h 71"/>
                  <a:gd name="T4" fmla="*/ 0 w 210"/>
                  <a:gd name="T5" fmla="*/ 70 h 71"/>
                  <a:gd name="T6" fmla="*/ 209 w 210"/>
                  <a:gd name="T7" fmla="*/ 17 h 71"/>
                  <a:gd name="T8" fmla="*/ 209 w 210"/>
                  <a:gd name="T9" fmla="*/ 0 h 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 h="71">
                    <a:moveTo>
                      <a:pt x="209" y="0"/>
                    </a:moveTo>
                    <a:lnTo>
                      <a:pt x="0" y="52"/>
                    </a:lnTo>
                    <a:lnTo>
                      <a:pt x="0" y="70"/>
                    </a:lnTo>
                    <a:lnTo>
                      <a:pt x="209" y="17"/>
                    </a:lnTo>
                    <a:lnTo>
                      <a:pt x="209"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17" name="Freeform 56"/>
              <p:cNvSpPr>
                <a:spLocks/>
              </p:cNvSpPr>
              <p:nvPr/>
            </p:nvSpPr>
            <p:spPr bwMode="auto">
              <a:xfrm>
                <a:off x="4367" y="2395"/>
                <a:ext cx="321" cy="121"/>
              </a:xfrm>
              <a:custGeom>
                <a:avLst/>
                <a:gdLst>
                  <a:gd name="T0" fmla="*/ 193 w 321"/>
                  <a:gd name="T1" fmla="*/ 0 h 121"/>
                  <a:gd name="T2" fmla="*/ 197 w 321"/>
                  <a:gd name="T3" fmla="*/ 0 h 121"/>
                  <a:gd name="T4" fmla="*/ 207 w 321"/>
                  <a:gd name="T5" fmla="*/ 3 h 121"/>
                  <a:gd name="T6" fmla="*/ 221 w 321"/>
                  <a:gd name="T7" fmla="*/ 9 h 121"/>
                  <a:gd name="T8" fmla="*/ 237 w 321"/>
                  <a:gd name="T9" fmla="*/ 15 h 121"/>
                  <a:gd name="T10" fmla="*/ 254 w 321"/>
                  <a:gd name="T11" fmla="*/ 23 h 121"/>
                  <a:gd name="T12" fmla="*/ 272 w 321"/>
                  <a:gd name="T13" fmla="*/ 31 h 121"/>
                  <a:gd name="T14" fmla="*/ 287 w 321"/>
                  <a:gd name="T15" fmla="*/ 39 h 121"/>
                  <a:gd name="T16" fmla="*/ 299 w 321"/>
                  <a:gd name="T17" fmla="*/ 48 h 121"/>
                  <a:gd name="T18" fmla="*/ 307 w 321"/>
                  <a:gd name="T19" fmla="*/ 55 h 121"/>
                  <a:gd name="T20" fmla="*/ 313 w 321"/>
                  <a:gd name="T21" fmla="*/ 61 h 121"/>
                  <a:gd name="T22" fmla="*/ 316 w 321"/>
                  <a:gd name="T23" fmla="*/ 65 h 121"/>
                  <a:gd name="T24" fmla="*/ 318 w 321"/>
                  <a:gd name="T25" fmla="*/ 69 h 121"/>
                  <a:gd name="T26" fmla="*/ 320 w 321"/>
                  <a:gd name="T27" fmla="*/ 71 h 121"/>
                  <a:gd name="T28" fmla="*/ 320 w 321"/>
                  <a:gd name="T29" fmla="*/ 72 h 121"/>
                  <a:gd name="T30" fmla="*/ 320 w 321"/>
                  <a:gd name="T31" fmla="*/ 73 h 121"/>
                  <a:gd name="T32" fmla="*/ 320 w 321"/>
                  <a:gd name="T33" fmla="*/ 73 h 121"/>
                  <a:gd name="T34" fmla="*/ 132 w 321"/>
                  <a:gd name="T35" fmla="*/ 120 h 121"/>
                  <a:gd name="T36" fmla="*/ 130 w 321"/>
                  <a:gd name="T37" fmla="*/ 118 h 121"/>
                  <a:gd name="T38" fmla="*/ 123 w 321"/>
                  <a:gd name="T39" fmla="*/ 112 h 121"/>
                  <a:gd name="T40" fmla="*/ 112 w 321"/>
                  <a:gd name="T41" fmla="*/ 104 h 121"/>
                  <a:gd name="T42" fmla="*/ 100 w 321"/>
                  <a:gd name="T43" fmla="*/ 94 h 121"/>
                  <a:gd name="T44" fmla="*/ 86 w 321"/>
                  <a:gd name="T45" fmla="*/ 85 h 121"/>
                  <a:gd name="T46" fmla="*/ 71 w 321"/>
                  <a:gd name="T47" fmla="*/ 75 h 121"/>
                  <a:gd name="T48" fmla="*/ 58 w 321"/>
                  <a:gd name="T49" fmla="*/ 67 h 121"/>
                  <a:gd name="T50" fmla="*/ 47 w 321"/>
                  <a:gd name="T51" fmla="*/ 62 h 121"/>
                  <a:gd name="T52" fmla="*/ 37 w 321"/>
                  <a:gd name="T53" fmla="*/ 59 h 121"/>
                  <a:gd name="T54" fmla="*/ 27 w 321"/>
                  <a:gd name="T55" fmla="*/ 56 h 121"/>
                  <a:gd name="T56" fmla="*/ 19 w 321"/>
                  <a:gd name="T57" fmla="*/ 54 h 121"/>
                  <a:gd name="T58" fmla="*/ 13 w 321"/>
                  <a:gd name="T59" fmla="*/ 52 h 121"/>
                  <a:gd name="T60" fmla="*/ 7 w 321"/>
                  <a:gd name="T61" fmla="*/ 51 h 121"/>
                  <a:gd name="T62" fmla="*/ 3 w 321"/>
                  <a:gd name="T63" fmla="*/ 50 h 121"/>
                  <a:gd name="T64" fmla="*/ 0 w 321"/>
                  <a:gd name="T65" fmla="*/ 49 h 121"/>
                  <a:gd name="T66" fmla="*/ 0 w 321"/>
                  <a:gd name="T67" fmla="*/ 49 h 121"/>
                  <a:gd name="T68" fmla="*/ 193 w 321"/>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21" h="121">
                    <a:moveTo>
                      <a:pt x="193" y="0"/>
                    </a:moveTo>
                    <a:lnTo>
                      <a:pt x="197" y="0"/>
                    </a:lnTo>
                    <a:lnTo>
                      <a:pt x="207" y="3"/>
                    </a:lnTo>
                    <a:lnTo>
                      <a:pt x="221" y="9"/>
                    </a:lnTo>
                    <a:lnTo>
                      <a:pt x="237" y="15"/>
                    </a:lnTo>
                    <a:lnTo>
                      <a:pt x="254" y="23"/>
                    </a:lnTo>
                    <a:lnTo>
                      <a:pt x="272" y="31"/>
                    </a:lnTo>
                    <a:lnTo>
                      <a:pt x="287" y="39"/>
                    </a:lnTo>
                    <a:lnTo>
                      <a:pt x="299" y="48"/>
                    </a:lnTo>
                    <a:lnTo>
                      <a:pt x="307" y="55"/>
                    </a:lnTo>
                    <a:lnTo>
                      <a:pt x="313" y="61"/>
                    </a:lnTo>
                    <a:lnTo>
                      <a:pt x="316" y="65"/>
                    </a:lnTo>
                    <a:lnTo>
                      <a:pt x="318" y="69"/>
                    </a:lnTo>
                    <a:lnTo>
                      <a:pt x="320" y="71"/>
                    </a:lnTo>
                    <a:lnTo>
                      <a:pt x="320" y="72"/>
                    </a:lnTo>
                    <a:lnTo>
                      <a:pt x="320" y="73"/>
                    </a:lnTo>
                    <a:lnTo>
                      <a:pt x="132" y="120"/>
                    </a:lnTo>
                    <a:lnTo>
                      <a:pt x="130" y="118"/>
                    </a:lnTo>
                    <a:lnTo>
                      <a:pt x="123" y="112"/>
                    </a:lnTo>
                    <a:lnTo>
                      <a:pt x="112" y="104"/>
                    </a:lnTo>
                    <a:lnTo>
                      <a:pt x="100" y="94"/>
                    </a:lnTo>
                    <a:lnTo>
                      <a:pt x="86" y="85"/>
                    </a:lnTo>
                    <a:lnTo>
                      <a:pt x="71" y="75"/>
                    </a:lnTo>
                    <a:lnTo>
                      <a:pt x="58" y="67"/>
                    </a:lnTo>
                    <a:lnTo>
                      <a:pt x="47" y="62"/>
                    </a:lnTo>
                    <a:lnTo>
                      <a:pt x="37" y="59"/>
                    </a:lnTo>
                    <a:lnTo>
                      <a:pt x="27" y="56"/>
                    </a:lnTo>
                    <a:lnTo>
                      <a:pt x="19" y="54"/>
                    </a:lnTo>
                    <a:lnTo>
                      <a:pt x="13" y="52"/>
                    </a:lnTo>
                    <a:lnTo>
                      <a:pt x="7" y="51"/>
                    </a:lnTo>
                    <a:lnTo>
                      <a:pt x="3" y="50"/>
                    </a:lnTo>
                    <a:lnTo>
                      <a:pt x="0" y="49"/>
                    </a:lnTo>
                    <a:lnTo>
                      <a:pt x="193" y="0"/>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18" name="Freeform 57"/>
              <p:cNvSpPr>
                <a:spLocks/>
              </p:cNvSpPr>
              <p:nvPr/>
            </p:nvSpPr>
            <p:spPr bwMode="auto">
              <a:xfrm>
                <a:off x="4366" y="2388"/>
                <a:ext cx="322" cy="121"/>
              </a:xfrm>
              <a:custGeom>
                <a:avLst/>
                <a:gdLst>
                  <a:gd name="T0" fmla="*/ 194 w 322"/>
                  <a:gd name="T1" fmla="*/ 0 h 121"/>
                  <a:gd name="T2" fmla="*/ 198 w 322"/>
                  <a:gd name="T3" fmla="*/ 1 h 121"/>
                  <a:gd name="T4" fmla="*/ 208 w 322"/>
                  <a:gd name="T5" fmla="*/ 4 h 121"/>
                  <a:gd name="T6" fmla="*/ 221 w 322"/>
                  <a:gd name="T7" fmla="*/ 9 h 121"/>
                  <a:gd name="T8" fmla="*/ 237 w 322"/>
                  <a:gd name="T9" fmla="*/ 15 h 121"/>
                  <a:gd name="T10" fmla="*/ 255 w 322"/>
                  <a:gd name="T11" fmla="*/ 22 h 121"/>
                  <a:gd name="T12" fmla="*/ 273 w 322"/>
                  <a:gd name="T13" fmla="*/ 31 h 121"/>
                  <a:gd name="T14" fmla="*/ 288 w 322"/>
                  <a:gd name="T15" fmla="*/ 40 h 121"/>
                  <a:gd name="T16" fmla="*/ 300 w 322"/>
                  <a:gd name="T17" fmla="*/ 48 h 121"/>
                  <a:gd name="T18" fmla="*/ 308 w 322"/>
                  <a:gd name="T19" fmla="*/ 55 h 121"/>
                  <a:gd name="T20" fmla="*/ 313 w 322"/>
                  <a:gd name="T21" fmla="*/ 61 h 121"/>
                  <a:gd name="T22" fmla="*/ 317 w 322"/>
                  <a:gd name="T23" fmla="*/ 65 h 121"/>
                  <a:gd name="T24" fmla="*/ 319 w 322"/>
                  <a:gd name="T25" fmla="*/ 68 h 121"/>
                  <a:gd name="T26" fmla="*/ 321 w 322"/>
                  <a:gd name="T27" fmla="*/ 70 h 121"/>
                  <a:gd name="T28" fmla="*/ 321 w 322"/>
                  <a:gd name="T29" fmla="*/ 72 h 121"/>
                  <a:gd name="T30" fmla="*/ 321 w 322"/>
                  <a:gd name="T31" fmla="*/ 72 h 121"/>
                  <a:gd name="T32" fmla="*/ 321 w 322"/>
                  <a:gd name="T33" fmla="*/ 72 h 121"/>
                  <a:gd name="T34" fmla="*/ 133 w 322"/>
                  <a:gd name="T35" fmla="*/ 120 h 121"/>
                  <a:gd name="T36" fmla="*/ 130 w 322"/>
                  <a:gd name="T37" fmla="*/ 117 h 121"/>
                  <a:gd name="T38" fmla="*/ 123 w 322"/>
                  <a:gd name="T39" fmla="*/ 112 h 121"/>
                  <a:gd name="T40" fmla="*/ 113 w 322"/>
                  <a:gd name="T41" fmla="*/ 104 h 121"/>
                  <a:gd name="T42" fmla="*/ 101 w 322"/>
                  <a:gd name="T43" fmla="*/ 94 h 121"/>
                  <a:gd name="T44" fmla="*/ 87 w 322"/>
                  <a:gd name="T45" fmla="*/ 84 h 121"/>
                  <a:gd name="T46" fmla="*/ 72 w 322"/>
                  <a:gd name="T47" fmla="*/ 75 h 121"/>
                  <a:gd name="T48" fmla="*/ 59 w 322"/>
                  <a:gd name="T49" fmla="*/ 67 h 121"/>
                  <a:gd name="T50" fmla="*/ 47 w 322"/>
                  <a:gd name="T51" fmla="*/ 62 h 121"/>
                  <a:gd name="T52" fmla="*/ 37 w 322"/>
                  <a:gd name="T53" fmla="*/ 59 h 121"/>
                  <a:gd name="T54" fmla="*/ 28 w 322"/>
                  <a:gd name="T55" fmla="*/ 56 h 121"/>
                  <a:gd name="T56" fmla="*/ 20 w 322"/>
                  <a:gd name="T57" fmla="*/ 54 h 121"/>
                  <a:gd name="T58" fmla="*/ 13 w 322"/>
                  <a:gd name="T59" fmla="*/ 52 h 121"/>
                  <a:gd name="T60" fmla="*/ 7 w 322"/>
                  <a:gd name="T61" fmla="*/ 51 h 121"/>
                  <a:gd name="T62" fmla="*/ 3 w 322"/>
                  <a:gd name="T63" fmla="*/ 50 h 121"/>
                  <a:gd name="T64" fmla="*/ 1 w 322"/>
                  <a:gd name="T65" fmla="*/ 49 h 121"/>
                  <a:gd name="T66" fmla="*/ 0 w 322"/>
                  <a:gd name="T67" fmla="*/ 49 h 121"/>
                  <a:gd name="T68" fmla="*/ 194 w 322"/>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22" h="121">
                    <a:moveTo>
                      <a:pt x="194" y="0"/>
                    </a:moveTo>
                    <a:lnTo>
                      <a:pt x="198" y="1"/>
                    </a:lnTo>
                    <a:lnTo>
                      <a:pt x="208" y="4"/>
                    </a:lnTo>
                    <a:lnTo>
                      <a:pt x="221" y="9"/>
                    </a:lnTo>
                    <a:lnTo>
                      <a:pt x="237" y="15"/>
                    </a:lnTo>
                    <a:lnTo>
                      <a:pt x="255" y="22"/>
                    </a:lnTo>
                    <a:lnTo>
                      <a:pt x="273" y="31"/>
                    </a:lnTo>
                    <a:lnTo>
                      <a:pt x="288" y="40"/>
                    </a:lnTo>
                    <a:lnTo>
                      <a:pt x="300" y="48"/>
                    </a:lnTo>
                    <a:lnTo>
                      <a:pt x="308" y="55"/>
                    </a:lnTo>
                    <a:lnTo>
                      <a:pt x="313" y="61"/>
                    </a:lnTo>
                    <a:lnTo>
                      <a:pt x="317" y="65"/>
                    </a:lnTo>
                    <a:lnTo>
                      <a:pt x="319" y="68"/>
                    </a:lnTo>
                    <a:lnTo>
                      <a:pt x="321" y="70"/>
                    </a:lnTo>
                    <a:lnTo>
                      <a:pt x="321" y="72"/>
                    </a:lnTo>
                    <a:lnTo>
                      <a:pt x="133" y="120"/>
                    </a:lnTo>
                    <a:lnTo>
                      <a:pt x="130" y="117"/>
                    </a:lnTo>
                    <a:lnTo>
                      <a:pt x="123" y="112"/>
                    </a:lnTo>
                    <a:lnTo>
                      <a:pt x="113" y="104"/>
                    </a:lnTo>
                    <a:lnTo>
                      <a:pt x="101" y="94"/>
                    </a:lnTo>
                    <a:lnTo>
                      <a:pt x="87" y="84"/>
                    </a:lnTo>
                    <a:lnTo>
                      <a:pt x="72" y="75"/>
                    </a:lnTo>
                    <a:lnTo>
                      <a:pt x="59" y="67"/>
                    </a:lnTo>
                    <a:lnTo>
                      <a:pt x="47" y="62"/>
                    </a:lnTo>
                    <a:lnTo>
                      <a:pt x="37" y="59"/>
                    </a:lnTo>
                    <a:lnTo>
                      <a:pt x="28" y="56"/>
                    </a:lnTo>
                    <a:lnTo>
                      <a:pt x="20" y="54"/>
                    </a:lnTo>
                    <a:lnTo>
                      <a:pt x="13" y="52"/>
                    </a:lnTo>
                    <a:lnTo>
                      <a:pt x="7" y="51"/>
                    </a:lnTo>
                    <a:lnTo>
                      <a:pt x="3" y="50"/>
                    </a:lnTo>
                    <a:lnTo>
                      <a:pt x="1" y="49"/>
                    </a:lnTo>
                    <a:lnTo>
                      <a:pt x="0" y="49"/>
                    </a:lnTo>
                    <a:lnTo>
                      <a:pt x="194" y="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4119" name="Freeform 58"/>
              <p:cNvSpPr>
                <a:spLocks/>
              </p:cNvSpPr>
              <p:nvPr/>
            </p:nvSpPr>
            <p:spPr bwMode="auto">
              <a:xfrm>
                <a:off x="4366" y="2381"/>
                <a:ext cx="322" cy="121"/>
              </a:xfrm>
              <a:custGeom>
                <a:avLst/>
                <a:gdLst>
                  <a:gd name="T0" fmla="*/ 194 w 322"/>
                  <a:gd name="T1" fmla="*/ 0 h 121"/>
                  <a:gd name="T2" fmla="*/ 198 w 322"/>
                  <a:gd name="T3" fmla="*/ 1 h 121"/>
                  <a:gd name="T4" fmla="*/ 207 w 322"/>
                  <a:gd name="T5" fmla="*/ 4 h 121"/>
                  <a:gd name="T6" fmla="*/ 221 w 322"/>
                  <a:gd name="T7" fmla="*/ 9 h 121"/>
                  <a:gd name="T8" fmla="*/ 237 w 322"/>
                  <a:gd name="T9" fmla="*/ 15 h 121"/>
                  <a:gd name="T10" fmla="*/ 255 w 322"/>
                  <a:gd name="T11" fmla="*/ 23 h 121"/>
                  <a:gd name="T12" fmla="*/ 273 w 322"/>
                  <a:gd name="T13" fmla="*/ 31 h 121"/>
                  <a:gd name="T14" fmla="*/ 288 w 322"/>
                  <a:gd name="T15" fmla="*/ 40 h 121"/>
                  <a:gd name="T16" fmla="*/ 299 w 322"/>
                  <a:gd name="T17" fmla="*/ 48 h 121"/>
                  <a:gd name="T18" fmla="*/ 308 w 322"/>
                  <a:gd name="T19" fmla="*/ 55 h 121"/>
                  <a:gd name="T20" fmla="*/ 313 w 322"/>
                  <a:gd name="T21" fmla="*/ 61 h 121"/>
                  <a:gd name="T22" fmla="*/ 317 w 322"/>
                  <a:gd name="T23" fmla="*/ 66 h 121"/>
                  <a:gd name="T24" fmla="*/ 319 w 322"/>
                  <a:gd name="T25" fmla="*/ 68 h 121"/>
                  <a:gd name="T26" fmla="*/ 320 w 322"/>
                  <a:gd name="T27" fmla="*/ 71 h 121"/>
                  <a:gd name="T28" fmla="*/ 321 w 322"/>
                  <a:gd name="T29" fmla="*/ 72 h 121"/>
                  <a:gd name="T30" fmla="*/ 321 w 322"/>
                  <a:gd name="T31" fmla="*/ 73 h 121"/>
                  <a:gd name="T32" fmla="*/ 320 w 322"/>
                  <a:gd name="T33" fmla="*/ 73 h 121"/>
                  <a:gd name="T34" fmla="*/ 132 w 322"/>
                  <a:gd name="T35" fmla="*/ 120 h 121"/>
                  <a:gd name="T36" fmla="*/ 130 w 322"/>
                  <a:gd name="T37" fmla="*/ 118 h 121"/>
                  <a:gd name="T38" fmla="*/ 123 w 322"/>
                  <a:gd name="T39" fmla="*/ 112 h 121"/>
                  <a:gd name="T40" fmla="*/ 112 w 322"/>
                  <a:gd name="T41" fmla="*/ 104 h 121"/>
                  <a:gd name="T42" fmla="*/ 100 w 322"/>
                  <a:gd name="T43" fmla="*/ 94 h 121"/>
                  <a:gd name="T44" fmla="*/ 86 w 322"/>
                  <a:gd name="T45" fmla="*/ 84 h 121"/>
                  <a:gd name="T46" fmla="*/ 72 w 322"/>
                  <a:gd name="T47" fmla="*/ 75 h 121"/>
                  <a:gd name="T48" fmla="*/ 59 w 322"/>
                  <a:gd name="T49" fmla="*/ 67 h 121"/>
                  <a:gd name="T50" fmla="*/ 47 w 322"/>
                  <a:gd name="T51" fmla="*/ 62 h 121"/>
                  <a:gd name="T52" fmla="*/ 37 w 322"/>
                  <a:gd name="T53" fmla="*/ 59 h 121"/>
                  <a:gd name="T54" fmla="*/ 28 w 322"/>
                  <a:gd name="T55" fmla="*/ 57 h 121"/>
                  <a:gd name="T56" fmla="*/ 20 w 322"/>
                  <a:gd name="T57" fmla="*/ 54 h 121"/>
                  <a:gd name="T58" fmla="*/ 13 w 322"/>
                  <a:gd name="T59" fmla="*/ 52 h 121"/>
                  <a:gd name="T60" fmla="*/ 7 w 322"/>
                  <a:gd name="T61" fmla="*/ 51 h 121"/>
                  <a:gd name="T62" fmla="*/ 3 w 322"/>
                  <a:gd name="T63" fmla="*/ 50 h 121"/>
                  <a:gd name="T64" fmla="*/ 0 w 322"/>
                  <a:gd name="T65" fmla="*/ 49 h 121"/>
                  <a:gd name="T66" fmla="*/ 0 w 322"/>
                  <a:gd name="T67" fmla="*/ 49 h 121"/>
                  <a:gd name="T68" fmla="*/ 194 w 322"/>
                  <a:gd name="T69" fmla="*/ 0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22" h="121">
                    <a:moveTo>
                      <a:pt x="194" y="0"/>
                    </a:moveTo>
                    <a:lnTo>
                      <a:pt x="198" y="1"/>
                    </a:lnTo>
                    <a:lnTo>
                      <a:pt x="207" y="4"/>
                    </a:lnTo>
                    <a:lnTo>
                      <a:pt x="221" y="9"/>
                    </a:lnTo>
                    <a:lnTo>
                      <a:pt x="237" y="15"/>
                    </a:lnTo>
                    <a:lnTo>
                      <a:pt x="255" y="23"/>
                    </a:lnTo>
                    <a:lnTo>
                      <a:pt x="273" y="31"/>
                    </a:lnTo>
                    <a:lnTo>
                      <a:pt x="288" y="40"/>
                    </a:lnTo>
                    <a:lnTo>
                      <a:pt x="299" y="48"/>
                    </a:lnTo>
                    <a:lnTo>
                      <a:pt x="308" y="55"/>
                    </a:lnTo>
                    <a:lnTo>
                      <a:pt x="313" y="61"/>
                    </a:lnTo>
                    <a:lnTo>
                      <a:pt x="317" y="66"/>
                    </a:lnTo>
                    <a:lnTo>
                      <a:pt x="319" y="68"/>
                    </a:lnTo>
                    <a:lnTo>
                      <a:pt x="320" y="71"/>
                    </a:lnTo>
                    <a:lnTo>
                      <a:pt x="321" y="72"/>
                    </a:lnTo>
                    <a:lnTo>
                      <a:pt x="321" y="73"/>
                    </a:lnTo>
                    <a:lnTo>
                      <a:pt x="320" y="73"/>
                    </a:lnTo>
                    <a:lnTo>
                      <a:pt x="132" y="120"/>
                    </a:lnTo>
                    <a:lnTo>
                      <a:pt x="130" y="118"/>
                    </a:lnTo>
                    <a:lnTo>
                      <a:pt x="123" y="112"/>
                    </a:lnTo>
                    <a:lnTo>
                      <a:pt x="112" y="104"/>
                    </a:lnTo>
                    <a:lnTo>
                      <a:pt x="100" y="94"/>
                    </a:lnTo>
                    <a:lnTo>
                      <a:pt x="86" y="84"/>
                    </a:lnTo>
                    <a:lnTo>
                      <a:pt x="72" y="75"/>
                    </a:lnTo>
                    <a:lnTo>
                      <a:pt x="59" y="67"/>
                    </a:lnTo>
                    <a:lnTo>
                      <a:pt x="47" y="62"/>
                    </a:lnTo>
                    <a:lnTo>
                      <a:pt x="37" y="59"/>
                    </a:lnTo>
                    <a:lnTo>
                      <a:pt x="28" y="57"/>
                    </a:lnTo>
                    <a:lnTo>
                      <a:pt x="20" y="54"/>
                    </a:lnTo>
                    <a:lnTo>
                      <a:pt x="13" y="52"/>
                    </a:lnTo>
                    <a:lnTo>
                      <a:pt x="7" y="51"/>
                    </a:lnTo>
                    <a:lnTo>
                      <a:pt x="3" y="50"/>
                    </a:lnTo>
                    <a:lnTo>
                      <a:pt x="0" y="49"/>
                    </a:lnTo>
                    <a:lnTo>
                      <a:pt x="194"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sp>
          <p:nvSpPr>
            <p:cNvPr id="174100" name="Rectangle 59"/>
            <p:cNvSpPr>
              <a:spLocks noChangeArrowheads="1"/>
            </p:cNvSpPr>
            <p:nvPr/>
          </p:nvSpPr>
          <p:spPr bwMode="auto">
            <a:xfrm>
              <a:off x="3942" y="2943"/>
              <a:ext cx="1142" cy="404"/>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r>
                <a:rPr lang="en-US" altLang="en-US" sz="1800" b="1"/>
                <a:t>Op sys name</a:t>
              </a:r>
              <a:br>
                <a:rPr lang="en-US" altLang="en-US" sz="1800" b="1"/>
              </a:br>
              <a:r>
                <a:rPr lang="en-US" altLang="en-US" sz="1800" b="1"/>
                <a:t>HP4FL1</a:t>
              </a:r>
            </a:p>
          </p:txBody>
        </p:sp>
      </p:grpSp>
      <p:sp>
        <p:nvSpPr>
          <p:cNvPr id="61"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Impressora</a:t>
            </a:r>
          </a:p>
        </p:txBody>
      </p:sp>
      <p:sp>
        <p:nvSpPr>
          <p:cNvPr id="174097"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
        <p:nvSpPr>
          <p:cNvPr id="174098" name="TextBox 62"/>
          <p:cNvSpPr txBox="1">
            <a:spLocks noChangeArrowheads="1"/>
          </p:cNvSpPr>
          <p:nvPr/>
        </p:nvSpPr>
        <p:spPr bwMode="auto">
          <a:xfrm>
            <a:off x="11113" y="908050"/>
            <a:ext cx="90249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Wingdings" panose="05000000000000000000" pitchFamily="2" charset="2"/>
              <a:buChar char="q"/>
            </a:pPr>
            <a:r>
              <a:rPr lang="pt-BR" altLang="en-US" sz="1800"/>
              <a:t>Não será abordado neste treinamento.</a:t>
            </a:r>
            <a:endParaRPr lang="en-US"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816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6130" name="Group 6"/>
          <p:cNvGrpSpPr>
            <a:grpSpLocks/>
          </p:cNvGrpSpPr>
          <p:nvPr/>
        </p:nvGrpSpPr>
        <p:grpSpPr bwMode="auto">
          <a:xfrm>
            <a:off x="7308850" y="117475"/>
            <a:ext cx="1735138" cy="647700"/>
            <a:chOff x="7380288" y="41275"/>
            <a:chExt cx="1735137" cy="647700"/>
          </a:xfrm>
        </p:grpSpPr>
        <p:sp>
          <p:nvSpPr>
            <p:cNvPr id="6"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7"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dirty="0" smtClean="0">
                  <a:solidFill>
                    <a:srgbClr val="FF0000"/>
                  </a:solidFill>
                </a:rPr>
                <a:t>#público</a:t>
              </a:r>
              <a:endParaRPr lang="pt-BR" altLang="pt-BR" sz="1200" dirty="0" smtClean="0">
                <a:solidFill>
                  <a:srgbClr val="FF0000"/>
                </a:solidFill>
              </a:endParaRPr>
            </a:p>
          </p:txBody>
        </p:sp>
      </p:grpSp>
      <p:sp>
        <p:nvSpPr>
          <p:cNvPr id="2"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Concurrent</a:t>
            </a:r>
          </a:p>
        </p:txBody>
      </p:sp>
      <p:sp>
        <p:nvSpPr>
          <p:cNvPr id="176132"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
        <p:nvSpPr>
          <p:cNvPr id="176133" name="TextBox 3"/>
          <p:cNvSpPr txBox="1">
            <a:spLocks noChangeArrowheads="1"/>
          </p:cNvSpPr>
          <p:nvPr/>
        </p:nvSpPr>
        <p:spPr bwMode="auto">
          <a:xfrm>
            <a:off x="-34925" y="908050"/>
            <a:ext cx="9132888"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nSpc>
                <a:spcPct val="150000"/>
              </a:lnSpc>
              <a:spcBef>
                <a:spcPct val="0"/>
              </a:spcBef>
              <a:buFont typeface="Wingdings" panose="05000000000000000000" pitchFamily="2" charset="2"/>
              <a:buChar char="q"/>
            </a:pPr>
            <a:r>
              <a:rPr lang="pt-BR" altLang="en-US" sz="1800"/>
              <a:t>Solicitações simultâneas, programas e gerentes</a:t>
            </a:r>
          </a:p>
          <a:p>
            <a:pPr>
              <a:lnSpc>
                <a:spcPct val="150000"/>
              </a:lnSpc>
              <a:spcBef>
                <a:spcPct val="0"/>
              </a:spcBef>
              <a:buFont typeface="Wingdings" panose="05000000000000000000" pitchFamily="2" charset="2"/>
              <a:buChar char="q"/>
            </a:pPr>
            <a:r>
              <a:rPr lang="pt-BR" altLang="en-US" sz="1800"/>
              <a:t>Processamento simultâneo de longa execução, os programas de uso intensivo de dados simultâneos, com operações on-line.</a:t>
            </a:r>
          </a:p>
          <a:p>
            <a:pPr>
              <a:lnSpc>
                <a:spcPct val="150000"/>
              </a:lnSpc>
              <a:spcBef>
                <a:spcPct val="0"/>
              </a:spcBef>
              <a:buFont typeface="Wingdings" panose="05000000000000000000" pitchFamily="2" charset="2"/>
              <a:buChar char="q"/>
            </a:pPr>
            <a:r>
              <a:rPr lang="pt-BR" altLang="en-US" sz="1800"/>
              <a:t>Programas aplicativos Oracle podem ser executados simultaneamente uns com os outros, bem como com outros programas; </a:t>
            </a:r>
          </a:p>
          <a:p>
            <a:pPr>
              <a:lnSpc>
                <a:spcPct val="150000"/>
              </a:lnSpc>
              <a:spcBef>
                <a:spcPct val="0"/>
              </a:spcBef>
              <a:buFont typeface="Wingdings" panose="05000000000000000000" pitchFamily="2" charset="2"/>
              <a:buChar char="q"/>
            </a:pPr>
            <a:r>
              <a:rPr lang="pt-BR" altLang="en-US" sz="1800"/>
              <a:t>Cada pedido concorrente insere uma linha em uma tabela de banco de dados mantido pela biblioteca de objetos do Oracle Application.</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7154" name="Group 6"/>
          <p:cNvGrpSpPr>
            <a:grpSpLocks/>
          </p:cNvGrpSpPr>
          <p:nvPr/>
        </p:nvGrpSpPr>
        <p:grpSpPr bwMode="auto">
          <a:xfrm>
            <a:off x="7308850" y="117475"/>
            <a:ext cx="1735138" cy="647700"/>
            <a:chOff x="7380288" y="41275"/>
            <a:chExt cx="1735137" cy="647700"/>
          </a:xfrm>
        </p:grpSpPr>
        <p:sp>
          <p:nvSpPr>
            <p:cNvPr id="64"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65"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grpSp>
        <p:nvGrpSpPr>
          <p:cNvPr id="177155" name="Group 2"/>
          <p:cNvGrpSpPr>
            <a:grpSpLocks/>
          </p:cNvGrpSpPr>
          <p:nvPr/>
        </p:nvGrpSpPr>
        <p:grpSpPr bwMode="auto">
          <a:xfrm>
            <a:off x="0" y="1103313"/>
            <a:ext cx="8302625" cy="4341812"/>
            <a:chOff x="0" y="1103412"/>
            <a:chExt cx="8302625" cy="4341812"/>
          </a:xfrm>
        </p:grpSpPr>
        <p:sp>
          <p:nvSpPr>
            <p:cNvPr id="177158" name="myRectangle 3A"/>
            <p:cNvSpPr>
              <a:spLocks noChangeArrowheads="1"/>
            </p:cNvSpPr>
            <p:nvPr/>
          </p:nvSpPr>
          <p:spPr bwMode="auto">
            <a:xfrm>
              <a:off x="3768725" y="1116112"/>
              <a:ext cx="768350" cy="6413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84200" indent="-1270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584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584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041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498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1955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413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000000"/>
                </a:buClr>
                <a:buFontTx/>
                <a:buNone/>
              </a:pPr>
              <a:r>
                <a:rPr lang="en-US" altLang="en-US" sz="1800" b="1"/>
                <a:t>6 AM</a:t>
              </a:r>
            </a:p>
            <a:p>
              <a:pPr algn="ctr">
                <a:spcBef>
                  <a:spcPct val="0"/>
                </a:spcBef>
                <a:buClr>
                  <a:srgbClr val="000000"/>
                </a:buClr>
                <a:buFontTx/>
                <a:buNone/>
              </a:pPr>
              <a:r>
                <a:rPr lang="en-US" altLang="en-US" sz="1800" b="1"/>
                <a:t>06:00</a:t>
              </a:r>
            </a:p>
          </p:txBody>
        </p:sp>
        <p:sp>
          <p:nvSpPr>
            <p:cNvPr id="177159" name="myRectangle 4A"/>
            <p:cNvSpPr>
              <a:spLocks noChangeArrowheads="1"/>
            </p:cNvSpPr>
            <p:nvPr/>
          </p:nvSpPr>
          <p:spPr bwMode="auto">
            <a:xfrm>
              <a:off x="5019675" y="1109762"/>
              <a:ext cx="844550" cy="6413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60400" indent="-2032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60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660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117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574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032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489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000000"/>
                </a:buClr>
                <a:buFontTx/>
                <a:buNone/>
              </a:pPr>
              <a:r>
                <a:rPr lang="en-US" altLang="en-US" sz="1800" b="1"/>
                <a:t>12 PM</a:t>
              </a:r>
            </a:p>
            <a:p>
              <a:pPr algn="ctr">
                <a:spcBef>
                  <a:spcPct val="0"/>
                </a:spcBef>
                <a:buClr>
                  <a:srgbClr val="000000"/>
                </a:buClr>
                <a:buFontTx/>
                <a:buNone/>
              </a:pPr>
              <a:r>
                <a:rPr lang="en-US" altLang="en-US" sz="1800" b="1"/>
                <a:t>12:00</a:t>
              </a:r>
            </a:p>
          </p:txBody>
        </p:sp>
        <p:sp>
          <p:nvSpPr>
            <p:cNvPr id="177160" name="myRectangle 5A"/>
            <p:cNvSpPr>
              <a:spLocks noChangeArrowheads="1"/>
            </p:cNvSpPr>
            <p:nvPr/>
          </p:nvSpPr>
          <p:spPr bwMode="auto">
            <a:xfrm>
              <a:off x="6353175" y="1109762"/>
              <a:ext cx="768350" cy="6413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84200" indent="-1270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584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584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041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498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1955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413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000000"/>
                </a:buClr>
                <a:buFontTx/>
                <a:buNone/>
              </a:pPr>
              <a:r>
                <a:rPr lang="en-US" altLang="en-US" sz="1800" b="1"/>
                <a:t>6 PM</a:t>
              </a:r>
            </a:p>
            <a:p>
              <a:pPr algn="ctr">
                <a:spcBef>
                  <a:spcPct val="0"/>
                </a:spcBef>
                <a:buClr>
                  <a:srgbClr val="000000"/>
                </a:buClr>
                <a:buFontTx/>
                <a:buNone/>
              </a:pPr>
              <a:r>
                <a:rPr lang="en-US" altLang="en-US" sz="1800" b="1"/>
                <a:t>18:00</a:t>
              </a:r>
            </a:p>
          </p:txBody>
        </p:sp>
        <p:sp>
          <p:nvSpPr>
            <p:cNvPr id="177161" name="myRectangle 6A"/>
            <p:cNvSpPr>
              <a:spLocks noChangeArrowheads="1"/>
            </p:cNvSpPr>
            <p:nvPr/>
          </p:nvSpPr>
          <p:spPr bwMode="auto">
            <a:xfrm>
              <a:off x="7534275" y="1103412"/>
              <a:ext cx="768350" cy="6413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584200" indent="-1270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584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584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041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498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1955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413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000000"/>
                </a:buClr>
                <a:buFontTx/>
                <a:buNone/>
              </a:pPr>
              <a:r>
                <a:rPr lang="en-US" altLang="en-US" sz="1800" b="1"/>
                <a:t>11:59</a:t>
              </a:r>
            </a:p>
            <a:p>
              <a:pPr algn="ctr">
                <a:spcBef>
                  <a:spcPct val="0"/>
                </a:spcBef>
                <a:buClr>
                  <a:srgbClr val="000000"/>
                </a:buClr>
                <a:buFontTx/>
                <a:buNone/>
              </a:pPr>
              <a:r>
                <a:rPr lang="en-US" altLang="en-US" sz="1800" b="1"/>
                <a:t>23:59</a:t>
              </a:r>
            </a:p>
          </p:txBody>
        </p:sp>
        <p:sp>
          <p:nvSpPr>
            <p:cNvPr id="177162" name="myRectangle 7A"/>
            <p:cNvSpPr>
              <a:spLocks noChangeArrowheads="1"/>
            </p:cNvSpPr>
            <p:nvPr/>
          </p:nvSpPr>
          <p:spPr bwMode="auto">
            <a:xfrm>
              <a:off x="2479675" y="1116112"/>
              <a:ext cx="857250" cy="64135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73100" indent="-2159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731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6731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130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1587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044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5019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000000"/>
                </a:buClr>
                <a:buFontTx/>
                <a:buNone/>
              </a:pPr>
              <a:r>
                <a:rPr lang="en-US" altLang="en-US" sz="1800" b="1"/>
                <a:t>12 AM</a:t>
              </a:r>
            </a:p>
            <a:p>
              <a:pPr algn="ctr">
                <a:spcBef>
                  <a:spcPct val="0"/>
                </a:spcBef>
                <a:buClr>
                  <a:srgbClr val="000000"/>
                </a:buClr>
                <a:buFontTx/>
                <a:buNone/>
              </a:pPr>
              <a:r>
                <a:rPr lang="en-US" altLang="en-US" sz="1800" b="1"/>
                <a:t>00:00</a:t>
              </a:r>
            </a:p>
          </p:txBody>
        </p:sp>
        <p:sp>
          <p:nvSpPr>
            <p:cNvPr id="177163" name="myLine 8A"/>
            <p:cNvSpPr>
              <a:spLocks noChangeShapeType="1"/>
            </p:cNvSpPr>
            <p:nvPr/>
          </p:nvSpPr>
          <p:spPr bwMode="auto">
            <a:xfrm>
              <a:off x="2914650" y="1768574"/>
              <a:ext cx="0" cy="3676650"/>
            </a:xfrm>
            <a:prstGeom prst="line">
              <a:avLst/>
            </a:prstGeom>
            <a:noFill/>
            <a:ln w="25400">
              <a:solidFill>
                <a:schemeClr val="tx1"/>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64" name="myLine 9A"/>
            <p:cNvSpPr>
              <a:spLocks noChangeShapeType="1"/>
            </p:cNvSpPr>
            <p:nvPr/>
          </p:nvSpPr>
          <p:spPr bwMode="auto">
            <a:xfrm>
              <a:off x="5429250" y="1768574"/>
              <a:ext cx="0" cy="3676650"/>
            </a:xfrm>
            <a:prstGeom prst="line">
              <a:avLst/>
            </a:prstGeom>
            <a:noFill/>
            <a:ln w="25400">
              <a:solidFill>
                <a:schemeClr val="tx1"/>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65" name="myLine 10A"/>
            <p:cNvSpPr>
              <a:spLocks noChangeShapeType="1"/>
            </p:cNvSpPr>
            <p:nvPr/>
          </p:nvSpPr>
          <p:spPr bwMode="auto">
            <a:xfrm>
              <a:off x="6724650" y="1768574"/>
              <a:ext cx="0" cy="3676650"/>
            </a:xfrm>
            <a:prstGeom prst="line">
              <a:avLst/>
            </a:prstGeom>
            <a:noFill/>
            <a:ln w="25400">
              <a:solidFill>
                <a:schemeClr val="tx1"/>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66" name="myLine 11A"/>
            <p:cNvSpPr>
              <a:spLocks noChangeShapeType="1"/>
            </p:cNvSpPr>
            <p:nvPr/>
          </p:nvSpPr>
          <p:spPr bwMode="auto">
            <a:xfrm>
              <a:off x="4171950" y="1768574"/>
              <a:ext cx="0" cy="3676650"/>
            </a:xfrm>
            <a:prstGeom prst="line">
              <a:avLst/>
            </a:prstGeom>
            <a:noFill/>
            <a:ln w="25400">
              <a:solidFill>
                <a:schemeClr val="tx1"/>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67" name="myLine 12A"/>
            <p:cNvSpPr>
              <a:spLocks noChangeShapeType="1"/>
            </p:cNvSpPr>
            <p:nvPr/>
          </p:nvSpPr>
          <p:spPr bwMode="auto">
            <a:xfrm>
              <a:off x="7924800" y="1768574"/>
              <a:ext cx="0" cy="3676650"/>
            </a:xfrm>
            <a:prstGeom prst="line">
              <a:avLst/>
            </a:prstGeom>
            <a:noFill/>
            <a:ln w="25400">
              <a:solidFill>
                <a:schemeClr val="tx1"/>
              </a:solidFill>
              <a:prstDash val="lg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68" name="myRectangle 13A"/>
            <p:cNvSpPr>
              <a:spLocks noChangeArrowheads="1"/>
            </p:cNvSpPr>
            <p:nvPr/>
          </p:nvSpPr>
          <p:spPr bwMode="auto">
            <a:xfrm>
              <a:off x="0" y="2259112"/>
              <a:ext cx="2447498" cy="646973"/>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1430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600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057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000000"/>
                </a:buClr>
                <a:buFontTx/>
                <a:buNone/>
              </a:pPr>
              <a:r>
                <a:rPr lang="en-US" altLang="en-US" sz="1800" b="1"/>
                <a:t>Por turno</a:t>
              </a:r>
            </a:p>
            <a:p>
              <a:pPr algn="ctr">
                <a:spcBef>
                  <a:spcPct val="0"/>
                </a:spcBef>
                <a:buClr>
                  <a:srgbClr val="000000"/>
                </a:buClr>
                <a:buFontTx/>
                <a:buNone/>
              </a:pPr>
              <a:r>
                <a:rPr lang="pt-BR" altLang="en-US" sz="1800" b="1"/>
                <a:t>6/12/18</a:t>
              </a:r>
              <a:endParaRPr lang="en-US" altLang="en-US" sz="1800" b="1"/>
            </a:p>
          </p:txBody>
        </p:sp>
        <p:sp>
          <p:nvSpPr>
            <p:cNvPr id="177169" name="myRectangle 14A"/>
            <p:cNvSpPr>
              <a:spLocks noChangeArrowheads="1"/>
            </p:cNvSpPr>
            <p:nvPr/>
          </p:nvSpPr>
          <p:spPr bwMode="auto">
            <a:xfrm>
              <a:off x="11114" y="3364012"/>
              <a:ext cx="3122598" cy="646973"/>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1430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600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057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000000"/>
                </a:buClr>
                <a:buFontTx/>
                <a:buNone/>
              </a:pPr>
              <a:r>
                <a:rPr lang="en-US" altLang="en-US" sz="1800" b="1"/>
                <a:t>Processos</a:t>
              </a:r>
            </a:p>
            <a:p>
              <a:pPr algn="ctr">
                <a:spcBef>
                  <a:spcPct val="0"/>
                </a:spcBef>
                <a:buClr>
                  <a:srgbClr val="000000"/>
                </a:buClr>
                <a:buFontTx/>
                <a:buNone/>
              </a:pPr>
              <a:r>
                <a:rPr lang="pt-BR" altLang="en-US" sz="1800" b="1"/>
                <a:t>De Fechamento Diário</a:t>
              </a:r>
              <a:endParaRPr lang="en-US" altLang="en-US" sz="1800" b="1"/>
            </a:p>
          </p:txBody>
        </p:sp>
        <p:sp>
          <p:nvSpPr>
            <p:cNvPr id="177170" name="myRectangle 15A"/>
            <p:cNvSpPr>
              <a:spLocks noChangeArrowheads="1"/>
            </p:cNvSpPr>
            <p:nvPr/>
          </p:nvSpPr>
          <p:spPr bwMode="auto">
            <a:xfrm>
              <a:off x="251520" y="4526062"/>
              <a:ext cx="2625031" cy="646973"/>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1430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600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057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
                  <a:srgbClr val="000000"/>
                </a:buClr>
                <a:buFontTx/>
                <a:buNone/>
              </a:pPr>
              <a:r>
                <a:rPr lang="en-US" altLang="en-US" sz="1800" b="1"/>
                <a:t>Trabalhos</a:t>
              </a:r>
            </a:p>
            <a:p>
              <a:pPr algn="ctr">
                <a:spcBef>
                  <a:spcPct val="0"/>
                </a:spcBef>
                <a:buClr>
                  <a:srgbClr val="000000"/>
                </a:buClr>
                <a:buFontTx/>
                <a:buNone/>
              </a:pPr>
              <a:r>
                <a:rPr lang="pt-BR" altLang="en-US" sz="1800" b="1"/>
                <a:t>Noturnos</a:t>
              </a:r>
              <a:endParaRPr lang="en-US" altLang="en-US" sz="1800" b="1"/>
            </a:p>
          </p:txBody>
        </p:sp>
        <p:sp>
          <p:nvSpPr>
            <p:cNvPr id="177171" name="myLine 16A"/>
            <p:cNvSpPr>
              <a:spLocks noChangeShapeType="1"/>
            </p:cNvSpPr>
            <p:nvPr/>
          </p:nvSpPr>
          <p:spPr bwMode="auto">
            <a:xfrm>
              <a:off x="4171950" y="2308324"/>
              <a:ext cx="253365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72" name="myLine 17A"/>
            <p:cNvSpPr>
              <a:spLocks noChangeShapeType="1"/>
            </p:cNvSpPr>
            <p:nvPr/>
          </p:nvSpPr>
          <p:spPr bwMode="auto">
            <a:xfrm>
              <a:off x="4171950" y="2549624"/>
              <a:ext cx="253365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73" name="myLine 18A"/>
            <p:cNvSpPr>
              <a:spLocks noChangeShapeType="1"/>
            </p:cNvSpPr>
            <p:nvPr/>
          </p:nvSpPr>
          <p:spPr bwMode="auto">
            <a:xfrm>
              <a:off x="4171950" y="2790924"/>
              <a:ext cx="2357438"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74" name="myLine 19A"/>
            <p:cNvSpPr>
              <a:spLocks noChangeShapeType="1"/>
            </p:cNvSpPr>
            <p:nvPr/>
          </p:nvSpPr>
          <p:spPr bwMode="auto">
            <a:xfrm>
              <a:off x="6724650" y="301952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75" name="myLine 20A"/>
            <p:cNvSpPr>
              <a:spLocks noChangeShapeType="1"/>
            </p:cNvSpPr>
            <p:nvPr/>
          </p:nvSpPr>
          <p:spPr bwMode="auto">
            <a:xfrm>
              <a:off x="6724650" y="324177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76" name="myLine 21A"/>
            <p:cNvSpPr>
              <a:spLocks noChangeShapeType="1"/>
            </p:cNvSpPr>
            <p:nvPr/>
          </p:nvSpPr>
          <p:spPr bwMode="auto">
            <a:xfrm>
              <a:off x="6724650" y="346402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77" name="myLine 22A"/>
            <p:cNvSpPr>
              <a:spLocks noChangeShapeType="1"/>
            </p:cNvSpPr>
            <p:nvPr/>
          </p:nvSpPr>
          <p:spPr bwMode="auto">
            <a:xfrm>
              <a:off x="6724650" y="369262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78" name="myLine 23A"/>
            <p:cNvSpPr>
              <a:spLocks noChangeShapeType="1"/>
            </p:cNvSpPr>
            <p:nvPr/>
          </p:nvSpPr>
          <p:spPr bwMode="auto">
            <a:xfrm>
              <a:off x="6724650" y="392122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79" name="myLine 24A"/>
            <p:cNvSpPr>
              <a:spLocks noChangeShapeType="1"/>
            </p:cNvSpPr>
            <p:nvPr/>
          </p:nvSpPr>
          <p:spPr bwMode="auto">
            <a:xfrm>
              <a:off x="6724650" y="416252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80" name="myLine 25A"/>
            <p:cNvSpPr>
              <a:spLocks noChangeShapeType="1"/>
            </p:cNvSpPr>
            <p:nvPr/>
          </p:nvSpPr>
          <p:spPr bwMode="auto">
            <a:xfrm>
              <a:off x="2990850" y="426412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81" name="myLine 26A"/>
            <p:cNvSpPr>
              <a:spLocks noChangeShapeType="1"/>
            </p:cNvSpPr>
            <p:nvPr/>
          </p:nvSpPr>
          <p:spPr bwMode="auto">
            <a:xfrm>
              <a:off x="2990850" y="447367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82" name="myLine 27A"/>
            <p:cNvSpPr>
              <a:spLocks noChangeShapeType="1"/>
            </p:cNvSpPr>
            <p:nvPr/>
          </p:nvSpPr>
          <p:spPr bwMode="auto">
            <a:xfrm>
              <a:off x="2990850" y="468322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83" name="myLine 28A"/>
            <p:cNvSpPr>
              <a:spLocks noChangeShapeType="1"/>
            </p:cNvSpPr>
            <p:nvPr/>
          </p:nvSpPr>
          <p:spPr bwMode="auto">
            <a:xfrm>
              <a:off x="2990850" y="491182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84" name="myLine 29A"/>
            <p:cNvSpPr>
              <a:spLocks noChangeShapeType="1"/>
            </p:cNvSpPr>
            <p:nvPr/>
          </p:nvSpPr>
          <p:spPr bwMode="auto">
            <a:xfrm>
              <a:off x="2990850" y="514042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85" name="myLine 30A"/>
            <p:cNvSpPr>
              <a:spLocks noChangeShapeType="1"/>
            </p:cNvSpPr>
            <p:nvPr/>
          </p:nvSpPr>
          <p:spPr bwMode="auto">
            <a:xfrm>
              <a:off x="2990850" y="5369024"/>
              <a:ext cx="118110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7186" name="myFreeform 31A"/>
            <p:cNvSpPr>
              <a:spLocks/>
            </p:cNvSpPr>
            <p:nvPr/>
          </p:nvSpPr>
          <p:spPr bwMode="black">
            <a:xfrm>
              <a:off x="2905125" y="4175224"/>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87" name="myFreeform 32A"/>
            <p:cNvSpPr>
              <a:spLocks/>
            </p:cNvSpPr>
            <p:nvPr/>
          </p:nvSpPr>
          <p:spPr bwMode="black">
            <a:xfrm>
              <a:off x="3989388" y="4178399"/>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88" name="myFreeform 33A"/>
            <p:cNvSpPr>
              <a:spLocks/>
            </p:cNvSpPr>
            <p:nvPr/>
          </p:nvSpPr>
          <p:spPr bwMode="black">
            <a:xfrm>
              <a:off x="2905125" y="4399062"/>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89" name="myFreeform 34A"/>
            <p:cNvSpPr>
              <a:spLocks/>
            </p:cNvSpPr>
            <p:nvPr/>
          </p:nvSpPr>
          <p:spPr bwMode="black">
            <a:xfrm>
              <a:off x="3989388" y="4402237"/>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90" name="myFreeform 35A"/>
            <p:cNvSpPr>
              <a:spLocks/>
            </p:cNvSpPr>
            <p:nvPr/>
          </p:nvSpPr>
          <p:spPr bwMode="black">
            <a:xfrm>
              <a:off x="2905125" y="4597499"/>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91" name="myFreeform 36A"/>
            <p:cNvSpPr>
              <a:spLocks/>
            </p:cNvSpPr>
            <p:nvPr/>
          </p:nvSpPr>
          <p:spPr bwMode="black">
            <a:xfrm>
              <a:off x="3989388" y="4600674"/>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92" name="myFreeform 37A"/>
            <p:cNvSpPr>
              <a:spLocks/>
            </p:cNvSpPr>
            <p:nvPr/>
          </p:nvSpPr>
          <p:spPr bwMode="black">
            <a:xfrm>
              <a:off x="2905125" y="4835624"/>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93" name="myFreeform 38A"/>
            <p:cNvSpPr>
              <a:spLocks/>
            </p:cNvSpPr>
            <p:nvPr/>
          </p:nvSpPr>
          <p:spPr bwMode="black">
            <a:xfrm>
              <a:off x="3989388" y="4838799"/>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94" name="myFreeform 39A"/>
            <p:cNvSpPr>
              <a:spLocks/>
            </p:cNvSpPr>
            <p:nvPr/>
          </p:nvSpPr>
          <p:spPr bwMode="black">
            <a:xfrm>
              <a:off x="2905125" y="5061049"/>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95" name="myFreeform 40A"/>
            <p:cNvSpPr>
              <a:spLocks/>
            </p:cNvSpPr>
            <p:nvPr/>
          </p:nvSpPr>
          <p:spPr bwMode="black">
            <a:xfrm>
              <a:off x="3989388" y="5064224"/>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96" name="myFreeform 41A"/>
            <p:cNvSpPr>
              <a:spLocks/>
            </p:cNvSpPr>
            <p:nvPr/>
          </p:nvSpPr>
          <p:spPr bwMode="black">
            <a:xfrm>
              <a:off x="2905125" y="5286474"/>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97" name="myFreeform 42A"/>
            <p:cNvSpPr>
              <a:spLocks/>
            </p:cNvSpPr>
            <p:nvPr/>
          </p:nvSpPr>
          <p:spPr bwMode="black">
            <a:xfrm>
              <a:off x="3989388" y="5289649"/>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98" name="myFreeform 43A"/>
            <p:cNvSpPr>
              <a:spLocks/>
            </p:cNvSpPr>
            <p:nvPr/>
          </p:nvSpPr>
          <p:spPr bwMode="black">
            <a:xfrm>
              <a:off x="6711950" y="2943324"/>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199" name="myFreeform 44A"/>
            <p:cNvSpPr>
              <a:spLocks/>
            </p:cNvSpPr>
            <p:nvPr/>
          </p:nvSpPr>
          <p:spPr bwMode="black">
            <a:xfrm>
              <a:off x="7694613" y="2946499"/>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00" name="myFreeform 45A"/>
            <p:cNvSpPr>
              <a:spLocks/>
            </p:cNvSpPr>
            <p:nvPr/>
          </p:nvSpPr>
          <p:spPr bwMode="black">
            <a:xfrm>
              <a:off x="4135438" y="2228949"/>
              <a:ext cx="239712"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01" name="myFreeform 46A"/>
            <p:cNvSpPr>
              <a:spLocks/>
            </p:cNvSpPr>
            <p:nvPr/>
          </p:nvSpPr>
          <p:spPr bwMode="black">
            <a:xfrm>
              <a:off x="6489700" y="2232124"/>
              <a:ext cx="239713"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02" name="myFreeform 47A"/>
            <p:cNvSpPr>
              <a:spLocks/>
            </p:cNvSpPr>
            <p:nvPr/>
          </p:nvSpPr>
          <p:spPr bwMode="black">
            <a:xfrm>
              <a:off x="4135438" y="2479774"/>
              <a:ext cx="239712"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03" name="myFreeform 48A"/>
            <p:cNvSpPr>
              <a:spLocks/>
            </p:cNvSpPr>
            <p:nvPr/>
          </p:nvSpPr>
          <p:spPr bwMode="black">
            <a:xfrm>
              <a:off x="6489700" y="2482949"/>
              <a:ext cx="239713"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04" name="myFreeform 49A"/>
            <p:cNvSpPr>
              <a:spLocks/>
            </p:cNvSpPr>
            <p:nvPr/>
          </p:nvSpPr>
          <p:spPr bwMode="black">
            <a:xfrm>
              <a:off x="4135438" y="2717899"/>
              <a:ext cx="239712"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05" name="myFreeform 50A"/>
            <p:cNvSpPr>
              <a:spLocks/>
            </p:cNvSpPr>
            <p:nvPr/>
          </p:nvSpPr>
          <p:spPr bwMode="black">
            <a:xfrm>
              <a:off x="6489700" y="2721074"/>
              <a:ext cx="239713"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06" name="myFreeform 51A"/>
            <p:cNvSpPr>
              <a:spLocks/>
            </p:cNvSpPr>
            <p:nvPr/>
          </p:nvSpPr>
          <p:spPr bwMode="black">
            <a:xfrm>
              <a:off x="6711950" y="3168749"/>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07" name="myFreeform 52A"/>
            <p:cNvSpPr>
              <a:spLocks/>
            </p:cNvSpPr>
            <p:nvPr/>
          </p:nvSpPr>
          <p:spPr bwMode="black">
            <a:xfrm>
              <a:off x="7694613" y="3171924"/>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08" name="myFreeform 53A"/>
            <p:cNvSpPr>
              <a:spLocks/>
            </p:cNvSpPr>
            <p:nvPr/>
          </p:nvSpPr>
          <p:spPr bwMode="black">
            <a:xfrm>
              <a:off x="6711950" y="3379887"/>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09" name="myFreeform 54A"/>
            <p:cNvSpPr>
              <a:spLocks/>
            </p:cNvSpPr>
            <p:nvPr/>
          </p:nvSpPr>
          <p:spPr bwMode="black">
            <a:xfrm>
              <a:off x="7694613" y="3383062"/>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10" name="myFreeform 55A"/>
            <p:cNvSpPr>
              <a:spLocks/>
            </p:cNvSpPr>
            <p:nvPr/>
          </p:nvSpPr>
          <p:spPr bwMode="black">
            <a:xfrm>
              <a:off x="6711950" y="3618012"/>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11" name="myFreeform 56A"/>
            <p:cNvSpPr>
              <a:spLocks/>
            </p:cNvSpPr>
            <p:nvPr/>
          </p:nvSpPr>
          <p:spPr bwMode="black">
            <a:xfrm>
              <a:off x="7694613" y="3621187"/>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12" name="myFreeform 57A"/>
            <p:cNvSpPr>
              <a:spLocks/>
            </p:cNvSpPr>
            <p:nvPr/>
          </p:nvSpPr>
          <p:spPr bwMode="black">
            <a:xfrm>
              <a:off x="6711950" y="3841849"/>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13" name="myFreeform 58A"/>
            <p:cNvSpPr>
              <a:spLocks/>
            </p:cNvSpPr>
            <p:nvPr/>
          </p:nvSpPr>
          <p:spPr bwMode="black">
            <a:xfrm>
              <a:off x="7694613" y="3845024"/>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14" name="myFreeform 59A"/>
            <p:cNvSpPr>
              <a:spLocks/>
            </p:cNvSpPr>
            <p:nvPr/>
          </p:nvSpPr>
          <p:spPr bwMode="black">
            <a:xfrm>
              <a:off x="6711950" y="4092674"/>
              <a:ext cx="239713" cy="149225"/>
            </a:xfrm>
            <a:custGeom>
              <a:avLst/>
              <a:gdLst>
                <a:gd name="T0" fmla="*/ 2147483646 w 151"/>
                <a:gd name="T1" fmla="*/ 0 h 94"/>
                <a:gd name="T2" fmla="*/ 0 w 151"/>
                <a:gd name="T3" fmla="*/ 2147483646 h 94"/>
                <a:gd name="T4" fmla="*/ 2147483646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148" y="0"/>
                  </a:moveTo>
                  <a:lnTo>
                    <a:pt x="0" y="47"/>
                  </a:lnTo>
                  <a:lnTo>
                    <a:pt x="150" y="93"/>
                  </a:lnTo>
                  <a:lnTo>
                    <a:pt x="129" y="47"/>
                  </a:lnTo>
                  <a:lnTo>
                    <a:pt x="148"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77215" name="myFreeform 60A"/>
            <p:cNvSpPr>
              <a:spLocks/>
            </p:cNvSpPr>
            <p:nvPr/>
          </p:nvSpPr>
          <p:spPr bwMode="black">
            <a:xfrm>
              <a:off x="7694613" y="4095849"/>
              <a:ext cx="239712" cy="149225"/>
            </a:xfrm>
            <a:custGeom>
              <a:avLst/>
              <a:gdLst>
                <a:gd name="T0" fmla="*/ 2147483646 w 151"/>
                <a:gd name="T1" fmla="*/ 0 h 94"/>
                <a:gd name="T2" fmla="*/ 2147483646 w 151"/>
                <a:gd name="T3" fmla="*/ 2147483646 h 94"/>
                <a:gd name="T4" fmla="*/ 0 w 151"/>
                <a:gd name="T5" fmla="*/ 2147483646 h 94"/>
                <a:gd name="T6" fmla="*/ 2147483646 w 151"/>
                <a:gd name="T7" fmla="*/ 2147483646 h 94"/>
                <a:gd name="T8" fmla="*/ 2147483646 w 151"/>
                <a:gd name="T9" fmla="*/ 0 h 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 h="94">
                  <a:moveTo>
                    <a:pt x="2" y="0"/>
                  </a:moveTo>
                  <a:lnTo>
                    <a:pt x="150" y="47"/>
                  </a:lnTo>
                  <a:lnTo>
                    <a:pt x="0" y="93"/>
                  </a:lnTo>
                  <a:lnTo>
                    <a:pt x="21" y="47"/>
                  </a:lnTo>
                  <a:lnTo>
                    <a:pt x="2" y="0"/>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sp>
        <p:nvSpPr>
          <p:cNvPr id="62"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Concurrent</a:t>
            </a:r>
          </a:p>
        </p:txBody>
      </p:sp>
      <p:sp>
        <p:nvSpPr>
          <p:cNvPr id="177157"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9202" name="Group 6"/>
          <p:cNvGrpSpPr>
            <a:grpSpLocks/>
          </p:cNvGrpSpPr>
          <p:nvPr/>
        </p:nvGrpSpPr>
        <p:grpSpPr bwMode="auto">
          <a:xfrm>
            <a:off x="7308850" y="117475"/>
            <a:ext cx="1735138" cy="647700"/>
            <a:chOff x="7380288" y="41275"/>
            <a:chExt cx="1735137" cy="647700"/>
          </a:xfrm>
        </p:grpSpPr>
        <p:sp>
          <p:nvSpPr>
            <p:cNvPr id="20"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21"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18" name="Rectangle 2"/>
          <p:cNvSpPr txBox="1">
            <a:spLocks noChangeArrowheads="1"/>
          </p:cNvSpPr>
          <p:nvPr/>
        </p:nvSpPr>
        <p:spPr bwMode="auto">
          <a:xfrm>
            <a:off x="-36513" y="49213"/>
            <a:ext cx="9132888"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Concurrent Fase</a:t>
            </a:r>
          </a:p>
        </p:txBody>
      </p:sp>
      <p:grpSp>
        <p:nvGrpSpPr>
          <p:cNvPr id="179204" name="myGroup 42"/>
          <p:cNvGrpSpPr>
            <a:grpSpLocks/>
          </p:cNvGrpSpPr>
          <p:nvPr/>
        </p:nvGrpSpPr>
        <p:grpSpPr bwMode="auto">
          <a:xfrm>
            <a:off x="4414838" y="3557588"/>
            <a:ext cx="149225" cy="436562"/>
            <a:chOff x="2781" y="2241"/>
            <a:chExt cx="94" cy="275"/>
          </a:xfrm>
        </p:grpSpPr>
        <p:sp>
          <p:nvSpPr>
            <p:cNvPr id="179217" name="Line 4"/>
            <p:cNvSpPr>
              <a:spLocks noChangeShapeType="1"/>
            </p:cNvSpPr>
            <p:nvPr/>
          </p:nvSpPr>
          <p:spPr bwMode="auto">
            <a:xfrm flipV="1">
              <a:off x="2828" y="2241"/>
              <a:ext cx="0" cy="1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9218" name="Freeform 5"/>
            <p:cNvSpPr>
              <a:spLocks/>
            </p:cNvSpPr>
            <p:nvPr/>
          </p:nvSpPr>
          <p:spPr bwMode="black">
            <a:xfrm>
              <a:off x="2781" y="2365"/>
              <a:ext cx="94" cy="151"/>
            </a:xfrm>
            <a:custGeom>
              <a:avLst/>
              <a:gdLst>
                <a:gd name="T0" fmla="*/ 93 w 94"/>
                <a:gd name="T1" fmla="*/ 2 h 151"/>
                <a:gd name="T2" fmla="*/ 46 w 94"/>
                <a:gd name="T3" fmla="*/ 150 h 151"/>
                <a:gd name="T4" fmla="*/ 0 w 94"/>
                <a:gd name="T5" fmla="*/ 0 h 151"/>
                <a:gd name="T6" fmla="*/ 46 w 94"/>
                <a:gd name="T7" fmla="*/ 21 h 151"/>
                <a:gd name="T8" fmla="*/ 93 w 94"/>
                <a:gd name="T9" fmla="*/ 2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 h="151">
                  <a:moveTo>
                    <a:pt x="93" y="2"/>
                  </a:moveTo>
                  <a:lnTo>
                    <a:pt x="46" y="150"/>
                  </a:lnTo>
                  <a:lnTo>
                    <a:pt x="0" y="0"/>
                  </a:lnTo>
                  <a:lnTo>
                    <a:pt x="46" y="21"/>
                  </a:lnTo>
                  <a:lnTo>
                    <a:pt x="93" y="2"/>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sp>
        <p:nvSpPr>
          <p:cNvPr id="179205" name="myRectangle 6A"/>
          <p:cNvSpPr>
            <a:spLocks noChangeArrowheads="1"/>
          </p:cNvSpPr>
          <p:nvPr/>
        </p:nvSpPr>
        <p:spPr bwMode="auto">
          <a:xfrm>
            <a:off x="3848100" y="2160588"/>
            <a:ext cx="1227138" cy="427037"/>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200" b="1"/>
              <a:t>Inactive</a:t>
            </a:r>
          </a:p>
        </p:txBody>
      </p:sp>
      <p:sp>
        <p:nvSpPr>
          <p:cNvPr id="917511" name="myRectangle 7A"/>
          <p:cNvSpPr>
            <a:spLocks noChangeArrowheads="1"/>
          </p:cNvSpPr>
          <p:nvPr/>
        </p:nvSpPr>
        <p:spPr bwMode="black">
          <a:xfrm>
            <a:off x="2508250" y="2146300"/>
            <a:ext cx="3879850" cy="469900"/>
          </a:xfrm>
          <a:prstGeom prst="rect">
            <a:avLst/>
          </a:prstGeom>
          <a:noFill/>
          <a:ln w="25400">
            <a:solidFill>
              <a:schemeClr val="tx2"/>
            </a:solidFill>
            <a:prstDash val="lgDash"/>
            <a:miter lim="800000"/>
            <a:headEnd/>
            <a:tailEnd/>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algn="l" defTabSz="822325">
              <a:spcBef>
                <a:spcPct val="0"/>
              </a:spcBef>
              <a:defRPr sz="2400">
                <a:solidFill>
                  <a:schemeClr val="tx1"/>
                </a:solidFill>
                <a:latin typeface="Times New Roman" panose="02020603050405020304" pitchFamily="18" charset="0"/>
              </a:defRPr>
            </a:lvl2pPr>
            <a:lvl3pPr marL="411163" algn="l" defTabSz="822325">
              <a:spcBef>
                <a:spcPct val="0"/>
              </a:spcBef>
              <a:defRPr sz="2400">
                <a:solidFill>
                  <a:schemeClr val="tx1"/>
                </a:solidFill>
                <a:latin typeface="Times New Roman" panose="02020603050405020304" pitchFamily="18" charset="0"/>
              </a:defRPr>
            </a:lvl3pPr>
            <a:lvl4pPr marL="822325" algn="l" defTabSz="822325">
              <a:spcBef>
                <a:spcPct val="0"/>
              </a:spcBef>
              <a:defRPr sz="2400">
                <a:solidFill>
                  <a:schemeClr val="tx1"/>
                </a:solidFill>
                <a:latin typeface="Times New Roman" panose="02020603050405020304" pitchFamily="18" charset="0"/>
              </a:defRPr>
            </a:lvl4pPr>
            <a:lvl5pPr marL="1235075" algn="l" defTabSz="822325">
              <a:spcBef>
                <a:spcPct val="0"/>
              </a:spcBef>
              <a:defRPr sz="2400">
                <a:solidFill>
                  <a:schemeClr val="tx1"/>
                </a:solidFill>
                <a:latin typeface="Times New Roman" panose="02020603050405020304" pitchFamily="18" charset="0"/>
              </a:defRPr>
            </a:lvl5pPr>
            <a:lvl6pPr marL="1692275" defTabSz="822325" fontAlgn="base">
              <a:spcBef>
                <a:spcPct val="0"/>
              </a:spcBef>
              <a:spcAft>
                <a:spcPct val="0"/>
              </a:spcAft>
              <a:defRPr sz="2400">
                <a:solidFill>
                  <a:schemeClr val="tx1"/>
                </a:solidFill>
                <a:latin typeface="Times New Roman" panose="02020603050405020304" pitchFamily="18" charset="0"/>
              </a:defRPr>
            </a:lvl6pPr>
            <a:lvl7pPr marL="2149475" defTabSz="822325" fontAlgn="base">
              <a:spcBef>
                <a:spcPct val="0"/>
              </a:spcBef>
              <a:spcAft>
                <a:spcPct val="0"/>
              </a:spcAft>
              <a:defRPr sz="2400">
                <a:solidFill>
                  <a:schemeClr val="tx1"/>
                </a:solidFill>
                <a:latin typeface="Times New Roman" panose="02020603050405020304" pitchFamily="18" charset="0"/>
              </a:defRPr>
            </a:lvl7pPr>
            <a:lvl8pPr marL="2606675" defTabSz="822325" fontAlgn="base">
              <a:spcBef>
                <a:spcPct val="0"/>
              </a:spcBef>
              <a:spcAft>
                <a:spcPct val="0"/>
              </a:spcAft>
              <a:defRPr sz="2400">
                <a:solidFill>
                  <a:schemeClr val="tx1"/>
                </a:solidFill>
                <a:latin typeface="Times New Roman" panose="02020603050405020304" pitchFamily="18" charset="0"/>
              </a:defRPr>
            </a:lvl8pPr>
            <a:lvl9pPr marL="30638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b="1"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79207" name="myRectangle 8A"/>
          <p:cNvSpPr>
            <a:spLocks noChangeArrowheads="1"/>
          </p:cNvSpPr>
          <p:nvPr/>
        </p:nvSpPr>
        <p:spPr bwMode="auto">
          <a:xfrm>
            <a:off x="3675063" y="4994275"/>
            <a:ext cx="1630362" cy="427038"/>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200" b="1"/>
              <a:t>Completed</a:t>
            </a:r>
          </a:p>
        </p:txBody>
      </p:sp>
      <p:sp>
        <p:nvSpPr>
          <p:cNvPr id="917513" name="myRectangle 9A"/>
          <p:cNvSpPr>
            <a:spLocks noChangeArrowheads="1"/>
          </p:cNvSpPr>
          <p:nvPr/>
        </p:nvSpPr>
        <p:spPr bwMode="black">
          <a:xfrm>
            <a:off x="2546350" y="4960938"/>
            <a:ext cx="3879850" cy="469900"/>
          </a:xfrm>
          <a:prstGeom prst="rect">
            <a:avLst/>
          </a:prstGeom>
          <a:noFill/>
          <a:ln w="25400">
            <a:solidFill>
              <a:schemeClr val="tx2"/>
            </a:solidFill>
            <a:miter lim="800000"/>
            <a:headEnd/>
            <a:tailEnd/>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algn="l" defTabSz="822325">
              <a:spcBef>
                <a:spcPct val="0"/>
              </a:spcBef>
              <a:defRPr sz="2400">
                <a:solidFill>
                  <a:schemeClr val="tx1"/>
                </a:solidFill>
                <a:latin typeface="Times New Roman" panose="02020603050405020304" pitchFamily="18" charset="0"/>
              </a:defRPr>
            </a:lvl2pPr>
            <a:lvl3pPr marL="411163" algn="l" defTabSz="822325">
              <a:spcBef>
                <a:spcPct val="0"/>
              </a:spcBef>
              <a:defRPr sz="2400">
                <a:solidFill>
                  <a:schemeClr val="tx1"/>
                </a:solidFill>
                <a:latin typeface="Times New Roman" panose="02020603050405020304" pitchFamily="18" charset="0"/>
              </a:defRPr>
            </a:lvl3pPr>
            <a:lvl4pPr marL="822325" algn="l" defTabSz="822325">
              <a:spcBef>
                <a:spcPct val="0"/>
              </a:spcBef>
              <a:defRPr sz="2400">
                <a:solidFill>
                  <a:schemeClr val="tx1"/>
                </a:solidFill>
                <a:latin typeface="Times New Roman" panose="02020603050405020304" pitchFamily="18" charset="0"/>
              </a:defRPr>
            </a:lvl4pPr>
            <a:lvl5pPr marL="1235075" algn="l" defTabSz="822325">
              <a:spcBef>
                <a:spcPct val="0"/>
              </a:spcBef>
              <a:defRPr sz="2400">
                <a:solidFill>
                  <a:schemeClr val="tx1"/>
                </a:solidFill>
                <a:latin typeface="Times New Roman" panose="02020603050405020304" pitchFamily="18" charset="0"/>
              </a:defRPr>
            </a:lvl5pPr>
            <a:lvl6pPr marL="1692275" defTabSz="822325" fontAlgn="base">
              <a:spcBef>
                <a:spcPct val="0"/>
              </a:spcBef>
              <a:spcAft>
                <a:spcPct val="0"/>
              </a:spcAft>
              <a:defRPr sz="2400">
                <a:solidFill>
                  <a:schemeClr val="tx1"/>
                </a:solidFill>
                <a:latin typeface="Times New Roman" panose="02020603050405020304" pitchFamily="18" charset="0"/>
              </a:defRPr>
            </a:lvl6pPr>
            <a:lvl7pPr marL="2149475" defTabSz="822325" fontAlgn="base">
              <a:spcBef>
                <a:spcPct val="0"/>
              </a:spcBef>
              <a:spcAft>
                <a:spcPct val="0"/>
              </a:spcAft>
              <a:defRPr sz="2400">
                <a:solidFill>
                  <a:schemeClr val="tx1"/>
                </a:solidFill>
                <a:latin typeface="Times New Roman" panose="02020603050405020304" pitchFamily="18" charset="0"/>
              </a:defRPr>
            </a:lvl7pPr>
            <a:lvl8pPr marL="2606675" defTabSz="822325" fontAlgn="base">
              <a:spcBef>
                <a:spcPct val="0"/>
              </a:spcBef>
              <a:spcAft>
                <a:spcPct val="0"/>
              </a:spcAft>
              <a:defRPr sz="2400">
                <a:solidFill>
                  <a:schemeClr val="tx1"/>
                </a:solidFill>
                <a:latin typeface="Times New Roman" panose="02020603050405020304" pitchFamily="18" charset="0"/>
              </a:defRPr>
            </a:lvl8pPr>
            <a:lvl9pPr marL="30638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b="1"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79209" name="myRectangle 10A"/>
          <p:cNvSpPr>
            <a:spLocks noChangeArrowheads="1"/>
          </p:cNvSpPr>
          <p:nvPr/>
        </p:nvSpPr>
        <p:spPr bwMode="auto">
          <a:xfrm>
            <a:off x="3830638" y="4065588"/>
            <a:ext cx="1320800" cy="427037"/>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200" b="1"/>
              <a:t>Running</a:t>
            </a:r>
          </a:p>
        </p:txBody>
      </p:sp>
      <p:sp>
        <p:nvSpPr>
          <p:cNvPr id="917515" name="myRectangle 11A"/>
          <p:cNvSpPr>
            <a:spLocks noChangeArrowheads="1"/>
          </p:cNvSpPr>
          <p:nvPr/>
        </p:nvSpPr>
        <p:spPr bwMode="black">
          <a:xfrm>
            <a:off x="2546350" y="4019550"/>
            <a:ext cx="3879850" cy="469900"/>
          </a:xfrm>
          <a:prstGeom prst="rect">
            <a:avLst/>
          </a:prstGeom>
          <a:noFill/>
          <a:ln w="25400">
            <a:solidFill>
              <a:schemeClr val="tx2"/>
            </a:solidFill>
            <a:miter lim="800000"/>
            <a:headEnd/>
            <a:tailEnd/>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algn="l" defTabSz="822325">
              <a:spcBef>
                <a:spcPct val="0"/>
              </a:spcBef>
              <a:defRPr sz="2400">
                <a:solidFill>
                  <a:schemeClr val="tx1"/>
                </a:solidFill>
                <a:latin typeface="Times New Roman" panose="02020603050405020304" pitchFamily="18" charset="0"/>
              </a:defRPr>
            </a:lvl2pPr>
            <a:lvl3pPr marL="411163" algn="l" defTabSz="822325">
              <a:spcBef>
                <a:spcPct val="0"/>
              </a:spcBef>
              <a:defRPr sz="2400">
                <a:solidFill>
                  <a:schemeClr val="tx1"/>
                </a:solidFill>
                <a:latin typeface="Times New Roman" panose="02020603050405020304" pitchFamily="18" charset="0"/>
              </a:defRPr>
            </a:lvl3pPr>
            <a:lvl4pPr marL="822325" algn="l" defTabSz="822325">
              <a:spcBef>
                <a:spcPct val="0"/>
              </a:spcBef>
              <a:defRPr sz="2400">
                <a:solidFill>
                  <a:schemeClr val="tx1"/>
                </a:solidFill>
                <a:latin typeface="Times New Roman" panose="02020603050405020304" pitchFamily="18" charset="0"/>
              </a:defRPr>
            </a:lvl4pPr>
            <a:lvl5pPr marL="1235075" algn="l" defTabSz="822325">
              <a:spcBef>
                <a:spcPct val="0"/>
              </a:spcBef>
              <a:defRPr sz="2400">
                <a:solidFill>
                  <a:schemeClr val="tx1"/>
                </a:solidFill>
                <a:latin typeface="Times New Roman" panose="02020603050405020304" pitchFamily="18" charset="0"/>
              </a:defRPr>
            </a:lvl5pPr>
            <a:lvl6pPr marL="1692275" defTabSz="822325" fontAlgn="base">
              <a:spcBef>
                <a:spcPct val="0"/>
              </a:spcBef>
              <a:spcAft>
                <a:spcPct val="0"/>
              </a:spcAft>
              <a:defRPr sz="2400">
                <a:solidFill>
                  <a:schemeClr val="tx1"/>
                </a:solidFill>
                <a:latin typeface="Times New Roman" panose="02020603050405020304" pitchFamily="18" charset="0"/>
              </a:defRPr>
            </a:lvl6pPr>
            <a:lvl7pPr marL="2149475" defTabSz="822325" fontAlgn="base">
              <a:spcBef>
                <a:spcPct val="0"/>
              </a:spcBef>
              <a:spcAft>
                <a:spcPct val="0"/>
              </a:spcAft>
              <a:defRPr sz="2400">
                <a:solidFill>
                  <a:schemeClr val="tx1"/>
                </a:solidFill>
                <a:latin typeface="Times New Roman" panose="02020603050405020304" pitchFamily="18" charset="0"/>
              </a:defRPr>
            </a:lvl7pPr>
            <a:lvl8pPr marL="2606675" defTabSz="822325" fontAlgn="base">
              <a:spcBef>
                <a:spcPct val="0"/>
              </a:spcBef>
              <a:spcAft>
                <a:spcPct val="0"/>
              </a:spcAft>
              <a:defRPr sz="2400">
                <a:solidFill>
                  <a:schemeClr val="tx1"/>
                </a:solidFill>
                <a:latin typeface="Times New Roman" panose="02020603050405020304" pitchFamily="18" charset="0"/>
              </a:defRPr>
            </a:lvl8pPr>
            <a:lvl9pPr marL="30638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b="1"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79211" name="myRectangle 12A"/>
          <p:cNvSpPr>
            <a:spLocks noChangeArrowheads="1"/>
          </p:cNvSpPr>
          <p:nvPr/>
        </p:nvSpPr>
        <p:spPr bwMode="auto">
          <a:xfrm>
            <a:off x="3851275" y="3074988"/>
            <a:ext cx="1289050" cy="427037"/>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1049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621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0193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4765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9337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200" b="1"/>
              <a:t>Pending</a:t>
            </a:r>
          </a:p>
        </p:txBody>
      </p:sp>
      <p:sp>
        <p:nvSpPr>
          <p:cNvPr id="917517" name="myRectangle 13A"/>
          <p:cNvSpPr>
            <a:spLocks noChangeArrowheads="1"/>
          </p:cNvSpPr>
          <p:nvPr/>
        </p:nvSpPr>
        <p:spPr bwMode="black">
          <a:xfrm>
            <a:off x="2546350" y="3041650"/>
            <a:ext cx="3879850" cy="469900"/>
          </a:xfrm>
          <a:prstGeom prst="rect">
            <a:avLst/>
          </a:prstGeom>
          <a:noFill/>
          <a:ln w="25400">
            <a:solidFill>
              <a:schemeClr val="tx2"/>
            </a:solidFill>
            <a:miter lim="800000"/>
            <a:headEnd/>
            <a:tailEnd/>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algn="l" defTabSz="822325">
              <a:spcBef>
                <a:spcPct val="0"/>
              </a:spcBef>
              <a:defRPr sz="2400">
                <a:solidFill>
                  <a:schemeClr val="tx1"/>
                </a:solidFill>
                <a:latin typeface="Times New Roman" panose="02020603050405020304" pitchFamily="18" charset="0"/>
              </a:defRPr>
            </a:lvl2pPr>
            <a:lvl3pPr marL="411163" algn="l" defTabSz="822325">
              <a:spcBef>
                <a:spcPct val="0"/>
              </a:spcBef>
              <a:defRPr sz="2400">
                <a:solidFill>
                  <a:schemeClr val="tx1"/>
                </a:solidFill>
                <a:latin typeface="Times New Roman" panose="02020603050405020304" pitchFamily="18" charset="0"/>
              </a:defRPr>
            </a:lvl3pPr>
            <a:lvl4pPr marL="822325" algn="l" defTabSz="822325">
              <a:spcBef>
                <a:spcPct val="0"/>
              </a:spcBef>
              <a:defRPr sz="2400">
                <a:solidFill>
                  <a:schemeClr val="tx1"/>
                </a:solidFill>
                <a:latin typeface="Times New Roman" panose="02020603050405020304" pitchFamily="18" charset="0"/>
              </a:defRPr>
            </a:lvl4pPr>
            <a:lvl5pPr marL="1235075" algn="l" defTabSz="822325">
              <a:spcBef>
                <a:spcPct val="0"/>
              </a:spcBef>
              <a:defRPr sz="2400">
                <a:solidFill>
                  <a:schemeClr val="tx1"/>
                </a:solidFill>
                <a:latin typeface="Times New Roman" panose="02020603050405020304" pitchFamily="18" charset="0"/>
              </a:defRPr>
            </a:lvl5pPr>
            <a:lvl6pPr marL="1692275" defTabSz="822325" fontAlgn="base">
              <a:spcBef>
                <a:spcPct val="0"/>
              </a:spcBef>
              <a:spcAft>
                <a:spcPct val="0"/>
              </a:spcAft>
              <a:defRPr sz="2400">
                <a:solidFill>
                  <a:schemeClr val="tx1"/>
                </a:solidFill>
                <a:latin typeface="Times New Roman" panose="02020603050405020304" pitchFamily="18" charset="0"/>
              </a:defRPr>
            </a:lvl6pPr>
            <a:lvl7pPr marL="2149475" defTabSz="822325" fontAlgn="base">
              <a:spcBef>
                <a:spcPct val="0"/>
              </a:spcBef>
              <a:spcAft>
                <a:spcPct val="0"/>
              </a:spcAft>
              <a:defRPr sz="2400">
                <a:solidFill>
                  <a:schemeClr val="tx1"/>
                </a:solidFill>
                <a:latin typeface="Times New Roman" panose="02020603050405020304" pitchFamily="18" charset="0"/>
              </a:defRPr>
            </a:lvl7pPr>
            <a:lvl8pPr marL="2606675" defTabSz="822325" fontAlgn="base">
              <a:spcBef>
                <a:spcPct val="0"/>
              </a:spcBef>
              <a:spcAft>
                <a:spcPct val="0"/>
              </a:spcAft>
              <a:defRPr sz="2400">
                <a:solidFill>
                  <a:schemeClr val="tx1"/>
                </a:solidFill>
                <a:latin typeface="Times New Roman" panose="02020603050405020304" pitchFamily="18" charset="0"/>
              </a:defRPr>
            </a:lvl8pPr>
            <a:lvl9pPr marL="30638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b="1" smtClean="0">
              <a:solidFill>
                <a:schemeClr val="folHlink"/>
              </a:solidFill>
              <a:effectLst>
                <a:outerShdw blurRad="38100" dist="38100" dir="2700000" algn="tl">
                  <a:srgbClr val="C0C0C0"/>
                </a:outerShdw>
              </a:effectLst>
              <a:latin typeface="Arial" panose="020B0604020202020204" pitchFamily="34" charset="0"/>
            </a:endParaRPr>
          </a:p>
        </p:txBody>
      </p:sp>
      <p:grpSp>
        <p:nvGrpSpPr>
          <p:cNvPr id="179213" name="myGroup 162"/>
          <p:cNvGrpSpPr>
            <a:grpSpLocks/>
          </p:cNvGrpSpPr>
          <p:nvPr/>
        </p:nvGrpSpPr>
        <p:grpSpPr bwMode="auto">
          <a:xfrm>
            <a:off x="4414838" y="4510088"/>
            <a:ext cx="149225" cy="436562"/>
            <a:chOff x="2781" y="2841"/>
            <a:chExt cx="94" cy="275"/>
          </a:xfrm>
        </p:grpSpPr>
        <p:sp>
          <p:nvSpPr>
            <p:cNvPr id="179215" name="Line 15"/>
            <p:cNvSpPr>
              <a:spLocks noChangeShapeType="1"/>
            </p:cNvSpPr>
            <p:nvPr/>
          </p:nvSpPr>
          <p:spPr bwMode="auto">
            <a:xfrm flipV="1">
              <a:off x="2828" y="2841"/>
              <a:ext cx="0" cy="174"/>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79216" name="Freeform 16"/>
            <p:cNvSpPr>
              <a:spLocks/>
            </p:cNvSpPr>
            <p:nvPr/>
          </p:nvSpPr>
          <p:spPr bwMode="black">
            <a:xfrm>
              <a:off x="2781" y="2965"/>
              <a:ext cx="94" cy="151"/>
            </a:xfrm>
            <a:custGeom>
              <a:avLst/>
              <a:gdLst>
                <a:gd name="T0" fmla="*/ 93 w 94"/>
                <a:gd name="T1" fmla="*/ 2 h 151"/>
                <a:gd name="T2" fmla="*/ 46 w 94"/>
                <a:gd name="T3" fmla="*/ 150 h 151"/>
                <a:gd name="T4" fmla="*/ 0 w 94"/>
                <a:gd name="T5" fmla="*/ 0 h 151"/>
                <a:gd name="T6" fmla="*/ 46 w 94"/>
                <a:gd name="T7" fmla="*/ 21 h 151"/>
                <a:gd name="T8" fmla="*/ 93 w 94"/>
                <a:gd name="T9" fmla="*/ 2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4" h="151">
                  <a:moveTo>
                    <a:pt x="93" y="2"/>
                  </a:moveTo>
                  <a:lnTo>
                    <a:pt x="46" y="150"/>
                  </a:lnTo>
                  <a:lnTo>
                    <a:pt x="0" y="0"/>
                  </a:lnTo>
                  <a:lnTo>
                    <a:pt x="46" y="21"/>
                  </a:lnTo>
                  <a:lnTo>
                    <a:pt x="93" y="2"/>
                  </a:lnTo>
                </a:path>
              </a:pathLst>
            </a:custGeom>
            <a:solidFill>
              <a:srgbClr val="FF33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sp>
        <p:nvSpPr>
          <p:cNvPr id="179214"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250" name="myPicture 2A"/>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9450" y="3319463"/>
            <a:ext cx="1054100" cy="1119187"/>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9581" name="myRectangle 29A"/>
          <p:cNvSpPr>
            <a:spLocks noChangeArrowheads="1"/>
          </p:cNvSpPr>
          <p:nvPr/>
        </p:nvSpPr>
        <p:spPr bwMode="auto">
          <a:xfrm>
            <a:off x="1060450" y="1708150"/>
            <a:ext cx="6946900" cy="3213100"/>
          </a:xfrm>
          <a:prstGeom prst="rect">
            <a:avLst/>
          </a:prstGeom>
          <a:noFill/>
          <a:ln w="25400">
            <a:solidFill>
              <a:schemeClr val="hlink"/>
            </a:solidFill>
            <a:miter lim="800000"/>
            <a:headEnd/>
            <a:tailEnd/>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algn="l" defTabSz="822325">
              <a:spcBef>
                <a:spcPct val="0"/>
              </a:spcBef>
              <a:defRPr sz="2400">
                <a:solidFill>
                  <a:schemeClr val="tx1"/>
                </a:solidFill>
                <a:latin typeface="Times New Roman" panose="02020603050405020304" pitchFamily="18" charset="0"/>
              </a:defRPr>
            </a:lvl2pPr>
            <a:lvl3pPr marL="411163" algn="l" defTabSz="822325">
              <a:spcBef>
                <a:spcPct val="0"/>
              </a:spcBef>
              <a:defRPr sz="2400">
                <a:solidFill>
                  <a:schemeClr val="tx1"/>
                </a:solidFill>
                <a:latin typeface="Times New Roman" panose="02020603050405020304" pitchFamily="18" charset="0"/>
              </a:defRPr>
            </a:lvl3pPr>
            <a:lvl4pPr marL="822325" algn="l" defTabSz="822325">
              <a:spcBef>
                <a:spcPct val="0"/>
              </a:spcBef>
              <a:defRPr sz="2400">
                <a:solidFill>
                  <a:schemeClr val="tx1"/>
                </a:solidFill>
                <a:latin typeface="Times New Roman" panose="02020603050405020304" pitchFamily="18" charset="0"/>
              </a:defRPr>
            </a:lvl4pPr>
            <a:lvl5pPr marL="1235075" algn="l" defTabSz="822325">
              <a:spcBef>
                <a:spcPct val="0"/>
              </a:spcBef>
              <a:defRPr sz="2400">
                <a:solidFill>
                  <a:schemeClr val="tx1"/>
                </a:solidFill>
                <a:latin typeface="Times New Roman" panose="02020603050405020304" pitchFamily="18" charset="0"/>
              </a:defRPr>
            </a:lvl5pPr>
            <a:lvl6pPr marL="1692275" defTabSz="822325" fontAlgn="base">
              <a:spcBef>
                <a:spcPct val="0"/>
              </a:spcBef>
              <a:spcAft>
                <a:spcPct val="0"/>
              </a:spcAft>
              <a:defRPr sz="2400">
                <a:solidFill>
                  <a:schemeClr val="tx1"/>
                </a:solidFill>
                <a:latin typeface="Times New Roman" panose="02020603050405020304" pitchFamily="18" charset="0"/>
              </a:defRPr>
            </a:lvl6pPr>
            <a:lvl7pPr marL="2149475" defTabSz="822325" fontAlgn="base">
              <a:spcBef>
                <a:spcPct val="0"/>
              </a:spcBef>
              <a:spcAft>
                <a:spcPct val="0"/>
              </a:spcAft>
              <a:defRPr sz="2400">
                <a:solidFill>
                  <a:schemeClr val="tx1"/>
                </a:solidFill>
                <a:latin typeface="Times New Roman" panose="02020603050405020304" pitchFamily="18" charset="0"/>
              </a:defRPr>
            </a:lvl7pPr>
            <a:lvl8pPr marL="2606675" defTabSz="822325" fontAlgn="base">
              <a:spcBef>
                <a:spcPct val="0"/>
              </a:spcBef>
              <a:spcAft>
                <a:spcPct val="0"/>
              </a:spcAft>
              <a:defRPr sz="2400">
                <a:solidFill>
                  <a:schemeClr val="tx1"/>
                </a:solidFill>
                <a:latin typeface="Times New Roman" panose="02020603050405020304" pitchFamily="18" charset="0"/>
              </a:defRPr>
            </a:lvl8pPr>
            <a:lvl9pPr marL="30638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b="1"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81252" name="myRectangle 30A"/>
          <p:cNvSpPr>
            <a:spLocks noChangeArrowheads="1"/>
          </p:cNvSpPr>
          <p:nvPr/>
        </p:nvSpPr>
        <p:spPr bwMode="auto">
          <a:xfrm>
            <a:off x="1069975" y="1755775"/>
            <a:ext cx="1235075"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Normal</a:t>
            </a:r>
          </a:p>
        </p:txBody>
      </p:sp>
      <p:sp>
        <p:nvSpPr>
          <p:cNvPr id="181253" name="myRectangle 31A"/>
          <p:cNvSpPr>
            <a:spLocks noChangeArrowheads="1"/>
          </p:cNvSpPr>
          <p:nvPr/>
        </p:nvSpPr>
        <p:spPr bwMode="auto">
          <a:xfrm>
            <a:off x="2619375" y="1755775"/>
            <a:ext cx="1282700"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Waiting</a:t>
            </a:r>
          </a:p>
        </p:txBody>
      </p:sp>
      <p:sp>
        <p:nvSpPr>
          <p:cNvPr id="181254" name="myRectangle 32A"/>
          <p:cNvSpPr>
            <a:spLocks noChangeArrowheads="1"/>
          </p:cNvSpPr>
          <p:nvPr/>
        </p:nvSpPr>
        <p:spPr bwMode="auto">
          <a:xfrm>
            <a:off x="4225925" y="1755775"/>
            <a:ext cx="1385888"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Standby</a:t>
            </a:r>
          </a:p>
        </p:txBody>
      </p:sp>
      <p:sp>
        <p:nvSpPr>
          <p:cNvPr id="181255" name="myRectangle 33A"/>
          <p:cNvSpPr>
            <a:spLocks noChangeArrowheads="1"/>
          </p:cNvSpPr>
          <p:nvPr/>
        </p:nvSpPr>
        <p:spPr bwMode="auto">
          <a:xfrm>
            <a:off x="5984875" y="1755775"/>
            <a:ext cx="1724025"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Scheduled</a:t>
            </a:r>
          </a:p>
        </p:txBody>
      </p:sp>
      <p:sp>
        <p:nvSpPr>
          <p:cNvPr id="181256" name="myLine 34A"/>
          <p:cNvSpPr>
            <a:spLocks noChangeShapeType="1"/>
          </p:cNvSpPr>
          <p:nvPr/>
        </p:nvSpPr>
        <p:spPr bwMode="auto">
          <a:xfrm>
            <a:off x="1047750" y="2247900"/>
            <a:ext cx="695325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1257" name="myRectangle 35A"/>
          <p:cNvSpPr>
            <a:spLocks noChangeArrowheads="1"/>
          </p:cNvSpPr>
          <p:nvPr/>
        </p:nvSpPr>
        <p:spPr bwMode="auto">
          <a:xfrm>
            <a:off x="4437063" y="3713163"/>
            <a:ext cx="1174750" cy="53022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lnSpc>
                <a:spcPct val="80000"/>
              </a:lnSpc>
              <a:spcBef>
                <a:spcPct val="0"/>
              </a:spcBef>
              <a:buClr>
                <a:srgbClr val="000000"/>
              </a:buClr>
              <a:buFontTx/>
              <a:buNone/>
            </a:pPr>
            <a:r>
              <a:rPr lang="en-US" altLang="en-US" sz="1800" b="1">
                <a:solidFill>
                  <a:schemeClr val="bg2"/>
                </a:solidFill>
              </a:rPr>
              <a:t>Logical</a:t>
            </a:r>
          </a:p>
          <a:p>
            <a:pPr algn="ctr">
              <a:lnSpc>
                <a:spcPct val="80000"/>
              </a:lnSpc>
              <a:spcBef>
                <a:spcPct val="0"/>
              </a:spcBef>
              <a:buClr>
                <a:srgbClr val="000000"/>
              </a:buClr>
              <a:buFontTx/>
              <a:buNone/>
            </a:pPr>
            <a:r>
              <a:rPr lang="en-US" altLang="en-US" sz="1800" b="1">
                <a:solidFill>
                  <a:schemeClr val="bg2"/>
                </a:solidFill>
              </a:rPr>
              <a:t>database</a:t>
            </a:r>
          </a:p>
        </p:txBody>
      </p:sp>
      <p:sp>
        <p:nvSpPr>
          <p:cNvPr id="181258" name="myLine 36A"/>
          <p:cNvSpPr>
            <a:spLocks noChangeShapeType="1"/>
          </p:cNvSpPr>
          <p:nvPr/>
        </p:nvSpPr>
        <p:spPr bwMode="auto">
          <a:xfrm>
            <a:off x="4095750" y="2247900"/>
            <a:ext cx="0" cy="26797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1259" name="myLine 37A"/>
          <p:cNvSpPr>
            <a:spLocks noChangeShapeType="1"/>
          </p:cNvSpPr>
          <p:nvPr/>
        </p:nvSpPr>
        <p:spPr bwMode="auto">
          <a:xfrm>
            <a:off x="2438400" y="2247900"/>
            <a:ext cx="0" cy="26797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1260" name="myLine 38A"/>
          <p:cNvSpPr>
            <a:spLocks noChangeShapeType="1"/>
          </p:cNvSpPr>
          <p:nvPr/>
        </p:nvSpPr>
        <p:spPr bwMode="auto">
          <a:xfrm>
            <a:off x="5981700" y="2247900"/>
            <a:ext cx="0" cy="26797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pic>
        <p:nvPicPr>
          <p:cNvPr id="181261" name="myPicture 39A"/>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2700" y="3005138"/>
            <a:ext cx="1223963" cy="127317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1262" name="myPicture 40A"/>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4988" y="2684463"/>
            <a:ext cx="558800" cy="93662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1263" name="myPicture 41A"/>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825" y="2687638"/>
            <a:ext cx="558800" cy="936625"/>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1264" name="myPicture 42A"/>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6100" y="2840038"/>
            <a:ext cx="587375" cy="677862"/>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81265" name="myGroup 252"/>
          <p:cNvGrpSpPr>
            <a:grpSpLocks/>
          </p:cNvGrpSpPr>
          <p:nvPr/>
        </p:nvGrpSpPr>
        <p:grpSpPr bwMode="auto">
          <a:xfrm>
            <a:off x="1371600" y="2895600"/>
            <a:ext cx="685800" cy="1295400"/>
            <a:chOff x="1330" y="1826"/>
            <a:chExt cx="528" cy="883"/>
          </a:xfrm>
        </p:grpSpPr>
        <p:sp>
          <p:nvSpPr>
            <p:cNvPr id="181311" name="Freeform 44"/>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12" name="Freeform 45"/>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1313" name="Group 46"/>
            <p:cNvGrpSpPr>
              <a:grpSpLocks/>
            </p:cNvGrpSpPr>
            <p:nvPr/>
          </p:nvGrpSpPr>
          <p:grpSpPr bwMode="auto">
            <a:xfrm>
              <a:off x="1409" y="1867"/>
              <a:ext cx="449" cy="842"/>
              <a:chOff x="1409" y="1867"/>
              <a:chExt cx="449" cy="842"/>
            </a:xfrm>
          </p:grpSpPr>
          <p:sp>
            <p:nvSpPr>
              <p:cNvPr id="181314" name="Freeform 47"/>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15" name="Freeform 48"/>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16" name="Freeform 49"/>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17" name="Freeform 50"/>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18" name="Freeform 51"/>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19" name="Freeform 52"/>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20" name="Freeform 53"/>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21" name="Freeform 54"/>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22" name="Freeform 55"/>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23" name="Freeform 56"/>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24" name="Freeform 57"/>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25" name="Freeform 58"/>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26" name="Freeform 59"/>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27" name="Freeform 60"/>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28" name="Freeform 61"/>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29" name="Freeform 62"/>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grpSp>
        <p:nvGrpSpPr>
          <p:cNvPr id="181266" name="myGroup 252"/>
          <p:cNvGrpSpPr>
            <a:grpSpLocks/>
          </p:cNvGrpSpPr>
          <p:nvPr/>
        </p:nvGrpSpPr>
        <p:grpSpPr bwMode="auto">
          <a:xfrm>
            <a:off x="2667000" y="3352800"/>
            <a:ext cx="381000" cy="914400"/>
            <a:chOff x="1330" y="1826"/>
            <a:chExt cx="528" cy="883"/>
          </a:xfrm>
        </p:grpSpPr>
        <p:sp>
          <p:nvSpPr>
            <p:cNvPr id="181292" name="Freeform 64"/>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93" name="Freeform 65"/>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1294" name="Group 66"/>
            <p:cNvGrpSpPr>
              <a:grpSpLocks/>
            </p:cNvGrpSpPr>
            <p:nvPr/>
          </p:nvGrpSpPr>
          <p:grpSpPr bwMode="auto">
            <a:xfrm>
              <a:off x="1409" y="1867"/>
              <a:ext cx="449" cy="842"/>
              <a:chOff x="1409" y="1867"/>
              <a:chExt cx="449" cy="842"/>
            </a:xfrm>
          </p:grpSpPr>
          <p:sp>
            <p:nvSpPr>
              <p:cNvPr id="181295" name="Freeform 67"/>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96" name="Freeform 68"/>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97" name="Freeform 69"/>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98" name="Freeform 70"/>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99" name="Freeform 71"/>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00" name="Freeform 72"/>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01" name="Freeform 73"/>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02" name="Freeform 74"/>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03" name="Freeform 75"/>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04" name="Freeform 76"/>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05" name="Freeform 77"/>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06" name="Freeform 78"/>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07" name="Freeform 79"/>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08" name="Freeform 80"/>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09" name="Freeform 81"/>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310" name="Freeform 82"/>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grpSp>
        <p:nvGrpSpPr>
          <p:cNvPr id="181267" name="myGroup 252"/>
          <p:cNvGrpSpPr>
            <a:grpSpLocks/>
          </p:cNvGrpSpPr>
          <p:nvPr/>
        </p:nvGrpSpPr>
        <p:grpSpPr bwMode="auto">
          <a:xfrm>
            <a:off x="3276600" y="2895600"/>
            <a:ext cx="685800" cy="1295400"/>
            <a:chOff x="1330" y="1826"/>
            <a:chExt cx="528" cy="883"/>
          </a:xfrm>
        </p:grpSpPr>
        <p:sp>
          <p:nvSpPr>
            <p:cNvPr id="181273" name="Freeform 84"/>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74" name="Freeform 85"/>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1275" name="Group 86"/>
            <p:cNvGrpSpPr>
              <a:grpSpLocks/>
            </p:cNvGrpSpPr>
            <p:nvPr/>
          </p:nvGrpSpPr>
          <p:grpSpPr bwMode="auto">
            <a:xfrm>
              <a:off x="1409" y="1867"/>
              <a:ext cx="449" cy="842"/>
              <a:chOff x="1409" y="1867"/>
              <a:chExt cx="449" cy="842"/>
            </a:xfrm>
          </p:grpSpPr>
          <p:sp>
            <p:nvSpPr>
              <p:cNvPr id="181276" name="Freeform 87"/>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77" name="Freeform 88"/>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78" name="Freeform 89"/>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79" name="Freeform 90"/>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80" name="Freeform 91"/>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81" name="Freeform 92"/>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82" name="Freeform 93"/>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83" name="Freeform 94"/>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84" name="Freeform 95"/>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85" name="Freeform 96"/>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86" name="Freeform 97"/>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87" name="Freeform 98"/>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88" name="Freeform 99"/>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89" name="Freeform 100"/>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90" name="Freeform 101"/>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1291" name="Freeform 102"/>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sp>
        <p:nvSpPr>
          <p:cNvPr id="79"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Fase</a:t>
            </a:r>
          </a:p>
        </p:txBody>
      </p:sp>
      <p:sp>
        <p:nvSpPr>
          <p:cNvPr id="181269"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81270" name="Group 6"/>
          <p:cNvGrpSpPr>
            <a:grpSpLocks/>
          </p:cNvGrpSpPr>
          <p:nvPr/>
        </p:nvGrpSpPr>
        <p:grpSpPr bwMode="auto">
          <a:xfrm>
            <a:off x="7308850" y="117475"/>
            <a:ext cx="1735138" cy="647700"/>
            <a:chOff x="7380288" y="41275"/>
            <a:chExt cx="1735137" cy="647700"/>
          </a:xfrm>
        </p:grpSpPr>
        <p:sp>
          <p:nvSpPr>
            <p:cNvPr id="81"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82"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myRectangle 28A"/>
          <p:cNvSpPr>
            <a:spLocks noChangeArrowheads="1"/>
          </p:cNvSpPr>
          <p:nvPr/>
        </p:nvSpPr>
        <p:spPr bwMode="auto">
          <a:xfrm>
            <a:off x="1069975" y="1755775"/>
            <a:ext cx="1235075"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Normal</a:t>
            </a:r>
          </a:p>
        </p:txBody>
      </p:sp>
      <p:sp>
        <p:nvSpPr>
          <p:cNvPr id="183299" name="myRectangle 29A"/>
          <p:cNvSpPr>
            <a:spLocks noChangeArrowheads="1"/>
          </p:cNvSpPr>
          <p:nvPr/>
        </p:nvSpPr>
        <p:spPr bwMode="auto">
          <a:xfrm>
            <a:off x="2619375" y="1755775"/>
            <a:ext cx="1268413"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Paused</a:t>
            </a:r>
          </a:p>
        </p:txBody>
      </p:sp>
      <p:sp>
        <p:nvSpPr>
          <p:cNvPr id="183300" name="myRectangle 30A"/>
          <p:cNvSpPr>
            <a:spLocks noChangeArrowheads="1"/>
          </p:cNvSpPr>
          <p:nvPr/>
        </p:nvSpPr>
        <p:spPr bwMode="auto">
          <a:xfrm>
            <a:off x="4225925" y="1755775"/>
            <a:ext cx="1657350"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Resuming</a:t>
            </a:r>
          </a:p>
        </p:txBody>
      </p:sp>
      <p:sp>
        <p:nvSpPr>
          <p:cNvPr id="183301" name="myRectangle 31A"/>
          <p:cNvSpPr>
            <a:spLocks noChangeArrowheads="1"/>
          </p:cNvSpPr>
          <p:nvPr/>
        </p:nvSpPr>
        <p:spPr bwMode="auto">
          <a:xfrm>
            <a:off x="6080125" y="1755775"/>
            <a:ext cx="1927225"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Terminating</a:t>
            </a:r>
          </a:p>
        </p:txBody>
      </p:sp>
      <p:sp>
        <p:nvSpPr>
          <p:cNvPr id="183302" name="myLine 32A"/>
          <p:cNvSpPr>
            <a:spLocks noChangeShapeType="1"/>
          </p:cNvSpPr>
          <p:nvPr/>
        </p:nvSpPr>
        <p:spPr bwMode="auto">
          <a:xfrm>
            <a:off x="1047750" y="2247900"/>
            <a:ext cx="695325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3303" name="myLine 33A"/>
          <p:cNvSpPr>
            <a:spLocks noChangeShapeType="1"/>
          </p:cNvSpPr>
          <p:nvPr/>
        </p:nvSpPr>
        <p:spPr bwMode="auto">
          <a:xfrm>
            <a:off x="4095750" y="2247900"/>
            <a:ext cx="0" cy="26797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3304" name="myLine 34A"/>
          <p:cNvSpPr>
            <a:spLocks noChangeShapeType="1"/>
          </p:cNvSpPr>
          <p:nvPr/>
        </p:nvSpPr>
        <p:spPr bwMode="auto">
          <a:xfrm>
            <a:off x="2438400" y="2247900"/>
            <a:ext cx="0" cy="26797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3305" name="myLine 35A"/>
          <p:cNvSpPr>
            <a:spLocks noChangeShapeType="1"/>
          </p:cNvSpPr>
          <p:nvPr/>
        </p:nvSpPr>
        <p:spPr bwMode="auto">
          <a:xfrm>
            <a:off x="6076950" y="2247900"/>
            <a:ext cx="0" cy="26797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grpSp>
        <p:nvGrpSpPr>
          <p:cNvPr id="183306" name="myGroup 392"/>
          <p:cNvGrpSpPr>
            <a:grpSpLocks/>
          </p:cNvGrpSpPr>
          <p:nvPr/>
        </p:nvGrpSpPr>
        <p:grpSpPr bwMode="auto">
          <a:xfrm>
            <a:off x="1193800" y="3524250"/>
            <a:ext cx="328613" cy="266700"/>
            <a:chOff x="752" y="2220"/>
            <a:chExt cx="207" cy="168"/>
          </a:xfrm>
        </p:grpSpPr>
        <p:sp>
          <p:nvSpPr>
            <p:cNvPr id="183446" name="Line 36"/>
            <p:cNvSpPr>
              <a:spLocks noChangeShapeType="1"/>
            </p:cNvSpPr>
            <p:nvPr/>
          </p:nvSpPr>
          <p:spPr bwMode="auto">
            <a:xfrm>
              <a:off x="752" y="2388"/>
              <a:ext cx="20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3447" name="Line 37"/>
            <p:cNvSpPr>
              <a:spLocks noChangeShapeType="1"/>
            </p:cNvSpPr>
            <p:nvPr/>
          </p:nvSpPr>
          <p:spPr bwMode="auto">
            <a:xfrm>
              <a:off x="756" y="2304"/>
              <a:ext cx="203"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3448" name="Line 38"/>
            <p:cNvSpPr>
              <a:spLocks noChangeShapeType="1"/>
            </p:cNvSpPr>
            <p:nvPr/>
          </p:nvSpPr>
          <p:spPr bwMode="auto">
            <a:xfrm>
              <a:off x="756" y="2220"/>
              <a:ext cx="203"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grpSp>
      <p:grpSp>
        <p:nvGrpSpPr>
          <p:cNvPr id="183307" name="myGroup 662"/>
          <p:cNvGrpSpPr>
            <a:grpSpLocks/>
          </p:cNvGrpSpPr>
          <p:nvPr/>
        </p:nvGrpSpPr>
        <p:grpSpPr bwMode="auto">
          <a:xfrm>
            <a:off x="3022600" y="4035425"/>
            <a:ext cx="328613" cy="266700"/>
            <a:chOff x="1904" y="2638"/>
            <a:chExt cx="207" cy="168"/>
          </a:xfrm>
        </p:grpSpPr>
        <p:sp>
          <p:nvSpPr>
            <p:cNvPr id="183443" name="Line 63"/>
            <p:cNvSpPr>
              <a:spLocks noChangeShapeType="1"/>
            </p:cNvSpPr>
            <p:nvPr/>
          </p:nvSpPr>
          <p:spPr bwMode="auto">
            <a:xfrm>
              <a:off x="1904" y="2806"/>
              <a:ext cx="20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3444" name="Line 64"/>
            <p:cNvSpPr>
              <a:spLocks noChangeShapeType="1"/>
            </p:cNvSpPr>
            <p:nvPr/>
          </p:nvSpPr>
          <p:spPr bwMode="auto">
            <a:xfrm>
              <a:off x="1908" y="2722"/>
              <a:ext cx="203"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3445" name="Line 65"/>
            <p:cNvSpPr>
              <a:spLocks noChangeShapeType="1"/>
            </p:cNvSpPr>
            <p:nvPr/>
          </p:nvSpPr>
          <p:spPr bwMode="auto">
            <a:xfrm>
              <a:off x="1908" y="2638"/>
              <a:ext cx="203"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grpSp>
      <p:grpSp>
        <p:nvGrpSpPr>
          <p:cNvPr id="183308" name="myGroup 702"/>
          <p:cNvGrpSpPr>
            <a:grpSpLocks/>
          </p:cNvGrpSpPr>
          <p:nvPr/>
        </p:nvGrpSpPr>
        <p:grpSpPr bwMode="auto">
          <a:xfrm>
            <a:off x="4805363" y="3200400"/>
            <a:ext cx="328612" cy="266700"/>
            <a:chOff x="3027" y="1960"/>
            <a:chExt cx="207" cy="168"/>
          </a:xfrm>
        </p:grpSpPr>
        <p:sp>
          <p:nvSpPr>
            <p:cNvPr id="183440" name="Line 67"/>
            <p:cNvSpPr>
              <a:spLocks noChangeShapeType="1"/>
            </p:cNvSpPr>
            <p:nvPr/>
          </p:nvSpPr>
          <p:spPr bwMode="auto">
            <a:xfrm>
              <a:off x="3027" y="2128"/>
              <a:ext cx="20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3441" name="Line 68"/>
            <p:cNvSpPr>
              <a:spLocks noChangeShapeType="1"/>
            </p:cNvSpPr>
            <p:nvPr/>
          </p:nvSpPr>
          <p:spPr bwMode="auto">
            <a:xfrm>
              <a:off x="3031" y="2044"/>
              <a:ext cx="203"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3442" name="Line 69"/>
            <p:cNvSpPr>
              <a:spLocks noChangeShapeType="1"/>
            </p:cNvSpPr>
            <p:nvPr/>
          </p:nvSpPr>
          <p:spPr bwMode="auto">
            <a:xfrm>
              <a:off x="3031" y="1960"/>
              <a:ext cx="203"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grpSp>
      <p:grpSp>
        <p:nvGrpSpPr>
          <p:cNvPr id="183309" name="myGroup 742"/>
          <p:cNvGrpSpPr>
            <a:grpSpLocks/>
          </p:cNvGrpSpPr>
          <p:nvPr/>
        </p:nvGrpSpPr>
        <p:grpSpPr bwMode="auto">
          <a:xfrm>
            <a:off x="6273800" y="3411538"/>
            <a:ext cx="328613" cy="266700"/>
            <a:chOff x="3952" y="2149"/>
            <a:chExt cx="207" cy="168"/>
          </a:xfrm>
        </p:grpSpPr>
        <p:sp>
          <p:nvSpPr>
            <p:cNvPr id="183437" name="Line 71"/>
            <p:cNvSpPr>
              <a:spLocks noChangeShapeType="1"/>
            </p:cNvSpPr>
            <p:nvPr/>
          </p:nvSpPr>
          <p:spPr bwMode="auto">
            <a:xfrm>
              <a:off x="3952" y="2317"/>
              <a:ext cx="20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3438" name="Line 72"/>
            <p:cNvSpPr>
              <a:spLocks noChangeShapeType="1"/>
            </p:cNvSpPr>
            <p:nvPr/>
          </p:nvSpPr>
          <p:spPr bwMode="auto">
            <a:xfrm>
              <a:off x="3956" y="2233"/>
              <a:ext cx="203"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3439" name="Line 73"/>
            <p:cNvSpPr>
              <a:spLocks noChangeShapeType="1"/>
            </p:cNvSpPr>
            <p:nvPr/>
          </p:nvSpPr>
          <p:spPr bwMode="auto">
            <a:xfrm>
              <a:off x="3956" y="2149"/>
              <a:ext cx="203"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grpSp>
      <p:sp>
        <p:nvSpPr>
          <p:cNvPr id="921675" name="myRectangle 76A"/>
          <p:cNvSpPr>
            <a:spLocks noChangeArrowheads="1"/>
          </p:cNvSpPr>
          <p:nvPr/>
        </p:nvSpPr>
        <p:spPr bwMode="auto">
          <a:xfrm>
            <a:off x="1060450" y="1708150"/>
            <a:ext cx="6946900" cy="3213100"/>
          </a:xfrm>
          <a:prstGeom prst="rect">
            <a:avLst/>
          </a:prstGeom>
          <a:noFill/>
          <a:ln w="25400">
            <a:solidFill>
              <a:srgbClr val="FF0033"/>
            </a:solidFill>
            <a:miter lim="800000"/>
            <a:headEnd/>
            <a:tailEnd/>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algn="l" defTabSz="822325">
              <a:spcBef>
                <a:spcPct val="0"/>
              </a:spcBef>
              <a:defRPr sz="2400">
                <a:solidFill>
                  <a:schemeClr val="tx1"/>
                </a:solidFill>
                <a:latin typeface="Times New Roman" panose="02020603050405020304" pitchFamily="18" charset="0"/>
              </a:defRPr>
            </a:lvl2pPr>
            <a:lvl3pPr marL="411163" algn="l" defTabSz="822325">
              <a:spcBef>
                <a:spcPct val="0"/>
              </a:spcBef>
              <a:defRPr sz="2400">
                <a:solidFill>
                  <a:schemeClr val="tx1"/>
                </a:solidFill>
                <a:latin typeface="Times New Roman" panose="02020603050405020304" pitchFamily="18" charset="0"/>
              </a:defRPr>
            </a:lvl3pPr>
            <a:lvl4pPr marL="822325" algn="l" defTabSz="822325">
              <a:spcBef>
                <a:spcPct val="0"/>
              </a:spcBef>
              <a:defRPr sz="2400">
                <a:solidFill>
                  <a:schemeClr val="tx1"/>
                </a:solidFill>
                <a:latin typeface="Times New Roman" panose="02020603050405020304" pitchFamily="18" charset="0"/>
              </a:defRPr>
            </a:lvl4pPr>
            <a:lvl5pPr marL="1235075" algn="l" defTabSz="822325">
              <a:spcBef>
                <a:spcPct val="0"/>
              </a:spcBef>
              <a:defRPr sz="2400">
                <a:solidFill>
                  <a:schemeClr val="tx1"/>
                </a:solidFill>
                <a:latin typeface="Times New Roman" panose="02020603050405020304" pitchFamily="18" charset="0"/>
              </a:defRPr>
            </a:lvl5pPr>
            <a:lvl6pPr marL="1692275" defTabSz="822325" fontAlgn="base">
              <a:spcBef>
                <a:spcPct val="0"/>
              </a:spcBef>
              <a:spcAft>
                <a:spcPct val="0"/>
              </a:spcAft>
              <a:defRPr sz="2400">
                <a:solidFill>
                  <a:schemeClr val="tx1"/>
                </a:solidFill>
                <a:latin typeface="Times New Roman" panose="02020603050405020304" pitchFamily="18" charset="0"/>
              </a:defRPr>
            </a:lvl6pPr>
            <a:lvl7pPr marL="2149475" defTabSz="822325" fontAlgn="base">
              <a:spcBef>
                <a:spcPct val="0"/>
              </a:spcBef>
              <a:spcAft>
                <a:spcPct val="0"/>
              </a:spcAft>
              <a:defRPr sz="2400">
                <a:solidFill>
                  <a:schemeClr val="tx1"/>
                </a:solidFill>
                <a:latin typeface="Times New Roman" panose="02020603050405020304" pitchFamily="18" charset="0"/>
              </a:defRPr>
            </a:lvl7pPr>
            <a:lvl8pPr marL="2606675" defTabSz="822325" fontAlgn="base">
              <a:spcBef>
                <a:spcPct val="0"/>
              </a:spcBef>
              <a:spcAft>
                <a:spcPct val="0"/>
              </a:spcAft>
              <a:defRPr sz="2400">
                <a:solidFill>
                  <a:schemeClr val="tx1"/>
                </a:solidFill>
                <a:latin typeface="Times New Roman" panose="02020603050405020304" pitchFamily="18" charset="0"/>
              </a:defRPr>
            </a:lvl8pPr>
            <a:lvl9pPr marL="30638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b="1" smtClean="0">
              <a:solidFill>
                <a:schemeClr val="folHlink"/>
              </a:solidFill>
              <a:effectLst>
                <a:outerShdw blurRad="38100" dist="38100" dir="2700000" algn="tl">
                  <a:srgbClr val="C0C0C0"/>
                </a:outerShdw>
              </a:effectLst>
              <a:latin typeface="Arial" panose="020B0604020202020204" pitchFamily="34" charset="0"/>
            </a:endParaRPr>
          </a:p>
        </p:txBody>
      </p:sp>
      <p:grpSp>
        <p:nvGrpSpPr>
          <p:cNvPr id="183311" name="myGroup 252"/>
          <p:cNvGrpSpPr>
            <a:grpSpLocks/>
          </p:cNvGrpSpPr>
          <p:nvPr/>
        </p:nvGrpSpPr>
        <p:grpSpPr bwMode="auto">
          <a:xfrm>
            <a:off x="1676400" y="3124200"/>
            <a:ext cx="533400" cy="1096963"/>
            <a:chOff x="1330" y="1826"/>
            <a:chExt cx="528" cy="883"/>
          </a:xfrm>
        </p:grpSpPr>
        <p:sp>
          <p:nvSpPr>
            <p:cNvPr id="183418" name="Freeform 77"/>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19" name="Freeform 78"/>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3420" name="Group 79"/>
            <p:cNvGrpSpPr>
              <a:grpSpLocks/>
            </p:cNvGrpSpPr>
            <p:nvPr/>
          </p:nvGrpSpPr>
          <p:grpSpPr bwMode="auto">
            <a:xfrm>
              <a:off x="1409" y="1867"/>
              <a:ext cx="449" cy="842"/>
              <a:chOff x="1409" y="1867"/>
              <a:chExt cx="449" cy="842"/>
            </a:xfrm>
          </p:grpSpPr>
          <p:sp>
            <p:nvSpPr>
              <p:cNvPr id="183421" name="Freeform 80"/>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22" name="Freeform 81"/>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23" name="Freeform 82"/>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24" name="Freeform 83"/>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25" name="Freeform 84"/>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26" name="Freeform 85"/>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27" name="Freeform 86"/>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28" name="Freeform 87"/>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29" name="Freeform 88"/>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30" name="Freeform 89"/>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31" name="Freeform 90"/>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32" name="Freeform 91"/>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33" name="Freeform 92"/>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34" name="Freeform 93"/>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35" name="Freeform 94"/>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36" name="Freeform 95"/>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grpSp>
        <p:nvGrpSpPr>
          <p:cNvPr id="183312" name="myGroup 252"/>
          <p:cNvGrpSpPr>
            <a:grpSpLocks/>
          </p:cNvGrpSpPr>
          <p:nvPr/>
        </p:nvGrpSpPr>
        <p:grpSpPr bwMode="auto">
          <a:xfrm>
            <a:off x="2590800" y="2636838"/>
            <a:ext cx="533400" cy="1096962"/>
            <a:chOff x="1330" y="1826"/>
            <a:chExt cx="528" cy="883"/>
          </a:xfrm>
        </p:grpSpPr>
        <p:sp>
          <p:nvSpPr>
            <p:cNvPr id="183399" name="Freeform 97"/>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00" name="Freeform 98"/>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3401" name="Group 99"/>
            <p:cNvGrpSpPr>
              <a:grpSpLocks/>
            </p:cNvGrpSpPr>
            <p:nvPr/>
          </p:nvGrpSpPr>
          <p:grpSpPr bwMode="auto">
            <a:xfrm>
              <a:off x="1409" y="1867"/>
              <a:ext cx="449" cy="842"/>
              <a:chOff x="1409" y="1867"/>
              <a:chExt cx="449" cy="842"/>
            </a:xfrm>
          </p:grpSpPr>
          <p:sp>
            <p:nvSpPr>
              <p:cNvPr id="183402" name="Freeform 100"/>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03" name="Freeform 101"/>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04" name="Freeform 102"/>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05" name="Freeform 103"/>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06" name="Freeform 104"/>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07" name="Freeform 105"/>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08" name="Freeform 106"/>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09" name="Freeform 107"/>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10" name="Freeform 108"/>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11" name="Freeform 109"/>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12" name="Freeform 110"/>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13" name="Freeform 111"/>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14" name="Freeform 112"/>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15" name="Freeform 113"/>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16" name="Freeform 114"/>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417" name="Freeform 115"/>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grpSp>
        <p:nvGrpSpPr>
          <p:cNvPr id="183313" name="myGroup 252"/>
          <p:cNvGrpSpPr>
            <a:grpSpLocks/>
          </p:cNvGrpSpPr>
          <p:nvPr/>
        </p:nvGrpSpPr>
        <p:grpSpPr bwMode="auto">
          <a:xfrm>
            <a:off x="5334000" y="2560638"/>
            <a:ext cx="533400" cy="1096962"/>
            <a:chOff x="1330" y="1826"/>
            <a:chExt cx="528" cy="883"/>
          </a:xfrm>
        </p:grpSpPr>
        <p:sp>
          <p:nvSpPr>
            <p:cNvPr id="183380" name="Freeform 117"/>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81" name="Freeform 118"/>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3382" name="Group 119"/>
            <p:cNvGrpSpPr>
              <a:grpSpLocks/>
            </p:cNvGrpSpPr>
            <p:nvPr/>
          </p:nvGrpSpPr>
          <p:grpSpPr bwMode="auto">
            <a:xfrm>
              <a:off x="1409" y="1867"/>
              <a:ext cx="449" cy="842"/>
              <a:chOff x="1409" y="1867"/>
              <a:chExt cx="449" cy="842"/>
            </a:xfrm>
          </p:grpSpPr>
          <p:sp>
            <p:nvSpPr>
              <p:cNvPr id="183383" name="Freeform 120"/>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84" name="Freeform 121"/>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85" name="Freeform 122"/>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86" name="Freeform 123"/>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87" name="Freeform 124"/>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88" name="Freeform 125"/>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89" name="Freeform 126"/>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90" name="Freeform 127"/>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91" name="Freeform 128"/>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92" name="Freeform 129"/>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93" name="Freeform 130"/>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94" name="Freeform 131"/>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95" name="Freeform 132"/>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96" name="Freeform 133"/>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97" name="Freeform 134"/>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98" name="Freeform 135"/>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grpSp>
        <p:nvGrpSpPr>
          <p:cNvPr id="183314" name="myGroup 252"/>
          <p:cNvGrpSpPr>
            <a:grpSpLocks/>
          </p:cNvGrpSpPr>
          <p:nvPr/>
        </p:nvGrpSpPr>
        <p:grpSpPr bwMode="auto">
          <a:xfrm>
            <a:off x="6705600" y="2895600"/>
            <a:ext cx="533400" cy="1096963"/>
            <a:chOff x="1330" y="1826"/>
            <a:chExt cx="528" cy="883"/>
          </a:xfrm>
        </p:grpSpPr>
        <p:sp>
          <p:nvSpPr>
            <p:cNvPr id="183361" name="Freeform 137"/>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62" name="Freeform 138"/>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3363" name="Group 139"/>
            <p:cNvGrpSpPr>
              <a:grpSpLocks/>
            </p:cNvGrpSpPr>
            <p:nvPr/>
          </p:nvGrpSpPr>
          <p:grpSpPr bwMode="auto">
            <a:xfrm>
              <a:off x="1409" y="1867"/>
              <a:ext cx="449" cy="842"/>
              <a:chOff x="1409" y="1867"/>
              <a:chExt cx="449" cy="842"/>
            </a:xfrm>
          </p:grpSpPr>
          <p:sp>
            <p:nvSpPr>
              <p:cNvPr id="183364" name="Freeform 140"/>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65" name="Freeform 141"/>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66" name="Freeform 142"/>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67" name="Freeform 143"/>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68" name="Freeform 144"/>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69" name="Freeform 145"/>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70" name="Freeform 146"/>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71" name="Freeform 147"/>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72" name="Freeform 148"/>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73" name="Freeform 149"/>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74" name="Freeform 150"/>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75" name="Freeform 151"/>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76" name="Freeform 152"/>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77" name="Freeform 153"/>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78" name="Freeform 154"/>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79" name="Freeform 155"/>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pic>
        <p:nvPicPr>
          <p:cNvPr id="183315" name="myPicture 75A"/>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5900" y="3048000"/>
            <a:ext cx="820738" cy="947738"/>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83316" name="myGroup 252"/>
          <p:cNvGrpSpPr>
            <a:grpSpLocks/>
          </p:cNvGrpSpPr>
          <p:nvPr/>
        </p:nvGrpSpPr>
        <p:grpSpPr bwMode="auto">
          <a:xfrm>
            <a:off x="3505200" y="3810000"/>
            <a:ext cx="381000" cy="685800"/>
            <a:chOff x="1330" y="1826"/>
            <a:chExt cx="528" cy="883"/>
          </a:xfrm>
        </p:grpSpPr>
        <p:sp>
          <p:nvSpPr>
            <p:cNvPr id="183342" name="Freeform 158"/>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43" name="Freeform 159"/>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3344" name="Group 160"/>
            <p:cNvGrpSpPr>
              <a:grpSpLocks/>
            </p:cNvGrpSpPr>
            <p:nvPr/>
          </p:nvGrpSpPr>
          <p:grpSpPr bwMode="auto">
            <a:xfrm>
              <a:off x="1409" y="1867"/>
              <a:ext cx="449" cy="842"/>
              <a:chOff x="1409" y="1867"/>
              <a:chExt cx="449" cy="842"/>
            </a:xfrm>
          </p:grpSpPr>
          <p:sp>
            <p:nvSpPr>
              <p:cNvPr id="183345" name="Freeform 161"/>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46" name="Freeform 162"/>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47" name="Freeform 163"/>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48" name="Freeform 164"/>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49" name="Freeform 165"/>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50" name="Freeform 166"/>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51" name="Freeform 167"/>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52" name="Freeform 168"/>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53" name="Freeform 169"/>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54" name="Freeform 170"/>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55" name="Freeform 171"/>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56" name="Freeform 172"/>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57" name="Freeform 173"/>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58" name="Freeform 174"/>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59" name="Freeform 175"/>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60" name="Freeform 176"/>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grpSp>
        <p:nvGrpSpPr>
          <p:cNvPr id="183317" name="myGroup 252"/>
          <p:cNvGrpSpPr>
            <a:grpSpLocks/>
          </p:cNvGrpSpPr>
          <p:nvPr/>
        </p:nvGrpSpPr>
        <p:grpSpPr bwMode="auto">
          <a:xfrm>
            <a:off x="4267200" y="3886200"/>
            <a:ext cx="381000" cy="685800"/>
            <a:chOff x="1330" y="1826"/>
            <a:chExt cx="528" cy="883"/>
          </a:xfrm>
        </p:grpSpPr>
        <p:sp>
          <p:nvSpPr>
            <p:cNvPr id="183323" name="Freeform 178"/>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24" name="Freeform 179"/>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3325" name="Group 180"/>
            <p:cNvGrpSpPr>
              <a:grpSpLocks/>
            </p:cNvGrpSpPr>
            <p:nvPr/>
          </p:nvGrpSpPr>
          <p:grpSpPr bwMode="auto">
            <a:xfrm>
              <a:off x="1409" y="1867"/>
              <a:ext cx="449" cy="842"/>
              <a:chOff x="1409" y="1867"/>
              <a:chExt cx="449" cy="842"/>
            </a:xfrm>
          </p:grpSpPr>
          <p:sp>
            <p:nvSpPr>
              <p:cNvPr id="183326" name="Freeform 181"/>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27" name="Freeform 182"/>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28" name="Freeform 183"/>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29" name="Freeform 184"/>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30" name="Freeform 185"/>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31" name="Freeform 186"/>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32" name="Freeform 187"/>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33" name="Freeform 188"/>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34" name="Freeform 189"/>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35" name="Freeform 190"/>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36" name="Freeform 191"/>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37" name="Freeform 192"/>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38" name="Freeform 193"/>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39" name="Freeform 194"/>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40" name="Freeform 195"/>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3341" name="Freeform 196"/>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sp>
        <p:nvSpPr>
          <p:cNvPr id="150"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Concurrent</a:t>
            </a:r>
          </a:p>
        </p:txBody>
      </p:sp>
      <p:sp>
        <p:nvSpPr>
          <p:cNvPr id="183319"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83320" name="Group 6"/>
          <p:cNvGrpSpPr>
            <a:grpSpLocks/>
          </p:cNvGrpSpPr>
          <p:nvPr/>
        </p:nvGrpSpPr>
        <p:grpSpPr bwMode="auto">
          <a:xfrm>
            <a:off x="7308850" y="117475"/>
            <a:ext cx="1735138" cy="647700"/>
            <a:chOff x="7380288" y="41275"/>
            <a:chExt cx="1735137" cy="647700"/>
          </a:xfrm>
        </p:grpSpPr>
        <p:sp>
          <p:nvSpPr>
            <p:cNvPr id="152"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153"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myRectangle 22A"/>
          <p:cNvSpPr>
            <a:spLocks noChangeArrowheads="1"/>
          </p:cNvSpPr>
          <p:nvPr/>
        </p:nvSpPr>
        <p:spPr bwMode="auto">
          <a:xfrm>
            <a:off x="1022350" y="1755775"/>
            <a:ext cx="1235075"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Normal</a:t>
            </a:r>
          </a:p>
        </p:txBody>
      </p:sp>
      <p:sp>
        <p:nvSpPr>
          <p:cNvPr id="185347" name="myRectangle 23A"/>
          <p:cNvSpPr>
            <a:spLocks noChangeArrowheads="1"/>
          </p:cNvSpPr>
          <p:nvPr/>
        </p:nvSpPr>
        <p:spPr bwMode="auto">
          <a:xfrm>
            <a:off x="2238375" y="1755775"/>
            <a:ext cx="1401763"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Warning</a:t>
            </a:r>
          </a:p>
        </p:txBody>
      </p:sp>
      <p:sp>
        <p:nvSpPr>
          <p:cNvPr id="185348" name="myRectangle 24A"/>
          <p:cNvSpPr>
            <a:spLocks noChangeArrowheads="1"/>
          </p:cNvSpPr>
          <p:nvPr/>
        </p:nvSpPr>
        <p:spPr bwMode="auto">
          <a:xfrm>
            <a:off x="3773488" y="1755775"/>
            <a:ext cx="930275"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Error</a:t>
            </a:r>
          </a:p>
        </p:txBody>
      </p:sp>
      <p:sp>
        <p:nvSpPr>
          <p:cNvPr id="185349" name="myRectangle 25A"/>
          <p:cNvSpPr>
            <a:spLocks noChangeArrowheads="1"/>
          </p:cNvSpPr>
          <p:nvPr/>
        </p:nvSpPr>
        <p:spPr bwMode="auto">
          <a:xfrm>
            <a:off x="4741863" y="1755775"/>
            <a:ext cx="1827212"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Terminated</a:t>
            </a:r>
          </a:p>
        </p:txBody>
      </p:sp>
      <p:sp>
        <p:nvSpPr>
          <p:cNvPr id="185350" name="myLine 26A"/>
          <p:cNvSpPr>
            <a:spLocks noChangeShapeType="1"/>
          </p:cNvSpPr>
          <p:nvPr/>
        </p:nvSpPr>
        <p:spPr bwMode="auto">
          <a:xfrm>
            <a:off x="1047750" y="2247900"/>
            <a:ext cx="695325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5351" name="myLine 27A"/>
          <p:cNvSpPr>
            <a:spLocks noChangeShapeType="1"/>
          </p:cNvSpPr>
          <p:nvPr/>
        </p:nvSpPr>
        <p:spPr bwMode="auto">
          <a:xfrm>
            <a:off x="3619500" y="2247900"/>
            <a:ext cx="0" cy="26797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5352" name="myLine 28A"/>
          <p:cNvSpPr>
            <a:spLocks noChangeShapeType="1"/>
          </p:cNvSpPr>
          <p:nvPr/>
        </p:nvSpPr>
        <p:spPr bwMode="auto">
          <a:xfrm>
            <a:off x="2190750" y="2247900"/>
            <a:ext cx="0" cy="26797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5353" name="myLine 29A"/>
          <p:cNvSpPr>
            <a:spLocks noChangeShapeType="1"/>
          </p:cNvSpPr>
          <p:nvPr/>
        </p:nvSpPr>
        <p:spPr bwMode="auto">
          <a:xfrm>
            <a:off x="6515100" y="2247900"/>
            <a:ext cx="0" cy="26797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5354" name="myRectangle 38A"/>
          <p:cNvSpPr>
            <a:spLocks noChangeArrowheads="1"/>
          </p:cNvSpPr>
          <p:nvPr/>
        </p:nvSpPr>
        <p:spPr bwMode="auto">
          <a:xfrm>
            <a:off x="6019800" y="1774825"/>
            <a:ext cx="1997075"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marL="342900" indent="-34290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1430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600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057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lvl="2">
              <a:spcBef>
                <a:spcPct val="0"/>
              </a:spcBef>
              <a:buFontTx/>
              <a:buNone/>
            </a:pPr>
            <a:r>
              <a:rPr lang="en-US" altLang="en-US" b="1">
                <a:ea typeface="MS PGothic" panose="020B0600070205080204" pitchFamily="34" charset="-128"/>
              </a:rPr>
              <a:t>Canceled</a:t>
            </a:r>
          </a:p>
        </p:txBody>
      </p:sp>
      <p:sp>
        <p:nvSpPr>
          <p:cNvPr id="185355" name="myLine 39A"/>
          <p:cNvSpPr>
            <a:spLocks noChangeShapeType="1"/>
          </p:cNvSpPr>
          <p:nvPr/>
        </p:nvSpPr>
        <p:spPr bwMode="auto">
          <a:xfrm>
            <a:off x="4800600" y="2247900"/>
            <a:ext cx="0" cy="26797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23706" name="myRectangle 58A"/>
          <p:cNvSpPr>
            <a:spLocks noChangeArrowheads="1"/>
          </p:cNvSpPr>
          <p:nvPr/>
        </p:nvSpPr>
        <p:spPr bwMode="auto">
          <a:xfrm>
            <a:off x="1060450" y="1708150"/>
            <a:ext cx="6946900" cy="3213100"/>
          </a:xfrm>
          <a:prstGeom prst="rect">
            <a:avLst/>
          </a:prstGeom>
          <a:noFill/>
          <a:ln w="25400">
            <a:solidFill>
              <a:srgbClr val="FF0033"/>
            </a:solidFill>
            <a:miter lim="800000"/>
            <a:headEnd/>
            <a:tailEnd/>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algn="l" defTabSz="822325">
              <a:spcBef>
                <a:spcPct val="0"/>
              </a:spcBef>
              <a:defRPr sz="2400">
                <a:solidFill>
                  <a:schemeClr val="tx1"/>
                </a:solidFill>
                <a:latin typeface="Times New Roman" panose="02020603050405020304" pitchFamily="18" charset="0"/>
              </a:defRPr>
            </a:lvl2pPr>
            <a:lvl3pPr marL="411163" algn="l" defTabSz="822325">
              <a:spcBef>
                <a:spcPct val="0"/>
              </a:spcBef>
              <a:defRPr sz="2400">
                <a:solidFill>
                  <a:schemeClr val="tx1"/>
                </a:solidFill>
                <a:latin typeface="Times New Roman" panose="02020603050405020304" pitchFamily="18" charset="0"/>
              </a:defRPr>
            </a:lvl3pPr>
            <a:lvl4pPr marL="822325" algn="l" defTabSz="822325">
              <a:spcBef>
                <a:spcPct val="0"/>
              </a:spcBef>
              <a:defRPr sz="2400">
                <a:solidFill>
                  <a:schemeClr val="tx1"/>
                </a:solidFill>
                <a:latin typeface="Times New Roman" panose="02020603050405020304" pitchFamily="18" charset="0"/>
              </a:defRPr>
            </a:lvl4pPr>
            <a:lvl5pPr marL="1235075" algn="l" defTabSz="822325">
              <a:spcBef>
                <a:spcPct val="0"/>
              </a:spcBef>
              <a:defRPr sz="2400">
                <a:solidFill>
                  <a:schemeClr val="tx1"/>
                </a:solidFill>
                <a:latin typeface="Times New Roman" panose="02020603050405020304" pitchFamily="18" charset="0"/>
              </a:defRPr>
            </a:lvl5pPr>
            <a:lvl6pPr marL="1692275" defTabSz="822325" fontAlgn="base">
              <a:spcBef>
                <a:spcPct val="0"/>
              </a:spcBef>
              <a:spcAft>
                <a:spcPct val="0"/>
              </a:spcAft>
              <a:defRPr sz="2400">
                <a:solidFill>
                  <a:schemeClr val="tx1"/>
                </a:solidFill>
                <a:latin typeface="Times New Roman" panose="02020603050405020304" pitchFamily="18" charset="0"/>
              </a:defRPr>
            </a:lvl6pPr>
            <a:lvl7pPr marL="2149475" defTabSz="822325" fontAlgn="base">
              <a:spcBef>
                <a:spcPct val="0"/>
              </a:spcBef>
              <a:spcAft>
                <a:spcPct val="0"/>
              </a:spcAft>
              <a:defRPr sz="2400">
                <a:solidFill>
                  <a:schemeClr val="tx1"/>
                </a:solidFill>
                <a:latin typeface="Times New Roman" panose="02020603050405020304" pitchFamily="18" charset="0"/>
              </a:defRPr>
            </a:lvl7pPr>
            <a:lvl8pPr marL="2606675" defTabSz="822325" fontAlgn="base">
              <a:spcBef>
                <a:spcPct val="0"/>
              </a:spcBef>
              <a:spcAft>
                <a:spcPct val="0"/>
              </a:spcAft>
              <a:defRPr sz="2400">
                <a:solidFill>
                  <a:schemeClr val="tx1"/>
                </a:solidFill>
                <a:latin typeface="Times New Roman" panose="02020603050405020304" pitchFamily="18" charset="0"/>
              </a:defRPr>
            </a:lvl8pPr>
            <a:lvl9pPr marL="30638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b="1" smtClean="0">
              <a:solidFill>
                <a:schemeClr val="folHlink"/>
              </a:solidFill>
              <a:effectLst>
                <a:outerShdw blurRad="38100" dist="38100" dir="2700000" algn="tl">
                  <a:srgbClr val="C0C0C0"/>
                </a:outerShdw>
              </a:effectLst>
              <a:latin typeface="Arial" panose="020B0604020202020204" pitchFamily="34" charset="0"/>
            </a:endParaRPr>
          </a:p>
        </p:txBody>
      </p:sp>
      <p:grpSp>
        <p:nvGrpSpPr>
          <p:cNvPr id="185357" name="myGroup 622"/>
          <p:cNvGrpSpPr>
            <a:grpSpLocks/>
          </p:cNvGrpSpPr>
          <p:nvPr/>
        </p:nvGrpSpPr>
        <p:grpSpPr bwMode="auto">
          <a:xfrm>
            <a:off x="5132388" y="3370263"/>
            <a:ext cx="328612" cy="266700"/>
            <a:chOff x="3233" y="2123"/>
            <a:chExt cx="207" cy="168"/>
          </a:xfrm>
        </p:grpSpPr>
        <p:sp>
          <p:nvSpPr>
            <p:cNvPr id="185468" name="Line 60"/>
            <p:cNvSpPr>
              <a:spLocks noChangeShapeType="1"/>
            </p:cNvSpPr>
            <p:nvPr/>
          </p:nvSpPr>
          <p:spPr bwMode="auto">
            <a:xfrm>
              <a:off x="3233" y="2291"/>
              <a:ext cx="207"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5469" name="Line 61"/>
            <p:cNvSpPr>
              <a:spLocks noChangeShapeType="1"/>
            </p:cNvSpPr>
            <p:nvPr/>
          </p:nvSpPr>
          <p:spPr bwMode="auto">
            <a:xfrm>
              <a:off x="3237" y="2207"/>
              <a:ext cx="203"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5470" name="Line 62"/>
            <p:cNvSpPr>
              <a:spLocks noChangeShapeType="1"/>
            </p:cNvSpPr>
            <p:nvPr/>
          </p:nvSpPr>
          <p:spPr bwMode="auto">
            <a:xfrm>
              <a:off x="3237" y="2123"/>
              <a:ext cx="203"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grpSp>
      <p:grpSp>
        <p:nvGrpSpPr>
          <p:cNvPr id="185358" name="myGroup 252"/>
          <p:cNvGrpSpPr>
            <a:grpSpLocks/>
          </p:cNvGrpSpPr>
          <p:nvPr/>
        </p:nvGrpSpPr>
        <p:grpSpPr bwMode="auto">
          <a:xfrm>
            <a:off x="5562600" y="2941638"/>
            <a:ext cx="533400" cy="1096962"/>
            <a:chOff x="1330" y="1826"/>
            <a:chExt cx="528" cy="883"/>
          </a:xfrm>
        </p:grpSpPr>
        <p:sp>
          <p:nvSpPr>
            <p:cNvPr id="185449" name="Freeform 124"/>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50" name="Freeform 125"/>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5451" name="Group 126"/>
            <p:cNvGrpSpPr>
              <a:grpSpLocks/>
            </p:cNvGrpSpPr>
            <p:nvPr/>
          </p:nvGrpSpPr>
          <p:grpSpPr bwMode="auto">
            <a:xfrm>
              <a:off x="1409" y="1867"/>
              <a:ext cx="449" cy="842"/>
              <a:chOff x="1409" y="1867"/>
              <a:chExt cx="449" cy="842"/>
            </a:xfrm>
          </p:grpSpPr>
          <p:sp>
            <p:nvSpPr>
              <p:cNvPr id="185452" name="Freeform 127"/>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53" name="Freeform 128"/>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54" name="Freeform 129"/>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55" name="Freeform 130"/>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56" name="Freeform 131"/>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57" name="Freeform 132"/>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58" name="Freeform 133"/>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59" name="Freeform 134"/>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60" name="Freeform 135"/>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61" name="Freeform 136"/>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62" name="Freeform 137"/>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63" name="Freeform 138"/>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64" name="Freeform 139"/>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65" name="Freeform 140"/>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66" name="Freeform 141"/>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67" name="Freeform 142"/>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grpSp>
        <p:nvGrpSpPr>
          <p:cNvPr id="185359" name="myGroup 252"/>
          <p:cNvGrpSpPr>
            <a:grpSpLocks/>
          </p:cNvGrpSpPr>
          <p:nvPr/>
        </p:nvGrpSpPr>
        <p:grpSpPr bwMode="auto">
          <a:xfrm>
            <a:off x="7086600" y="2971800"/>
            <a:ext cx="533400" cy="1096963"/>
            <a:chOff x="1330" y="1826"/>
            <a:chExt cx="528" cy="883"/>
          </a:xfrm>
        </p:grpSpPr>
        <p:sp>
          <p:nvSpPr>
            <p:cNvPr id="185430" name="Freeform 144"/>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31" name="Freeform 145"/>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5432" name="Group 146"/>
            <p:cNvGrpSpPr>
              <a:grpSpLocks/>
            </p:cNvGrpSpPr>
            <p:nvPr/>
          </p:nvGrpSpPr>
          <p:grpSpPr bwMode="auto">
            <a:xfrm>
              <a:off x="1409" y="1867"/>
              <a:ext cx="449" cy="842"/>
              <a:chOff x="1409" y="1867"/>
              <a:chExt cx="449" cy="842"/>
            </a:xfrm>
          </p:grpSpPr>
          <p:sp>
            <p:nvSpPr>
              <p:cNvPr id="185433" name="Freeform 147"/>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34" name="Freeform 148"/>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35" name="Freeform 149"/>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36" name="Freeform 150"/>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37" name="Freeform 151"/>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38" name="Freeform 152"/>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39" name="Freeform 153"/>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40" name="Freeform 154"/>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41" name="Freeform 155"/>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42" name="Freeform 156"/>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43" name="Freeform 157"/>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44" name="Freeform 158"/>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45" name="Freeform 159"/>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46" name="Freeform 160"/>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47" name="Freeform 161"/>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48" name="Freeform 162"/>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pic>
        <p:nvPicPr>
          <p:cNvPr id="185360" name="myPicture 57A"/>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2900" y="3001963"/>
            <a:ext cx="820738" cy="947737"/>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5361" name="myPicture 56A"/>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3090863"/>
            <a:ext cx="820738" cy="947737"/>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5362" name="Rectangle 165"/>
          <p:cNvSpPr>
            <a:spLocks noChangeArrowheads="1"/>
          </p:cNvSpPr>
          <p:nvPr/>
        </p:nvSpPr>
        <p:spPr bwMode="blackWhite">
          <a:xfrm>
            <a:off x="2514600" y="2667000"/>
            <a:ext cx="800100" cy="1752600"/>
          </a:xfrm>
          <a:prstGeom prst="rect">
            <a:avLst/>
          </a:prstGeom>
          <a:solidFill>
            <a:srgbClr val="FFFF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50000"/>
              </a:spcBef>
              <a:buFontTx/>
              <a:buNone/>
            </a:pPr>
            <a:endParaRPr lang="en-US" altLang="en-US" sz="1800" b="1"/>
          </a:p>
        </p:txBody>
      </p:sp>
      <p:grpSp>
        <p:nvGrpSpPr>
          <p:cNvPr id="185363" name="myGroup 252"/>
          <p:cNvGrpSpPr>
            <a:grpSpLocks/>
          </p:cNvGrpSpPr>
          <p:nvPr/>
        </p:nvGrpSpPr>
        <p:grpSpPr bwMode="auto">
          <a:xfrm>
            <a:off x="2667000" y="2971800"/>
            <a:ext cx="533400" cy="1096963"/>
            <a:chOff x="1330" y="1826"/>
            <a:chExt cx="528" cy="883"/>
          </a:xfrm>
        </p:grpSpPr>
        <p:sp>
          <p:nvSpPr>
            <p:cNvPr id="185411" name="Freeform 167"/>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12" name="Freeform 168"/>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5413" name="Group 169"/>
            <p:cNvGrpSpPr>
              <a:grpSpLocks/>
            </p:cNvGrpSpPr>
            <p:nvPr/>
          </p:nvGrpSpPr>
          <p:grpSpPr bwMode="auto">
            <a:xfrm>
              <a:off x="1409" y="1867"/>
              <a:ext cx="449" cy="842"/>
              <a:chOff x="1409" y="1867"/>
              <a:chExt cx="449" cy="842"/>
            </a:xfrm>
          </p:grpSpPr>
          <p:sp>
            <p:nvSpPr>
              <p:cNvPr id="185414" name="Freeform 170"/>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15" name="Freeform 171"/>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16" name="Freeform 172"/>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17" name="Freeform 173"/>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18" name="Freeform 174"/>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19" name="Freeform 175"/>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20" name="Freeform 176"/>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21" name="Freeform 177"/>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22" name="Freeform 178"/>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23" name="Freeform 179"/>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24" name="Freeform 180"/>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25" name="Freeform 181"/>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26" name="Freeform 182"/>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27" name="Freeform 183"/>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28" name="Freeform 184"/>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29" name="Freeform 185"/>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sp>
        <p:nvSpPr>
          <p:cNvPr id="185364" name="Rectangle 186"/>
          <p:cNvSpPr>
            <a:spLocks noChangeArrowheads="1"/>
          </p:cNvSpPr>
          <p:nvPr/>
        </p:nvSpPr>
        <p:spPr bwMode="blackWhite">
          <a:xfrm>
            <a:off x="3810000" y="2667000"/>
            <a:ext cx="800100" cy="1752600"/>
          </a:xfrm>
          <a:prstGeom prst="rect">
            <a:avLst/>
          </a:prstGeom>
          <a:solidFill>
            <a:srgbClr val="FF00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endParaRPr lang="en-US" altLang="en-US" sz="1800" b="1"/>
          </a:p>
        </p:txBody>
      </p:sp>
      <p:sp>
        <p:nvSpPr>
          <p:cNvPr id="185365" name="Rectangle 187"/>
          <p:cNvSpPr>
            <a:spLocks noChangeArrowheads="1"/>
          </p:cNvSpPr>
          <p:nvPr/>
        </p:nvSpPr>
        <p:spPr bwMode="blackWhite">
          <a:xfrm>
            <a:off x="1295400" y="2667000"/>
            <a:ext cx="723900" cy="1728788"/>
          </a:xfrm>
          <a:prstGeom prst="rect">
            <a:avLst/>
          </a:prstGeom>
          <a:solidFill>
            <a:srgbClr val="66CC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nchor="ctr"/>
          <a:lstStyle>
            <a:lvl1pPr defTabSz="822325">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411163" indent="-285750" defTabSz="822325">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822325" indent="-228600" defTabSz="822325">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235075"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646238" indent="-228600" defTabSz="822325">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1034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5606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0178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475038" indent="-228600" defTabSz="822325"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endParaRPr lang="en-US" altLang="en-US" sz="1800" b="1"/>
          </a:p>
        </p:txBody>
      </p:sp>
      <p:grpSp>
        <p:nvGrpSpPr>
          <p:cNvPr id="185366" name="myGroup 252"/>
          <p:cNvGrpSpPr>
            <a:grpSpLocks/>
          </p:cNvGrpSpPr>
          <p:nvPr/>
        </p:nvGrpSpPr>
        <p:grpSpPr bwMode="auto">
          <a:xfrm>
            <a:off x="3962400" y="2941638"/>
            <a:ext cx="533400" cy="1096962"/>
            <a:chOff x="1330" y="1826"/>
            <a:chExt cx="528" cy="883"/>
          </a:xfrm>
        </p:grpSpPr>
        <p:sp>
          <p:nvSpPr>
            <p:cNvPr id="185392" name="Freeform 189"/>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93" name="Freeform 190"/>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5394" name="Group 191"/>
            <p:cNvGrpSpPr>
              <a:grpSpLocks/>
            </p:cNvGrpSpPr>
            <p:nvPr/>
          </p:nvGrpSpPr>
          <p:grpSpPr bwMode="auto">
            <a:xfrm>
              <a:off x="1409" y="1867"/>
              <a:ext cx="449" cy="842"/>
              <a:chOff x="1409" y="1867"/>
              <a:chExt cx="449" cy="842"/>
            </a:xfrm>
          </p:grpSpPr>
          <p:sp>
            <p:nvSpPr>
              <p:cNvPr id="185395" name="Freeform 192"/>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96" name="Freeform 193"/>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97" name="Freeform 194"/>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98" name="Freeform 195"/>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99" name="Freeform 196"/>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00" name="Freeform 197"/>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01" name="Freeform 198"/>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02" name="Freeform 199"/>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03" name="Freeform 200"/>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04" name="Freeform 201"/>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05" name="Freeform 202"/>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06" name="Freeform 203"/>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07" name="Freeform 204"/>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08" name="Freeform 205"/>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09" name="Freeform 206"/>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410" name="Freeform 207"/>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grpSp>
        <p:nvGrpSpPr>
          <p:cNvPr id="185367" name="myGroup 252"/>
          <p:cNvGrpSpPr>
            <a:grpSpLocks/>
          </p:cNvGrpSpPr>
          <p:nvPr/>
        </p:nvGrpSpPr>
        <p:grpSpPr bwMode="auto">
          <a:xfrm>
            <a:off x="1371600" y="2971800"/>
            <a:ext cx="533400" cy="1096963"/>
            <a:chOff x="1330" y="1826"/>
            <a:chExt cx="528" cy="883"/>
          </a:xfrm>
        </p:grpSpPr>
        <p:sp>
          <p:nvSpPr>
            <p:cNvPr id="185373" name="Freeform 209"/>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74" name="Freeform 210"/>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5375" name="Group 211"/>
            <p:cNvGrpSpPr>
              <a:grpSpLocks/>
            </p:cNvGrpSpPr>
            <p:nvPr/>
          </p:nvGrpSpPr>
          <p:grpSpPr bwMode="auto">
            <a:xfrm>
              <a:off x="1409" y="1867"/>
              <a:ext cx="449" cy="842"/>
              <a:chOff x="1409" y="1867"/>
              <a:chExt cx="449" cy="842"/>
            </a:xfrm>
          </p:grpSpPr>
          <p:sp>
            <p:nvSpPr>
              <p:cNvPr id="185376" name="Freeform 212"/>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77" name="Freeform 213"/>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78" name="Freeform 214"/>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79" name="Freeform 215"/>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80" name="Freeform 216"/>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81" name="Freeform 217"/>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82" name="Freeform 218"/>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83" name="Freeform 219"/>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84" name="Freeform 220"/>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85" name="Freeform 221"/>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86" name="Freeform 222"/>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87" name="Freeform 223"/>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88" name="Freeform 224"/>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89" name="Freeform 225"/>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90" name="Freeform 226"/>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5391" name="Freeform 227"/>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sp>
        <p:nvSpPr>
          <p:cNvPr id="124"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Status</a:t>
            </a:r>
          </a:p>
        </p:txBody>
      </p:sp>
      <p:sp>
        <p:nvSpPr>
          <p:cNvPr id="185369"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85370" name="Group 6"/>
          <p:cNvGrpSpPr>
            <a:grpSpLocks/>
          </p:cNvGrpSpPr>
          <p:nvPr/>
        </p:nvGrpSpPr>
        <p:grpSpPr bwMode="auto">
          <a:xfrm>
            <a:off x="7308850" y="117475"/>
            <a:ext cx="1735138" cy="647700"/>
            <a:chOff x="7380288" y="41275"/>
            <a:chExt cx="1735137" cy="647700"/>
          </a:xfrm>
        </p:grpSpPr>
        <p:sp>
          <p:nvSpPr>
            <p:cNvPr id="126"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127"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myRectangle 3A"/>
          <p:cNvSpPr>
            <a:spLocks noChangeArrowheads="1"/>
          </p:cNvSpPr>
          <p:nvPr/>
        </p:nvSpPr>
        <p:spPr bwMode="auto">
          <a:xfrm>
            <a:off x="1571625" y="1754188"/>
            <a:ext cx="1454150"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Disabled</a:t>
            </a:r>
          </a:p>
        </p:txBody>
      </p:sp>
      <p:sp>
        <p:nvSpPr>
          <p:cNvPr id="187395" name="myRectangle 4A"/>
          <p:cNvSpPr>
            <a:spLocks noChangeArrowheads="1"/>
          </p:cNvSpPr>
          <p:nvPr/>
        </p:nvSpPr>
        <p:spPr bwMode="auto">
          <a:xfrm>
            <a:off x="3568700" y="1760538"/>
            <a:ext cx="1366838"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On Hold</a:t>
            </a:r>
          </a:p>
        </p:txBody>
      </p:sp>
      <p:sp>
        <p:nvSpPr>
          <p:cNvPr id="187396" name="myRectangle 5A"/>
          <p:cNvSpPr>
            <a:spLocks noChangeArrowheads="1"/>
          </p:cNvSpPr>
          <p:nvPr/>
        </p:nvSpPr>
        <p:spPr bwMode="auto">
          <a:xfrm>
            <a:off x="5375275" y="1741488"/>
            <a:ext cx="1928813" cy="457200"/>
          </a:xfrm>
          <a:prstGeom prst="rect">
            <a:avLst/>
          </a:prstGeom>
          <a:noFill/>
          <a:ln>
            <a:noFill/>
          </a:ln>
          <a:effectLst/>
          <a:extLst>
            <a:ext uri="{909E8E84-426E-40DD-AFC4-6F175D3DCCD1}">
              <a14:hiddenFill xmlns:a14="http://schemas.microsoft.com/office/drawing/2010/main">
                <a:solidFill>
                  <a:srgbClr val="CC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342900" indent="-22860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6858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914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3716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828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286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2743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2004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Clr>
                <a:srgbClr val="000000"/>
              </a:buClr>
              <a:buFontTx/>
              <a:buNone/>
            </a:pPr>
            <a:r>
              <a:rPr lang="en-US" altLang="en-US" sz="2400" b="1"/>
              <a:t>No Manager</a:t>
            </a:r>
          </a:p>
        </p:txBody>
      </p:sp>
      <p:sp>
        <p:nvSpPr>
          <p:cNvPr id="187397" name="myLine 6A"/>
          <p:cNvSpPr>
            <a:spLocks noChangeShapeType="1"/>
          </p:cNvSpPr>
          <p:nvPr/>
        </p:nvSpPr>
        <p:spPr bwMode="auto">
          <a:xfrm>
            <a:off x="1276350" y="2176463"/>
            <a:ext cx="6191250" cy="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7398" name="myLine 25A"/>
          <p:cNvSpPr>
            <a:spLocks noChangeShapeType="1"/>
          </p:cNvSpPr>
          <p:nvPr/>
        </p:nvSpPr>
        <p:spPr bwMode="auto">
          <a:xfrm>
            <a:off x="5372100" y="2176463"/>
            <a:ext cx="0" cy="26670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7399" name="myLine 26A"/>
          <p:cNvSpPr>
            <a:spLocks noChangeShapeType="1"/>
          </p:cNvSpPr>
          <p:nvPr/>
        </p:nvSpPr>
        <p:spPr bwMode="auto">
          <a:xfrm>
            <a:off x="3143250" y="2176463"/>
            <a:ext cx="0" cy="2667000"/>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925731" name="myRectangle 35A"/>
          <p:cNvSpPr>
            <a:spLocks noChangeArrowheads="1"/>
          </p:cNvSpPr>
          <p:nvPr/>
        </p:nvSpPr>
        <p:spPr bwMode="auto">
          <a:xfrm>
            <a:off x="1612900" y="2493963"/>
            <a:ext cx="1155700" cy="1822450"/>
          </a:xfrm>
          <a:prstGeom prst="rect">
            <a:avLst/>
          </a:prstGeom>
          <a:noFill/>
          <a:ln w="25400">
            <a:solidFill>
              <a:schemeClr val="hlink"/>
            </a:solidFill>
            <a:miter lim="800000"/>
            <a:headEnd/>
            <a:tailEnd/>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algn="l" defTabSz="822325">
              <a:spcBef>
                <a:spcPct val="0"/>
              </a:spcBef>
              <a:defRPr sz="2400">
                <a:solidFill>
                  <a:schemeClr val="tx1"/>
                </a:solidFill>
                <a:latin typeface="Times New Roman" panose="02020603050405020304" pitchFamily="18" charset="0"/>
              </a:defRPr>
            </a:lvl2pPr>
            <a:lvl3pPr marL="411163" algn="l" defTabSz="822325">
              <a:spcBef>
                <a:spcPct val="0"/>
              </a:spcBef>
              <a:defRPr sz="2400">
                <a:solidFill>
                  <a:schemeClr val="tx1"/>
                </a:solidFill>
                <a:latin typeface="Times New Roman" panose="02020603050405020304" pitchFamily="18" charset="0"/>
              </a:defRPr>
            </a:lvl3pPr>
            <a:lvl4pPr marL="822325" algn="l" defTabSz="822325">
              <a:spcBef>
                <a:spcPct val="0"/>
              </a:spcBef>
              <a:defRPr sz="2400">
                <a:solidFill>
                  <a:schemeClr val="tx1"/>
                </a:solidFill>
                <a:latin typeface="Times New Roman" panose="02020603050405020304" pitchFamily="18" charset="0"/>
              </a:defRPr>
            </a:lvl4pPr>
            <a:lvl5pPr marL="1235075" algn="l" defTabSz="822325">
              <a:spcBef>
                <a:spcPct val="0"/>
              </a:spcBef>
              <a:defRPr sz="2400">
                <a:solidFill>
                  <a:schemeClr val="tx1"/>
                </a:solidFill>
                <a:latin typeface="Times New Roman" panose="02020603050405020304" pitchFamily="18" charset="0"/>
              </a:defRPr>
            </a:lvl5pPr>
            <a:lvl6pPr marL="1692275" defTabSz="822325" fontAlgn="base">
              <a:spcBef>
                <a:spcPct val="0"/>
              </a:spcBef>
              <a:spcAft>
                <a:spcPct val="0"/>
              </a:spcAft>
              <a:defRPr sz="2400">
                <a:solidFill>
                  <a:schemeClr val="tx1"/>
                </a:solidFill>
                <a:latin typeface="Times New Roman" panose="02020603050405020304" pitchFamily="18" charset="0"/>
              </a:defRPr>
            </a:lvl6pPr>
            <a:lvl7pPr marL="2149475" defTabSz="822325" fontAlgn="base">
              <a:spcBef>
                <a:spcPct val="0"/>
              </a:spcBef>
              <a:spcAft>
                <a:spcPct val="0"/>
              </a:spcAft>
              <a:defRPr sz="2400">
                <a:solidFill>
                  <a:schemeClr val="tx1"/>
                </a:solidFill>
                <a:latin typeface="Times New Roman" panose="02020603050405020304" pitchFamily="18" charset="0"/>
              </a:defRPr>
            </a:lvl7pPr>
            <a:lvl8pPr marL="2606675" defTabSz="822325" fontAlgn="base">
              <a:spcBef>
                <a:spcPct val="0"/>
              </a:spcBef>
              <a:spcAft>
                <a:spcPct val="0"/>
              </a:spcAft>
              <a:defRPr sz="2400">
                <a:solidFill>
                  <a:schemeClr val="tx1"/>
                </a:solidFill>
                <a:latin typeface="Times New Roman" panose="02020603050405020304" pitchFamily="18" charset="0"/>
              </a:defRPr>
            </a:lvl8pPr>
            <a:lvl9pPr marL="30638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b="1" smtClean="0">
              <a:solidFill>
                <a:schemeClr val="folHlink"/>
              </a:solidFill>
              <a:effectLst>
                <a:outerShdw blurRad="38100" dist="38100" dir="2700000" algn="tl">
                  <a:srgbClr val="C0C0C0"/>
                </a:outerShdw>
              </a:effectLst>
              <a:latin typeface="Arial" panose="020B0604020202020204" pitchFamily="34" charset="0"/>
            </a:endParaRPr>
          </a:p>
        </p:txBody>
      </p:sp>
      <p:sp>
        <p:nvSpPr>
          <p:cNvPr id="925732" name="myRectangle 36A"/>
          <p:cNvSpPr>
            <a:spLocks noChangeArrowheads="1"/>
          </p:cNvSpPr>
          <p:nvPr/>
        </p:nvSpPr>
        <p:spPr bwMode="auto">
          <a:xfrm>
            <a:off x="1289050" y="1706563"/>
            <a:ext cx="6184900" cy="3124200"/>
          </a:xfrm>
          <a:prstGeom prst="rect">
            <a:avLst/>
          </a:prstGeom>
          <a:noFill/>
          <a:ln w="25400">
            <a:solidFill>
              <a:srgbClr val="FF0033"/>
            </a:solidFill>
            <a:miter lim="800000"/>
            <a:headEnd/>
            <a:tailEnd/>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algn="l" defTabSz="822325">
              <a:spcBef>
                <a:spcPct val="0"/>
              </a:spcBef>
              <a:defRPr sz="2400">
                <a:solidFill>
                  <a:schemeClr val="tx1"/>
                </a:solidFill>
                <a:latin typeface="Times New Roman" panose="02020603050405020304" pitchFamily="18" charset="0"/>
              </a:defRPr>
            </a:lvl2pPr>
            <a:lvl3pPr marL="411163" algn="l" defTabSz="822325">
              <a:spcBef>
                <a:spcPct val="0"/>
              </a:spcBef>
              <a:defRPr sz="2400">
                <a:solidFill>
                  <a:schemeClr val="tx1"/>
                </a:solidFill>
                <a:latin typeface="Times New Roman" panose="02020603050405020304" pitchFamily="18" charset="0"/>
              </a:defRPr>
            </a:lvl3pPr>
            <a:lvl4pPr marL="822325" algn="l" defTabSz="822325">
              <a:spcBef>
                <a:spcPct val="0"/>
              </a:spcBef>
              <a:defRPr sz="2400">
                <a:solidFill>
                  <a:schemeClr val="tx1"/>
                </a:solidFill>
                <a:latin typeface="Times New Roman" panose="02020603050405020304" pitchFamily="18" charset="0"/>
              </a:defRPr>
            </a:lvl4pPr>
            <a:lvl5pPr marL="1235075" algn="l" defTabSz="822325">
              <a:spcBef>
                <a:spcPct val="0"/>
              </a:spcBef>
              <a:defRPr sz="2400">
                <a:solidFill>
                  <a:schemeClr val="tx1"/>
                </a:solidFill>
                <a:latin typeface="Times New Roman" panose="02020603050405020304" pitchFamily="18" charset="0"/>
              </a:defRPr>
            </a:lvl5pPr>
            <a:lvl6pPr marL="1692275" defTabSz="822325" fontAlgn="base">
              <a:spcBef>
                <a:spcPct val="0"/>
              </a:spcBef>
              <a:spcAft>
                <a:spcPct val="0"/>
              </a:spcAft>
              <a:defRPr sz="2400">
                <a:solidFill>
                  <a:schemeClr val="tx1"/>
                </a:solidFill>
                <a:latin typeface="Times New Roman" panose="02020603050405020304" pitchFamily="18" charset="0"/>
              </a:defRPr>
            </a:lvl6pPr>
            <a:lvl7pPr marL="2149475" defTabSz="822325" fontAlgn="base">
              <a:spcBef>
                <a:spcPct val="0"/>
              </a:spcBef>
              <a:spcAft>
                <a:spcPct val="0"/>
              </a:spcAft>
              <a:defRPr sz="2400">
                <a:solidFill>
                  <a:schemeClr val="tx1"/>
                </a:solidFill>
                <a:latin typeface="Times New Roman" panose="02020603050405020304" pitchFamily="18" charset="0"/>
              </a:defRPr>
            </a:lvl7pPr>
            <a:lvl8pPr marL="2606675" defTabSz="822325" fontAlgn="base">
              <a:spcBef>
                <a:spcPct val="0"/>
              </a:spcBef>
              <a:spcAft>
                <a:spcPct val="0"/>
              </a:spcAft>
              <a:defRPr sz="2400">
                <a:solidFill>
                  <a:schemeClr val="tx1"/>
                </a:solidFill>
                <a:latin typeface="Times New Roman" panose="02020603050405020304" pitchFamily="18" charset="0"/>
              </a:defRPr>
            </a:lvl8pPr>
            <a:lvl9pPr marL="3063875"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b="1" smtClean="0">
              <a:solidFill>
                <a:schemeClr val="folHlink"/>
              </a:solidFill>
              <a:effectLst>
                <a:outerShdw blurRad="38100" dist="38100" dir="2700000" algn="tl">
                  <a:srgbClr val="C0C0C0"/>
                </a:outerShdw>
              </a:effectLst>
              <a:latin typeface="Arial" panose="020B0604020202020204" pitchFamily="34" charset="0"/>
            </a:endParaRPr>
          </a:p>
        </p:txBody>
      </p:sp>
      <p:grpSp>
        <p:nvGrpSpPr>
          <p:cNvPr id="187402" name="myGroup 252"/>
          <p:cNvGrpSpPr>
            <a:grpSpLocks/>
          </p:cNvGrpSpPr>
          <p:nvPr/>
        </p:nvGrpSpPr>
        <p:grpSpPr bwMode="auto">
          <a:xfrm>
            <a:off x="1905000" y="2865438"/>
            <a:ext cx="533400" cy="1096962"/>
            <a:chOff x="1330" y="1826"/>
            <a:chExt cx="528" cy="883"/>
          </a:xfrm>
        </p:grpSpPr>
        <p:sp>
          <p:nvSpPr>
            <p:cNvPr id="187436" name="Freeform 38"/>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37" name="Freeform 39"/>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7438" name="Group 40"/>
            <p:cNvGrpSpPr>
              <a:grpSpLocks/>
            </p:cNvGrpSpPr>
            <p:nvPr/>
          </p:nvGrpSpPr>
          <p:grpSpPr bwMode="auto">
            <a:xfrm>
              <a:off x="1409" y="1867"/>
              <a:ext cx="449" cy="842"/>
              <a:chOff x="1409" y="1867"/>
              <a:chExt cx="449" cy="842"/>
            </a:xfrm>
          </p:grpSpPr>
          <p:sp>
            <p:nvSpPr>
              <p:cNvPr id="187439" name="Freeform 41"/>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40" name="Freeform 42"/>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41" name="Freeform 43"/>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42" name="Freeform 44"/>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43" name="Freeform 45"/>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44" name="Freeform 46"/>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45" name="Freeform 47"/>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46" name="Freeform 48"/>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47" name="Freeform 49"/>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48" name="Freeform 50"/>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49" name="Freeform 51"/>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50" name="Freeform 52"/>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51" name="Freeform 53"/>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52" name="Freeform 54"/>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53" name="Freeform 55"/>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54" name="Freeform 56"/>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grpSp>
        <p:nvGrpSpPr>
          <p:cNvPr id="187403" name="myGroup 252"/>
          <p:cNvGrpSpPr>
            <a:grpSpLocks/>
          </p:cNvGrpSpPr>
          <p:nvPr/>
        </p:nvGrpSpPr>
        <p:grpSpPr bwMode="auto">
          <a:xfrm>
            <a:off x="4038600" y="2819400"/>
            <a:ext cx="533400" cy="1096963"/>
            <a:chOff x="1330" y="1826"/>
            <a:chExt cx="528" cy="883"/>
          </a:xfrm>
        </p:grpSpPr>
        <p:sp>
          <p:nvSpPr>
            <p:cNvPr id="187417" name="Freeform 58"/>
            <p:cNvSpPr>
              <a:spLocks/>
            </p:cNvSpPr>
            <p:nvPr/>
          </p:nvSpPr>
          <p:spPr bwMode="auto">
            <a:xfrm>
              <a:off x="1330" y="1826"/>
              <a:ext cx="450" cy="842"/>
            </a:xfrm>
            <a:custGeom>
              <a:avLst/>
              <a:gdLst>
                <a:gd name="T0" fmla="*/ 449 w 450"/>
                <a:gd name="T1" fmla="*/ 720 h 842"/>
                <a:gd name="T2" fmla="*/ 449 w 450"/>
                <a:gd name="T3" fmla="*/ 0 h 842"/>
                <a:gd name="T4" fmla="*/ 0 w 450"/>
                <a:gd name="T5" fmla="*/ 120 h 842"/>
                <a:gd name="T6" fmla="*/ 0 w 450"/>
                <a:gd name="T7" fmla="*/ 841 h 842"/>
                <a:gd name="T8" fmla="*/ 449 w 450"/>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0"/>
                  </a:moveTo>
                  <a:lnTo>
                    <a:pt x="449" y="0"/>
                  </a:lnTo>
                  <a:lnTo>
                    <a:pt x="0" y="120"/>
                  </a:lnTo>
                  <a:lnTo>
                    <a:pt x="0" y="841"/>
                  </a:lnTo>
                  <a:lnTo>
                    <a:pt x="449" y="7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18" name="Freeform 59"/>
            <p:cNvSpPr>
              <a:spLocks/>
            </p:cNvSpPr>
            <p:nvPr/>
          </p:nvSpPr>
          <p:spPr bwMode="auto">
            <a:xfrm>
              <a:off x="1371" y="1846"/>
              <a:ext cx="450" cy="842"/>
            </a:xfrm>
            <a:custGeom>
              <a:avLst/>
              <a:gdLst>
                <a:gd name="T0" fmla="*/ 449 w 450"/>
                <a:gd name="T1" fmla="*/ 721 h 842"/>
                <a:gd name="T2" fmla="*/ 449 w 450"/>
                <a:gd name="T3" fmla="*/ 0 h 842"/>
                <a:gd name="T4" fmla="*/ 0 w 450"/>
                <a:gd name="T5" fmla="*/ 120 h 842"/>
                <a:gd name="T6" fmla="*/ 0 w 450"/>
                <a:gd name="T7" fmla="*/ 841 h 842"/>
                <a:gd name="T8" fmla="*/ 449 w 450"/>
                <a:gd name="T9" fmla="*/ 721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0" h="842">
                  <a:moveTo>
                    <a:pt x="449" y="721"/>
                  </a:moveTo>
                  <a:lnTo>
                    <a:pt x="449" y="0"/>
                  </a:lnTo>
                  <a:lnTo>
                    <a:pt x="0" y="120"/>
                  </a:lnTo>
                  <a:lnTo>
                    <a:pt x="0" y="841"/>
                  </a:lnTo>
                  <a:lnTo>
                    <a:pt x="449" y="721"/>
                  </a:lnTo>
                </a:path>
              </a:pathLst>
            </a:custGeom>
            <a:solidFill>
              <a:srgbClr val="6666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nvGrpSpPr>
            <p:cNvPr id="187419" name="Group 60"/>
            <p:cNvGrpSpPr>
              <a:grpSpLocks/>
            </p:cNvGrpSpPr>
            <p:nvPr/>
          </p:nvGrpSpPr>
          <p:grpSpPr bwMode="auto">
            <a:xfrm>
              <a:off x="1409" y="1867"/>
              <a:ext cx="449" cy="842"/>
              <a:chOff x="1409" y="1867"/>
              <a:chExt cx="449" cy="842"/>
            </a:xfrm>
          </p:grpSpPr>
          <p:sp>
            <p:nvSpPr>
              <p:cNvPr id="187420" name="Freeform 61"/>
              <p:cNvSpPr>
                <a:spLocks/>
              </p:cNvSpPr>
              <p:nvPr/>
            </p:nvSpPr>
            <p:spPr bwMode="auto">
              <a:xfrm>
                <a:off x="1409" y="1867"/>
                <a:ext cx="449" cy="842"/>
              </a:xfrm>
              <a:custGeom>
                <a:avLst/>
                <a:gdLst>
                  <a:gd name="T0" fmla="*/ 448 w 449"/>
                  <a:gd name="T1" fmla="*/ 720 h 842"/>
                  <a:gd name="T2" fmla="*/ 448 w 449"/>
                  <a:gd name="T3" fmla="*/ 0 h 842"/>
                  <a:gd name="T4" fmla="*/ 0 w 449"/>
                  <a:gd name="T5" fmla="*/ 120 h 842"/>
                  <a:gd name="T6" fmla="*/ 0 w 449"/>
                  <a:gd name="T7" fmla="*/ 841 h 842"/>
                  <a:gd name="T8" fmla="*/ 448 w 449"/>
                  <a:gd name="T9" fmla="*/ 720 h 8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9" h="842">
                    <a:moveTo>
                      <a:pt x="448" y="720"/>
                    </a:moveTo>
                    <a:lnTo>
                      <a:pt x="448" y="0"/>
                    </a:lnTo>
                    <a:lnTo>
                      <a:pt x="0" y="120"/>
                    </a:lnTo>
                    <a:lnTo>
                      <a:pt x="0" y="841"/>
                    </a:lnTo>
                    <a:lnTo>
                      <a:pt x="448" y="720"/>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21" name="Freeform 62"/>
              <p:cNvSpPr>
                <a:spLocks/>
              </p:cNvSpPr>
              <p:nvPr/>
            </p:nvSpPr>
            <p:spPr bwMode="white">
              <a:xfrm>
                <a:off x="1436" y="1901"/>
                <a:ext cx="395" cy="773"/>
              </a:xfrm>
              <a:custGeom>
                <a:avLst/>
                <a:gdLst>
                  <a:gd name="T0" fmla="*/ 394 w 395"/>
                  <a:gd name="T1" fmla="*/ 670 h 773"/>
                  <a:gd name="T2" fmla="*/ 394 w 395"/>
                  <a:gd name="T3" fmla="*/ 0 h 773"/>
                  <a:gd name="T4" fmla="*/ 0 w 395"/>
                  <a:gd name="T5" fmla="*/ 102 h 773"/>
                  <a:gd name="T6" fmla="*/ 0 w 395"/>
                  <a:gd name="T7" fmla="*/ 772 h 773"/>
                  <a:gd name="T8" fmla="*/ 394 w 395"/>
                  <a:gd name="T9" fmla="*/ 670 h 7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5" h="773">
                    <a:moveTo>
                      <a:pt x="394" y="670"/>
                    </a:moveTo>
                    <a:lnTo>
                      <a:pt x="394" y="0"/>
                    </a:lnTo>
                    <a:lnTo>
                      <a:pt x="0" y="102"/>
                    </a:lnTo>
                    <a:lnTo>
                      <a:pt x="0" y="772"/>
                    </a:lnTo>
                    <a:lnTo>
                      <a:pt x="394" y="67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22" name="Freeform 63"/>
              <p:cNvSpPr>
                <a:spLocks/>
              </p:cNvSpPr>
              <p:nvPr/>
            </p:nvSpPr>
            <p:spPr bwMode="auto">
              <a:xfrm>
                <a:off x="1471" y="2025"/>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23" name="Freeform 64"/>
              <p:cNvSpPr>
                <a:spLocks/>
              </p:cNvSpPr>
              <p:nvPr/>
            </p:nvSpPr>
            <p:spPr bwMode="auto">
              <a:xfrm>
                <a:off x="1471" y="211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24" name="Freeform 65"/>
              <p:cNvSpPr>
                <a:spLocks/>
              </p:cNvSpPr>
              <p:nvPr/>
            </p:nvSpPr>
            <p:spPr bwMode="auto">
              <a:xfrm>
                <a:off x="1471" y="219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25" name="Freeform 66"/>
              <p:cNvSpPr>
                <a:spLocks/>
              </p:cNvSpPr>
              <p:nvPr/>
            </p:nvSpPr>
            <p:spPr bwMode="auto">
              <a:xfrm>
                <a:off x="1471" y="228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26" name="Freeform 67"/>
              <p:cNvSpPr>
                <a:spLocks/>
              </p:cNvSpPr>
              <p:nvPr/>
            </p:nvSpPr>
            <p:spPr bwMode="auto">
              <a:xfrm>
                <a:off x="1471" y="236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27" name="Freeform 68"/>
              <p:cNvSpPr>
                <a:spLocks/>
              </p:cNvSpPr>
              <p:nvPr/>
            </p:nvSpPr>
            <p:spPr bwMode="auto">
              <a:xfrm>
                <a:off x="1471" y="245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28" name="Freeform 69"/>
              <p:cNvSpPr>
                <a:spLocks/>
              </p:cNvSpPr>
              <p:nvPr/>
            </p:nvSpPr>
            <p:spPr bwMode="auto">
              <a:xfrm>
                <a:off x="1471" y="253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29" name="Freeform 70"/>
              <p:cNvSpPr>
                <a:spLocks/>
              </p:cNvSpPr>
              <p:nvPr/>
            </p:nvSpPr>
            <p:spPr bwMode="auto">
              <a:xfrm>
                <a:off x="1659" y="1971"/>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30" name="Freeform 71"/>
              <p:cNvSpPr>
                <a:spLocks/>
              </p:cNvSpPr>
              <p:nvPr/>
            </p:nvSpPr>
            <p:spPr bwMode="auto">
              <a:xfrm>
                <a:off x="1659" y="2056"/>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31" name="Freeform 72"/>
              <p:cNvSpPr>
                <a:spLocks/>
              </p:cNvSpPr>
              <p:nvPr/>
            </p:nvSpPr>
            <p:spPr bwMode="auto">
              <a:xfrm>
                <a:off x="1659" y="2142"/>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32" name="Freeform 73"/>
              <p:cNvSpPr>
                <a:spLocks/>
              </p:cNvSpPr>
              <p:nvPr/>
            </p:nvSpPr>
            <p:spPr bwMode="auto">
              <a:xfrm>
                <a:off x="1659" y="2227"/>
                <a:ext cx="134" cy="70"/>
              </a:xfrm>
              <a:custGeom>
                <a:avLst/>
                <a:gdLst>
                  <a:gd name="T0" fmla="*/ 133 w 134"/>
                  <a:gd name="T1" fmla="*/ 33 h 70"/>
                  <a:gd name="T2" fmla="*/ 133 w 134"/>
                  <a:gd name="T3" fmla="*/ 0 h 70"/>
                  <a:gd name="T4" fmla="*/ 0 w 134"/>
                  <a:gd name="T5" fmla="*/ 36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6"/>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33" name="Freeform 74"/>
              <p:cNvSpPr>
                <a:spLocks/>
              </p:cNvSpPr>
              <p:nvPr/>
            </p:nvSpPr>
            <p:spPr bwMode="auto">
              <a:xfrm>
                <a:off x="1659" y="2312"/>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34" name="Freeform 75"/>
              <p:cNvSpPr>
                <a:spLocks/>
              </p:cNvSpPr>
              <p:nvPr/>
            </p:nvSpPr>
            <p:spPr bwMode="auto">
              <a:xfrm>
                <a:off x="1659" y="2398"/>
                <a:ext cx="134" cy="70"/>
              </a:xfrm>
              <a:custGeom>
                <a:avLst/>
                <a:gdLst>
                  <a:gd name="T0" fmla="*/ 133 w 134"/>
                  <a:gd name="T1" fmla="*/ 33 h 70"/>
                  <a:gd name="T2" fmla="*/ 133 w 134"/>
                  <a:gd name="T3" fmla="*/ 0 h 70"/>
                  <a:gd name="T4" fmla="*/ 0 w 134"/>
                  <a:gd name="T5" fmla="*/ 35 h 70"/>
                  <a:gd name="T6" fmla="*/ 0 w 134"/>
                  <a:gd name="T7" fmla="*/ 69 h 70"/>
                  <a:gd name="T8" fmla="*/ 133 w 134"/>
                  <a:gd name="T9" fmla="*/ 33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3"/>
                    </a:moveTo>
                    <a:lnTo>
                      <a:pt x="133" y="0"/>
                    </a:lnTo>
                    <a:lnTo>
                      <a:pt x="0" y="35"/>
                    </a:lnTo>
                    <a:lnTo>
                      <a:pt x="0" y="69"/>
                    </a:lnTo>
                    <a:lnTo>
                      <a:pt x="133" y="33"/>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sp>
            <p:nvSpPr>
              <p:cNvPr id="187435" name="Freeform 76"/>
              <p:cNvSpPr>
                <a:spLocks/>
              </p:cNvSpPr>
              <p:nvPr/>
            </p:nvSpPr>
            <p:spPr bwMode="auto">
              <a:xfrm>
                <a:off x="1659" y="2483"/>
                <a:ext cx="134" cy="70"/>
              </a:xfrm>
              <a:custGeom>
                <a:avLst/>
                <a:gdLst>
                  <a:gd name="T0" fmla="*/ 133 w 134"/>
                  <a:gd name="T1" fmla="*/ 34 h 70"/>
                  <a:gd name="T2" fmla="*/ 133 w 134"/>
                  <a:gd name="T3" fmla="*/ 0 h 70"/>
                  <a:gd name="T4" fmla="*/ 0 w 134"/>
                  <a:gd name="T5" fmla="*/ 36 h 70"/>
                  <a:gd name="T6" fmla="*/ 0 w 134"/>
                  <a:gd name="T7" fmla="*/ 69 h 70"/>
                  <a:gd name="T8" fmla="*/ 133 w 134"/>
                  <a:gd name="T9" fmla="*/ 34 h 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 h="70">
                    <a:moveTo>
                      <a:pt x="133" y="34"/>
                    </a:moveTo>
                    <a:lnTo>
                      <a:pt x="133" y="0"/>
                    </a:lnTo>
                    <a:lnTo>
                      <a:pt x="0" y="36"/>
                    </a:lnTo>
                    <a:lnTo>
                      <a:pt x="0" y="69"/>
                    </a:lnTo>
                    <a:lnTo>
                      <a:pt x="133" y="34"/>
                    </a:lnTo>
                  </a:path>
                </a:pathLst>
              </a:custGeom>
              <a:solidFill>
                <a:srgbClr val="CCCC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pt-BR"/>
              </a:p>
            </p:txBody>
          </p:sp>
        </p:grpSp>
      </p:grpSp>
      <p:grpSp>
        <p:nvGrpSpPr>
          <p:cNvPr id="187404" name="myGroup 222"/>
          <p:cNvGrpSpPr>
            <a:grpSpLocks/>
          </p:cNvGrpSpPr>
          <p:nvPr/>
        </p:nvGrpSpPr>
        <p:grpSpPr bwMode="auto">
          <a:xfrm>
            <a:off x="3975100" y="2667000"/>
            <a:ext cx="673100" cy="1422400"/>
            <a:chOff x="2490" y="1718"/>
            <a:chExt cx="424" cy="896"/>
          </a:xfrm>
        </p:grpSpPr>
        <p:sp>
          <p:nvSpPr>
            <p:cNvPr id="925774" name="Oval 78"/>
            <p:cNvSpPr>
              <a:spLocks noChangeArrowheads="1"/>
            </p:cNvSpPr>
            <p:nvPr/>
          </p:nvSpPr>
          <p:spPr bwMode="auto">
            <a:xfrm>
              <a:off x="2490" y="1718"/>
              <a:ext cx="416" cy="92"/>
            </a:xfrm>
            <a:prstGeom prst="ellipse">
              <a:avLst/>
            </a:prstGeom>
            <a:noFill/>
            <a:ln w="25400">
              <a:solidFill>
                <a:schemeClr val="hlink"/>
              </a:solidFill>
              <a:round/>
              <a:headEnd/>
              <a:tailEnd/>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b="1" smtClean="0">
                <a:solidFill>
                  <a:schemeClr val="folHlink"/>
                </a:solidFill>
                <a:effectLst>
                  <a:outerShdw blurRad="38100" dist="38100" dir="2700000" algn="tl">
                    <a:srgbClr val="C0C0C0"/>
                  </a:outerShdw>
                </a:effectLst>
                <a:latin typeface="Arial" panose="020B0604020202020204" pitchFamily="34" charset="0"/>
              </a:endParaRPr>
            </a:p>
          </p:txBody>
        </p:sp>
        <p:sp>
          <p:nvSpPr>
            <p:cNvPr id="925775" name="Oval 79"/>
            <p:cNvSpPr>
              <a:spLocks noChangeArrowheads="1"/>
            </p:cNvSpPr>
            <p:nvPr/>
          </p:nvSpPr>
          <p:spPr bwMode="auto">
            <a:xfrm>
              <a:off x="2494" y="2514"/>
              <a:ext cx="416" cy="92"/>
            </a:xfrm>
            <a:prstGeom prst="ellipse">
              <a:avLst/>
            </a:prstGeom>
            <a:noFill/>
            <a:ln w="25400">
              <a:solidFill>
                <a:schemeClr val="hlink"/>
              </a:solidFill>
              <a:round/>
              <a:headEnd/>
              <a:tailEnd/>
            </a:ln>
            <a:effectLst/>
            <a:extLst>
              <a:ext uri="{909E8E84-426E-40DD-AFC4-6F175D3DCCD1}">
                <a14:hiddenFill xmlns:a14="http://schemas.microsoft.com/office/drawing/2010/main">
                  <a:solidFill>
                    <a:srgbClr val="CC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endParaRPr lang="en-US" altLang="en-US" sz="1800" b="1" smtClean="0">
                <a:solidFill>
                  <a:schemeClr val="folHlink"/>
                </a:solidFill>
                <a:effectLst>
                  <a:outerShdw blurRad="38100" dist="38100" dir="2700000" algn="tl">
                    <a:srgbClr val="C0C0C0"/>
                  </a:outerShdw>
                </a:effectLst>
                <a:latin typeface="Arial" panose="020B0604020202020204" pitchFamily="34" charset="0"/>
              </a:endParaRPr>
            </a:p>
          </p:txBody>
        </p:sp>
        <p:sp>
          <p:nvSpPr>
            <p:cNvPr id="187412" name="Line 80"/>
            <p:cNvSpPr>
              <a:spLocks noChangeShapeType="1"/>
            </p:cNvSpPr>
            <p:nvPr/>
          </p:nvSpPr>
          <p:spPr bwMode="auto">
            <a:xfrm>
              <a:off x="2586" y="1814"/>
              <a:ext cx="0" cy="796"/>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7413" name="Line 81"/>
            <p:cNvSpPr>
              <a:spLocks noChangeShapeType="1"/>
            </p:cNvSpPr>
            <p:nvPr/>
          </p:nvSpPr>
          <p:spPr bwMode="auto">
            <a:xfrm>
              <a:off x="2490" y="1774"/>
              <a:ext cx="0" cy="796"/>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7414" name="Line 82"/>
            <p:cNvSpPr>
              <a:spLocks noChangeShapeType="1"/>
            </p:cNvSpPr>
            <p:nvPr/>
          </p:nvSpPr>
          <p:spPr bwMode="auto">
            <a:xfrm>
              <a:off x="2914" y="1766"/>
              <a:ext cx="0" cy="796"/>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7415" name="Line 83"/>
            <p:cNvSpPr>
              <a:spLocks noChangeShapeType="1"/>
            </p:cNvSpPr>
            <p:nvPr/>
          </p:nvSpPr>
          <p:spPr bwMode="auto">
            <a:xfrm>
              <a:off x="2830" y="1806"/>
              <a:ext cx="0" cy="796"/>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sp>
          <p:nvSpPr>
            <p:cNvPr id="187416" name="Line 84"/>
            <p:cNvSpPr>
              <a:spLocks noChangeShapeType="1"/>
            </p:cNvSpPr>
            <p:nvPr/>
          </p:nvSpPr>
          <p:spPr bwMode="auto">
            <a:xfrm>
              <a:off x="2706" y="1818"/>
              <a:ext cx="0" cy="796"/>
            </a:xfrm>
            <a:prstGeom prst="line">
              <a:avLst/>
            </a:prstGeom>
            <a:noFill/>
            <a:ln w="254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pt-BR"/>
            </a:p>
          </p:txBody>
        </p:sp>
      </p:grpSp>
      <p:sp>
        <p:nvSpPr>
          <p:cNvPr id="60"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eBusiness Suite – Fase Inativa</a:t>
            </a:r>
          </a:p>
        </p:txBody>
      </p:sp>
      <p:sp>
        <p:nvSpPr>
          <p:cNvPr id="187406"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87407" name="Group 6"/>
          <p:cNvGrpSpPr>
            <a:grpSpLocks/>
          </p:cNvGrpSpPr>
          <p:nvPr/>
        </p:nvGrpSpPr>
        <p:grpSpPr bwMode="auto">
          <a:xfrm>
            <a:off x="7308850" y="117475"/>
            <a:ext cx="1735138" cy="647700"/>
            <a:chOff x="7380288" y="41275"/>
            <a:chExt cx="1735137" cy="647700"/>
          </a:xfrm>
        </p:grpSpPr>
        <p:sp>
          <p:nvSpPr>
            <p:cNvPr id="62"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63"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err="1" smtClean="0">
                <a:solidFill>
                  <a:srgbClr val="003366"/>
                </a:solidFill>
              </a:rPr>
              <a:t>eBusiness</a:t>
            </a:r>
            <a:r>
              <a:rPr lang="pt-BR" altLang="pt-BR" b="1" kern="0" dirty="0" smtClean="0">
                <a:solidFill>
                  <a:srgbClr val="003366"/>
                </a:solidFill>
              </a:rPr>
              <a:t> </a:t>
            </a:r>
            <a:r>
              <a:rPr lang="pt-BR" altLang="pt-BR" b="1" kern="0" dirty="0" err="1" smtClean="0">
                <a:solidFill>
                  <a:srgbClr val="003366"/>
                </a:solidFill>
              </a:rPr>
              <a:t>Suite</a:t>
            </a:r>
            <a:endParaRPr lang="pt-BR" altLang="pt-BR" b="1" kern="0" dirty="0" smtClean="0">
              <a:solidFill>
                <a:srgbClr val="003366"/>
              </a:solidFill>
            </a:endParaRPr>
          </a:p>
        </p:txBody>
      </p:sp>
      <p:sp>
        <p:nvSpPr>
          <p:cNvPr id="187406"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87407" name="Group 6"/>
          <p:cNvGrpSpPr>
            <a:grpSpLocks/>
          </p:cNvGrpSpPr>
          <p:nvPr/>
        </p:nvGrpSpPr>
        <p:grpSpPr bwMode="auto">
          <a:xfrm>
            <a:off x="7308850" y="117475"/>
            <a:ext cx="1735138" cy="647700"/>
            <a:chOff x="7380288" y="41275"/>
            <a:chExt cx="1735137" cy="647700"/>
          </a:xfrm>
        </p:grpSpPr>
        <p:sp>
          <p:nvSpPr>
            <p:cNvPr id="62"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63"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2" name="CaixaDeTexto 1"/>
          <p:cNvSpPr txBox="1"/>
          <p:nvPr/>
        </p:nvSpPr>
        <p:spPr>
          <a:xfrm>
            <a:off x="-14808" y="954087"/>
            <a:ext cx="9144000" cy="5909310"/>
          </a:xfrm>
          <a:prstGeom prst="rect">
            <a:avLst/>
          </a:prstGeom>
          <a:noFill/>
        </p:spPr>
        <p:txBody>
          <a:bodyPr wrap="square" rtlCol="0">
            <a:spAutoFit/>
          </a:bodyPr>
          <a:lstStyle/>
          <a:p>
            <a:pPr marL="342900" indent="-342900">
              <a:buAutoNum type="arabicParenR"/>
            </a:pPr>
            <a:r>
              <a:rPr lang="pt-PT" dirty="0" smtClean="0"/>
              <a:t>Na Responsabilidade: Application Developer</a:t>
            </a:r>
          </a:p>
          <a:p>
            <a:pPr marL="342900" indent="-342900">
              <a:buAutoNum type="arabicParenR"/>
            </a:pPr>
            <a:r>
              <a:rPr lang="pt-BR" dirty="0"/>
              <a:t>Usando a funcionalidade </a:t>
            </a:r>
            <a:r>
              <a:rPr lang="pt-BR" dirty="0" smtClean="0"/>
              <a:t>do </a:t>
            </a:r>
            <a:r>
              <a:rPr lang="pt-BR" dirty="0"/>
              <a:t>"Examine" no menu "Ajuda" e </a:t>
            </a:r>
            <a:r>
              <a:rPr lang="pt-BR" dirty="0" err="1"/>
              <a:t>sub-menu</a:t>
            </a:r>
            <a:r>
              <a:rPr lang="pt-BR" dirty="0"/>
              <a:t> "</a:t>
            </a:r>
            <a:r>
              <a:rPr lang="pt-BR" dirty="0" err="1"/>
              <a:t>Diagnostics</a:t>
            </a:r>
            <a:r>
              <a:rPr lang="pt-BR" dirty="0"/>
              <a:t>" </a:t>
            </a:r>
            <a:r>
              <a:rPr lang="pt-BR" dirty="0" smtClean="0"/>
              <a:t>encontre </a:t>
            </a:r>
            <a:r>
              <a:rPr lang="pt-BR" dirty="0"/>
              <a:t>o bloco onde você quer ter anexos ativado</a:t>
            </a:r>
            <a:r>
              <a:rPr lang="pt-BR" dirty="0" smtClean="0"/>
              <a:t>.</a:t>
            </a:r>
          </a:p>
          <a:p>
            <a:pPr marL="342900" indent="-342900">
              <a:buAutoNum type="arabicParenR"/>
            </a:pPr>
            <a:r>
              <a:rPr lang="pt-BR" dirty="0" smtClean="0"/>
              <a:t>Determine qual tabela </a:t>
            </a:r>
            <a:r>
              <a:rPr lang="pt-BR" dirty="0"/>
              <a:t>base para este formulário. </a:t>
            </a:r>
            <a:endParaRPr lang="pt-BR" dirty="0" smtClean="0"/>
          </a:p>
          <a:p>
            <a:pPr marL="342900" indent="-342900">
              <a:buAutoNum type="arabicParenR"/>
            </a:pPr>
            <a:r>
              <a:rPr lang="pt-BR" dirty="0" smtClean="0"/>
              <a:t>Depois </a:t>
            </a:r>
            <a:r>
              <a:rPr lang="pt-BR" dirty="0"/>
              <a:t>de ter notado que forma, bloco e tabela base para usá-lo é hora de mudar para "</a:t>
            </a:r>
            <a:r>
              <a:rPr lang="pt-BR" dirty="0" err="1"/>
              <a:t>Application</a:t>
            </a:r>
            <a:r>
              <a:rPr lang="pt-BR" dirty="0"/>
              <a:t> </a:t>
            </a:r>
            <a:r>
              <a:rPr lang="pt-BR" dirty="0" err="1" smtClean="0"/>
              <a:t>Developer</a:t>
            </a:r>
            <a:r>
              <a:rPr lang="pt-BR" dirty="0" smtClean="0"/>
              <a:t>“.</a:t>
            </a:r>
          </a:p>
          <a:p>
            <a:pPr marL="342900" indent="-342900">
              <a:buAutoNum type="arabicParenR"/>
            </a:pPr>
            <a:r>
              <a:rPr lang="pt-BR" dirty="0" smtClean="0"/>
              <a:t>Consulte a Tabela Base, em criar </a:t>
            </a:r>
            <a:r>
              <a:rPr lang="pt-BR" dirty="0"/>
              <a:t>Entidade Documento - Navegação: Acessórios -&gt; Entidades documento</a:t>
            </a:r>
            <a:r>
              <a:rPr lang="pt-BR" dirty="0" smtClean="0"/>
              <a:t>.</a:t>
            </a:r>
          </a:p>
          <a:p>
            <a:pPr marL="342900" indent="-342900">
              <a:buAutoNum type="arabicParenR"/>
            </a:pPr>
            <a:r>
              <a:rPr lang="pt-BR" dirty="0"/>
              <a:t>Criar categoria de documentos (categorias de documentos fornecem a segurança, restringindo os documentos que podem ser visualizados ou adicionados através de um formulário específico ou função de forma. </a:t>
            </a:r>
            <a:endParaRPr lang="pt-BR" dirty="0" smtClean="0"/>
          </a:p>
          <a:p>
            <a:pPr marL="342900" indent="-342900">
              <a:buAutoNum type="arabicParenR"/>
            </a:pPr>
            <a:r>
              <a:rPr lang="pt-PT" dirty="0"/>
              <a:t>Navegação: Acessórios -&gt; categorias de documentos. </a:t>
            </a:r>
            <a:endParaRPr lang="pt-PT" dirty="0" smtClean="0"/>
          </a:p>
          <a:p>
            <a:pPr marL="342900" indent="-342900">
              <a:buAutoNum type="arabicParenR"/>
            </a:pPr>
            <a:r>
              <a:rPr lang="pt-PT" dirty="0"/>
              <a:t>Anexo Função - Navegação: Acessórios -&gt; Funções anexo. </a:t>
            </a:r>
            <a:endParaRPr lang="pt-PT" dirty="0" smtClean="0"/>
          </a:p>
          <a:p>
            <a:pPr marL="342900" indent="-342900">
              <a:buAutoNum type="arabicParenR"/>
            </a:pPr>
            <a:r>
              <a:rPr lang="pt-BR" dirty="0" smtClean="0"/>
              <a:t>Em </a:t>
            </a:r>
            <a:r>
              <a:rPr lang="pt-BR" dirty="0"/>
              <a:t>seguida, clique no botão Categorias e atribuir a categoria a partir da etapa anterior para esta função. </a:t>
            </a:r>
            <a:endParaRPr lang="pt-BR" dirty="0" smtClean="0"/>
          </a:p>
          <a:p>
            <a:pPr marL="342900" indent="-342900">
              <a:buAutoNum type="arabicParenR"/>
            </a:pPr>
            <a:r>
              <a:rPr lang="pt-BR" dirty="0" smtClean="0"/>
              <a:t>Em </a:t>
            </a:r>
            <a:r>
              <a:rPr lang="pt-BR" dirty="0"/>
              <a:t>seguida, clique no botão Blocos e digite o nome do bloco a partir do passo 1 acima ("W_MOVE_TXNS_V") e definir o método a ser "Permitir </a:t>
            </a:r>
            <a:r>
              <a:rPr lang="pt-BR" dirty="0" err="1"/>
              <a:t>Change</a:t>
            </a:r>
            <a:r>
              <a:rPr lang="pt-BR" dirty="0" smtClean="0"/>
              <a:t>".</a:t>
            </a:r>
          </a:p>
          <a:p>
            <a:pPr marL="342900" indent="-342900">
              <a:buAutoNum type="arabicParenR"/>
            </a:pPr>
            <a:r>
              <a:rPr lang="pt-BR" dirty="0" smtClean="0"/>
              <a:t> </a:t>
            </a:r>
            <a:r>
              <a:rPr lang="pt-BR" dirty="0"/>
              <a:t>Em seguida, clique no botão entidades. </a:t>
            </a:r>
            <a:endParaRPr lang="pt-BR" dirty="0" smtClean="0"/>
          </a:p>
          <a:p>
            <a:pPr marL="342900" indent="-342900">
              <a:buAutoNum type="arabicParenR"/>
            </a:pPr>
            <a:r>
              <a:rPr lang="pt-BR" dirty="0" smtClean="0"/>
              <a:t>O </a:t>
            </a:r>
            <a:r>
              <a:rPr lang="pt-BR" dirty="0"/>
              <a:t>método de exibição pode ser definido como "Entidade Principal". </a:t>
            </a:r>
            <a:r>
              <a:rPr lang="pt-BR" dirty="0" smtClean="0"/>
              <a:t>No </a:t>
            </a:r>
            <a:r>
              <a:rPr lang="pt-BR" dirty="0"/>
              <a:t>entanto, você vai querer mudar os campos de chave primária para o seguinte: Chave 1: PARAMETER.ORG_ID e chave 2:. </a:t>
            </a:r>
            <a:r>
              <a:rPr lang="pt-BR" dirty="0" smtClean="0"/>
              <a:t>W_MOVE_TXNS_V.TRANSACTION_ID</a:t>
            </a:r>
            <a:endParaRPr lang="pt-BR" dirty="0"/>
          </a:p>
        </p:txBody>
      </p:sp>
    </p:spTree>
    <p:extLst>
      <p:ext uri="{BB962C8B-B14F-4D97-AF65-F5344CB8AC3E}">
        <p14:creationId xmlns:p14="http://schemas.microsoft.com/office/powerpoint/2010/main" val="354643220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2"/>
          <p:cNvSpPr txBox="1">
            <a:spLocks noChangeArrowheads="1"/>
          </p:cNvSpPr>
          <p:nvPr/>
        </p:nvSpPr>
        <p:spPr bwMode="auto">
          <a:xfrm>
            <a:off x="11113" y="-211138"/>
            <a:ext cx="9132887" cy="93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err="1" smtClean="0">
                <a:solidFill>
                  <a:srgbClr val="003366"/>
                </a:solidFill>
              </a:rPr>
              <a:t>eBusiness</a:t>
            </a:r>
            <a:r>
              <a:rPr lang="pt-BR" altLang="pt-BR" b="1" kern="0" dirty="0" smtClean="0">
                <a:solidFill>
                  <a:srgbClr val="003366"/>
                </a:solidFill>
              </a:rPr>
              <a:t> </a:t>
            </a:r>
            <a:r>
              <a:rPr lang="pt-BR" altLang="pt-BR" b="1" kern="0" dirty="0" err="1" smtClean="0">
                <a:solidFill>
                  <a:srgbClr val="003366"/>
                </a:solidFill>
              </a:rPr>
              <a:t>Suite</a:t>
            </a:r>
            <a:endParaRPr lang="pt-BR" altLang="pt-BR" b="1" kern="0" dirty="0" smtClean="0">
              <a:solidFill>
                <a:srgbClr val="003366"/>
              </a:solidFill>
            </a:endParaRPr>
          </a:p>
        </p:txBody>
      </p:sp>
      <p:sp>
        <p:nvSpPr>
          <p:cNvPr id="187406" name="Line 5"/>
          <p:cNvSpPr>
            <a:spLocks noChangeShapeType="1"/>
          </p:cNvSpPr>
          <p:nvPr/>
        </p:nvSpPr>
        <p:spPr bwMode="auto">
          <a:xfrm>
            <a:off x="11113" y="908050"/>
            <a:ext cx="3168650"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87407" name="Group 6"/>
          <p:cNvGrpSpPr>
            <a:grpSpLocks/>
          </p:cNvGrpSpPr>
          <p:nvPr/>
        </p:nvGrpSpPr>
        <p:grpSpPr bwMode="auto">
          <a:xfrm>
            <a:off x="7308850" y="117475"/>
            <a:ext cx="1735138" cy="647700"/>
            <a:chOff x="7380288" y="41275"/>
            <a:chExt cx="1735137" cy="647700"/>
          </a:xfrm>
        </p:grpSpPr>
        <p:sp>
          <p:nvSpPr>
            <p:cNvPr id="62" name="Oval 4"/>
            <p:cNvSpPr>
              <a:spLocks noChangeArrowheads="1"/>
            </p:cNvSpPr>
            <p:nvPr/>
          </p:nvSpPr>
          <p:spPr bwMode="auto">
            <a:xfrm>
              <a:off x="7380288" y="41275"/>
              <a:ext cx="1689099"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63" name="Text Box 5"/>
            <p:cNvSpPr txBox="1">
              <a:spLocks noChangeArrowheads="1"/>
            </p:cNvSpPr>
            <p:nvPr/>
          </p:nvSpPr>
          <p:spPr bwMode="auto">
            <a:xfrm>
              <a:off x="7408863" y="190500"/>
              <a:ext cx="1706562"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pic>
        <p:nvPicPr>
          <p:cNvPr id="3" name="Image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9631" y="1096963"/>
            <a:ext cx="4895850" cy="5524500"/>
          </a:xfrm>
          <a:prstGeom prst="rect">
            <a:avLst/>
          </a:prstGeom>
        </p:spPr>
      </p:pic>
      <p:pic>
        <p:nvPicPr>
          <p:cNvPr id="4" name="Imagem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95475" y="2119312"/>
            <a:ext cx="5353050" cy="2619375"/>
          </a:xfrm>
          <a:prstGeom prst="rect">
            <a:avLst/>
          </a:prstGeom>
        </p:spPr>
      </p:pic>
      <p:pic>
        <p:nvPicPr>
          <p:cNvPr id="5" name="Imagem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4537" y="1395412"/>
            <a:ext cx="5114925" cy="4067175"/>
          </a:xfrm>
          <a:prstGeom prst="rect">
            <a:avLst/>
          </a:prstGeom>
        </p:spPr>
      </p:pic>
      <p:pic>
        <p:nvPicPr>
          <p:cNvPr id="6" name="Imagem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7875" y="2062162"/>
            <a:ext cx="5048250" cy="2733675"/>
          </a:xfrm>
          <a:prstGeom prst="rect">
            <a:avLst/>
          </a:prstGeom>
        </p:spPr>
      </p:pic>
      <p:pic>
        <p:nvPicPr>
          <p:cNvPr id="7" name="Imagem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52650" y="1966912"/>
            <a:ext cx="4838700" cy="2924175"/>
          </a:xfrm>
          <a:prstGeom prst="rect">
            <a:avLst/>
          </a:prstGeom>
        </p:spPr>
      </p:pic>
      <p:pic>
        <p:nvPicPr>
          <p:cNvPr id="8" name="Imagem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28800" y="1252537"/>
            <a:ext cx="5486400" cy="4352925"/>
          </a:xfrm>
          <a:prstGeom prst="rect">
            <a:avLst/>
          </a:prstGeom>
        </p:spPr>
      </p:pic>
      <p:pic>
        <p:nvPicPr>
          <p:cNvPr id="9" name="Imagem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24087" y="895350"/>
            <a:ext cx="4695825" cy="5067300"/>
          </a:xfrm>
          <a:prstGeom prst="rect">
            <a:avLst/>
          </a:prstGeom>
        </p:spPr>
      </p:pic>
      <p:pic>
        <p:nvPicPr>
          <p:cNvPr id="10" name="Imagem 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14537" y="1471612"/>
            <a:ext cx="5114925" cy="3914775"/>
          </a:xfrm>
          <a:prstGeom prst="rect">
            <a:avLst/>
          </a:prstGeom>
        </p:spPr>
      </p:pic>
      <p:pic>
        <p:nvPicPr>
          <p:cNvPr id="12" name="Imagem 1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828800" y="1219200"/>
            <a:ext cx="5486400" cy="4419600"/>
          </a:xfrm>
          <a:prstGeom prst="rect">
            <a:avLst/>
          </a:prstGeom>
        </p:spPr>
      </p:pic>
    </p:spTree>
    <p:extLst>
      <p:ext uri="{BB962C8B-B14F-4D97-AF65-F5344CB8AC3E}">
        <p14:creationId xmlns:p14="http://schemas.microsoft.com/office/powerpoint/2010/main" val="323080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4"/>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5"/>
                                        </p:tgtEl>
                                        <p:attrNameLst>
                                          <p:attrName>style.visibility</p:attrName>
                                        </p:attrNameLst>
                                      </p:cBhvr>
                                      <p:to>
                                        <p:strVal val="hidden"/>
                                      </p:to>
                                    </p:set>
                                  </p:childTnLst>
                                </p:cTn>
                              </p:par>
                              <p:par>
                                <p:cTn id="20" presetID="1"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nodeType="clickEffect">
                                  <p:stCondLst>
                                    <p:cond delay="0"/>
                                  </p:stCondLst>
                                  <p:childTnLst>
                                    <p:set>
                                      <p:cBhvr>
                                        <p:cTn id="25" dur="1" fill="hold">
                                          <p:stCondLst>
                                            <p:cond delay="0"/>
                                          </p:stCondLst>
                                        </p:cTn>
                                        <p:tgtEl>
                                          <p:spTgt spid="6"/>
                                        </p:tgtEl>
                                        <p:attrNameLst>
                                          <p:attrName>style.visibility</p:attrName>
                                        </p:attrNameLst>
                                      </p:cBhvr>
                                      <p:to>
                                        <p:strVal val="hidden"/>
                                      </p:to>
                                    </p:set>
                                  </p:childTnLst>
                                </p:cTn>
                              </p:par>
                              <p:par>
                                <p:cTn id="26" presetID="1"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nodeType="clickEffect">
                                  <p:stCondLst>
                                    <p:cond delay="0"/>
                                  </p:stCondLst>
                                  <p:childTnLst>
                                    <p:set>
                                      <p:cBhvr>
                                        <p:cTn id="31" dur="1" fill="hold">
                                          <p:stCondLst>
                                            <p:cond delay="0"/>
                                          </p:stCondLst>
                                        </p:cTn>
                                        <p:tgtEl>
                                          <p:spTgt spid="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nodeType="clickEffect">
                                  <p:stCondLst>
                                    <p:cond delay="0"/>
                                  </p:stCondLst>
                                  <p:childTnLst>
                                    <p:set>
                                      <p:cBhvr>
                                        <p:cTn id="39" dur="1" fill="hold">
                                          <p:stCondLst>
                                            <p:cond delay="0"/>
                                          </p:stCondLst>
                                        </p:cTn>
                                        <p:tgtEl>
                                          <p:spTgt spid="8"/>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nodeType="clickEffect">
                                  <p:stCondLst>
                                    <p:cond delay="0"/>
                                  </p:stCondLst>
                                  <p:childTnLst>
                                    <p:set>
                                      <p:cBhvr>
                                        <p:cTn id="47" dur="1" fill="hold">
                                          <p:stCondLst>
                                            <p:cond delay="0"/>
                                          </p:stCondLst>
                                        </p:cTn>
                                        <p:tgtEl>
                                          <p:spTgt spid="9"/>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nodeType="clickEffect">
                                  <p:stCondLst>
                                    <p:cond delay="0"/>
                                  </p:stCondLst>
                                  <p:childTnLst>
                                    <p:set>
                                      <p:cBhvr>
                                        <p:cTn id="55" dur="1" fill="hold">
                                          <p:stCondLst>
                                            <p:cond delay="0"/>
                                          </p:stCondLst>
                                        </p:cTn>
                                        <p:tgtEl>
                                          <p:spTgt spid="10"/>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088" y="4581525"/>
            <a:ext cx="7772400" cy="1362075"/>
          </a:xfrm>
        </p:spPr>
        <p:txBody>
          <a:bodyPr/>
          <a:lstStyle/>
          <a:p>
            <a:pPr algn="r">
              <a:defRPr/>
            </a:pPr>
            <a:r>
              <a:rPr lang="pt-BR" dirty="0" smtClean="0"/>
              <a:t>Dúvidas ou questões?</a:t>
            </a:r>
            <a:endParaRPr lang="en-US" dirty="0"/>
          </a:p>
        </p:txBody>
      </p:sp>
      <p:graphicFrame>
        <p:nvGraphicFramePr>
          <p:cNvPr id="4" name="Diagram 3"/>
          <p:cNvGraphicFramePr/>
          <p:nvPr/>
        </p:nvGraphicFramePr>
        <p:xfrm>
          <a:off x="1259632" y="349957"/>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WordArt 4"/>
          <p:cNvSpPr>
            <a:spLocks noChangeArrowheads="1" noChangeShapeType="1" noTextEdit="1"/>
          </p:cNvSpPr>
          <p:nvPr/>
        </p:nvSpPr>
        <p:spPr bwMode="auto">
          <a:xfrm>
            <a:off x="1042988" y="2636838"/>
            <a:ext cx="7058025" cy="1368425"/>
          </a:xfrm>
          <a:prstGeom prst="rect">
            <a:avLst/>
          </a:prstGeom>
        </p:spPr>
        <p:txBody>
          <a:bodyPr wrap="none" fromWordArt="1">
            <a:prstTxWarp prst="textPlain">
              <a:avLst>
                <a:gd name="adj" fmla="val 50000"/>
              </a:avLst>
            </a:prstTxWarp>
          </a:bodyPr>
          <a:lstStyle/>
          <a:p>
            <a:pPr algn="ctr"/>
            <a:r>
              <a:rPr lang="pt-BR" sz="3600" kern="10">
                <a:ln w="12700">
                  <a:solidFill>
                    <a:srgbClr val="3333CC"/>
                  </a:solidFill>
                  <a:round/>
                  <a:headEnd/>
                  <a:tailEnd/>
                </a:ln>
                <a:solidFill>
                  <a:srgbClr val="B2B2B2">
                    <a:alpha val="50195"/>
                  </a:srgbClr>
                </a:solidFill>
                <a:effectLst>
                  <a:outerShdw dist="45791" dir="2021404" algn="ctr" rotWithShape="0">
                    <a:srgbClr val="9999FF"/>
                  </a:outerShdw>
                </a:effectLst>
                <a:latin typeface="Arial Black" panose="020B0A04020102020204" pitchFamily="34" charset="0"/>
              </a:rPr>
              <a:t>Muito Obrigado</a:t>
            </a:r>
          </a:p>
        </p:txBody>
      </p:sp>
      <p:sp>
        <p:nvSpPr>
          <p:cNvPr id="3" name="Text Box 7"/>
          <p:cNvSpPr txBox="1">
            <a:spLocks noChangeArrowheads="1"/>
          </p:cNvSpPr>
          <p:nvPr/>
        </p:nvSpPr>
        <p:spPr bwMode="auto">
          <a:xfrm>
            <a:off x="4284663" y="4581525"/>
            <a:ext cx="48244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50000"/>
              </a:spcBef>
              <a:defRPr/>
            </a:pPr>
            <a:r>
              <a:rPr lang="pt-BR" b="1" kern="0" dirty="0">
                <a:solidFill>
                  <a:srgbClr val="FFCC00"/>
                </a:solidFill>
              </a:rPr>
              <a:t>Cristiane Valardan</a:t>
            </a:r>
            <a:endParaRPr lang="pt-BR" alt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514"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268913" cy="380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txBox="1">
            <a:spLocks noChangeArrowheads="1"/>
          </p:cNvSpPr>
          <p:nvPr/>
        </p:nvSpPr>
        <p:spPr>
          <a:xfrm>
            <a:off x="-180975" y="2565400"/>
            <a:ext cx="9432925" cy="1800225"/>
          </a:xfrm>
          <a:prstGeom prst="rect">
            <a:avLst/>
          </a:prstGeom>
          <a:effectLst>
            <a:outerShdw blurRad="63500" dist="17961" dir="2700000" algn="ctr" rotWithShape="0">
              <a:schemeClr val="tx1">
                <a:alpha val="74998"/>
              </a:schemeClr>
            </a:outerShdw>
          </a:effectLst>
          <a:extLst/>
        </p:spPr>
        <p:txBody>
          <a:bodyP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r" eaLnBrk="1" hangingPunct="1">
              <a:defRPr/>
            </a:pPr>
            <a:r>
              <a:rPr lang="pt-BR" b="1" kern="0" dirty="0" smtClean="0">
                <a:solidFill>
                  <a:srgbClr val="FFCC00"/>
                </a:solidFill>
                <a:ea typeface="+mj-ea"/>
              </a:rPr>
              <a:t>Business Intelligence</a:t>
            </a:r>
          </a:p>
          <a:p>
            <a:pPr algn="r" eaLnBrk="1" hangingPunct="1">
              <a:defRPr/>
            </a:pPr>
            <a:r>
              <a:rPr lang="pt-BR" b="1" kern="0" dirty="0" smtClean="0">
                <a:solidFill>
                  <a:srgbClr val="FFCC00"/>
                </a:solidFill>
                <a:ea typeface="+mj-ea"/>
              </a:rPr>
              <a:t>Palestrante: Horácio Vasconcellos</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1113" y="3175"/>
            <a:ext cx="9132887" cy="833438"/>
          </a:xfrm>
          <a:prstGeom prst="rect">
            <a:avLst/>
          </a:prstGeom>
        </p:spPr>
        <p:txBody>
          <a:bodyP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Business Intelligence </a:t>
            </a:r>
          </a:p>
        </p:txBody>
      </p:sp>
      <p:sp>
        <p:nvSpPr>
          <p:cNvPr id="193539" name="Line 5"/>
          <p:cNvSpPr>
            <a:spLocks noChangeShapeType="1"/>
          </p:cNvSpPr>
          <p:nvPr/>
        </p:nvSpPr>
        <p:spPr bwMode="auto">
          <a:xfrm>
            <a:off x="0" y="836613"/>
            <a:ext cx="3516313"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93540" name="Group 6"/>
          <p:cNvGrpSpPr>
            <a:grpSpLocks/>
          </p:cNvGrpSpPr>
          <p:nvPr/>
        </p:nvGrpSpPr>
        <p:grpSpPr bwMode="auto">
          <a:xfrm>
            <a:off x="7308850" y="117475"/>
            <a:ext cx="1925638" cy="647700"/>
            <a:chOff x="7380288" y="41275"/>
            <a:chExt cx="1735137" cy="647700"/>
          </a:xfrm>
        </p:grpSpPr>
        <p:sp>
          <p:nvSpPr>
            <p:cNvPr id="5" name="Oval 4"/>
            <p:cNvSpPr>
              <a:spLocks noChangeArrowheads="1"/>
            </p:cNvSpPr>
            <p:nvPr/>
          </p:nvSpPr>
          <p:spPr bwMode="auto">
            <a:xfrm>
              <a:off x="7380288" y="41275"/>
              <a:ext cx="1689363"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6" name="Text Box 5"/>
            <p:cNvSpPr txBox="1">
              <a:spLocks noChangeArrowheads="1"/>
            </p:cNvSpPr>
            <p:nvPr/>
          </p:nvSpPr>
          <p:spPr bwMode="auto">
            <a:xfrm>
              <a:off x="7408897" y="190500"/>
              <a:ext cx="1706528"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193541" name="TextBox 6"/>
          <p:cNvSpPr txBox="1">
            <a:spLocks noChangeArrowheads="1"/>
          </p:cNvSpPr>
          <p:nvPr/>
        </p:nvSpPr>
        <p:spPr bwMode="auto">
          <a:xfrm>
            <a:off x="0" y="836613"/>
            <a:ext cx="9144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Wingdings" panose="05000000000000000000" pitchFamily="2" charset="2"/>
              <a:buChar char="q"/>
            </a:pPr>
            <a:r>
              <a:rPr lang="pt-BR" altLang="en-US" sz="1800"/>
              <a:t>O que é E.T.L. ?</a:t>
            </a:r>
            <a:endParaRPr lang="en-US" altLang="en-US" sz="1800"/>
          </a:p>
        </p:txBody>
      </p:sp>
      <p:graphicFrame>
        <p:nvGraphicFramePr>
          <p:cNvPr id="9" name="Table 8"/>
          <p:cNvGraphicFramePr>
            <a:graphicFrameLocks noGrp="1"/>
          </p:cNvGraphicFramePr>
          <p:nvPr/>
        </p:nvGraphicFramePr>
        <p:xfrm>
          <a:off x="11113" y="1397000"/>
          <a:ext cx="9024937" cy="1752600"/>
        </p:xfrm>
        <a:graphic>
          <a:graphicData uri="http://schemas.openxmlformats.org/drawingml/2006/table">
            <a:tbl>
              <a:tblPr firstRow="1" bandRow="1">
                <a:tableStyleId>{00A15C55-8517-42AA-B614-E9B94910E393}</a:tableStyleId>
              </a:tblPr>
              <a:tblGrid>
                <a:gridCol w="2806779"/>
                <a:gridCol w="6218158"/>
              </a:tblGrid>
              <a:tr h="370840">
                <a:tc>
                  <a:txBody>
                    <a:bodyPr/>
                    <a:lstStyle/>
                    <a:p>
                      <a:r>
                        <a:rPr lang="pt-BR" dirty="0" smtClean="0"/>
                        <a:t>Acronimo</a:t>
                      </a:r>
                      <a:endParaRPr lang="en-US" dirty="0"/>
                    </a:p>
                  </a:txBody>
                  <a:tcPr marL="91435" marR="91435"/>
                </a:tc>
                <a:tc>
                  <a:txBody>
                    <a:bodyPr/>
                    <a:lstStyle/>
                    <a:p>
                      <a:r>
                        <a:rPr lang="pt-BR" dirty="0" smtClean="0"/>
                        <a:t>Descrição</a:t>
                      </a:r>
                      <a:endParaRPr lang="en-US" dirty="0"/>
                    </a:p>
                  </a:txBody>
                  <a:tcPr marL="91435" marR="91435"/>
                </a:tc>
              </a:tr>
              <a:tr h="370840">
                <a:tc>
                  <a:txBody>
                    <a:bodyPr/>
                    <a:lstStyle/>
                    <a:p>
                      <a:r>
                        <a:rPr lang="pt-BR" dirty="0" smtClean="0"/>
                        <a:t>Extract</a:t>
                      </a:r>
                      <a:endParaRPr lang="en-US" dirty="0"/>
                    </a:p>
                  </a:txBody>
                  <a:tcPr marL="91435" marR="91435"/>
                </a:tc>
                <a:tc>
                  <a:txBody>
                    <a:bodyPr/>
                    <a:lstStyle/>
                    <a:p>
                      <a:r>
                        <a:rPr lang="pt-BR" dirty="0" smtClean="0"/>
                        <a:t>Extrair</a:t>
                      </a:r>
                      <a:r>
                        <a:rPr lang="pt-BR" baseline="0" dirty="0" smtClean="0"/>
                        <a:t> informação do sistema legado e carregar na área de staging, também chamada de back-room;</a:t>
                      </a:r>
                      <a:endParaRPr lang="en-US" dirty="0"/>
                    </a:p>
                  </a:txBody>
                  <a:tcPr marL="91435" marR="91435"/>
                </a:tc>
              </a:tr>
              <a:tr h="370840">
                <a:tc>
                  <a:txBody>
                    <a:bodyPr/>
                    <a:lstStyle/>
                    <a:p>
                      <a:r>
                        <a:rPr lang="pt-BR" dirty="0" smtClean="0"/>
                        <a:t>Transform</a:t>
                      </a:r>
                      <a:endParaRPr lang="en-US" dirty="0"/>
                    </a:p>
                  </a:txBody>
                  <a:tcPr marL="91435" marR="91435"/>
                </a:tc>
                <a:tc>
                  <a:txBody>
                    <a:bodyPr/>
                    <a:lstStyle/>
                    <a:p>
                      <a:r>
                        <a:rPr lang="pt-BR" dirty="0" smtClean="0"/>
                        <a:t>Transformar, Limpar,Modificar a informação;</a:t>
                      </a:r>
                      <a:endParaRPr lang="en-US" dirty="0"/>
                    </a:p>
                  </a:txBody>
                  <a:tcPr marL="91435" marR="91435"/>
                </a:tc>
              </a:tr>
              <a:tr h="370840">
                <a:tc>
                  <a:txBody>
                    <a:bodyPr/>
                    <a:lstStyle/>
                    <a:p>
                      <a:r>
                        <a:rPr lang="pt-BR" dirty="0" smtClean="0"/>
                        <a:t>Load</a:t>
                      </a:r>
                      <a:endParaRPr lang="en-US" dirty="0"/>
                    </a:p>
                  </a:txBody>
                  <a:tcPr marL="91435" marR="91435"/>
                </a:tc>
                <a:tc>
                  <a:txBody>
                    <a:bodyPr/>
                    <a:lstStyle/>
                    <a:p>
                      <a:r>
                        <a:rPr lang="pt-BR" dirty="0" smtClean="0"/>
                        <a:t>Preparar a informação para a camada</a:t>
                      </a:r>
                      <a:r>
                        <a:rPr lang="pt-BR" baseline="0" dirty="0" smtClean="0"/>
                        <a:t> de apresentação.</a:t>
                      </a:r>
                      <a:endParaRPr lang="en-US" dirty="0"/>
                    </a:p>
                  </a:txBody>
                  <a:tcPr marL="91435" marR="91435"/>
                </a:tc>
              </a:tr>
            </a:tbl>
          </a:graphicData>
        </a:graphic>
      </p:graphicFrame>
      <p:sp>
        <p:nvSpPr>
          <p:cNvPr id="10" name="TextBox 9"/>
          <p:cNvSpPr txBox="1">
            <a:spLocks noChangeArrowheads="1"/>
          </p:cNvSpPr>
          <p:nvPr/>
        </p:nvSpPr>
        <p:spPr bwMode="auto">
          <a:xfrm>
            <a:off x="25400" y="3314700"/>
            <a:ext cx="518477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Wingdings" panose="05000000000000000000" pitchFamily="2" charset="2"/>
              <a:buChar char="q"/>
            </a:pPr>
            <a:r>
              <a:rPr lang="pt-BR" altLang="en-US" sz="1800"/>
              <a:t>ELT – Extract, Load e Transform</a:t>
            </a:r>
          </a:p>
          <a:p>
            <a:pPr>
              <a:spcBef>
                <a:spcPct val="0"/>
              </a:spcBef>
              <a:buFont typeface="Wingdings" panose="05000000000000000000" pitchFamily="2" charset="2"/>
              <a:buChar char="q"/>
            </a:pPr>
            <a:endParaRPr lang="pt-BR" altLang="en-US" sz="1800"/>
          </a:p>
          <a:p>
            <a:pPr>
              <a:spcBef>
                <a:spcPct val="0"/>
              </a:spcBef>
              <a:buFont typeface="Wingdings" panose="05000000000000000000" pitchFamily="2" charset="2"/>
              <a:buChar char="q"/>
            </a:pPr>
            <a:r>
              <a:rPr lang="pt-BR" altLang="en-US" sz="1800"/>
              <a:t>EII – Enterprise Informatin Integration</a:t>
            </a:r>
            <a:endParaRPr lang="en-US"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arn(inVertic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1113" y="3175"/>
            <a:ext cx="9132887" cy="833438"/>
          </a:xfrm>
          <a:prstGeom prst="rect">
            <a:avLst/>
          </a:prstGeom>
        </p:spPr>
        <p:txBody>
          <a:bodyP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Business Intelligence </a:t>
            </a:r>
          </a:p>
        </p:txBody>
      </p:sp>
      <p:sp>
        <p:nvSpPr>
          <p:cNvPr id="194563" name="Line 5"/>
          <p:cNvSpPr>
            <a:spLocks noChangeShapeType="1"/>
          </p:cNvSpPr>
          <p:nvPr/>
        </p:nvSpPr>
        <p:spPr bwMode="auto">
          <a:xfrm>
            <a:off x="0" y="836613"/>
            <a:ext cx="3516313"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94564" name="Group 6"/>
          <p:cNvGrpSpPr>
            <a:grpSpLocks/>
          </p:cNvGrpSpPr>
          <p:nvPr/>
        </p:nvGrpSpPr>
        <p:grpSpPr bwMode="auto">
          <a:xfrm>
            <a:off x="7308850" y="117475"/>
            <a:ext cx="1925638" cy="647700"/>
            <a:chOff x="7380288" y="41275"/>
            <a:chExt cx="1735137" cy="647700"/>
          </a:xfrm>
        </p:grpSpPr>
        <p:sp>
          <p:nvSpPr>
            <p:cNvPr id="5" name="Oval 4"/>
            <p:cNvSpPr>
              <a:spLocks noChangeArrowheads="1"/>
            </p:cNvSpPr>
            <p:nvPr/>
          </p:nvSpPr>
          <p:spPr bwMode="auto">
            <a:xfrm>
              <a:off x="7380288" y="41275"/>
              <a:ext cx="1689363"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6" name="Text Box 5"/>
            <p:cNvSpPr txBox="1">
              <a:spLocks noChangeArrowheads="1"/>
            </p:cNvSpPr>
            <p:nvPr/>
          </p:nvSpPr>
          <p:spPr bwMode="auto">
            <a:xfrm>
              <a:off x="7408897" y="190500"/>
              <a:ext cx="1706528"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194565" name="TextBox 6"/>
          <p:cNvSpPr txBox="1">
            <a:spLocks noChangeArrowheads="1"/>
          </p:cNvSpPr>
          <p:nvPr/>
        </p:nvSpPr>
        <p:spPr bwMode="auto">
          <a:xfrm>
            <a:off x="25400" y="930275"/>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Wingdings" panose="05000000000000000000" pitchFamily="2" charset="2"/>
              <a:buChar char="q"/>
            </a:pPr>
            <a:r>
              <a:rPr lang="pt-BR" altLang="en-US" sz="1800"/>
              <a:t>O que é Oracle Data Integrator?</a:t>
            </a:r>
            <a:endParaRPr lang="en-US" altLang="en-US" sz="1800"/>
          </a:p>
        </p:txBody>
      </p:sp>
      <p:sp>
        <p:nvSpPr>
          <p:cNvPr id="10" name="TextBox 9"/>
          <p:cNvSpPr txBox="1">
            <a:spLocks noChangeArrowheads="1"/>
          </p:cNvSpPr>
          <p:nvPr/>
        </p:nvSpPr>
        <p:spPr bwMode="auto">
          <a:xfrm>
            <a:off x="25400" y="1360488"/>
            <a:ext cx="91186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Wingdings" panose="05000000000000000000" pitchFamily="2" charset="2"/>
              <a:buChar char="q"/>
            </a:pPr>
            <a:r>
              <a:rPr lang="pt-BR" altLang="en-US" sz="1800"/>
              <a:t>ELT – Extract, Load e Transform</a:t>
            </a:r>
          </a:p>
          <a:p>
            <a:pPr>
              <a:spcBef>
                <a:spcPct val="0"/>
              </a:spcBef>
              <a:buFont typeface="Wingdings" panose="05000000000000000000" pitchFamily="2" charset="2"/>
              <a:buChar char="q"/>
            </a:pPr>
            <a:endParaRPr lang="pt-BR" altLang="en-US" sz="1800"/>
          </a:p>
          <a:p>
            <a:pPr>
              <a:spcBef>
                <a:spcPct val="0"/>
              </a:spcBef>
              <a:buFont typeface="Wingdings" panose="05000000000000000000" pitchFamily="2" charset="2"/>
              <a:buChar char="q"/>
            </a:pPr>
            <a:r>
              <a:rPr lang="pt-BR" altLang="en-US" sz="1800"/>
              <a:t>Ferramenta de E-LT(Extract Load and Transform) com tecnologia que aumenta performance e reduz custos de integração mesmo em ambientes Heterogêneos. </a:t>
            </a:r>
          </a:p>
          <a:p>
            <a:pPr>
              <a:spcBef>
                <a:spcPct val="0"/>
              </a:spcBef>
              <a:buFont typeface="Wingdings" panose="05000000000000000000" pitchFamily="2" charset="2"/>
              <a:buChar char="q"/>
            </a:pPr>
            <a:endParaRPr lang="pt-BR" altLang="en-US" sz="1800"/>
          </a:p>
          <a:p>
            <a:pPr>
              <a:spcBef>
                <a:spcPct val="0"/>
              </a:spcBef>
              <a:buFont typeface="Wingdings" panose="05000000000000000000" pitchFamily="2" charset="2"/>
              <a:buChar char="q"/>
            </a:pPr>
            <a:r>
              <a:rPr lang="pt-BR" altLang="en-US" sz="1800"/>
              <a:t>Funciona com processos batches até realtime. </a:t>
            </a:r>
          </a:p>
          <a:p>
            <a:pPr>
              <a:spcBef>
                <a:spcPct val="0"/>
              </a:spcBef>
              <a:buFont typeface="Wingdings" panose="05000000000000000000" pitchFamily="2" charset="2"/>
              <a:buChar char="q"/>
            </a:pPr>
            <a:endParaRPr lang="pt-BR" altLang="en-US" sz="1800"/>
          </a:p>
          <a:p>
            <a:pPr>
              <a:spcBef>
                <a:spcPct val="0"/>
              </a:spcBef>
              <a:buFont typeface="Wingdings" panose="05000000000000000000" pitchFamily="2" charset="2"/>
              <a:buChar char="q"/>
            </a:pPr>
            <a:r>
              <a:rPr lang="pt-BR" altLang="en-US" sz="1800"/>
              <a:t>Possui o conceito de KM (Knowledge Modules ou Módulos de Conhecimemnto ) provendo modularidade, flexibilidade e podendo ser extensível. </a:t>
            </a:r>
          </a:p>
          <a:p>
            <a:pPr>
              <a:spcBef>
                <a:spcPct val="0"/>
              </a:spcBef>
              <a:buFont typeface="Wingdings" panose="05000000000000000000" pitchFamily="2" charset="2"/>
              <a:buChar char="q"/>
            </a:pPr>
            <a:endParaRPr lang="pt-BR" altLang="en-US" sz="1800"/>
          </a:p>
          <a:p>
            <a:pPr>
              <a:spcBef>
                <a:spcPct val="0"/>
              </a:spcBef>
              <a:buFont typeface="Wingdings" panose="05000000000000000000" pitchFamily="2" charset="2"/>
              <a:buChar char="q"/>
            </a:pPr>
            <a:r>
              <a:rPr lang="pt-BR" altLang="en-US" sz="1800"/>
              <a:t>Permite integração para sistemas : </a:t>
            </a:r>
          </a:p>
          <a:p>
            <a:pPr>
              <a:spcBef>
                <a:spcPct val="0"/>
              </a:spcBef>
              <a:buFont typeface="Wingdings" panose="05000000000000000000" pitchFamily="2" charset="2"/>
              <a:buChar char="q"/>
            </a:pPr>
            <a:endParaRPr lang="pt-BR" altLang="en-US" sz="1800"/>
          </a:p>
          <a:p>
            <a:pPr lvl="1">
              <a:spcBef>
                <a:spcPct val="0"/>
              </a:spcBef>
              <a:buFont typeface="Wingdings" panose="05000000000000000000" pitchFamily="2" charset="2"/>
              <a:buChar char="q"/>
            </a:pPr>
            <a:r>
              <a:rPr lang="pt-BR" altLang="en-US" sz="1800">
                <a:ea typeface="MS PGothic" panose="020B0600070205080204" pitchFamily="34" charset="-128"/>
              </a:rPr>
              <a:t>Data Warehousing and Business Intelligence;</a:t>
            </a:r>
          </a:p>
          <a:p>
            <a:pPr lvl="1">
              <a:spcBef>
                <a:spcPct val="0"/>
              </a:spcBef>
              <a:buFont typeface="Wingdings" panose="05000000000000000000" pitchFamily="2" charset="2"/>
              <a:buChar char="q"/>
            </a:pPr>
            <a:r>
              <a:rPr lang="pt-BR" altLang="en-US" sz="1800">
                <a:ea typeface="MS PGothic" panose="020B0600070205080204" pitchFamily="34" charset="-128"/>
              </a:rPr>
              <a:t>Service-Oriented Architecture;</a:t>
            </a:r>
          </a:p>
          <a:p>
            <a:pPr lvl="1">
              <a:spcBef>
                <a:spcPct val="0"/>
              </a:spcBef>
              <a:buFont typeface="Wingdings" panose="05000000000000000000" pitchFamily="2" charset="2"/>
              <a:buChar char="q"/>
            </a:pPr>
            <a:r>
              <a:rPr lang="pt-BR" altLang="en-US" sz="1800">
                <a:ea typeface="MS PGothic" panose="020B0600070205080204" pitchFamily="34" charset="-128"/>
              </a:rPr>
              <a:t>Master Data Management (MDM);</a:t>
            </a:r>
          </a:p>
          <a:p>
            <a:pPr lvl="1">
              <a:spcBef>
                <a:spcPct val="0"/>
              </a:spcBef>
              <a:buFont typeface="Wingdings" panose="05000000000000000000" pitchFamily="2" charset="2"/>
              <a:buChar char="q"/>
            </a:pPr>
            <a:r>
              <a:rPr lang="pt-BR" altLang="en-US" sz="1800">
                <a:ea typeface="MS PGothic" panose="020B0600070205080204" pitchFamily="34" charset="-128"/>
              </a:rPr>
              <a:t>Migration and Consolidations Modernization Initiatives</a:t>
            </a:r>
            <a:endParaRPr lang="en-US" altLang="en-US" sz="1800">
              <a:ea typeface="MS PGothic"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1113" y="3175"/>
            <a:ext cx="9132887" cy="833438"/>
          </a:xfrm>
          <a:prstGeom prst="rect">
            <a:avLst/>
          </a:prstGeom>
        </p:spPr>
        <p:txBody>
          <a:bodyP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Business Intelligence </a:t>
            </a:r>
          </a:p>
        </p:txBody>
      </p:sp>
      <p:sp>
        <p:nvSpPr>
          <p:cNvPr id="195587" name="Line 5"/>
          <p:cNvSpPr>
            <a:spLocks noChangeShapeType="1"/>
          </p:cNvSpPr>
          <p:nvPr/>
        </p:nvSpPr>
        <p:spPr bwMode="auto">
          <a:xfrm>
            <a:off x="0" y="836613"/>
            <a:ext cx="3516313"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95588" name="Group 6"/>
          <p:cNvGrpSpPr>
            <a:grpSpLocks/>
          </p:cNvGrpSpPr>
          <p:nvPr/>
        </p:nvGrpSpPr>
        <p:grpSpPr bwMode="auto">
          <a:xfrm>
            <a:off x="7308850" y="117475"/>
            <a:ext cx="1925638" cy="647700"/>
            <a:chOff x="7380288" y="41275"/>
            <a:chExt cx="1735137" cy="647700"/>
          </a:xfrm>
        </p:grpSpPr>
        <p:sp>
          <p:nvSpPr>
            <p:cNvPr id="5" name="Oval 4"/>
            <p:cNvSpPr>
              <a:spLocks noChangeArrowheads="1"/>
            </p:cNvSpPr>
            <p:nvPr/>
          </p:nvSpPr>
          <p:spPr bwMode="auto">
            <a:xfrm>
              <a:off x="7380288" y="41275"/>
              <a:ext cx="1689363"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6" name="Text Box 5"/>
            <p:cNvSpPr txBox="1">
              <a:spLocks noChangeArrowheads="1"/>
            </p:cNvSpPr>
            <p:nvPr/>
          </p:nvSpPr>
          <p:spPr bwMode="auto">
            <a:xfrm>
              <a:off x="7408897" y="190500"/>
              <a:ext cx="1706528"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195589" name="TextBox 6"/>
          <p:cNvSpPr txBox="1">
            <a:spLocks noChangeArrowheads="1"/>
          </p:cNvSpPr>
          <p:nvPr/>
        </p:nvSpPr>
        <p:spPr bwMode="auto">
          <a:xfrm>
            <a:off x="25400" y="930275"/>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Wingdings" panose="05000000000000000000" pitchFamily="2" charset="2"/>
              <a:buChar char="q"/>
            </a:pPr>
            <a:r>
              <a:rPr lang="pt-BR" altLang="en-US" sz="1800"/>
              <a:t>O que é Oracle Data Integrator?</a:t>
            </a:r>
            <a:endParaRPr lang="en-US" altLang="en-US" sz="1800"/>
          </a:p>
        </p:txBody>
      </p:sp>
      <p:pic>
        <p:nvPicPr>
          <p:cNvPr id="195590"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27125" y="1398588"/>
            <a:ext cx="6940550" cy="477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1113" y="3175"/>
            <a:ext cx="9132887" cy="833438"/>
          </a:xfrm>
          <a:prstGeom prst="rect">
            <a:avLst/>
          </a:prstGeom>
        </p:spPr>
        <p:txBody>
          <a:bodyP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2pPr>
            <a:lvl3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3pPr>
            <a:lvl4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4pPr>
            <a:lvl5pPr algn="ctr" rtl="0" eaLnBrk="0" fontAlgn="base" hangingPunct="0">
              <a:spcBef>
                <a:spcPct val="0"/>
              </a:spcBef>
              <a:spcAft>
                <a:spcPct val="0"/>
              </a:spcAft>
              <a:defRPr sz="4400">
                <a:solidFill>
                  <a:schemeClr val="tx2"/>
                </a:solidFill>
                <a:latin typeface="Arial" charset="0"/>
                <a:ea typeface="MS PGothic" panose="020B0600070205080204" pitchFamily="34" charset="-128"/>
                <a:cs typeface="Arial" charset="0"/>
              </a:defRPr>
            </a:lvl5pPr>
            <a:lvl6pPr marL="457200" algn="ctr" rtl="0" fontAlgn="base">
              <a:spcBef>
                <a:spcPct val="0"/>
              </a:spcBef>
              <a:spcAft>
                <a:spcPct val="0"/>
              </a:spcAft>
              <a:defRPr sz="4400">
                <a:solidFill>
                  <a:schemeClr val="tx2"/>
                </a:solidFill>
                <a:latin typeface="Arial" charset="0"/>
                <a:ea typeface="ＭＳ Ｐゴシック" charset="0"/>
                <a:cs typeface="Arial" charset="0"/>
              </a:defRPr>
            </a:lvl6pPr>
            <a:lvl7pPr marL="914400" algn="ctr" rtl="0" fontAlgn="base">
              <a:spcBef>
                <a:spcPct val="0"/>
              </a:spcBef>
              <a:spcAft>
                <a:spcPct val="0"/>
              </a:spcAft>
              <a:defRPr sz="4400">
                <a:solidFill>
                  <a:schemeClr val="tx2"/>
                </a:solidFill>
                <a:latin typeface="Arial" charset="0"/>
                <a:ea typeface="ＭＳ Ｐゴシック" charset="0"/>
                <a:cs typeface="Arial" charset="0"/>
              </a:defRPr>
            </a:lvl7pPr>
            <a:lvl8pPr marL="1371600" algn="ctr" rtl="0" fontAlgn="base">
              <a:spcBef>
                <a:spcPct val="0"/>
              </a:spcBef>
              <a:spcAft>
                <a:spcPct val="0"/>
              </a:spcAft>
              <a:defRPr sz="4400">
                <a:solidFill>
                  <a:schemeClr val="tx2"/>
                </a:solidFill>
                <a:latin typeface="Arial" charset="0"/>
                <a:ea typeface="ＭＳ Ｐゴシック" charset="0"/>
                <a:cs typeface="Arial" charset="0"/>
              </a:defRPr>
            </a:lvl8pPr>
            <a:lvl9pPr marL="1828800" algn="ctr" rtl="0" fontAlgn="base">
              <a:spcBef>
                <a:spcPct val="0"/>
              </a:spcBef>
              <a:spcAft>
                <a:spcPct val="0"/>
              </a:spcAft>
              <a:defRPr sz="4400">
                <a:solidFill>
                  <a:schemeClr val="tx2"/>
                </a:solidFill>
                <a:latin typeface="Arial" charset="0"/>
                <a:ea typeface="ＭＳ Ｐゴシック" charset="0"/>
                <a:cs typeface="Arial" charset="0"/>
              </a:defRPr>
            </a:lvl9pPr>
          </a:lstStyle>
          <a:p>
            <a:pPr algn="l" eaLnBrk="1" hangingPunct="1">
              <a:defRPr/>
            </a:pPr>
            <a:r>
              <a:rPr lang="pt-BR" altLang="pt-BR" b="1" kern="0" dirty="0" smtClean="0">
                <a:solidFill>
                  <a:srgbClr val="003366"/>
                </a:solidFill>
              </a:rPr>
              <a:t>Business Intelligence </a:t>
            </a:r>
          </a:p>
        </p:txBody>
      </p:sp>
      <p:sp>
        <p:nvSpPr>
          <p:cNvPr id="196611" name="Line 5"/>
          <p:cNvSpPr>
            <a:spLocks noChangeShapeType="1"/>
          </p:cNvSpPr>
          <p:nvPr/>
        </p:nvSpPr>
        <p:spPr bwMode="auto">
          <a:xfrm>
            <a:off x="0" y="836613"/>
            <a:ext cx="3516313" cy="0"/>
          </a:xfrm>
          <a:prstGeom prst="line">
            <a:avLst/>
          </a:prstGeom>
          <a:noFill/>
          <a:ln w="28575" cap="rnd">
            <a:solidFill>
              <a:schemeClr val="bg2"/>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pt-BR"/>
          </a:p>
        </p:txBody>
      </p:sp>
      <p:grpSp>
        <p:nvGrpSpPr>
          <p:cNvPr id="196612" name="Group 6"/>
          <p:cNvGrpSpPr>
            <a:grpSpLocks/>
          </p:cNvGrpSpPr>
          <p:nvPr/>
        </p:nvGrpSpPr>
        <p:grpSpPr bwMode="auto">
          <a:xfrm>
            <a:off x="7308850" y="117475"/>
            <a:ext cx="1925638" cy="647700"/>
            <a:chOff x="7380288" y="41275"/>
            <a:chExt cx="1735137" cy="647700"/>
          </a:xfrm>
        </p:grpSpPr>
        <p:sp>
          <p:nvSpPr>
            <p:cNvPr id="5" name="Oval 4"/>
            <p:cNvSpPr>
              <a:spLocks noChangeArrowheads="1"/>
            </p:cNvSpPr>
            <p:nvPr/>
          </p:nvSpPr>
          <p:spPr bwMode="auto">
            <a:xfrm>
              <a:off x="7380288" y="41275"/>
              <a:ext cx="1689363" cy="647700"/>
            </a:xfrm>
            <a:prstGeom prst="ellipse">
              <a:avLst/>
            </a:prstGeom>
            <a:solidFill>
              <a:srgbClr val="FFFF00"/>
            </a:solidFill>
            <a:ln>
              <a:noFill/>
            </a:ln>
            <a:effectLst/>
          </p:spPr>
          <p:txBody>
            <a:bodyPr wrap="none" anchor="ctr" anchorCtr="1"/>
            <a:lstStyle/>
            <a:p>
              <a:pPr algn="just" eaLnBrk="1" hangingPunct="1">
                <a:lnSpc>
                  <a:spcPct val="120000"/>
                </a:lnSpc>
                <a:spcBef>
                  <a:spcPct val="20000"/>
                </a:spcBef>
                <a:spcAft>
                  <a:spcPct val="50000"/>
                </a:spcAft>
                <a:defRPr/>
              </a:pPr>
              <a:endParaRPr lang="pt-BR" sz="1200" dirty="0">
                <a:solidFill>
                  <a:schemeClr val="bg2">
                    <a:lumMod val="75000"/>
                  </a:schemeClr>
                </a:solidFill>
              </a:endParaRPr>
            </a:p>
          </p:txBody>
        </p:sp>
        <p:sp>
          <p:nvSpPr>
            <p:cNvPr id="6" name="Text Box 5"/>
            <p:cNvSpPr txBox="1">
              <a:spLocks noChangeArrowheads="1"/>
            </p:cNvSpPr>
            <p:nvPr/>
          </p:nvSpPr>
          <p:spPr bwMode="auto">
            <a:xfrm>
              <a:off x="7408897" y="190500"/>
              <a:ext cx="1706528"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Arial" charset="0"/>
                  <a:ea typeface="MS PGothic" charset="-128"/>
                  <a:cs typeface="Arial" charset="0"/>
                </a:defRPr>
              </a:lvl1pPr>
              <a:lvl2pPr marL="742950" indent="-285750">
                <a:spcBef>
                  <a:spcPct val="20000"/>
                </a:spcBef>
                <a:buChar char="–"/>
                <a:defRPr sz="2800">
                  <a:solidFill>
                    <a:schemeClr val="tx1"/>
                  </a:solidFill>
                  <a:latin typeface="Arial" charset="0"/>
                  <a:ea typeface="Arial" charset="0"/>
                  <a:cs typeface="Arial" charset="0"/>
                </a:defRPr>
              </a:lvl2pPr>
              <a:lvl3pPr marL="1143000" indent="-228600">
                <a:spcBef>
                  <a:spcPct val="20000"/>
                </a:spcBef>
                <a:buChar char="•"/>
                <a:defRPr sz="2400">
                  <a:solidFill>
                    <a:schemeClr val="tx1"/>
                  </a:solidFill>
                  <a:latin typeface="Arial" charset="0"/>
                  <a:ea typeface="Arial" charset="0"/>
                  <a:cs typeface="Arial" charset="0"/>
                </a:defRPr>
              </a:lvl3pPr>
              <a:lvl4pPr marL="1600200" indent="-228600">
                <a:spcBef>
                  <a:spcPct val="20000"/>
                </a:spcBef>
                <a:buChar char="–"/>
                <a:defRPr sz="2000">
                  <a:solidFill>
                    <a:schemeClr val="tx1"/>
                  </a:solidFill>
                  <a:latin typeface="Arial" charset="0"/>
                  <a:ea typeface="Arial" charset="0"/>
                  <a:cs typeface="Arial" charset="0"/>
                </a:defRPr>
              </a:lvl4pPr>
              <a:lvl5pPr marL="2057400" indent="-228600">
                <a:spcBef>
                  <a:spcPct val="20000"/>
                </a:spcBef>
                <a:buChar char="»"/>
                <a:defRPr sz="20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ea typeface="Arial" charset="0"/>
                  <a:cs typeface="Arial" charset="0"/>
                </a:defRPr>
              </a:lvl9pPr>
            </a:lstStyle>
            <a:p>
              <a:pPr algn="ctr" eaLnBrk="1" hangingPunct="1">
                <a:lnSpc>
                  <a:spcPct val="120000"/>
                </a:lnSpc>
                <a:spcAft>
                  <a:spcPct val="50000"/>
                </a:spcAft>
                <a:buFontTx/>
                <a:buNone/>
                <a:defRPr/>
              </a:pPr>
              <a:r>
                <a:rPr lang="pt-BR" altLang="pt-BR" sz="1200" b="1" smtClean="0">
                  <a:solidFill>
                    <a:srgbClr val="FF0000"/>
                  </a:solidFill>
                </a:rPr>
                <a:t>#público</a:t>
              </a:r>
              <a:endParaRPr lang="pt-BR" altLang="pt-BR" sz="1200" smtClean="0">
                <a:solidFill>
                  <a:srgbClr val="FF0000"/>
                </a:solidFill>
              </a:endParaRPr>
            </a:p>
          </p:txBody>
        </p:sp>
      </p:grpSp>
      <p:sp>
        <p:nvSpPr>
          <p:cNvPr id="196613" name="TextBox 6"/>
          <p:cNvSpPr txBox="1">
            <a:spLocks noChangeArrowheads="1"/>
          </p:cNvSpPr>
          <p:nvPr/>
        </p:nvSpPr>
        <p:spPr bwMode="auto">
          <a:xfrm>
            <a:off x="25400" y="930275"/>
            <a:ext cx="9144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Wingdings" panose="05000000000000000000" pitchFamily="2" charset="2"/>
              <a:buChar char="q"/>
            </a:pPr>
            <a:r>
              <a:rPr lang="pt-BR" altLang="en-US" sz="1800"/>
              <a:t>O que é Oracle Data Integrator?</a:t>
            </a:r>
            <a:endParaRPr lang="en-US" altLang="en-US" sz="1800"/>
          </a:p>
        </p:txBody>
      </p:sp>
      <p:pic>
        <p:nvPicPr>
          <p:cNvPr id="196614" name="Picture 1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3263" y="3490913"/>
            <a:ext cx="2873375" cy="258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6615" name="Picture 114" descr="refle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913" y="593725"/>
            <a:ext cx="1639887" cy="515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5766348" y="3708280"/>
            <a:ext cx="1397002" cy="228600"/>
          </a:xfrm>
          <a:prstGeom prst="rect">
            <a:avLst/>
          </a:prstGeom>
          <a:gradFill>
            <a:gsLst>
              <a:gs pos="0">
                <a:srgbClr val="124466"/>
              </a:gs>
              <a:gs pos="80000">
                <a:srgbClr val="1D6FA6"/>
              </a:gs>
              <a:gs pos="100000">
                <a:srgbClr val="3A89B5"/>
              </a:gs>
            </a:gsLst>
          </a:gra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anchor="ctr"/>
          <a:lstStyle/>
          <a:p>
            <a:pPr algn="ctr">
              <a:defRPr/>
            </a:pPr>
            <a:endParaRPr lang="en-US"/>
          </a:p>
        </p:txBody>
      </p:sp>
      <p:sp>
        <p:nvSpPr>
          <p:cNvPr id="12" name="Oval 11"/>
          <p:cNvSpPr/>
          <p:nvPr/>
        </p:nvSpPr>
        <p:spPr>
          <a:xfrm>
            <a:off x="5619750" y="36925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 name="Oval 12"/>
          <p:cNvSpPr/>
          <p:nvPr/>
        </p:nvSpPr>
        <p:spPr>
          <a:xfrm>
            <a:off x="5619750" y="36925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Oval 13"/>
          <p:cNvSpPr/>
          <p:nvPr/>
        </p:nvSpPr>
        <p:spPr>
          <a:xfrm>
            <a:off x="5619750" y="36925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Oval 14"/>
          <p:cNvSpPr/>
          <p:nvPr/>
        </p:nvSpPr>
        <p:spPr>
          <a:xfrm>
            <a:off x="5619750" y="36925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Oval 15"/>
          <p:cNvSpPr/>
          <p:nvPr/>
        </p:nvSpPr>
        <p:spPr>
          <a:xfrm>
            <a:off x="5619750" y="36925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 name="Oval 16"/>
          <p:cNvSpPr/>
          <p:nvPr/>
        </p:nvSpPr>
        <p:spPr>
          <a:xfrm>
            <a:off x="5619750" y="36925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 name="Oval 17"/>
          <p:cNvSpPr/>
          <p:nvPr/>
        </p:nvSpPr>
        <p:spPr>
          <a:xfrm>
            <a:off x="5619750" y="36925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 name="Oval 18"/>
          <p:cNvSpPr/>
          <p:nvPr/>
        </p:nvSpPr>
        <p:spPr>
          <a:xfrm>
            <a:off x="5619750" y="36925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0" name="Oval 19"/>
          <p:cNvSpPr/>
          <p:nvPr/>
        </p:nvSpPr>
        <p:spPr>
          <a:xfrm>
            <a:off x="5619750" y="36925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 name="Oval 20"/>
          <p:cNvSpPr/>
          <p:nvPr/>
        </p:nvSpPr>
        <p:spPr>
          <a:xfrm>
            <a:off x="5619750" y="36925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2" name="Oval 21"/>
          <p:cNvSpPr/>
          <p:nvPr/>
        </p:nvSpPr>
        <p:spPr>
          <a:xfrm>
            <a:off x="5619750" y="36925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196630"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4043363" y="2419350"/>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6631"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3386138" y="2814638"/>
            <a:ext cx="1292225"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6632"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4689475" y="2809875"/>
            <a:ext cx="1290638"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6633"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4044950" y="3184525"/>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6634" name="Text Box 101"/>
          <p:cNvSpPr txBox="1">
            <a:spLocks noChangeArrowheads="1"/>
          </p:cNvSpPr>
          <p:nvPr/>
        </p:nvSpPr>
        <p:spPr bwMode="auto">
          <a:xfrm>
            <a:off x="3446463" y="5567363"/>
            <a:ext cx="11922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128588" indent="-128588">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Arial" panose="020B0604020202020204" pitchFamily="34" charset="0"/>
              <a:buChar char="»"/>
            </a:pPr>
            <a:r>
              <a:rPr lang="en-US" altLang="en-US" sz="1400" b="1">
                <a:latin typeface="Eurostile"/>
                <a:ea typeface="Eurostile"/>
                <a:cs typeface="Eurostile"/>
              </a:rPr>
              <a:t>Renomear</a:t>
            </a:r>
          </a:p>
        </p:txBody>
      </p:sp>
      <p:grpSp>
        <p:nvGrpSpPr>
          <p:cNvPr id="28" name="Group 314"/>
          <p:cNvGrpSpPr/>
          <p:nvPr/>
        </p:nvGrpSpPr>
        <p:grpSpPr>
          <a:xfrm>
            <a:off x="6806916" y="680615"/>
            <a:ext cx="2354460" cy="5232674"/>
            <a:chOff x="10363200" y="1752600"/>
            <a:chExt cx="2367894" cy="5257800"/>
          </a:xfrm>
          <a:effectLst>
            <a:outerShdw blurRad="190500" dist="38100">
              <a:srgbClr val="000000">
                <a:alpha val="43000"/>
              </a:srgbClr>
            </a:outerShdw>
          </a:effectLst>
          <a:scene3d>
            <a:camera prst="perspectiveFront">
              <a:rot lat="0" lon="3000000" rev="0"/>
            </a:camera>
            <a:lightRig rig="threePt" dir="t"/>
          </a:scene3d>
        </p:grpSpPr>
        <p:pic>
          <p:nvPicPr>
            <p:cNvPr id="29" name="Picture 12" descr="Scorecarding1"/>
            <p:cNvPicPr>
              <a:picLocks noChangeAspect="1" noChangeArrowheads="1"/>
            </p:cNvPicPr>
            <p:nvPr/>
          </p:nvPicPr>
          <p:blipFill>
            <a:blip r:embed="rId5" cstate="print"/>
            <a:stretch>
              <a:fillRect/>
            </a:stretch>
          </p:blipFill>
          <p:spPr bwMode="auto">
            <a:xfrm>
              <a:off x="10363200" y="5419175"/>
              <a:ext cx="2367894" cy="1591225"/>
            </a:xfrm>
            <a:prstGeom prst="rect">
              <a:avLst/>
            </a:prstGeom>
            <a:noFill/>
            <a:ln w="12700" cap="flat" cmpd="sng" algn="ctr">
              <a:solidFill>
                <a:srgbClr val="0B537D"/>
              </a:solidFill>
              <a:prstDash val="solid"/>
              <a:round/>
              <a:headEnd type="none" w="med" len="med"/>
              <a:tailEnd type="none" w="med" len="med"/>
            </a:ln>
          </p:spPr>
        </p:pic>
        <p:pic>
          <p:nvPicPr>
            <p:cNvPr id="30" name="Picture 10" descr="Dashboards1"/>
            <p:cNvPicPr>
              <a:picLocks noChangeAspect="1" noChangeArrowheads="1"/>
            </p:cNvPicPr>
            <p:nvPr/>
          </p:nvPicPr>
          <p:blipFill>
            <a:blip r:embed="rId6" cstate="print"/>
            <a:srcRect t="3839"/>
            <a:stretch>
              <a:fillRect/>
            </a:stretch>
          </p:blipFill>
          <p:spPr bwMode="auto">
            <a:xfrm>
              <a:off x="10363200" y="1752600"/>
              <a:ext cx="2367894" cy="1703182"/>
            </a:xfrm>
            <a:prstGeom prst="rect">
              <a:avLst/>
            </a:prstGeom>
            <a:noFill/>
            <a:ln w="12700" cap="flat" cmpd="sng" algn="ctr">
              <a:solidFill>
                <a:srgbClr val="0B537D"/>
              </a:solidFill>
              <a:prstDash val="solid"/>
              <a:round/>
              <a:headEnd type="none" w="med" len="med"/>
              <a:tailEnd type="none" w="med" len="med"/>
            </a:ln>
          </p:spPr>
        </p:pic>
        <p:pic>
          <p:nvPicPr>
            <p:cNvPr id="31" name="Picture 11" descr="Dashboards2"/>
            <p:cNvPicPr>
              <a:picLocks noChangeAspect="1" noChangeArrowheads="1"/>
            </p:cNvPicPr>
            <p:nvPr/>
          </p:nvPicPr>
          <p:blipFill>
            <a:blip r:embed="rId7" cstate="print"/>
            <a:srcRect t="3659"/>
            <a:stretch>
              <a:fillRect/>
            </a:stretch>
          </p:blipFill>
          <p:spPr bwMode="auto">
            <a:xfrm>
              <a:off x="10363200" y="3584289"/>
              <a:ext cx="2367894" cy="1706379"/>
            </a:xfrm>
            <a:prstGeom prst="rect">
              <a:avLst/>
            </a:prstGeom>
            <a:noFill/>
            <a:ln w="12700" cap="flat" cmpd="sng" algn="ctr">
              <a:solidFill>
                <a:srgbClr val="0B537D"/>
              </a:solidFill>
              <a:prstDash val="solid"/>
              <a:round/>
              <a:headEnd type="none" w="med" len="med"/>
              <a:tailEnd type="none" w="med" len="med"/>
            </a:ln>
          </p:spPr>
        </p:pic>
      </p:grpSp>
      <p:sp>
        <p:nvSpPr>
          <p:cNvPr id="196636" name="Freeform 115"/>
          <p:cNvSpPr>
            <a:spLocks/>
          </p:cNvSpPr>
          <p:nvPr/>
        </p:nvSpPr>
        <p:spPr bwMode="auto">
          <a:xfrm>
            <a:off x="1319213" y="4071938"/>
            <a:ext cx="2932112" cy="1209675"/>
          </a:xfrm>
          <a:custGeom>
            <a:avLst/>
            <a:gdLst>
              <a:gd name="T0" fmla="*/ 0 w 966"/>
              <a:gd name="T1" fmla="*/ 2147483646 h 398"/>
              <a:gd name="T2" fmla="*/ 2147483646 w 966"/>
              <a:gd name="T3" fmla="*/ 2147483646 h 398"/>
              <a:gd name="T4" fmla="*/ 2147483646 w 966"/>
              <a:gd name="T5" fmla="*/ 2147483646 h 398"/>
              <a:gd name="T6" fmla="*/ 2147483646 w 966"/>
              <a:gd name="T7" fmla="*/ 2147483646 h 398"/>
              <a:gd name="T8" fmla="*/ 2147483646 w 966"/>
              <a:gd name="T9" fmla="*/ 0 h 398"/>
              <a:gd name="T10" fmla="*/ 2147483646 w 966"/>
              <a:gd name="T11" fmla="*/ 0 h 398"/>
              <a:gd name="T12" fmla="*/ 0 60000 65536"/>
              <a:gd name="T13" fmla="*/ 0 60000 65536"/>
              <a:gd name="T14" fmla="*/ 0 60000 65536"/>
              <a:gd name="T15" fmla="*/ 0 60000 65536"/>
              <a:gd name="T16" fmla="*/ 0 60000 65536"/>
              <a:gd name="T17" fmla="*/ 0 60000 65536"/>
              <a:gd name="T18" fmla="*/ 0 w 966"/>
              <a:gd name="T19" fmla="*/ 0 h 398"/>
              <a:gd name="T20" fmla="*/ 966 w 966"/>
              <a:gd name="T21" fmla="*/ 398 h 398"/>
            </a:gdLst>
            <a:ahLst/>
            <a:cxnLst>
              <a:cxn ang="T12">
                <a:pos x="T0" y="T1"/>
              </a:cxn>
              <a:cxn ang="T13">
                <a:pos x="T2" y="T3"/>
              </a:cxn>
              <a:cxn ang="T14">
                <a:pos x="T4" y="T5"/>
              </a:cxn>
              <a:cxn ang="T15">
                <a:pos x="T6" y="T7"/>
              </a:cxn>
              <a:cxn ang="T16">
                <a:pos x="T8" y="T9"/>
              </a:cxn>
              <a:cxn ang="T17">
                <a:pos x="T10" y="T11"/>
              </a:cxn>
            </a:cxnLst>
            <a:rect l="T18" t="T19" r="T20" b="T21"/>
            <a:pathLst>
              <a:path w="966" h="398">
                <a:moveTo>
                  <a:pt x="0" y="398"/>
                </a:moveTo>
                <a:cubicBezTo>
                  <a:pt x="390" y="398"/>
                  <a:pt x="390" y="398"/>
                  <a:pt x="390" y="398"/>
                </a:cubicBezTo>
                <a:cubicBezTo>
                  <a:pt x="406" y="398"/>
                  <a:pt x="419" y="386"/>
                  <a:pt x="419" y="370"/>
                </a:cubicBezTo>
                <a:cubicBezTo>
                  <a:pt x="419" y="29"/>
                  <a:pt x="419" y="29"/>
                  <a:pt x="419" y="29"/>
                </a:cubicBezTo>
                <a:cubicBezTo>
                  <a:pt x="419" y="13"/>
                  <a:pt x="432" y="0"/>
                  <a:pt x="447" y="0"/>
                </a:cubicBezTo>
                <a:cubicBezTo>
                  <a:pt x="966" y="0"/>
                  <a:pt x="966" y="0"/>
                  <a:pt x="966" y="0"/>
                </a:cubicBezTo>
              </a:path>
            </a:pathLst>
          </a:custGeom>
          <a:noFill/>
          <a:ln w="76200">
            <a:solidFill>
              <a:srgbClr val="0B537D"/>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96637" name="Freeform 116"/>
          <p:cNvSpPr>
            <a:spLocks/>
          </p:cNvSpPr>
          <p:nvPr/>
        </p:nvSpPr>
        <p:spPr bwMode="auto">
          <a:xfrm>
            <a:off x="1319213" y="2160588"/>
            <a:ext cx="2932112" cy="1209675"/>
          </a:xfrm>
          <a:custGeom>
            <a:avLst/>
            <a:gdLst>
              <a:gd name="T0" fmla="*/ 0 w 966"/>
              <a:gd name="T1" fmla="*/ 0 h 398"/>
              <a:gd name="T2" fmla="*/ 2147483646 w 966"/>
              <a:gd name="T3" fmla="*/ 0 h 398"/>
              <a:gd name="T4" fmla="*/ 2147483646 w 966"/>
              <a:gd name="T5" fmla="*/ 2147483646 h 398"/>
              <a:gd name="T6" fmla="*/ 2147483646 w 966"/>
              <a:gd name="T7" fmla="*/ 2147483646 h 398"/>
              <a:gd name="T8" fmla="*/ 2147483646 w 966"/>
              <a:gd name="T9" fmla="*/ 2147483646 h 398"/>
              <a:gd name="T10" fmla="*/ 2147483646 w 966"/>
              <a:gd name="T11" fmla="*/ 2147483646 h 398"/>
              <a:gd name="T12" fmla="*/ 0 60000 65536"/>
              <a:gd name="T13" fmla="*/ 0 60000 65536"/>
              <a:gd name="T14" fmla="*/ 0 60000 65536"/>
              <a:gd name="T15" fmla="*/ 0 60000 65536"/>
              <a:gd name="T16" fmla="*/ 0 60000 65536"/>
              <a:gd name="T17" fmla="*/ 0 60000 65536"/>
              <a:gd name="T18" fmla="*/ 0 w 966"/>
              <a:gd name="T19" fmla="*/ 0 h 398"/>
              <a:gd name="T20" fmla="*/ 966 w 966"/>
              <a:gd name="T21" fmla="*/ 398 h 398"/>
            </a:gdLst>
            <a:ahLst/>
            <a:cxnLst>
              <a:cxn ang="T12">
                <a:pos x="T0" y="T1"/>
              </a:cxn>
              <a:cxn ang="T13">
                <a:pos x="T2" y="T3"/>
              </a:cxn>
              <a:cxn ang="T14">
                <a:pos x="T4" y="T5"/>
              </a:cxn>
              <a:cxn ang="T15">
                <a:pos x="T6" y="T7"/>
              </a:cxn>
              <a:cxn ang="T16">
                <a:pos x="T8" y="T9"/>
              </a:cxn>
              <a:cxn ang="T17">
                <a:pos x="T10" y="T11"/>
              </a:cxn>
            </a:cxnLst>
            <a:rect l="T18" t="T19" r="T20" b="T21"/>
            <a:pathLst>
              <a:path w="966" h="398">
                <a:moveTo>
                  <a:pt x="0" y="0"/>
                </a:moveTo>
                <a:cubicBezTo>
                  <a:pt x="390" y="0"/>
                  <a:pt x="390" y="0"/>
                  <a:pt x="390" y="0"/>
                </a:cubicBezTo>
                <a:cubicBezTo>
                  <a:pt x="406" y="0"/>
                  <a:pt x="419" y="13"/>
                  <a:pt x="419" y="29"/>
                </a:cubicBezTo>
                <a:cubicBezTo>
                  <a:pt x="419" y="369"/>
                  <a:pt x="419" y="369"/>
                  <a:pt x="419" y="369"/>
                </a:cubicBezTo>
                <a:cubicBezTo>
                  <a:pt x="419" y="385"/>
                  <a:pt x="432" y="398"/>
                  <a:pt x="447" y="398"/>
                </a:cubicBezTo>
                <a:cubicBezTo>
                  <a:pt x="966" y="398"/>
                  <a:pt x="966" y="398"/>
                  <a:pt x="966" y="398"/>
                </a:cubicBezTo>
              </a:path>
            </a:pathLst>
          </a:custGeom>
          <a:noFill/>
          <a:ln w="76200">
            <a:solidFill>
              <a:srgbClr val="0B537D"/>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96638" name="Freeform 117"/>
          <p:cNvSpPr>
            <a:spLocks/>
          </p:cNvSpPr>
          <p:nvPr/>
        </p:nvSpPr>
        <p:spPr bwMode="auto">
          <a:xfrm>
            <a:off x="1258888" y="3848100"/>
            <a:ext cx="2532062" cy="430213"/>
          </a:xfrm>
          <a:custGeom>
            <a:avLst/>
            <a:gdLst>
              <a:gd name="T0" fmla="*/ 0 w 834"/>
              <a:gd name="T1" fmla="*/ 2147483646 h 142"/>
              <a:gd name="T2" fmla="*/ 2147483646 w 834"/>
              <a:gd name="T3" fmla="*/ 2147483646 h 142"/>
              <a:gd name="T4" fmla="*/ 2147483646 w 834"/>
              <a:gd name="T5" fmla="*/ 2147483646 h 142"/>
              <a:gd name="T6" fmla="*/ 2147483646 w 834"/>
              <a:gd name="T7" fmla="*/ 2147483646 h 142"/>
              <a:gd name="T8" fmla="*/ 2147483646 w 834"/>
              <a:gd name="T9" fmla="*/ 0 h 142"/>
              <a:gd name="T10" fmla="*/ 2147483646 w 834"/>
              <a:gd name="T11" fmla="*/ 0 h 142"/>
              <a:gd name="T12" fmla="*/ 0 60000 65536"/>
              <a:gd name="T13" fmla="*/ 0 60000 65536"/>
              <a:gd name="T14" fmla="*/ 0 60000 65536"/>
              <a:gd name="T15" fmla="*/ 0 60000 65536"/>
              <a:gd name="T16" fmla="*/ 0 60000 65536"/>
              <a:gd name="T17" fmla="*/ 0 60000 65536"/>
              <a:gd name="T18" fmla="*/ 0 w 834"/>
              <a:gd name="T19" fmla="*/ 0 h 142"/>
              <a:gd name="T20" fmla="*/ 834 w 834"/>
              <a:gd name="T21" fmla="*/ 142 h 142"/>
            </a:gdLst>
            <a:ahLst/>
            <a:cxnLst>
              <a:cxn ang="T12">
                <a:pos x="T0" y="T1"/>
              </a:cxn>
              <a:cxn ang="T13">
                <a:pos x="T2" y="T3"/>
              </a:cxn>
              <a:cxn ang="T14">
                <a:pos x="T4" y="T5"/>
              </a:cxn>
              <a:cxn ang="T15">
                <a:pos x="T6" y="T7"/>
              </a:cxn>
              <a:cxn ang="T16">
                <a:pos x="T8" y="T9"/>
              </a:cxn>
              <a:cxn ang="T17">
                <a:pos x="T10" y="T11"/>
              </a:cxn>
            </a:cxnLst>
            <a:rect l="T18" t="T19" r="T20" b="T21"/>
            <a:pathLst>
              <a:path w="834" h="142">
                <a:moveTo>
                  <a:pt x="0" y="142"/>
                </a:moveTo>
                <a:cubicBezTo>
                  <a:pt x="333" y="142"/>
                  <a:pt x="333" y="142"/>
                  <a:pt x="333" y="142"/>
                </a:cubicBezTo>
                <a:cubicBezTo>
                  <a:pt x="349" y="142"/>
                  <a:pt x="362" y="129"/>
                  <a:pt x="362" y="113"/>
                </a:cubicBezTo>
                <a:cubicBezTo>
                  <a:pt x="362" y="29"/>
                  <a:pt x="362" y="29"/>
                  <a:pt x="362" y="29"/>
                </a:cubicBezTo>
                <a:cubicBezTo>
                  <a:pt x="362" y="13"/>
                  <a:pt x="375" y="0"/>
                  <a:pt x="391" y="0"/>
                </a:cubicBezTo>
                <a:cubicBezTo>
                  <a:pt x="834" y="0"/>
                  <a:pt x="834" y="0"/>
                  <a:pt x="834" y="0"/>
                </a:cubicBezTo>
              </a:path>
            </a:pathLst>
          </a:custGeom>
          <a:noFill/>
          <a:ln w="76200">
            <a:solidFill>
              <a:srgbClr val="0B537D"/>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196639" name="Freeform 118"/>
          <p:cNvSpPr>
            <a:spLocks/>
          </p:cNvSpPr>
          <p:nvPr/>
        </p:nvSpPr>
        <p:spPr bwMode="auto">
          <a:xfrm>
            <a:off x="1258888" y="3181350"/>
            <a:ext cx="2532062" cy="431800"/>
          </a:xfrm>
          <a:custGeom>
            <a:avLst/>
            <a:gdLst>
              <a:gd name="T0" fmla="*/ 0 w 834"/>
              <a:gd name="T1" fmla="*/ 0 h 142"/>
              <a:gd name="T2" fmla="*/ 2147483646 w 834"/>
              <a:gd name="T3" fmla="*/ 0 h 142"/>
              <a:gd name="T4" fmla="*/ 2147483646 w 834"/>
              <a:gd name="T5" fmla="*/ 2147483646 h 142"/>
              <a:gd name="T6" fmla="*/ 2147483646 w 834"/>
              <a:gd name="T7" fmla="*/ 2147483646 h 142"/>
              <a:gd name="T8" fmla="*/ 2147483646 w 834"/>
              <a:gd name="T9" fmla="*/ 2147483646 h 142"/>
              <a:gd name="T10" fmla="*/ 2147483646 w 834"/>
              <a:gd name="T11" fmla="*/ 2147483646 h 142"/>
              <a:gd name="T12" fmla="*/ 0 60000 65536"/>
              <a:gd name="T13" fmla="*/ 0 60000 65536"/>
              <a:gd name="T14" fmla="*/ 0 60000 65536"/>
              <a:gd name="T15" fmla="*/ 0 60000 65536"/>
              <a:gd name="T16" fmla="*/ 0 60000 65536"/>
              <a:gd name="T17" fmla="*/ 0 60000 65536"/>
              <a:gd name="T18" fmla="*/ 0 w 834"/>
              <a:gd name="T19" fmla="*/ 0 h 142"/>
              <a:gd name="T20" fmla="*/ 834 w 834"/>
              <a:gd name="T21" fmla="*/ 142 h 142"/>
            </a:gdLst>
            <a:ahLst/>
            <a:cxnLst>
              <a:cxn ang="T12">
                <a:pos x="T0" y="T1"/>
              </a:cxn>
              <a:cxn ang="T13">
                <a:pos x="T2" y="T3"/>
              </a:cxn>
              <a:cxn ang="T14">
                <a:pos x="T4" y="T5"/>
              </a:cxn>
              <a:cxn ang="T15">
                <a:pos x="T6" y="T7"/>
              </a:cxn>
              <a:cxn ang="T16">
                <a:pos x="T8" y="T9"/>
              </a:cxn>
              <a:cxn ang="T17">
                <a:pos x="T10" y="T11"/>
              </a:cxn>
            </a:cxnLst>
            <a:rect l="T18" t="T19" r="T20" b="T21"/>
            <a:pathLst>
              <a:path w="834" h="142">
                <a:moveTo>
                  <a:pt x="0" y="0"/>
                </a:moveTo>
                <a:cubicBezTo>
                  <a:pt x="333" y="0"/>
                  <a:pt x="333" y="0"/>
                  <a:pt x="333" y="0"/>
                </a:cubicBezTo>
                <a:cubicBezTo>
                  <a:pt x="349" y="0"/>
                  <a:pt x="362" y="13"/>
                  <a:pt x="362" y="28"/>
                </a:cubicBezTo>
                <a:cubicBezTo>
                  <a:pt x="362" y="113"/>
                  <a:pt x="362" y="113"/>
                  <a:pt x="362" y="113"/>
                </a:cubicBezTo>
                <a:cubicBezTo>
                  <a:pt x="362" y="129"/>
                  <a:pt x="375" y="142"/>
                  <a:pt x="391" y="142"/>
                </a:cubicBezTo>
                <a:cubicBezTo>
                  <a:pt x="834" y="142"/>
                  <a:pt x="834" y="142"/>
                  <a:pt x="834" y="142"/>
                </a:cubicBezTo>
              </a:path>
            </a:pathLst>
          </a:custGeom>
          <a:noFill/>
          <a:ln w="76200">
            <a:solidFill>
              <a:srgbClr val="0B537D"/>
            </a:solidFill>
            <a:round/>
            <a:headEnd/>
            <a:tailEnd/>
          </a:ln>
          <a:extLst>
            <a:ext uri="{909E8E84-426E-40DD-AFC4-6F175D3DCCD1}">
              <a14:hiddenFill xmlns:a14="http://schemas.microsoft.com/office/drawing/2010/main">
                <a:solidFill>
                  <a:srgbClr val="FFFFFF"/>
                </a:solidFill>
              </a14:hiddenFill>
            </a:ext>
          </a:extLst>
        </p:spPr>
        <p:txBody>
          <a:bodyPr/>
          <a:lstStyle/>
          <a:p>
            <a:endParaRPr lang="pt-BR"/>
          </a:p>
        </p:txBody>
      </p:sp>
      <p:sp>
        <p:nvSpPr>
          <p:cNvPr id="36" name="Oval 35"/>
          <p:cNvSpPr/>
          <p:nvPr/>
        </p:nvSpPr>
        <p:spPr>
          <a:xfrm>
            <a:off x="1600200" y="20542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7" name="Oval 36"/>
          <p:cNvSpPr/>
          <p:nvPr/>
        </p:nvSpPr>
        <p:spPr>
          <a:xfrm>
            <a:off x="1600200" y="20542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8" name="Oval 37"/>
          <p:cNvSpPr/>
          <p:nvPr/>
        </p:nvSpPr>
        <p:spPr>
          <a:xfrm>
            <a:off x="1600200" y="2054225"/>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9" name="Oval 38"/>
          <p:cNvSpPr/>
          <p:nvPr/>
        </p:nvSpPr>
        <p:spPr>
          <a:xfrm>
            <a:off x="1600200" y="3059113"/>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0" name="Oval 72"/>
          <p:cNvSpPr/>
          <p:nvPr/>
        </p:nvSpPr>
        <p:spPr>
          <a:xfrm>
            <a:off x="1595438" y="3054350"/>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1" name="Oval 72"/>
          <p:cNvSpPr/>
          <p:nvPr/>
        </p:nvSpPr>
        <p:spPr>
          <a:xfrm>
            <a:off x="1600200" y="3049588"/>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2" name="Oval 41"/>
          <p:cNvSpPr/>
          <p:nvPr/>
        </p:nvSpPr>
        <p:spPr>
          <a:xfrm>
            <a:off x="1609725" y="4192588"/>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3" name="Oval 159"/>
          <p:cNvSpPr/>
          <p:nvPr/>
        </p:nvSpPr>
        <p:spPr>
          <a:xfrm>
            <a:off x="1609725" y="4192588"/>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4" name="Oval 159"/>
          <p:cNvSpPr/>
          <p:nvPr/>
        </p:nvSpPr>
        <p:spPr>
          <a:xfrm>
            <a:off x="1604963" y="4192588"/>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5" name="Oval 44"/>
          <p:cNvSpPr/>
          <p:nvPr/>
        </p:nvSpPr>
        <p:spPr>
          <a:xfrm>
            <a:off x="1600200" y="5162550"/>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6" name="Oval 181"/>
          <p:cNvSpPr/>
          <p:nvPr/>
        </p:nvSpPr>
        <p:spPr>
          <a:xfrm>
            <a:off x="1600200" y="5157788"/>
            <a:ext cx="228600" cy="228600"/>
          </a:xfrm>
          <a:prstGeom prst="ellipse">
            <a:avLst/>
          </a:prstGeom>
          <a:solidFill>
            <a:srgbClr val="C00000"/>
          </a:solid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nvGrpSpPr>
          <p:cNvPr id="196651" name="Group 298"/>
          <p:cNvGrpSpPr>
            <a:grpSpLocks/>
          </p:cNvGrpSpPr>
          <p:nvPr/>
        </p:nvGrpSpPr>
        <p:grpSpPr bwMode="auto">
          <a:xfrm>
            <a:off x="-158750" y="4902200"/>
            <a:ext cx="2157413" cy="762000"/>
            <a:chOff x="681656" y="2286000"/>
            <a:chExt cx="2675977" cy="944880"/>
          </a:xfrm>
        </p:grpSpPr>
        <p:pic>
          <p:nvPicPr>
            <p:cNvPr id="196738" name="Picture 2" descr="databas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1" y="2286000"/>
              <a:ext cx="1071632" cy="94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6739" name="TextBox 300"/>
            <p:cNvSpPr txBox="1">
              <a:spLocks noChangeArrowheads="1"/>
            </p:cNvSpPr>
            <p:nvPr/>
          </p:nvSpPr>
          <p:spPr bwMode="auto">
            <a:xfrm>
              <a:off x="681656" y="2474976"/>
              <a:ext cx="1601430" cy="57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a:spcBef>
                  <a:spcPct val="0"/>
                </a:spcBef>
                <a:buFontTx/>
                <a:buNone/>
              </a:pPr>
              <a:r>
                <a:rPr lang="en-US" altLang="en-US" sz="1200" b="1">
                  <a:solidFill>
                    <a:srgbClr val="124466"/>
                  </a:solidFill>
                  <a:latin typeface="Eurostile"/>
                  <a:ea typeface="Eurostile"/>
                  <a:cs typeface="Eurostile"/>
                </a:rPr>
                <a:t>E-Business Pessoas</a:t>
              </a:r>
            </a:p>
          </p:txBody>
        </p:sp>
      </p:grpSp>
      <p:grpSp>
        <p:nvGrpSpPr>
          <p:cNvPr id="196652" name="Group 301"/>
          <p:cNvGrpSpPr>
            <a:grpSpLocks/>
          </p:cNvGrpSpPr>
          <p:nvPr/>
        </p:nvGrpSpPr>
        <p:grpSpPr bwMode="auto">
          <a:xfrm>
            <a:off x="-4763" y="3875088"/>
            <a:ext cx="2003426" cy="762000"/>
            <a:chOff x="873973" y="2286000"/>
            <a:chExt cx="2483660" cy="944880"/>
          </a:xfrm>
        </p:grpSpPr>
        <p:pic>
          <p:nvPicPr>
            <p:cNvPr id="196736" name="Picture 2" descr="databas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1" y="2286000"/>
              <a:ext cx="1071632" cy="94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6737" name="TextBox 303"/>
            <p:cNvSpPr txBox="1">
              <a:spLocks noChangeArrowheads="1"/>
            </p:cNvSpPr>
            <p:nvPr/>
          </p:nvSpPr>
          <p:spPr bwMode="auto">
            <a:xfrm>
              <a:off x="873973" y="2474975"/>
              <a:ext cx="1409531" cy="343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a:spcBef>
                  <a:spcPct val="0"/>
                </a:spcBef>
                <a:buFontTx/>
                <a:buNone/>
              </a:pPr>
              <a:r>
                <a:rPr lang="pt-BR" altLang="en-US" sz="1200" b="1">
                  <a:solidFill>
                    <a:srgbClr val="124466"/>
                  </a:solidFill>
                  <a:latin typeface="Eurostile"/>
                  <a:ea typeface="Eurostile"/>
                  <a:cs typeface="Eurostile"/>
                </a:rPr>
                <a:t>SGV</a:t>
              </a:r>
              <a:endParaRPr lang="en-US" altLang="en-US" sz="1200" b="1">
                <a:solidFill>
                  <a:srgbClr val="124466"/>
                </a:solidFill>
                <a:latin typeface="Eurostile"/>
                <a:ea typeface="Eurostile"/>
                <a:cs typeface="Eurostile"/>
              </a:endParaRPr>
            </a:p>
          </p:txBody>
        </p:sp>
      </p:grpSp>
      <p:grpSp>
        <p:nvGrpSpPr>
          <p:cNvPr id="196653" name="Group 304"/>
          <p:cNvGrpSpPr>
            <a:grpSpLocks/>
          </p:cNvGrpSpPr>
          <p:nvPr/>
        </p:nvGrpSpPr>
        <p:grpSpPr bwMode="auto">
          <a:xfrm>
            <a:off x="-4763" y="2782888"/>
            <a:ext cx="2003426" cy="762000"/>
            <a:chOff x="873973" y="2286000"/>
            <a:chExt cx="2483660" cy="944880"/>
          </a:xfrm>
        </p:grpSpPr>
        <p:pic>
          <p:nvPicPr>
            <p:cNvPr id="196734" name="Picture 2" descr="databas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1" y="2286000"/>
              <a:ext cx="1071632" cy="94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6735" name="TextBox 306"/>
            <p:cNvSpPr txBox="1">
              <a:spLocks noChangeArrowheads="1"/>
            </p:cNvSpPr>
            <p:nvPr/>
          </p:nvSpPr>
          <p:spPr bwMode="auto">
            <a:xfrm>
              <a:off x="873973" y="2474975"/>
              <a:ext cx="1409531" cy="57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a:spcBef>
                  <a:spcPct val="0"/>
                </a:spcBef>
                <a:buFontTx/>
                <a:buNone/>
              </a:pPr>
              <a:r>
                <a:rPr lang="pt-BR" altLang="en-US" sz="1200" b="1">
                  <a:solidFill>
                    <a:srgbClr val="124466"/>
                  </a:solidFill>
                  <a:latin typeface="Eurostile"/>
                  <a:ea typeface="Eurostile"/>
                  <a:cs typeface="Eurostile"/>
                </a:rPr>
                <a:t>E-Business</a:t>
              </a:r>
            </a:p>
            <a:p>
              <a:pPr algn="r">
                <a:spcBef>
                  <a:spcPct val="0"/>
                </a:spcBef>
                <a:buFontTx/>
                <a:buNone/>
              </a:pPr>
              <a:r>
                <a:rPr lang="pt-BR" altLang="en-US" sz="1200" b="1">
                  <a:solidFill>
                    <a:srgbClr val="124466"/>
                  </a:solidFill>
                  <a:latin typeface="Eurostile"/>
                  <a:ea typeface="Eurostile"/>
                  <a:cs typeface="Eurostile"/>
                </a:rPr>
                <a:t>OM</a:t>
              </a:r>
              <a:endParaRPr lang="en-US" altLang="en-US" sz="1200" b="1">
                <a:solidFill>
                  <a:srgbClr val="124466"/>
                </a:solidFill>
                <a:latin typeface="Eurostile"/>
                <a:ea typeface="Eurostile"/>
                <a:cs typeface="Eurostile"/>
              </a:endParaRPr>
            </a:p>
          </p:txBody>
        </p:sp>
      </p:grpSp>
      <p:grpSp>
        <p:nvGrpSpPr>
          <p:cNvPr id="196654" name="Group 301"/>
          <p:cNvGrpSpPr>
            <a:grpSpLocks/>
          </p:cNvGrpSpPr>
          <p:nvPr/>
        </p:nvGrpSpPr>
        <p:grpSpPr bwMode="auto">
          <a:xfrm>
            <a:off x="-4763" y="1739900"/>
            <a:ext cx="2003426" cy="762000"/>
            <a:chOff x="873973" y="2286000"/>
            <a:chExt cx="2483660" cy="944880"/>
          </a:xfrm>
        </p:grpSpPr>
        <p:pic>
          <p:nvPicPr>
            <p:cNvPr id="196732" name="Picture 2" descr="databas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1" y="2286000"/>
              <a:ext cx="1071632" cy="94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6733" name="TextBox 303"/>
            <p:cNvSpPr txBox="1">
              <a:spLocks noChangeArrowheads="1"/>
            </p:cNvSpPr>
            <p:nvPr/>
          </p:nvSpPr>
          <p:spPr bwMode="auto">
            <a:xfrm>
              <a:off x="873973" y="2474975"/>
              <a:ext cx="1409531" cy="57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r">
                <a:spcBef>
                  <a:spcPct val="0"/>
                </a:spcBef>
                <a:buFontTx/>
                <a:buNone/>
              </a:pPr>
              <a:r>
                <a:rPr lang="en-US" altLang="en-US" sz="1200" b="1">
                  <a:solidFill>
                    <a:srgbClr val="124466"/>
                  </a:solidFill>
                  <a:latin typeface="Eurostile"/>
                  <a:ea typeface="Eurostile"/>
                  <a:cs typeface="Eurostile"/>
                </a:rPr>
                <a:t>E-Business</a:t>
              </a:r>
            </a:p>
            <a:p>
              <a:pPr algn="r">
                <a:spcBef>
                  <a:spcPct val="0"/>
                </a:spcBef>
                <a:buFontTx/>
                <a:buNone/>
              </a:pPr>
              <a:r>
                <a:rPr lang="pt-BR" altLang="en-US" sz="1200" b="1">
                  <a:solidFill>
                    <a:srgbClr val="124466"/>
                  </a:solidFill>
                  <a:latin typeface="Eurostile"/>
                  <a:ea typeface="Eurostile"/>
                  <a:cs typeface="Eurostile"/>
                </a:rPr>
                <a:t>Inventory</a:t>
              </a:r>
              <a:endParaRPr lang="en-US" altLang="en-US" sz="1200" b="1">
                <a:solidFill>
                  <a:srgbClr val="124466"/>
                </a:solidFill>
                <a:latin typeface="Eurostile"/>
                <a:ea typeface="Eurostile"/>
                <a:cs typeface="Eurostile"/>
              </a:endParaRPr>
            </a:p>
          </p:txBody>
        </p:sp>
      </p:grpSp>
      <p:grpSp>
        <p:nvGrpSpPr>
          <p:cNvPr id="59" name="Group 126"/>
          <p:cNvGrpSpPr>
            <a:grpSpLocks/>
          </p:cNvGrpSpPr>
          <p:nvPr/>
        </p:nvGrpSpPr>
        <p:grpSpPr bwMode="auto">
          <a:xfrm>
            <a:off x="941388" y="3571875"/>
            <a:ext cx="1249362" cy="555625"/>
            <a:chOff x="3689639" y="2342896"/>
            <a:chExt cx="1249680" cy="627888"/>
          </a:xfrm>
        </p:grpSpPr>
        <p:grpSp>
          <p:nvGrpSpPr>
            <p:cNvPr id="60" name="Group 127"/>
            <p:cNvGrpSpPr/>
            <p:nvPr/>
          </p:nvGrpSpPr>
          <p:grpSpPr>
            <a:xfrm>
              <a:off x="3733800" y="2362200"/>
              <a:ext cx="1143000" cy="491066"/>
              <a:chOff x="3124200" y="1828800"/>
              <a:chExt cx="1143000" cy="491066"/>
            </a:xfrm>
            <a:solidFill>
              <a:srgbClr val="78A41F"/>
            </a:solidFill>
            <a:effectLst>
              <a:outerShdw blurRad="50800" dist="38100" dir="4800000" sx="96000" sy="96000">
                <a:srgbClr val="000000">
                  <a:alpha val="43000"/>
                </a:srgbClr>
              </a:outerShdw>
            </a:effectLst>
          </p:grpSpPr>
          <p:sp>
            <p:nvSpPr>
              <p:cNvPr id="62" name="Rounded Rectangle 61"/>
              <p:cNvSpPr/>
              <p:nvPr/>
            </p:nvSpPr>
            <p:spPr>
              <a:xfrm>
                <a:off x="3124200" y="1828800"/>
                <a:ext cx="1143000" cy="333378"/>
              </a:xfrm>
              <a:prstGeom prst="roundRect">
                <a:avLst>
                  <a:gd name="adj" fmla="val 41783"/>
                </a:avLst>
              </a:prstGeom>
              <a:grp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3" name="Right Brace 62"/>
              <p:cNvSpPr/>
              <p:nvPr/>
            </p:nvSpPr>
            <p:spPr>
              <a:xfrm rot="5400000">
                <a:off x="3543300" y="1595966"/>
                <a:ext cx="304800" cy="1143000"/>
              </a:xfrm>
              <a:prstGeom prst="rightBrace">
                <a:avLst>
                  <a:gd name="adj1" fmla="val 61111"/>
                  <a:gd name="adj2" fmla="val 50000"/>
                </a:avLst>
              </a:prstGeom>
              <a:grpFill/>
              <a:ln w="28575" cap="flat" cmpd="sng" algn="ctr">
                <a:solidFill>
                  <a:srgbClr val="FFFF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
          <p:nvSpPr>
            <p:cNvPr id="196731" name="TextBox 134"/>
            <p:cNvSpPr txBox="1">
              <a:spLocks noChangeArrowheads="1"/>
            </p:cNvSpPr>
            <p:nvPr/>
          </p:nvSpPr>
          <p:spPr bwMode="auto">
            <a:xfrm>
              <a:off x="3738864" y="2402097"/>
              <a:ext cx="1136939" cy="27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pt-BR" altLang="en-US" sz="1000" b="1">
                  <a:solidFill>
                    <a:schemeClr val="bg1"/>
                  </a:solidFill>
                </a:rPr>
                <a:t>Reembolsos</a:t>
              </a:r>
              <a:endParaRPr lang="en-US" altLang="en-US" sz="1000" b="1">
                <a:solidFill>
                  <a:schemeClr val="bg1"/>
                </a:solidFill>
              </a:endParaRPr>
            </a:p>
          </p:txBody>
        </p:sp>
      </p:grpSp>
      <p:grpSp>
        <p:nvGrpSpPr>
          <p:cNvPr id="64" name="Group 154"/>
          <p:cNvGrpSpPr>
            <a:grpSpLocks/>
          </p:cNvGrpSpPr>
          <p:nvPr/>
        </p:nvGrpSpPr>
        <p:grpSpPr bwMode="auto">
          <a:xfrm>
            <a:off x="965200" y="3565525"/>
            <a:ext cx="1249363" cy="555625"/>
            <a:chOff x="3689639" y="2342896"/>
            <a:chExt cx="1249680" cy="627888"/>
          </a:xfrm>
        </p:grpSpPr>
        <p:grpSp>
          <p:nvGrpSpPr>
            <p:cNvPr id="65" name="Group 155"/>
            <p:cNvGrpSpPr/>
            <p:nvPr/>
          </p:nvGrpSpPr>
          <p:grpSpPr>
            <a:xfrm>
              <a:off x="3733800" y="2362200"/>
              <a:ext cx="1143000" cy="491066"/>
              <a:chOff x="3124200" y="1828800"/>
              <a:chExt cx="1143000" cy="491066"/>
            </a:xfrm>
            <a:solidFill>
              <a:srgbClr val="78A41F"/>
            </a:solidFill>
            <a:effectLst>
              <a:outerShdw blurRad="50800" dist="38100" dir="4800000" sx="96000" sy="96000">
                <a:srgbClr val="000000">
                  <a:alpha val="43000"/>
                </a:srgbClr>
              </a:outerShdw>
            </a:effectLst>
          </p:grpSpPr>
          <p:sp>
            <p:nvSpPr>
              <p:cNvPr id="67" name="Rounded Rectangle 66"/>
              <p:cNvSpPr/>
              <p:nvPr/>
            </p:nvSpPr>
            <p:spPr>
              <a:xfrm>
                <a:off x="3124200" y="1828800"/>
                <a:ext cx="1143000" cy="333378"/>
              </a:xfrm>
              <a:prstGeom prst="roundRect">
                <a:avLst>
                  <a:gd name="adj" fmla="val 41783"/>
                </a:avLst>
              </a:prstGeom>
              <a:grp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8" name="Right Brace 67"/>
              <p:cNvSpPr/>
              <p:nvPr/>
            </p:nvSpPr>
            <p:spPr>
              <a:xfrm rot="5400000">
                <a:off x="3543300" y="1595966"/>
                <a:ext cx="304800" cy="1143000"/>
              </a:xfrm>
              <a:prstGeom prst="rightBrace">
                <a:avLst>
                  <a:gd name="adj1" fmla="val 61111"/>
                  <a:gd name="adj2" fmla="val 50000"/>
                </a:avLst>
              </a:prstGeom>
              <a:grpFill/>
              <a:ln w="28575" cap="flat" cmpd="sng" algn="ctr">
                <a:solidFill>
                  <a:srgbClr val="FFFF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
          <p:nvSpPr>
            <p:cNvPr id="196729" name="TextBox 156"/>
            <p:cNvSpPr txBox="1">
              <a:spLocks noChangeArrowheads="1"/>
            </p:cNvSpPr>
            <p:nvPr/>
          </p:nvSpPr>
          <p:spPr bwMode="auto">
            <a:xfrm>
              <a:off x="3738864" y="2402097"/>
              <a:ext cx="1136939" cy="27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000" b="1">
                  <a:solidFill>
                    <a:schemeClr val="bg1"/>
                  </a:solidFill>
                </a:rPr>
                <a:t>Hotel</a:t>
              </a:r>
            </a:p>
          </p:txBody>
        </p:sp>
      </p:grpSp>
      <p:grpSp>
        <p:nvGrpSpPr>
          <p:cNvPr id="69" name="Group 160"/>
          <p:cNvGrpSpPr>
            <a:grpSpLocks/>
          </p:cNvGrpSpPr>
          <p:nvPr/>
        </p:nvGrpSpPr>
        <p:grpSpPr bwMode="auto">
          <a:xfrm>
            <a:off x="941388" y="2513013"/>
            <a:ext cx="1249362" cy="555625"/>
            <a:chOff x="3689639" y="2341372"/>
            <a:chExt cx="1249680" cy="627888"/>
          </a:xfrm>
        </p:grpSpPr>
        <p:grpSp>
          <p:nvGrpSpPr>
            <p:cNvPr id="70" name="Group 161"/>
            <p:cNvGrpSpPr/>
            <p:nvPr/>
          </p:nvGrpSpPr>
          <p:grpSpPr>
            <a:xfrm>
              <a:off x="3733800" y="2362200"/>
              <a:ext cx="1143000" cy="491066"/>
              <a:chOff x="3124200" y="1828800"/>
              <a:chExt cx="1143000" cy="491066"/>
            </a:xfrm>
            <a:solidFill>
              <a:srgbClr val="78A41F"/>
            </a:solidFill>
            <a:effectLst>
              <a:outerShdw blurRad="50800" dist="38100" dir="4800000" sx="96000" sy="96000">
                <a:srgbClr val="000000">
                  <a:alpha val="43000"/>
                </a:srgbClr>
              </a:outerShdw>
            </a:effectLst>
          </p:grpSpPr>
          <p:sp>
            <p:nvSpPr>
              <p:cNvPr id="72" name="Rounded Rectangle 71"/>
              <p:cNvSpPr/>
              <p:nvPr/>
            </p:nvSpPr>
            <p:spPr>
              <a:xfrm>
                <a:off x="3124200" y="1828800"/>
                <a:ext cx="1143000" cy="333378"/>
              </a:xfrm>
              <a:prstGeom prst="roundRect">
                <a:avLst>
                  <a:gd name="adj" fmla="val 41783"/>
                </a:avLst>
              </a:prstGeom>
              <a:grp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3" name="Right Brace 72"/>
              <p:cNvSpPr/>
              <p:nvPr/>
            </p:nvSpPr>
            <p:spPr>
              <a:xfrm rot="5400000">
                <a:off x="3543300" y="1595966"/>
                <a:ext cx="304800" cy="1143000"/>
              </a:xfrm>
              <a:prstGeom prst="rightBrace">
                <a:avLst>
                  <a:gd name="adj1" fmla="val 61111"/>
                  <a:gd name="adj2" fmla="val 50000"/>
                </a:avLst>
              </a:prstGeom>
              <a:grpFill/>
              <a:ln w="28575" cap="flat" cmpd="sng" algn="ctr">
                <a:solidFill>
                  <a:srgbClr val="FFFF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
          <p:nvSpPr>
            <p:cNvPr id="196727" name="TextBox 162"/>
            <p:cNvSpPr txBox="1">
              <a:spLocks noChangeArrowheads="1"/>
            </p:cNvSpPr>
            <p:nvPr/>
          </p:nvSpPr>
          <p:spPr bwMode="auto">
            <a:xfrm>
              <a:off x="3738864" y="2404161"/>
              <a:ext cx="1136939" cy="27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000" b="1">
                  <a:solidFill>
                    <a:schemeClr val="bg1"/>
                  </a:solidFill>
                </a:rPr>
                <a:t>Pedidos</a:t>
              </a:r>
            </a:p>
          </p:txBody>
        </p:sp>
      </p:grpSp>
      <p:grpSp>
        <p:nvGrpSpPr>
          <p:cNvPr id="74" name="Group 137"/>
          <p:cNvGrpSpPr>
            <a:grpSpLocks/>
          </p:cNvGrpSpPr>
          <p:nvPr/>
        </p:nvGrpSpPr>
        <p:grpSpPr bwMode="auto">
          <a:xfrm>
            <a:off x="941388" y="2503488"/>
            <a:ext cx="1249362" cy="555625"/>
            <a:chOff x="3689639" y="2341372"/>
            <a:chExt cx="1249680" cy="627888"/>
          </a:xfrm>
        </p:grpSpPr>
        <p:grpSp>
          <p:nvGrpSpPr>
            <p:cNvPr id="75" name="Group 138"/>
            <p:cNvGrpSpPr/>
            <p:nvPr/>
          </p:nvGrpSpPr>
          <p:grpSpPr>
            <a:xfrm>
              <a:off x="3733800" y="2362200"/>
              <a:ext cx="1143000" cy="491066"/>
              <a:chOff x="3124200" y="1828800"/>
              <a:chExt cx="1143000" cy="491066"/>
            </a:xfrm>
            <a:solidFill>
              <a:srgbClr val="78A41F"/>
            </a:solidFill>
            <a:effectLst>
              <a:outerShdw blurRad="50800" dist="38100" dir="4800000" sx="96000" sy="96000">
                <a:srgbClr val="000000">
                  <a:alpha val="43000"/>
                </a:srgbClr>
              </a:outerShdw>
            </a:effectLst>
          </p:grpSpPr>
          <p:sp>
            <p:nvSpPr>
              <p:cNvPr id="77" name="Rounded Rectangle 76"/>
              <p:cNvSpPr/>
              <p:nvPr/>
            </p:nvSpPr>
            <p:spPr>
              <a:xfrm>
                <a:off x="3124200" y="1828800"/>
                <a:ext cx="1143000" cy="333378"/>
              </a:xfrm>
              <a:prstGeom prst="roundRect">
                <a:avLst>
                  <a:gd name="adj" fmla="val 41783"/>
                </a:avLst>
              </a:prstGeom>
              <a:grp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8" name="Right Brace 77"/>
              <p:cNvSpPr/>
              <p:nvPr/>
            </p:nvSpPr>
            <p:spPr>
              <a:xfrm rot="5400000">
                <a:off x="3543300" y="1595966"/>
                <a:ext cx="304800" cy="1143000"/>
              </a:xfrm>
              <a:prstGeom prst="rightBrace">
                <a:avLst>
                  <a:gd name="adj1" fmla="val 61111"/>
                  <a:gd name="adj2" fmla="val 50000"/>
                </a:avLst>
              </a:prstGeom>
              <a:grpFill/>
              <a:ln w="28575" cap="flat" cmpd="sng" algn="ctr">
                <a:solidFill>
                  <a:srgbClr val="FFFF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
          <p:nvSpPr>
            <p:cNvPr id="196725" name="TextBox 139"/>
            <p:cNvSpPr txBox="1">
              <a:spLocks noChangeArrowheads="1"/>
            </p:cNvSpPr>
            <p:nvPr/>
          </p:nvSpPr>
          <p:spPr bwMode="auto">
            <a:xfrm>
              <a:off x="3738864" y="2404161"/>
              <a:ext cx="1136939" cy="27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pt-BR" altLang="en-US" sz="1000" b="1">
                  <a:solidFill>
                    <a:schemeClr val="bg1"/>
                  </a:solidFill>
                </a:rPr>
                <a:t>RMA</a:t>
              </a:r>
              <a:endParaRPr lang="en-US" altLang="en-US" sz="1000" b="1">
                <a:solidFill>
                  <a:schemeClr val="bg1"/>
                </a:solidFill>
              </a:endParaRPr>
            </a:p>
          </p:txBody>
        </p:sp>
      </p:grpSp>
      <p:grpSp>
        <p:nvGrpSpPr>
          <p:cNvPr id="79" name="Group 148"/>
          <p:cNvGrpSpPr>
            <a:grpSpLocks/>
          </p:cNvGrpSpPr>
          <p:nvPr/>
        </p:nvGrpSpPr>
        <p:grpSpPr bwMode="auto">
          <a:xfrm>
            <a:off x="968375" y="3556000"/>
            <a:ext cx="1249363" cy="555625"/>
            <a:chOff x="3689639" y="2341372"/>
            <a:chExt cx="1249680" cy="627888"/>
          </a:xfrm>
        </p:grpSpPr>
        <p:grpSp>
          <p:nvGrpSpPr>
            <p:cNvPr id="80" name="Group 149"/>
            <p:cNvGrpSpPr/>
            <p:nvPr/>
          </p:nvGrpSpPr>
          <p:grpSpPr>
            <a:xfrm>
              <a:off x="3733800" y="2362200"/>
              <a:ext cx="1143000" cy="491066"/>
              <a:chOff x="3124200" y="1828800"/>
              <a:chExt cx="1143000" cy="491066"/>
            </a:xfrm>
            <a:solidFill>
              <a:srgbClr val="78A41F"/>
            </a:solidFill>
            <a:effectLst>
              <a:outerShdw blurRad="50800" dist="38100" dir="4800000" sx="96000" sy="96000">
                <a:srgbClr val="000000">
                  <a:alpha val="43000"/>
                </a:srgbClr>
              </a:outerShdw>
            </a:effectLst>
          </p:grpSpPr>
          <p:sp>
            <p:nvSpPr>
              <p:cNvPr id="82" name="Rounded Rectangle 81"/>
              <p:cNvSpPr/>
              <p:nvPr/>
            </p:nvSpPr>
            <p:spPr>
              <a:xfrm>
                <a:off x="3124200" y="1828800"/>
                <a:ext cx="1143000" cy="333378"/>
              </a:xfrm>
              <a:prstGeom prst="roundRect">
                <a:avLst>
                  <a:gd name="adj" fmla="val 41783"/>
                </a:avLst>
              </a:prstGeom>
              <a:grp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Eurostile"/>
                  <a:cs typeface="Eurostile"/>
                </a:endParaRPr>
              </a:p>
            </p:txBody>
          </p:sp>
          <p:sp>
            <p:nvSpPr>
              <p:cNvPr id="83" name="Right Brace 82"/>
              <p:cNvSpPr/>
              <p:nvPr/>
            </p:nvSpPr>
            <p:spPr>
              <a:xfrm rot="5400000">
                <a:off x="3543300" y="1595966"/>
                <a:ext cx="304800" cy="1143000"/>
              </a:xfrm>
              <a:prstGeom prst="rightBrace">
                <a:avLst>
                  <a:gd name="adj1" fmla="val 61111"/>
                  <a:gd name="adj2" fmla="val 50000"/>
                </a:avLst>
              </a:prstGeom>
              <a:grpFill/>
              <a:ln w="28575" cap="flat" cmpd="sng" algn="ctr">
                <a:solidFill>
                  <a:srgbClr val="FFFF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latin typeface="Eurostile"/>
                  <a:cs typeface="Eurostile"/>
                </a:endParaRPr>
              </a:p>
            </p:txBody>
          </p:sp>
        </p:grpSp>
        <p:sp>
          <p:nvSpPr>
            <p:cNvPr id="196723" name="TextBox 150"/>
            <p:cNvSpPr txBox="1">
              <a:spLocks noChangeArrowheads="1"/>
            </p:cNvSpPr>
            <p:nvPr/>
          </p:nvSpPr>
          <p:spPr bwMode="auto">
            <a:xfrm>
              <a:off x="3738864" y="2404161"/>
              <a:ext cx="1136939" cy="27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000" b="1">
                  <a:solidFill>
                    <a:schemeClr val="bg1"/>
                  </a:solidFill>
                  <a:latin typeface="Eurostile"/>
                  <a:ea typeface="Eurostile"/>
                  <a:cs typeface="Eurostile"/>
                </a:rPr>
                <a:t>Passagem</a:t>
              </a:r>
            </a:p>
          </p:txBody>
        </p:sp>
      </p:grpSp>
      <p:grpSp>
        <p:nvGrpSpPr>
          <p:cNvPr id="84" name="Group 182"/>
          <p:cNvGrpSpPr>
            <a:grpSpLocks/>
          </p:cNvGrpSpPr>
          <p:nvPr/>
        </p:nvGrpSpPr>
        <p:grpSpPr bwMode="auto">
          <a:xfrm>
            <a:off x="1003300" y="2541588"/>
            <a:ext cx="1141413" cy="434975"/>
            <a:chOff x="3733800" y="2362200"/>
            <a:chExt cx="1143000" cy="491066"/>
          </a:xfrm>
        </p:grpSpPr>
        <p:grpSp>
          <p:nvGrpSpPr>
            <p:cNvPr id="85" name="Group 183"/>
            <p:cNvGrpSpPr/>
            <p:nvPr/>
          </p:nvGrpSpPr>
          <p:grpSpPr>
            <a:xfrm>
              <a:off x="3733800" y="2362200"/>
              <a:ext cx="1143000" cy="491066"/>
              <a:chOff x="3124200" y="1828800"/>
              <a:chExt cx="1143000" cy="491066"/>
            </a:xfrm>
            <a:solidFill>
              <a:srgbClr val="78A41F"/>
            </a:solidFill>
            <a:effectLst>
              <a:outerShdw blurRad="50800" dist="38100" dir="4800000" sx="96000" sy="96000">
                <a:srgbClr val="000000">
                  <a:alpha val="43000"/>
                </a:srgbClr>
              </a:outerShdw>
            </a:effectLst>
          </p:grpSpPr>
          <p:sp>
            <p:nvSpPr>
              <p:cNvPr id="87" name="Rounded Rectangle 86"/>
              <p:cNvSpPr/>
              <p:nvPr/>
            </p:nvSpPr>
            <p:spPr>
              <a:xfrm>
                <a:off x="3124200" y="1828800"/>
                <a:ext cx="1143000" cy="333378"/>
              </a:xfrm>
              <a:prstGeom prst="roundRect">
                <a:avLst>
                  <a:gd name="adj" fmla="val 41783"/>
                </a:avLst>
              </a:prstGeom>
              <a:grp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Eurostile"/>
                  <a:cs typeface="Eurostile"/>
                </a:endParaRPr>
              </a:p>
            </p:txBody>
          </p:sp>
          <p:sp>
            <p:nvSpPr>
              <p:cNvPr id="88" name="Right Brace 87"/>
              <p:cNvSpPr/>
              <p:nvPr/>
            </p:nvSpPr>
            <p:spPr>
              <a:xfrm rot="5400000">
                <a:off x="3543300" y="1595966"/>
                <a:ext cx="304800" cy="1143000"/>
              </a:xfrm>
              <a:prstGeom prst="rightBrace">
                <a:avLst>
                  <a:gd name="adj1" fmla="val 61111"/>
                  <a:gd name="adj2" fmla="val 50000"/>
                </a:avLst>
              </a:prstGeom>
              <a:grpFill/>
              <a:ln w="28575" cap="flat" cmpd="sng" algn="ctr">
                <a:solidFill>
                  <a:srgbClr val="FFFF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latin typeface="Eurostile"/>
                  <a:cs typeface="Eurostile"/>
                </a:endParaRPr>
              </a:p>
            </p:txBody>
          </p:sp>
        </p:grpSp>
        <p:sp>
          <p:nvSpPr>
            <p:cNvPr id="196721" name="TextBox 184"/>
            <p:cNvSpPr txBox="1">
              <a:spLocks noChangeArrowheads="1"/>
            </p:cNvSpPr>
            <p:nvPr/>
          </p:nvSpPr>
          <p:spPr bwMode="auto">
            <a:xfrm>
              <a:off x="3738864" y="2404161"/>
              <a:ext cx="1136939" cy="27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000" b="1">
                  <a:solidFill>
                    <a:schemeClr val="bg1"/>
                  </a:solidFill>
                  <a:latin typeface="Eurostile"/>
                  <a:ea typeface="Eurostile"/>
                  <a:cs typeface="Eurostile"/>
                </a:rPr>
                <a:t>Shipment </a:t>
              </a:r>
            </a:p>
          </p:txBody>
        </p:sp>
      </p:grpSp>
      <p:grpSp>
        <p:nvGrpSpPr>
          <p:cNvPr id="89" name="Group 142"/>
          <p:cNvGrpSpPr>
            <a:grpSpLocks/>
          </p:cNvGrpSpPr>
          <p:nvPr/>
        </p:nvGrpSpPr>
        <p:grpSpPr bwMode="auto">
          <a:xfrm>
            <a:off x="941388" y="1476375"/>
            <a:ext cx="1249362" cy="555625"/>
            <a:chOff x="3689639" y="2343702"/>
            <a:chExt cx="1249680" cy="627888"/>
          </a:xfrm>
        </p:grpSpPr>
        <p:grpSp>
          <p:nvGrpSpPr>
            <p:cNvPr id="90" name="Group 143"/>
            <p:cNvGrpSpPr/>
            <p:nvPr/>
          </p:nvGrpSpPr>
          <p:grpSpPr>
            <a:xfrm>
              <a:off x="3733800" y="2362200"/>
              <a:ext cx="1143000" cy="491066"/>
              <a:chOff x="3124200" y="1828800"/>
              <a:chExt cx="1143000" cy="491066"/>
            </a:xfrm>
            <a:solidFill>
              <a:srgbClr val="78A41F"/>
            </a:solidFill>
            <a:effectLst>
              <a:outerShdw blurRad="50800" dist="38100" dir="4800000" sx="96000" sy="96000">
                <a:srgbClr val="000000">
                  <a:alpha val="43000"/>
                </a:srgbClr>
              </a:outerShdw>
            </a:effectLst>
          </p:grpSpPr>
          <p:sp>
            <p:nvSpPr>
              <p:cNvPr id="92" name="Rounded Rectangle 91"/>
              <p:cNvSpPr/>
              <p:nvPr/>
            </p:nvSpPr>
            <p:spPr>
              <a:xfrm>
                <a:off x="3124200" y="1828800"/>
                <a:ext cx="1143000" cy="333378"/>
              </a:xfrm>
              <a:prstGeom prst="roundRect">
                <a:avLst>
                  <a:gd name="adj" fmla="val 41783"/>
                </a:avLst>
              </a:prstGeom>
              <a:grp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3" name="Right Brace 92"/>
              <p:cNvSpPr/>
              <p:nvPr/>
            </p:nvSpPr>
            <p:spPr>
              <a:xfrm rot="5400000">
                <a:off x="3543300" y="1595966"/>
                <a:ext cx="304800" cy="1143000"/>
              </a:xfrm>
              <a:prstGeom prst="rightBrace">
                <a:avLst>
                  <a:gd name="adj1" fmla="val 61111"/>
                  <a:gd name="adj2" fmla="val 50000"/>
                </a:avLst>
              </a:prstGeom>
              <a:grpFill/>
              <a:ln w="28575" cap="flat" cmpd="sng" algn="ctr">
                <a:solidFill>
                  <a:srgbClr val="FFFF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
          <p:nvSpPr>
            <p:cNvPr id="196719" name="TextBox 144"/>
            <p:cNvSpPr txBox="1">
              <a:spLocks noChangeArrowheads="1"/>
            </p:cNvSpPr>
            <p:nvPr/>
          </p:nvSpPr>
          <p:spPr bwMode="auto">
            <a:xfrm>
              <a:off x="3738864" y="2402903"/>
              <a:ext cx="1136939" cy="27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000" b="1">
                  <a:solidFill>
                    <a:schemeClr val="bg1"/>
                  </a:solidFill>
                </a:rPr>
                <a:t>Item</a:t>
              </a:r>
            </a:p>
          </p:txBody>
        </p:sp>
      </p:grpSp>
      <p:grpSp>
        <p:nvGrpSpPr>
          <p:cNvPr id="94" name="Group 128"/>
          <p:cNvGrpSpPr>
            <a:grpSpLocks/>
          </p:cNvGrpSpPr>
          <p:nvPr/>
        </p:nvGrpSpPr>
        <p:grpSpPr bwMode="auto">
          <a:xfrm>
            <a:off x="1003300" y="1473200"/>
            <a:ext cx="1141413" cy="434975"/>
            <a:chOff x="3733800" y="2362200"/>
            <a:chExt cx="1143000" cy="491066"/>
          </a:xfrm>
        </p:grpSpPr>
        <p:grpSp>
          <p:nvGrpSpPr>
            <p:cNvPr id="95" name="Group 129"/>
            <p:cNvGrpSpPr/>
            <p:nvPr/>
          </p:nvGrpSpPr>
          <p:grpSpPr>
            <a:xfrm>
              <a:off x="3733800" y="2362200"/>
              <a:ext cx="1143000" cy="491066"/>
              <a:chOff x="3124200" y="1828800"/>
              <a:chExt cx="1143000" cy="491066"/>
            </a:xfrm>
            <a:solidFill>
              <a:srgbClr val="78A41F"/>
            </a:solidFill>
            <a:effectLst>
              <a:outerShdw blurRad="50800" dist="38100" dir="4800000" sx="96000" sy="96000">
                <a:srgbClr val="000000">
                  <a:alpha val="43000"/>
                </a:srgbClr>
              </a:outerShdw>
            </a:effectLst>
          </p:grpSpPr>
          <p:sp>
            <p:nvSpPr>
              <p:cNvPr id="97" name="Rounded Rectangle 96"/>
              <p:cNvSpPr/>
              <p:nvPr/>
            </p:nvSpPr>
            <p:spPr>
              <a:xfrm>
                <a:off x="3124200" y="1828800"/>
                <a:ext cx="1143000" cy="333378"/>
              </a:xfrm>
              <a:prstGeom prst="roundRect">
                <a:avLst>
                  <a:gd name="adj" fmla="val 41783"/>
                </a:avLst>
              </a:prstGeom>
              <a:grp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8" name="Right Brace 97"/>
              <p:cNvSpPr/>
              <p:nvPr/>
            </p:nvSpPr>
            <p:spPr>
              <a:xfrm rot="5400000">
                <a:off x="3543300" y="1595966"/>
                <a:ext cx="304800" cy="1143000"/>
              </a:xfrm>
              <a:prstGeom prst="rightBrace">
                <a:avLst>
                  <a:gd name="adj1" fmla="val 61111"/>
                  <a:gd name="adj2" fmla="val 50000"/>
                </a:avLst>
              </a:prstGeom>
              <a:grpFill/>
              <a:ln w="28575" cap="flat" cmpd="sng" algn="ctr">
                <a:solidFill>
                  <a:srgbClr val="FFFF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
          <p:nvSpPr>
            <p:cNvPr id="196717" name="TextBox 130"/>
            <p:cNvSpPr txBox="1">
              <a:spLocks noChangeArrowheads="1"/>
            </p:cNvSpPr>
            <p:nvPr/>
          </p:nvSpPr>
          <p:spPr bwMode="auto">
            <a:xfrm>
              <a:off x="3738864" y="2402906"/>
              <a:ext cx="1136939" cy="27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pt-BR" altLang="en-US" sz="1000" b="1">
                  <a:solidFill>
                    <a:schemeClr val="bg1"/>
                  </a:solidFill>
                </a:rPr>
                <a:t>Trans.Estoque</a:t>
              </a:r>
              <a:endParaRPr lang="en-US" altLang="en-US" sz="1000" b="1">
                <a:solidFill>
                  <a:schemeClr val="bg1"/>
                </a:solidFill>
              </a:endParaRPr>
            </a:p>
          </p:txBody>
        </p:sp>
      </p:grpSp>
      <p:grpSp>
        <p:nvGrpSpPr>
          <p:cNvPr id="99" name="Group 167"/>
          <p:cNvGrpSpPr>
            <a:grpSpLocks/>
          </p:cNvGrpSpPr>
          <p:nvPr/>
        </p:nvGrpSpPr>
        <p:grpSpPr bwMode="auto">
          <a:xfrm>
            <a:off x="960438" y="1470025"/>
            <a:ext cx="1249362" cy="555625"/>
            <a:chOff x="3689639" y="2343702"/>
            <a:chExt cx="1249680" cy="627888"/>
          </a:xfrm>
        </p:grpSpPr>
        <p:grpSp>
          <p:nvGrpSpPr>
            <p:cNvPr id="100" name="Group 168"/>
            <p:cNvGrpSpPr/>
            <p:nvPr/>
          </p:nvGrpSpPr>
          <p:grpSpPr>
            <a:xfrm>
              <a:off x="3733800" y="2362200"/>
              <a:ext cx="1143000" cy="491066"/>
              <a:chOff x="3124200" y="1828800"/>
              <a:chExt cx="1143000" cy="491066"/>
            </a:xfrm>
            <a:solidFill>
              <a:srgbClr val="78A41F"/>
            </a:solidFill>
            <a:effectLst>
              <a:outerShdw blurRad="50800" dist="38100" dir="4800000" sx="96000" sy="96000">
                <a:srgbClr val="000000">
                  <a:alpha val="43000"/>
                </a:srgbClr>
              </a:outerShdw>
            </a:effectLst>
          </p:grpSpPr>
          <p:sp>
            <p:nvSpPr>
              <p:cNvPr id="102" name="Rounded Rectangle 101"/>
              <p:cNvSpPr/>
              <p:nvPr/>
            </p:nvSpPr>
            <p:spPr>
              <a:xfrm>
                <a:off x="3124200" y="1828800"/>
                <a:ext cx="1143000" cy="333378"/>
              </a:xfrm>
              <a:prstGeom prst="roundRect">
                <a:avLst>
                  <a:gd name="adj" fmla="val 41783"/>
                </a:avLst>
              </a:prstGeom>
              <a:grp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Eurostile"/>
                  <a:cs typeface="Eurostile"/>
                </a:endParaRPr>
              </a:p>
            </p:txBody>
          </p:sp>
          <p:sp>
            <p:nvSpPr>
              <p:cNvPr id="103" name="Right Brace 102"/>
              <p:cNvSpPr/>
              <p:nvPr/>
            </p:nvSpPr>
            <p:spPr>
              <a:xfrm rot="5400000">
                <a:off x="3543300" y="1595966"/>
                <a:ext cx="304800" cy="1143000"/>
              </a:xfrm>
              <a:prstGeom prst="rightBrace">
                <a:avLst>
                  <a:gd name="adj1" fmla="val 61111"/>
                  <a:gd name="adj2" fmla="val 50000"/>
                </a:avLst>
              </a:prstGeom>
              <a:grpFill/>
              <a:ln w="28575" cap="flat" cmpd="sng" algn="ctr">
                <a:solidFill>
                  <a:srgbClr val="FFFF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latin typeface="Eurostile"/>
                  <a:cs typeface="Eurostile"/>
                </a:endParaRPr>
              </a:p>
            </p:txBody>
          </p:sp>
        </p:grpSp>
        <p:sp>
          <p:nvSpPr>
            <p:cNvPr id="196715" name="TextBox 169"/>
            <p:cNvSpPr txBox="1">
              <a:spLocks noChangeArrowheads="1"/>
            </p:cNvSpPr>
            <p:nvPr/>
          </p:nvSpPr>
          <p:spPr bwMode="auto">
            <a:xfrm>
              <a:off x="3738864" y="2402903"/>
              <a:ext cx="1136939" cy="27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000" b="1">
                  <a:solidFill>
                    <a:schemeClr val="bg1"/>
                  </a:solidFill>
                  <a:latin typeface="Eurostile"/>
                  <a:ea typeface="Eurostile"/>
                  <a:cs typeface="Eurostile"/>
                </a:rPr>
                <a:t>Fabricantes</a:t>
              </a:r>
            </a:p>
          </p:txBody>
        </p:sp>
      </p:grpSp>
      <p:grpSp>
        <p:nvGrpSpPr>
          <p:cNvPr id="104" name="Group 188"/>
          <p:cNvGrpSpPr>
            <a:grpSpLocks/>
          </p:cNvGrpSpPr>
          <p:nvPr/>
        </p:nvGrpSpPr>
        <p:grpSpPr bwMode="auto">
          <a:xfrm>
            <a:off x="962025" y="4481513"/>
            <a:ext cx="1249363" cy="555625"/>
            <a:chOff x="3689639" y="2343702"/>
            <a:chExt cx="1249680" cy="627888"/>
          </a:xfrm>
        </p:grpSpPr>
        <p:grpSp>
          <p:nvGrpSpPr>
            <p:cNvPr id="105" name="Group 189"/>
            <p:cNvGrpSpPr/>
            <p:nvPr/>
          </p:nvGrpSpPr>
          <p:grpSpPr>
            <a:xfrm>
              <a:off x="3733800" y="2362200"/>
              <a:ext cx="1143000" cy="491066"/>
              <a:chOff x="3124200" y="1828800"/>
              <a:chExt cx="1143000" cy="491066"/>
            </a:xfrm>
            <a:solidFill>
              <a:srgbClr val="78A41F"/>
            </a:solidFill>
            <a:effectLst>
              <a:outerShdw blurRad="50800" dist="38100" dir="4800000" sx="96000" sy="96000">
                <a:srgbClr val="000000">
                  <a:alpha val="43000"/>
                </a:srgbClr>
              </a:outerShdw>
            </a:effectLst>
          </p:grpSpPr>
          <p:sp>
            <p:nvSpPr>
              <p:cNvPr id="107" name="Rounded Rectangle 106"/>
              <p:cNvSpPr/>
              <p:nvPr/>
            </p:nvSpPr>
            <p:spPr>
              <a:xfrm>
                <a:off x="3124200" y="1828800"/>
                <a:ext cx="1143000" cy="333378"/>
              </a:xfrm>
              <a:prstGeom prst="roundRect">
                <a:avLst>
                  <a:gd name="adj" fmla="val 41783"/>
                </a:avLst>
              </a:prstGeom>
              <a:grp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8" name="Right Brace 107"/>
              <p:cNvSpPr/>
              <p:nvPr/>
            </p:nvSpPr>
            <p:spPr>
              <a:xfrm rot="5400000">
                <a:off x="3543300" y="1595966"/>
                <a:ext cx="304800" cy="1143000"/>
              </a:xfrm>
              <a:prstGeom prst="rightBrace">
                <a:avLst>
                  <a:gd name="adj1" fmla="val 61111"/>
                  <a:gd name="adj2" fmla="val 50000"/>
                </a:avLst>
              </a:prstGeom>
              <a:grpFill/>
              <a:ln w="28575" cap="flat" cmpd="sng" algn="ctr">
                <a:solidFill>
                  <a:srgbClr val="FFFF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grpSp>
        <p:sp>
          <p:nvSpPr>
            <p:cNvPr id="196713" name="TextBox 190"/>
            <p:cNvSpPr txBox="1">
              <a:spLocks noChangeArrowheads="1"/>
            </p:cNvSpPr>
            <p:nvPr/>
          </p:nvSpPr>
          <p:spPr bwMode="auto">
            <a:xfrm>
              <a:off x="3738864" y="2402903"/>
              <a:ext cx="1136939" cy="27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000" b="1">
                  <a:solidFill>
                    <a:schemeClr val="bg1"/>
                  </a:solidFill>
                </a:rPr>
                <a:t>Salário</a:t>
              </a:r>
            </a:p>
          </p:txBody>
        </p:sp>
      </p:grpSp>
      <p:grpSp>
        <p:nvGrpSpPr>
          <p:cNvPr id="109" name="Group 176"/>
          <p:cNvGrpSpPr>
            <a:grpSpLocks/>
          </p:cNvGrpSpPr>
          <p:nvPr/>
        </p:nvGrpSpPr>
        <p:grpSpPr bwMode="auto">
          <a:xfrm>
            <a:off x="992188" y="4489450"/>
            <a:ext cx="1249362" cy="555625"/>
            <a:chOff x="3689639" y="2342896"/>
            <a:chExt cx="1249680" cy="627888"/>
          </a:xfrm>
        </p:grpSpPr>
        <p:grpSp>
          <p:nvGrpSpPr>
            <p:cNvPr id="110" name="Group 177"/>
            <p:cNvGrpSpPr/>
            <p:nvPr/>
          </p:nvGrpSpPr>
          <p:grpSpPr>
            <a:xfrm>
              <a:off x="3733800" y="2362200"/>
              <a:ext cx="1143000" cy="491066"/>
              <a:chOff x="3124200" y="1828800"/>
              <a:chExt cx="1143000" cy="491066"/>
            </a:xfrm>
            <a:solidFill>
              <a:srgbClr val="78A41F"/>
            </a:solidFill>
            <a:effectLst>
              <a:outerShdw blurRad="50800" dist="38100" dir="4800000" sx="96000" sy="96000">
                <a:srgbClr val="000000">
                  <a:alpha val="43000"/>
                </a:srgbClr>
              </a:outerShdw>
            </a:effectLst>
          </p:grpSpPr>
          <p:sp>
            <p:nvSpPr>
              <p:cNvPr id="112" name="Rounded Rectangle 111"/>
              <p:cNvSpPr/>
              <p:nvPr/>
            </p:nvSpPr>
            <p:spPr>
              <a:xfrm>
                <a:off x="3124200" y="1828800"/>
                <a:ext cx="1143000" cy="333378"/>
              </a:xfrm>
              <a:prstGeom prst="roundRect">
                <a:avLst>
                  <a:gd name="adj" fmla="val 41783"/>
                </a:avLst>
              </a:prstGeom>
              <a:grpFill/>
              <a:ln w="28575"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Eurostile"/>
                  <a:cs typeface="Eurostile"/>
                </a:endParaRPr>
              </a:p>
            </p:txBody>
          </p:sp>
          <p:sp>
            <p:nvSpPr>
              <p:cNvPr id="113" name="Right Brace 112"/>
              <p:cNvSpPr/>
              <p:nvPr/>
            </p:nvSpPr>
            <p:spPr>
              <a:xfrm rot="5400000">
                <a:off x="3543300" y="1595966"/>
                <a:ext cx="304800" cy="1143000"/>
              </a:xfrm>
              <a:prstGeom prst="rightBrace">
                <a:avLst>
                  <a:gd name="adj1" fmla="val 61111"/>
                  <a:gd name="adj2" fmla="val 50000"/>
                </a:avLst>
              </a:prstGeom>
              <a:grpFill/>
              <a:ln w="28575" cap="flat" cmpd="sng" algn="ctr">
                <a:solidFill>
                  <a:srgbClr val="FFFFFF"/>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latin typeface="Eurostile"/>
                  <a:cs typeface="Eurostile"/>
                </a:endParaRPr>
              </a:p>
            </p:txBody>
          </p:sp>
        </p:grpSp>
        <p:sp>
          <p:nvSpPr>
            <p:cNvPr id="196711" name="TextBox 178"/>
            <p:cNvSpPr txBox="1">
              <a:spLocks noChangeArrowheads="1"/>
            </p:cNvSpPr>
            <p:nvPr/>
          </p:nvSpPr>
          <p:spPr bwMode="auto">
            <a:xfrm>
              <a:off x="3738864" y="2402097"/>
              <a:ext cx="1136939" cy="276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1000" b="1">
                  <a:solidFill>
                    <a:schemeClr val="bg1"/>
                  </a:solidFill>
                  <a:latin typeface="Eurostile"/>
                  <a:ea typeface="Eurostile"/>
                  <a:cs typeface="Eurostile"/>
                </a:rPr>
                <a:t>Pessoas</a:t>
              </a:r>
            </a:p>
          </p:txBody>
        </p:sp>
      </p:grpSp>
      <p:pic>
        <p:nvPicPr>
          <p:cNvPr id="196666" name="Picture 97" descr="shadow"/>
          <p:cNvPicPr>
            <a:picLocks noChangeAspect="1" noChangeArrowheads="1"/>
          </p:cNvPicPr>
          <p:nvPr/>
        </p:nvPicPr>
        <p:blipFill>
          <a:blip r:embed="rId9">
            <a:lum bright="16000"/>
            <a:extLst>
              <a:ext uri="{28A0092B-C50C-407E-A947-70E740481C1C}">
                <a14:useLocalDpi xmlns:a14="http://schemas.microsoft.com/office/drawing/2010/main" val="0"/>
              </a:ext>
            </a:extLst>
          </a:blip>
          <a:srcRect/>
          <a:stretch>
            <a:fillRect/>
          </a:stretch>
        </p:blipFill>
        <p:spPr bwMode="auto">
          <a:xfrm rot="1823130">
            <a:off x="3165475" y="4251325"/>
            <a:ext cx="16240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6667" name="Picture 98" descr="shadow"/>
          <p:cNvPicPr>
            <a:picLocks noChangeAspect="1" noChangeArrowheads="1"/>
          </p:cNvPicPr>
          <p:nvPr/>
        </p:nvPicPr>
        <p:blipFill>
          <a:blip r:embed="rId9">
            <a:lum bright="16000"/>
            <a:extLst>
              <a:ext uri="{28A0092B-C50C-407E-A947-70E740481C1C}">
                <a14:useLocalDpi xmlns:a14="http://schemas.microsoft.com/office/drawing/2010/main" val="0"/>
              </a:ext>
            </a:extLst>
          </a:blip>
          <a:srcRect/>
          <a:stretch>
            <a:fillRect/>
          </a:stretch>
        </p:blipFill>
        <p:spPr bwMode="auto">
          <a:xfrm rot="19776870" flipH="1">
            <a:off x="4583113" y="4251325"/>
            <a:ext cx="16240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6668" name="Text Box 108"/>
          <p:cNvSpPr txBox="1">
            <a:spLocks noChangeArrowheads="1"/>
          </p:cNvSpPr>
          <p:nvPr/>
        </p:nvSpPr>
        <p:spPr bwMode="auto">
          <a:xfrm>
            <a:off x="3448050" y="5321300"/>
            <a:ext cx="1171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128588" indent="-128588">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 typeface="Arial" panose="020B0604020202020204" pitchFamily="34" charset="0"/>
              <a:buChar char="»"/>
            </a:pPr>
            <a:r>
              <a:rPr lang="en-US" altLang="en-US" sz="1400" b="1">
                <a:latin typeface="Eurostile"/>
                <a:ea typeface="Eurostile"/>
                <a:cs typeface="Eurostile"/>
              </a:rPr>
              <a:t>Higienizar</a:t>
            </a:r>
          </a:p>
        </p:txBody>
      </p:sp>
      <p:sp>
        <p:nvSpPr>
          <p:cNvPr id="117" name="Parallelogram 116"/>
          <p:cNvSpPr>
            <a:spLocks noChangeArrowheads="1"/>
          </p:cNvSpPr>
          <p:nvPr/>
        </p:nvSpPr>
        <p:spPr bwMode="auto">
          <a:xfrm rot="5400000">
            <a:off x="4507707" y="2324894"/>
            <a:ext cx="1681162" cy="1289050"/>
          </a:xfrm>
          <a:prstGeom prst="parallelogram">
            <a:avLst>
              <a:gd name="adj" fmla="val 58134"/>
            </a:avLst>
          </a:prstGeom>
          <a:solidFill>
            <a:schemeClr val="accent1">
              <a:alpha val="43137"/>
            </a:schemeClr>
          </a:solidFill>
          <a:ln w="9525" algn="ctr">
            <a:solidFill>
              <a:schemeClr val="bg1">
                <a:alpha val="43921"/>
              </a:schemeClr>
            </a:solidFill>
            <a:miter lim="800000"/>
            <a:headEnd/>
            <a:tailEnd/>
          </a:ln>
          <a:effectLst>
            <a:outerShdw dist="23000" dir="5400000" rotWithShape="0">
              <a:srgbClr val="000000">
                <a:alpha val="34999"/>
              </a:srgbClr>
            </a:outerShdw>
          </a:effectLst>
        </p:spPr>
        <p:txBody>
          <a:bodyPr rot="10800000" vert="eaVert" anchor="ctr"/>
          <a:lstStyle/>
          <a:p>
            <a:pPr algn="ctr">
              <a:defRPr/>
            </a:pPr>
            <a:endParaRPr lang="en-US">
              <a:solidFill>
                <a:schemeClr val="lt1"/>
              </a:solidFill>
              <a:latin typeface="+mn-lt"/>
            </a:endParaRPr>
          </a:p>
        </p:txBody>
      </p:sp>
      <p:sp>
        <p:nvSpPr>
          <p:cNvPr id="118" name="Parallelogram 117"/>
          <p:cNvSpPr>
            <a:spLocks noChangeArrowheads="1"/>
          </p:cNvSpPr>
          <p:nvPr/>
        </p:nvSpPr>
        <p:spPr bwMode="auto">
          <a:xfrm rot="16200000" flipH="1">
            <a:off x="3195638" y="2314575"/>
            <a:ext cx="1692275" cy="1317625"/>
          </a:xfrm>
          <a:prstGeom prst="parallelogram">
            <a:avLst>
              <a:gd name="adj" fmla="val 58137"/>
            </a:avLst>
          </a:prstGeom>
          <a:gradFill rotWithShape="1">
            <a:gsLst>
              <a:gs pos="0">
                <a:srgbClr val="035389">
                  <a:alpha val="42999"/>
                </a:srgbClr>
              </a:gs>
              <a:gs pos="80000">
                <a:srgbClr val="086FB5">
                  <a:alpha val="42999"/>
                </a:srgbClr>
              </a:gs>
              <a:gs pos="100000">
                <a:srgbClr val="0570B9">
                  <a:alpha val="42999"/>
                </a:srgbClr>
              </a:gs>
            </a:gsLst>
            <a:lin ang="16200000"/>
          </a:gradFill>
          <a:ln w="9525" algn="ctr">
            <a:solidFill>
              <a:schemeClr val="bg1">
                <a:alpha val="43921"/>
              </a:schemeClr>
            </a:solidFill>
            <a:miter lim="800000"/>
            <a:headEnd/>
            <a:tailEnd/>
          </a:ln>
          <a:effectLst>
            <a:outerShdw dist="23000" dir="5400000" rotWithShape="0">
              <a:srgbClr val="000000">
                <a:alpha val="34999"/>
              </a:srgbClr>
            </a:outerShdw>
          </a:effectLst>
        </p:spPr>
        <p:txBody>
          <a:bodyPr vert="eaVert" anchor="ctr"/>
          <a:lstStyle/>
          <a:p>
            <a:pPr algn="ctr">
              <a:defRPr/>
            </a:pPr>
            <a:endParaRPr lang="en-US">
              <a:solidFill>
                <a:schemeClr val="lt1"/>
              </a:solidFill>
              <a:latin typeface="+mn-lt"/>
            </a:endParaRPr>
          </a:p>
        </p:txBody>
      </p:sp>
      <p:pic>
        <p:nvPicPr>
          <p:cNvPr id="196671"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3363" y="2419350"/>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4043363" y="2419350"/>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6673"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6138" y="2814638"/>
            <a:ext cx="1292225"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6674"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4238" y="2798763"/>
            <a:ext cx="1290637"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3386138" y="2814638"/>
            <a:ext cx="1292225"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4689475" y="2803525"/>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6677"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4950" y="3184525"/>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6"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4044950" y="3184525"/>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7"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3363" y="2419350"/>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8"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4043363" y="2419350"/>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3363" y="2419350"/>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4043363" y="2419350"/>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6138" y="2814638"/>
            <a:ext cx="1292225"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7413" y="2800350"/>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3386138" y="2814638"/>
            <a:ext cx="1292225"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4694238" y="2797175"/>
            <a:ext cx="1290637"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4950" y="3184525"/>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6"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4044950" y="3184525"/>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6138" y="2814638"/>
            <a:ext cx="1292225"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3386138" y="2814638"/>
            <a:ext cx="1292225"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4238" y="2797175"/>
            <a:ext cx="1290637"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0" name="Picture 29" descr="sources"/>
          <p:cNvPicPr>
            <a:picLocks noChangeAspect="1" noChangeArrowheads="1"/>
          </p:cNvPicPr>
          <p:nvPr/>
        </p:nvPicPr>
        <p:blipFill>
          <a:blip r:embed="rId4">
            <a:lum bright="30000"/>
            <a:extLst>
              <a:ext uri="{28A0092B-C50C-407E-A947-70E740481C1C}">
                <a14:useLocalDpi xmlns:a14="http://schemas.microsoft.com/office/drawing/2010/main" val="0"/>
              </a:ext>
            </a:extLst>
          </a:blip>
          <a:srcRect/>
          <a:stretch>
            <a:fillRect/>
          </a:stretch>
        </p:blipFill>
        <p:spPr bwMode="auto">
          <a:xfrm>
            <a:off x="4694238" y="2797175"/>
            <a:ext cx="1290637"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 name="Picture 29" descr="sourc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4950" y="3184525"/>
            <a:ext cx="129222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 name="Parallelogram 141"/>
          <p:cNvSpPr>
            <a:spLocks noChangeArrowheads="1"/>
          </p:cNvSpPr>
          <p:nvPr/>
        </p:nvSpPr>
        <p:spPr bwMode="auto">
          <a:xfrm rot="16200000" flipH="1">
            <a:off x="4487863" y="3068638"/>
            <a:ext cx="1692275" cy="1317625"/>
          </a:xfrm>
          <a:prstGeom prst="parallelogram">
            <a:avLst>
              <a:gd name="adj" fmla="val 58137"/>
            </a:avLst>
          </a:prstGeom>
          <a:gradFill rotWithShape="1">
            <a:gsLst>
              <a:gs pos="0">
                <a:srgbClr val="035389">
                  <a:alpha val="42999"/>
                </a:srgbClr>
              </a:gs>
              <a:gs pos="80000">
                <a:srgbClr val="086FB5">
                  <a:alpha val="42999"/>
                </a:srgbClr>
              </a:gs>
              <a:gs pos="100000">
                <a:srgbClr val="0570B9">
                  <a:alpha val="42999"/>
                </a:srgbClr>
              </a:gs>
            </a:gsLst>
            <a:lin ang="16200000"/>
          </a:gradFill>
          <a:ln w="9525" algn="ctr">
            <a:solidFill>
              <a:schemeClr val="bg1">
                <a:alpha val="43921"/>
              </a:schemeClr>
            </a:solidFill>
            <a:miter lim="800000"/>
            <a:headEnd/>
            <a:tailEnd/>
          </a:ln>
          <a:effectLst>
            <a:outerShdw dist="23000" dir="5400000" rotWithShape="0">
              <a:srgbClr val="000000">
                <a:alpha val="34999"/>
              </a:srgbClr>
            </a:outerShdw>
          </a:effectLst>
        </p:spPr>
        <p:txBody>
          <a:bodyPr vert="eaVert" anchor="ctr"/>
          <a:lstStyle/>
          <a:p>
            <a:pPr algn="ctr">
              <a:defRPr/>
            </a:pPr>
            <a:endParaRPr lang="en-US">
              <a:solidFill>
                <a:schemeClr val="lt1"/>
              </a:solidFill>
              <a:latin typeface="+mn-lt"/>
            </a:endParaRPr>
          </a:p>
        </p:txBody>
      </p:sp>
      <p:sp>
        <p:nvSpPr>
          <p:cNvPr id="143" name="Parallelogram 142"/>
          <p:cNvSpPr>
            <a:spLocks noChangeArrowheads="1"/>
          </p:cNvSpPr>
          <p:nvPr/>
        </p:nvSpPr>
        <p:spPr bwMode="auto">
          <a:xfrm rot="5400000">
            <a:off x="3183731" y="3088482"/>
            <a:ext cx="1681163" cy="1289050"/>
          </a:xfrm>
          <a:prstGeom prst="parallelogram">
            <a:avLst>
              <a:gd name="adj" fmla="val 58134"/>
            </a:avLst>
          </a:prstGeom>
          <a:gradFill rotWithShape="1">
            <a:gsLst>
              <a:gs pos="0">
                <a:srgbClr val="035389">
                  <a:alpha val="42999"/>
                </a:srgbClr>
              </a:gs>
              <a:gs pos="80000">
                <a:srgbClr val="086FB5">
                  <a:alpha val="42999"/>
                </a:srgbClr>
              </a:gs>
              <a:gs pos="100000">
                <a:srgbClr val="0570B9">
                  <a:alpha val="42999"/>
                </a:srgbClr>
              </a:gs>
            </a:gsLst>
            <a:lin ang="16200000"/>
          </a:gradFill>
          <a:ln w="9525" algn="ctr">
            <a:solidFill>
              <a:schemeClr val="bg1">
                <a:alpha val="43921"/>
              </a:schemeClr>
            </a:solidFill>
            <a:miter lim="800000"/>
            <a:headEnd/>
            <a:tailEnd/>
          </a:ln>
          <a:effectLst>
            <a:outerShdw dist="23000" dir="5400000" rotWithShape="0">
              <a:srgbClr val="000000">
                <a:alpha val="34999"/>
              </a:srgbClr>
            </a:outerShdw>
          </a:effectLst>
        </p:spPr>
        <p:txBody>
          <a:bodyPr rot="10800000" vert="eaVert" anchor="ctr"/>
          <a:lstStyle/>
          <a:p>
            <a:pPr algn="ctr">
              <a:defRPr/>
            </a:pPr>
            <a:endParaRPr lang="en-US">
              <a:solidFill>
                <a:schemeClr val="lt1"/>
              </a:solidFill>
              <a:latin typeface="+mn-lt"/>
            </a:endParaRPr>
          </a:p>
        </p:txBody>
      </p:sp>
      <p:sp>
        <p:nvSpPr>
          <p:cNvPr id="144" name="Trapezoid 316"/>
          <p:cNvSpPr>
            <a:spLocks noChangeArrowheads="1"/>
          </p:cNvSpPr>
          <p:nvPr/>
        </p:nvSpPr>
        <p:spPr bwMode="auto">
          <a:xfrm rot="16200000">
            <a:off x="5091113" y="2278063"/>
            <a:ext cx="5892800" cy="1752600"/>
          </a:xfrm>
          <a:custGeom>
            <a:avLst/>
            <a:gdLst>
              <a:gd name="T0" fmla="*/ 2946400 w 5892800"/>
              <a:gd name="T1" fmla="*/ 0 h 1752600"/>
              <a:gd name="T2" fmla="*/ 197115 w 5892800"/>
              <a:gd name="T3" fmla="*/ 876300 h 1752600"/>
              <a:gd name="T4" fmla="*/ 2946400 w 5892800"/>
              <a:gd name="T5" fmla="*/ 1752600 h 1752600"/>
              <a:gd name="T6" fmla="*/ 5695685 w 5892800"/>
              <a:gd name="T7" fmla="*/ 876300 h 1752600"/>
              <a:gd name="T8" fmla="*/ 17694720 60000 65536"/>
              <a:gd name="T9" fmla="*/ 11796480 60000 65536"/>
              <a:gd name="T10" fmla="*/ 5898240 60000 65536"/>
              <a:gd name="T11" fmla="*/ 0 60000 65536"/>
              <a:gd name="T12" fmla="*/ 262820 w 5892800"/>
              <a:gd name="T13" fmla="*/ 78166 h 1752600"/>
              <a:gd name="T14" fmla="*/ 5629980 w 5892800"/>
              <a:gd name="T15" fmla="*/ 1752600 h 1752600"/>
            </a:gdLst>
            <a:ahLst/>
            <a:cxnLst>
              <a:cxn ang="T8">
                <a:pos x="T0" y="T1"/>
              </a:cxn>
              <a:cxn ang="T9">
                <a:pos x="T2" y="T3"/>
              </a:cxn>
              <a:cxn ang="T10">
                <a:pos x="T4" y="T5"/>
              </a:cxn>
              <a:cxn ang="T11">
                <a:pos x="T6" y="T7"/>
              </a:cxn>
            </a:cxnLst>
            <a:rect l="T12" t="T13" r="T14" b="T15"/>
            <a:pathLst>
              <a:path w="5892800" h="1752600">
                <a:moveTo>
                  <a:pt x="0" y="1752600"/>
                </a:moveTo>
                <a:lnTo>
                  <a:pt x="394230" y="0"/>
                </a:lnTo>
                <a:lnTo>
                  <a:pt x="5498570" y="0"/>
                </a:lnTo>
                <a:lnTo>
                  <a:pt x="5892800" y="1752600"/>
                </a:lnTo>
                <a:close/>
              </a:path>
            </a:pathLst>
          </a:custGeom>
          <a:gradFill rotWithShape="1">
            <a:gsLst>
              <a:gs pos="0">
                <a:srgbClr val="A1C4F5"/>
              </a:gs>
              <a:gs pos="35001">
                <a:srgbClr val="BED5F6"/>
              </a:gs>
              <a:gs pos="100000">
                <a:srgbClr val="E5EFFD"/>
              </a:gs>
            </a:gsLst>
            <a:lin ang="16200000" scaled="1"/>
          </a:gradFill>
          <a:ln w="9525" algn="ctr">
            <a:solidFill>
              <a:srgbClr val="196DA6"/>
            </a:solidFill>
            <a:miter lim="800000"/>
            <a:headEnd/>
            <a:tailEnd/>
          </a:ln>
          <a:effectLst>
            <a:outerShdw dist="20000" dir="5400000" rotWithShape="0">
              <a:srgbClr val="000000">
                <a:alpha val="37999"/>
              </a:srgbClr>
            </a:outerShdw>
          </a:effectLst>
        </p:spPr>
        <p:txBody>
          <a:bodyPr vert="eaVert" anchor="ctr"/>
          <a:lstStyle/>
          <a:p>
            <a:pPr algn="ctr">
              <a:defRPr/>
            </a:pPr>
            <a:endParaRPr lang="en-US">
              <a:solidFill>
                <a:schemeClr val="dk1"/>
              </a:solidFill>
              <a:latin typeface="+mn-lt"/>
            </a:endParaRPr>
          </a:p>
        </p:txBody>
      </p:sp>
      <p:pic>
        <p:nvPicPr>
          <p:cNvPr id="196697" name="Picture 1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99313" y="274638"/>
            <a:ext cx="1657350" cy="572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 name="Freeform 145"/>
          <p:cNvSpPr>
            <a:spLocks/>
          </p:cNvSpPr>
          <p:nvPr/>
        </p:nvSpPr>
        <p:spPr bwMode="auto">
          <a:xfrm>
            <a:off x="7281863" y="436563"/>
            <a:ext cx="1463675" cy="1868487"/>
          </a:xfrm>
          <a:custGeom>
            <a:avLst/>
            <a:gdLst>
              <a:gd name="T0" fmla="*/ 0 w 1463040"/>
              <a:gd name="T1" fmla="*/ 1870862 h 1867301"/>
              <a:gd name="T2" fmla="*/ 0 w 1463040"/>
              <a:gd name="T3" fmla="*/ 337526 h 1867301"/>
              <a:gd name="T4" fmla="*/ 1455307 w 1463040"/>
              <a:gd name="T5" fmla="*/ 0 h 1867301"/>
              <a:gd name="T6" fmla="*/ 1464946 w 1463040"/>
              <a:gd name="T7" fmla="*/ 1716564 h 1867301"/>
              <a:gd name="T8" fmla="*/ 1455307 w 1463040"/>
              <a:gd name="T9" fmla="*/ 1755138 h 1867301"/>
              <a:gd name="T10" fmla="*/ 0 w 1463040"/>
              <a:gd name="T11" fmla="*/ 1870862 h 18673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63040" h="1867301">
                <a:moveTo>
                  <a:pt x="0" y="1867301"/>
                </a:moveTo>
                <a:lnTo>
                  <a:pt x="0" y="336884"/>
                </a:lnTo>
                <a:lnTo>
                  <a:pt x="1453414" y="0"/>
                </a:lnTo>
                <a:cubicBezTo>
                  <a:pt x="1456623" y="571099"/>
                  <a:pt x="1459831" y="1142198"/>
                  <a:pt x="1463040" y="1713297"/>
                </a:cubicBezTo>
                <a:lnTo>
                  <a:pt x="1453414" y="1751798"/>
                </a:lnTo>
                <a:lnTo>
                  <a:pt x="0" y="1867301"/>
                </a:lnTo>
                <a:close/>
              </a:path>
            </a:pathLst>
          </a:custGeom>
          <a:solidFill>
            <a:srgbClr val="FFFFFF">
              <a:alpha val="69803"/>
            </a:srgbClr>
          </a:solidFill>
          <a:ln>
            <a:noFill/>
          </a:ln>
          <a:extLs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txBody>
          <a:bodyPr wrap="none"/>
          <a:lstStyle/>
          <a:p>
            <a:endParaRPr lang="pt-BR"/>
          </a:p>
        </p:txBody>
      </p:sp>
      <p:sp>
        <p:nvSpPr>
          <p:cNvPr id="147" name="Freeform 146"/>
          <p:cNvSpPr>
            <a:spLocks/>
          </p:cNvSpPr>
          <p:nvPr/>
        </p:nvSpPr>
        <p:spPr bwMode="auto">
          <a:xfrm>
            <a:off x="7281863" y="2265363"/>
            <a:ext cx="1463675" cy="1771650"/>
          </a:xfrm>
          <a:custGeom>
            <a:avLst/>
            <a:gdLst>
              <a:gd name="T0" fmla="*/ 0 w 1463040"/>
              <a:gd name="T1" fmla="*/ 1647597 h 1771049"/>
              <a:gd name="T2" fmla="*/ 9637 w 1463040"/>
              <a:gd name="T3" fmla="*/ 115620 h 1771049"/>
              <a:gd name="T4" fmla="*/ 1455307 w 1463040"/>
              <a:gd name="T5" fmla="*/ 0 h 1771049"/>
              <a:gd name="T6" fmla="*/ 1464946 w 1463040"/>
              <a:gd name="T7" fmla="*/ 1772852 h 1771049"/>
              <a:gd name="T8" fmla="*/ 0 w 1463040"/>
              <a:gd name="T9" fmla="*/ 1647597 h 17710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3040" h="1771049">
                <a:moveTo>
                  <a:pt x="0" y="1645920"/>
                </a:moveTo>
                <a:cubicBezTo>
                  <a:pt x="3208" y="1135781"/>
                  <a:pt x="6417" y="625642"/>
                  <a:pt x="9625" y="115503"/>
                </a:cubicBezTo>
                <a:lnTo>
                  <a:pt x="1453414" y="0"/>
                </a:lnTo>
                <a:cubicBezTo>
                  <a:pt x="1456623" y="590350"/>
                  <a:pt x="1459831" y="1180699"/>
                  <a:pt x="1463040" y="1771049"/>
                </a:cubicBezTo>
                <a:lnTo>
                  <a:pt x="0" y="1645920"/>
                </a:lnTo>
                <a:close/>
              </a:path>
            </a:pathLst>
          </a:custGeom>
          <a:solidFill>
            <a:srgbClr val="FFFFFF">
              <a:alpha val="69803"/>
            </a:srgbClr>
          </a:solidFill>
          <a:ln>
            <a:noFill/>
          </a:ln>
          <a:extLs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txBody>
          <a:bodyPr wrap="none"/>
          <a:lstStyle/>
          <a:p>
            <a:endParaRPr lang="pt-BR"/>
          </a:p>
        </p:txBody>
      </p:sp>
      <p:sp>
        <p:nvSpPr>
          <p:cNvPr id="148" name="Freeform 147"/>
          <p:cNvSpPr>
            <a:spLocks/>
          </p:cNvSpPr>
          <p:nvPr/>
        </p:nvSpPr>
        <p:spPr bwMode="auto">
          <a:xfrm>
            <a:off x="7286625" y="4002088"/>
            <a:ext cx="1455738" cy="1889125"/>
          </a:xfrm>
          <a:custGeom>
            <a:avLst/>
            <a:gdLst>
              <a:gd name="T0" fmla="*/ 7626 w 1455420"/>
              <a:gd name="T1" fmla="*/ 1537689 h 1889760"/>
              <a:gd name="T2" fmla="*/ 0 w 1455420"/>
              <a:gd name="T3" fmla="*/ 0 h 1889760"/>
              <a:gd name="T4" fmla="*/ 1448748 w 1455420"/>
              <a:gd name="T5" fmla="*/ 137022 h 1889760"/>
              <a:gd name="T6" fmla="*/ 1456374 w 1455420"/>
              <a:gd name="T7" fmla="*/ 1887855 h 1889760"/>
              <a:gd name="T8" fmla="*/ 7626 w 1455420"/>
              <a:gd name="T9" fmla="*/ 1537689 h 1889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5420" h="1889760">
                <a:moveTo>
                  <a:pt x="7620" y="1539240"/>
                </a:moveTo>
                <a:lnTo>
                  <a:pt x="0" y="0"/>
                </a:lnTo>
                <a:lnTo>
                  <a:pt x="1447800" y="137160"/>
                </a:lnTo>
                <a:lnTo>
                  <a:pt x="1455420" y="1889760"/>
                </a:lnTo>
                <a:lnTo>
                  <a:pt x="7620" y="1539240"/>
                </a:lnTo>
                <a:close/>
              </a:path>
            </a:pathLst>
          </a:custGeom>
          <a:solidFill>
            <a:srgbClr val="FFFFFF">
              <a:alpha val="69803"/>
            </a:srgbClr>
          </a:solidFill>
          <a:ln>
            <a:noFill/>
          </a:ln>
          <a:extLs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txBody>
          <a:bodyPr wrap="none"/>
          <a:lstStyle/>
          <a:p>
            <a:endParaRPr lang="pt-BR"/>
          </a:p>
        </p:txBody>
      </p:sp>
      <p:sp>
        <p:nvSpPr>
          <p:cNvPr id="149" name="Freeform 148"/>
          <p:cNvSpPr>
            <a:spLocks/>
          </p:cNvSpPr>
          <p:nvPr/>
        </p:nvSpPr>
        <p:spPr bwMode="auto">
          <a:xfrm>
            <a:off x="7281863" y="447675"/>
            <a:ext cx="1463675" cy="1866900"/>
          </a:xfrm>
          <a:custGeom>
            <a:avLst/>
            <a:gdLst>
              <a:gd name="T0" fmla="*/ 0 w 1463040"/>
              <a:gd name="T1" fmla="*/ 1866098 h 1867301"/>
              <a:gd name="T2" fmla="*/ 0 w 1463040"/>
              <a:gd name="T3" fmla="*/ 336668 h 1867301"/>
              <a:gd name="T4" fmla="*/ 1455307 w 1463040"/>
              <a:gd name="T5" fmla="*/ 0 h 1867301"/>
              <a:gd name="T6" fmla="*/ 1464946 w 1463040"/>
              <a:gd name="T7" fmla="*/ 1712193 h 1867301"/>
              <a:gd name="T8" fmla="*/ 1455307 w 1463040"/>
              <a:gd name="T9" fmla="*/ 1750670 h 1867301"/>
              <a:gd name="T10" fmla="*/ 0 w 1463040"/>
              <a:gd name="T11" fmla="*/ 1866098 h 18673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63040" h="1867301">
                <a:moveTo>
                  <a:pt x="0" y="1867301"/>
                </a:moveTo>
                <a:lnTo>
                  <a:pt x="0" y="336884"/>
                </a:lnTo>
                <a:lnTo>
                  <a:pt x="1453414" y="0"/>
                </a:lnTo>
                <a:cubicBezTo>
                  <a:pt x="1456623" y="571099"/>
                  <a:pt x="1459831" y="1142198"/>
                  <a:pt x="1463040" y="1713297"/>
                </a:cubicBezTo>
                <a:lnTo>
                  <a:pt x="1453414" y="1751798"/>
                </a:lnTo>
                <a:lnTo>
                  <a:pt x="0" y="1867301"/>
                </a:lnTo>
                <a:close/>
              </a:path>
            </a:pathLst>
          </a:custGeom>
          <a:solidFill>
            <a:srgbClr val="FFFFFF">
              <a:alpha val="69803"/>
            </a:srgbClr>
          </a:solidFill>
          <a:ln>
            <a:noFill/>
          </a:ln>
          <a:extLs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txBody>
          <a:bodyPr wrap="none"/>
          <a:lstStyle/>
          <a:p>
            <a:endParaRPr lang="pt-BR"/>
          </a:p>
        </p:txBody>
      </p:sp>
      <p:sp>
        <p:nvSpPr>
          <p:cNvPr id="150" name="Freeform 149"/>
          <p:cNvSpPr>
            <a:spLocks/>
          </p:cNvSpPr>
          <p:nvPr/>
        </p:nvSpPr>
        <p:spPr bwMode="auto">
          <a:xfrm>
            <a:off x="7281863" y="2276475"/>
            <a:ext cx="1463675" cy="1771650"/>
          </a:xfrm>
          <a:custGeom>
            <a:avLst/>
            <a:gdLst>
              <a:gd name="T0" fmla="*/ 0 w 1463040"/>
              <a:gd name="T1" fmla="*/ 1647597 h 1771049"/>
              <a:gd name="T2" fmla="*/ 9637 w 1463040"/>
              <a:gd name="T3" fmla="*/ 115620 h 1771049"/>
              <a:gd name="T4" fmla="*/ 1455307 w 1463040"/>
              <a:gd name="T5" fmla="*/ 0 h 1771049"/>
              <a:gd name="T6" fmla="*/ 1464946 w 1463040"/>
              <a:gd name="T7" fmla="*/ 1772852 h 1771049"/>
              <a:gd name="T8" fmla="*/ 0 w 1463040"/>
              <a:gd name="T9" fmla="*/ 1647597 h 17710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3040" h="1771049">
                <a:moveTo>
                  <a:pt x="0" y="1645920"/>
                </a:moveTo>
                <a:cubicBezTo>
                  <a:pt x="3208" y="1135781"/>
                  <a:pt x="6417" y="625642"/>
                  <a:pt x="9625" y="115503"/>
                </a:cubicBezTo>
                <a:lnTo>
                  <a:pt x="1453414" y="0"/>
                </a:lnTo>
                <a:cubicBezTo>
                  <a:pt x="1456623" y="590350"/>
                  <a:pt x="1459831" y="1180699"/>
                  <a:pt x="1463040" y="1771049"/>
                </a:cubicBezTo>
                <a:lnTo>
                  <a:pt x="0" y="1645920"/>
                </a:lnTo>
                <a:close/>
              </a:path>
            </a:pathLst>
          </a:custGeom>
          <a:solidFill>
            <a:srgbClr val="FFFFFF">
              <a:alpha val="69803"/>
            </a:srgbClr>
          </a:solidFill>
          <a:ln>
            <a:noFill/>
          </a:ln>
          <a:extLs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txBody>
          <a:bodyPr wrap="none"/>
          <a:lstStyle/>
          <a:p>
            <a:endParaRPr lang="pt-BR"/>
          </a:p>
        </p:txBody>
      </p:sp>
      <p:sp>
        <p:nvSpPr>
          <p:cNvPr id="151" name="Freeform 150"/>
          <p:cNvSpPr>
            <a:spLocks/>
          </p:cNvSpPr>
          <p:nvPr/>
        </p:nvSpPr>
        <p:spPr bwMode="auto">
          <a:xfrm>
            <a:off x="7286625" y="4011613"/>
            <a:ext cx="1455738" cy="1890712"/>
          </a:xfrm>
          <a:custGeom>
            <a:avLst/>
            <a:gdLst>
              <a:gd name="T0" fmla="*/ 7626 w 1455420"/>
              <a:gd name="T1" fmla="*/ 1541567 h 1889760"/>
              <a:gd name="T2" fmla="*/ 0 w 1455420"/>
              <a:gd name="T3" fmla="*/ 0 h 1889760"/>
              <a:gd name="T4" fmla="*/ 1448748 w 1455420"/>
              <a:gd name="T5" fmla="*/ 137367 h 1889760"/>
              <a:gd name="T6" fmla="*/ 1456374 w 1455420"/>
              <a:gd name="T7" fmla="*/ 1892617 h 1889760"/>
              <a:gd name="T8" fmla="*/ 7626 w 1455420"/>
              <a:gd name="T9" fmla="*/ 1541567 h 1889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5420" h="1889760">
                <a:moveTo>
                  <a:pt x="7620" y="1539240"/>
                </a:moveTo>
                <a:lnTo>
                  <a:pt x="0" y="0"/>
                </a:lnTo>
                <a:lnTo>
                  <a:pt x="1447800" y="137160"/>
                </a:lnTo>
                <a:lnTo>
                  <a:pt x="1455420" y="1889760"/>
                </a:lnTo>
                <a:lnTo>
                  <a:pt x="7620" y="1539240"/>
                </a:lnTo>
                <a:close/>
              </a:path>
            </a:pathLst>
          </a:custGeom>
          <a:solidFill>
            <a:srgbClr val="FFFFFF">
              <a:alpha val="69803"/>
            </a:srgbClr>
          </a:solidFill>
          <a:ln>
            <a:noFill/>
          </a:ln>
          <a:extLs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txBody>
          <a:bodyPr wrap="none"/>
          <a:lstStyle/>
          <a:p>
            <a:endParaRPr lang="pt-BR"/>
          </a:p>
        </p:txBody>
      </p:sp>
      <p:sp>
        <p:nvSpPr>
          <p:cNvPr id="152" name="Freeform 151"/>
          <p:cNvSpPr>
            <a:spLocks/>
          </p:cNvSpPr>
          <p:nvPr/>
        </p:nvSpPr>
        <p:spPr bwMode="auto">
          <a:xfrm>
            <a:off x="7269163" y="455613"/>
            <a:ext cx="1463675" cy="1866900"/>
          </a:xfrm>
          <a:custGeom>
            <a:avLst/>
            <a:gdLst>
              <a:gd name="T0" fmla="*/ 0 w 1463040"/>
              <a:gd name="T1" fmla="*/ 1866098 h 1867301"/>
              <a:gd name="T2" fmla="*/ 0 w 1463040"/>
              <a:gd name="T3" fmla="*/ 336668 h 1867301"/>
              <a:gd name="T4" fmla="*/ 1455307 w 1463040"/>
              <a:gd name="T5" fmla="*/ 0 h 1867301"/>
              <a:gd name="T6" fmla="*/ 1464946 w 1463040"/>
              <a:gd name="T7" fmla="*/ 1712193 h 1867301"/>
              <a:gd name="T8" fmla="*/ 1455307 w 1463040"/>
              <a:gd name="T9" fmla="*/ 1750670 h 1867301"/>
              <a:gd name="T10" fmla="*/ 0 w 1463040"/>
              <a:gd name="T11" fmla="*/ 1866098 h 18673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63040" h="1867301">
                <a:moveTo>
                  <a:pt x="0" y="1867301"/>
                </a:moveTo>
                <a:lnTo>
                  <a:pt x="0" y="336884"/>
                </a:lnTo>
                <a:lnTo>
                  <a:pt x="1453414" y="0"/>
                </a:lnTo>
                <a:cubicBezTo>
                  <a:pt x="1456623" y="571099"/>
                  <a:pt x="1459831" y="1142198"/>
                  <a:pt x="1463040" y="1713297"/>
                </a:cubicBezTo>
                <a:lnTo>
                  <a:pt x="1453414" y="1751798"/>
                </a:lnTo>
                <a:lnTo>
                  <a:pt x="0" y="1867301"/>
                </a:lnTo>
                <a:close/>
              </a:path>
            </a:pathLst>
          </a:custGeom>
          <a:solidFill>
            <a:srgbClr val="FFFFFF">
              <a:alpha val="69803"/>
            </a:srgbClr>
          </a:solidFill>
          <a:ln>
            <a:noFill/>
          </a:ln>
          <a:extLs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txBody>
          <a:bodyPr wrap="none"/>
          <a:lstStyle/>
          <a:p>
            <a:endParaRPr lang="pt-BR"/>
          </a:p>
        </p:txBody>
      </p:sp>
      <p:sp>
        <p:nvSpPr>
          <p:cNvPr id="153" name="Freeform 152"/>
          <p:cNvSpPr>
            <a:spLocks/>
          </p:cNvSpPr>
          <p:nvPr/>
        </p:nvSpPr>
        <p:spPr bwMode="auto">
          <a:xfrm>
            <a:off x="7269163" y="2284413"/>
            <a:ext cx="1463675" cy="1771650"/>
          </a:xfrm>
          <a:custGeom>
            <a:avLst/>
            <a:gdLst>
              <a:gd name="T0" fmla="*/ 0 w 1463040"/>
              <a:gd name="T1" fmla="*/ 1647597 h 1771049"/>
              <a:gd name="T2" fmla="*/ 9637 w 1463040"/>
              <a:gd name="T3" fmla="*/ 115620 h 1771049"/>
              <a:gd name="T4" fmla="*/ 1455307 w 1463040"/>
              <a:gd name="T5" fmla="*/ 0 h 1771049"/>
              <a:gd name="T6" fmla="*/ 1464946 w 1463040"/>
              <a:gd name="T7" fmla="*/ 1772852 h 1771049"/>
              <a:gd name="T8" fmla="*/ 0 w 1463040"/>
              <a:gd name="T9" fmla="*/ 1647597 h 17710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3040" h="1771049">
                <a:moveTo>
                  <a:pt x="0" y="1645920"/>
                </a:moveTo>
                <a:cubicBezTo>
                  <a:pt x="3208" y="1135781"/>
                  <a:pt x="6417" y="625642"/>
                  <a:pt x="9625" y="115503"/>
                </a:cubicBezTo>
                <a:lnTo>
                  <a:pt x="1453414" y="0"/>
                </a:lnTo>
                <a:cubicBezTo>
                  <a:pt x="1456623" y="590350"/>
                  <a:pt x="1459831" y="1180699"/>
                  <a:pt x="1463040" y="1771049"/>
                </a:cubicBezTo>
                <a:lnTo>
                  <a:pt x="0" y="1645920"/>
                </a:lnTo>
                <a:close/>
              </a:path>
            </a:pathLst>
          </a:custGeom>
          <a:solidFill>
            <a:srgbClr val="FFFFFF">
              <a:alpha val="69803"/>
            </a:srgbClr>
          </a:solidFill>
          <a:ln>
            <a:noFill/>
          </a:ln>
          <a:extLs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txBody>
          <a:bodyPr wrap="none"/>
          <a:lstStyle/>
          <a:p>
            <a:endParaRPr lang="pt-BR"/>
          </a:p>
        </p:txBody>
      </p:sp>
      <p:sp>
        <p:nvSpPr>
          <p:cNvPr id="154" name="Freeform 153"/>
          <p:cNvSpPr>
            <a:spLocks/>
          </p:cNvSpPr>
          <p:nvPr/>
        </p:nvSpPr>
        <p:spPr bwMode="auto">
          <a:xfrm>
            <a:off x="7273925" y="4021138"/>
            <a:ext cx="1455738" cy="1889125"/>
          </a:xfrm>
          <a:custGeom>
            <a:avLst/>
            <a:gdLst>
              <a:gd name="T0" fmla="*/ 7626 w 1455420"/>
              <a:gd name="T1" fmla="*/ 1537689 h 1889760"/>
              <a:gd name="T2" fmla="*/ 0 w 1455420"/>
              <a:gd name="T3" fmla="*/ 0 h 1889760"/>
              <a:gd name="T4" fmla="*/ 1448748 w 1455420"/>
              <a:gd name="T5" fmla="*/ 137022 h 1889760"/>
              <a:gd name="T6" fmla="*/ 1456374 w 1455420"/>
              <a:gd name="T7" fmla="*/ 1887855 h 1889760"/>
              <a:gd name="T8" fmla="*/ 7626 w 1455420"/>
              <a:gd name="T9" fmla="*/ 1537689 h 18897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5420" h="1889760">
                <a:moveTo>
                  <a:pt x="7620" y="1539240"/>
                </a:moveTo>
                <a:lnTo>
                  <a:pt x="0" y="0"/>
                </a:lnTo>
                <a:lnTo>
                  <a:pt x="1447800" y="137160"/>
                </a:lnTo>
                <a:lnTo>
                  <a:pt x="1455420" y="1889760"/>
                </a:lnTo>
                <a:lnTo>
                  <a:pt x="7620" y="1539240"/>
                </a:lnTo>
                <a:close/>
              </a:path>
            </a:pathLst>
          </a:custGeom>
          <a:solidFill>
            <a:srgbClr val="FFFFFF">
              <a:alpha val="69803"/>
            </a:srgbClr>
          </a:solidFill>
          <a:ln>
            <a:noFill/>
          </a:ln>
          <a:extLs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txBody>
          <a:bodyPr wrap="none"/>
          <a:lstStyle/>
          <a:p>
            <a:endParaRPr lang="pt-BR"/>
          </a:p>
        </p:txBody>
      </p:sp>
      <p:sp>
        <p:nvSpPr>
          <p:cNvPr id="155" name="Freeform 154"/>
          <p:cNvSpPr>
            <a:spLocks/>
          </p:cNvSpPr>
          <p:nvPr/>
        </p:nvSpPr>
        <p:spPr bwMode="auto">
          <a:xfrm>
            <a:off x="7299325" y="422275"/>
            <a:ext cx="1462088" cy="1866900"/>
          </a:xfrm>
          <a:custGeom>
            <a:avLst/>
            <a:gdLst>
              <a:gd name="T0" fmla="*/ 0 w 1463040"/>
              <a:gd name="T1" fmla="*/ 1866098 h 1867301"/>
              <a:gd name="T2" fmla="*/ 0 w 1463040"/>
              <a:gd name="T3" fmla="*/ 336668 h 1867301"/>
              <a:gd name="T4" fmla="*/ 1450578 w 1463040"/>
              <a:gd name="T5" fmla="*/ 0 h 1867301"/>
              <a:gd name="T6" fmla="*/ 1460186 w 1463040"/>
              <a:gd name="T7" fmla="*/ 1712193 h 1867301"/>
              <a:gd name="T8" fmla="*/ 1450578 w 1463040"/>
              <a:gd name="T9" fmla="*/ 1750670 h 1867301"/>
              <a:gd name="T10" fmla="*/ 0 w 1463040"/>
              <a:gd name="T11" fmla="*/ 1866098 h 18673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63040" h="1867301">
                <a:moveTo>
                  <a:pt x="0" y="1867301"/>
                </a:moveTo>
                <a:lnTo>
                  <a:pt x="0" y="336884"/>
                </a:lnTo>
                <a:lnTo>
                  <a:pt x="1453414" y="0"/>
                </a:lnTo>
                <a:cubicBezTo>
                  <a:pt x="1456623" y="571099"/>
                  <a:pt x="1459831" y="1142198"/>
                  <a:pt x="1463040" y="1713297"/>
                </a:cubicBezTo>
                <a:lnTo>
                  <a:pt x="1453414" y="1751798"/>
                </a:lnTo>
                <a:lnTo>
                  <a:pt x="0" y="1867301"/>
                </a:lnTo>
                <a:close/>
              </a:path>
            </a:pathLst>
          </a:custGeom>
          <a:solidFill>
            <a:srgbClr val="FFFFFF">
              <a:alpha val="69803"/>
            </a:srgbClr>
          </a:solidFill>
          <a:ln>
            <a:noFill/>
          </a:ln>
          <a:extLs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txBody>
          <a:bodyPr wrap="none"/>
          <a:lstStyle/>
          <a:p>
            <a:endParaRPr lang="pt-BR"/>
          </a:p>
        </p:txBody>
      </p:sp>
      <p:sp>
        <p:nvSpPr>
          <p:cNvPr id="156" name="Freeform 155"/>
          <p:cNvSpPr>
            <a:spLocks/>
          </p:cNvSpPr>
          <p:nvPr/>
        </p:nvSpPr>
        <p:spPr bwMode="auto">
          <a:xfrm>
            <a:off x="7299325" y="2251075"/>
            <a:ext cx="1462088" cy="1771650"/>
          </a:xfrm>
          <a:custGeom>
            <a:avLst/>
            <a:gdLst>
              <a:gd name="T0" fmla="*/ 0 w 1463040"/>
              <a:gd name="T1" fmla="*/ 1647597 h 1771049"/>
              <a:gd name="T2" fmla="*/ 9607 w 1463040"/>
              <a:gd name="T3" fmla="*/ 115620 h 1771049"/>
              <a:gd name="T4" fmla="*/ 1450578 w 1463040"/>
              <a:gd name="T5" fmla="*/ 0 h 1771049"/>
              <a:gd name="T6" fmla="*/ 1460186 w 1463040"/>
              <a:gd name="T7" fmla="*/ 1772852 h 1771049"/>
              <a:gd name="T8" fmla="*/ 0 w 1463040"/>
              <a:gd name="T9" fmla="*/ 1647597 h 17710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3040" h="1771049">
                <a:moveTo>
                  <a:pt x="0" y="1645920"/>
                </a:moveTo>
                <a:cubicBezTo>
                  <a:pt x="3208" y="1135781"/>
                  <a:pt x="6417" y="625642"/>
                  <a:pt x="9625" y="115503"/>
                </a:cubicBezTo>
                <a:lnTo>
                  <a:pt x="1453414" y="0"/>
                </a:lnTo>
                <a:cubicBezTo>
                  <a:pt x="1456623" y="590350"/>
                  <a:pt x="1459831" y="1180699"/>
                  <a:pt x="1463040" y="1771049"/>
                </a:cubicBezTo>
                <a:lnTo>
                  <a:pt x="0" y="1645920"/>
                </a:lnTo>
                <a:close/>
              </a:path>
            </a:pathLst>
          </a:custGeom>
          <a:solidFill>
            <a:srgbClr val="FFFFFF">
              <a:alpha val="69803"/>
            </a:srgbClr>
          </a:solidFill>
          <a:ln>
            <a:noFill/>
          </a:ln>
          <a:extLst>
            <a:ext uri="{91240B29-F687-4F45-9708-019B960494DF}">
              <a14:hiddenLine xmlns:a14="http://schemas.microsoft.com/office/drawing/2010/main" w="9525" cap="flat" cmpd="sng" algn="ctr">
                <a:solidFill>
                  <a:srgbClr val="000000"/>
                </a:solidFill>
                <a:prstDash val="solid"/>
                <a:miter lim="800000"/>
                <a:headEnd type="none" w="med" len="med"/>
                <a:tailEnd type="none" w="med" len="med"/>
              </a14:hiddenLine>
            </a:ext>
          </a:extLst>
        </p:spPr>
        <p:txBody>
          <a:bodyPr wrap="none"/>
          <a:lstStyle/>
          <a:p>
            <a:endParaRPr lang="pt-BR"/>
          </a:p>
        </p:txBody>
      </p:sp>
      <p:sp>
        <p:nvSpPr>
          <p:cNvPr id="196709" name="TextBox 156"/>
          <p:cNvSpPr txBox="1">
            <a:spLocks noChangeArrowheads="1"/>
          </p:cNvSpPr>
          <p:nvPr/>
        </p:nvSpPr>
        <p:spPr bwMode="auto">
          <a:xfrm>
            <a:off x="3405188" y="4716463"/>
            <a:ext cx="2103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000" b="1">
                <a:latin typeface="Eurostile"/>
                <a:ea typeface="Eurostile"/>
                <a:cs typeface="Eurostile"/>
              </a:rPr>
              <a:t>Transformação</a:t>
            </a:r>
            <a:endParaRPr lang="en-US" altLang="en-US" sz="2000" b="1">
              <a:solidFill>
                <a:srgbClr val="005386"/>
              </a:solidFill>
              <a:latin typeface="Eurostile"/>
              <a:ea typeface="Eurostile"/>
              <a:cs typeface="Eurostile"/>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p:cTn id="7" dur="500" fill="hold"/>
                                        <p:tgtEl>
                                          <p:spTgt spid="94"/>
                                        </p:tgtEl>
                                        <p:attrNameLst>
                                          <p:attrName>ppt_w</p:attrName>
                                        </p:attrNameLst>
                                      </p:cBhvr>
                                      <p:tavLst>
                                        <p:tav tm="0">
                                          <p:val>
                                            <p:fltVal val="0"/>
                                          </p:val>
                                        </p:tav>
                                        <p:tav tm="100000">
                                          <p:val>
                                            <p:strVal val="#ppt_w"/>
                                          </p:val>
                                        </p:tav>
                                      </p:tavLst>
                                    </p:anim>
                                    <p:anim calcmode="lin" valueType="num">
                                      <p:cBhvr>
                                        <p:cTn id="8" dur="500" fill="hold"/>
                                        <p:tgtEl>
                                          <p:spTgt spid="94"/>
                                        </p:tgtEl>
                                        <p:attrNameLst>
                                          <p:attrName>ppt_h</p:attrName>
                                        </p:attrNameLst>
                                      </p:cBhvr>
                                      <p:tavLst>
                                        <p:tav tm="0">
                                          <p:val>
                                            <p:fltVal val="0"/>
                                          </p:val>
                                        </p:tav>
                                        <p:tav tm="100000">
                                          <p:val>
                                            <p:strVal val="#ppt_h"/>
                                          </p:val>
                                        </p:tav>
                                      </p:tavLst>
                                    </p:anim>
                                    <p:anim calcmode="lin" valueType="num">
                                      <p:cBhvr>
                                        <p:cTn id="9" dur="500" fill="hold"/>
                                        <p:tgtEl>
                                          <p:spTgt spid="94"/>
                                        </p:tgtEl>
                                        <p:attrNameLst>
                                          <p:attrName>style.rotation</p:attrName>
                                        </p:attrNameLst>
                                      </p:cBhvr>
                                      <p:tavLst>
                                        <p:tav tm="0">
                                          <p:val>
                                            <p:fltVal val="360"/>
                                          </p:val>
                                        </p:tav>
                                        <p:tav tm="100000">
                                          <p:val>
                                            <p:fltVal val="0"/>
                                          </p:val>
                                        </p:tav>
                                      </p:tavLst>
                                    </p:anim>
                                    <p:animEffect transition="in" filter="fade">
                                      <p:cBhvr>
                                        <p:cTn id="10" dur="500"/>
                                        <p:tgtEl>
                                          <p:spTgt spid="94"/>
                                        </p:tgtEl>
                                      </p:cBhvr>
                                    </p:animEffect>
                                  </p:childTnLst>
                                </p:cTn>
                              </p:par>
                            </p:childTnLst>
                          </p:cTn>
                        </p:par>
                        <p:par>
                          <p:cTn id="11" fill="hold" nodeType="afterGroup">
                            <p:stCondLst>
                              <p:cond delay="500"/>
                            </p:stCondLst>
                            <p:childTnLst>
                              <p:par>
                                <p:cTn id="12" presetID="0" presetClass="path" presetSubtype="0" accel="50000" decel="50000" fill="hold" grpId="0" nodeType="afterEffect">
                                  <p:stCondLst>
                                    <p:cond delay="0"/>
                                  </p:stCondLst>
                                  <p:childTnLst>
                                    <p:animMotion origin="layout" path="M -0.00035 -0.00069 C 0.01562 -0.00023 0.05781 -0.00925 0.09549 0.00162 C 0.0974 0.02661 0.0908 0.11798 0.09549 0.15221 C 0.10017 0.18645 0.13055 0.17349 0.17031 0.17465 C 0.21007 0.17581 0.30035 0.16216 0.33455 0.15892 " pathEditMode="relative" rAng="0" ptsTypes="afsaa">
                                      <p:cBhvr>
                                        <p:cTn id="13" dur="1000" fill="hold"/>
                                        <p:tgtEl>
                                          <p:spTgt spid="36"/>
                                        </p:tgtEl>
                                        <p:attrNameLst>
                                          <p:attrName>ppt_x</p:attrName>
                                          <p:attrName>ppt_y</p:attrName>
                                        </p:attrNameLst>
                                      </p:cBhvr>
                                      <p:rCtr x="167" y="89"/>
                                    </p:animMotion>
                                  </p:childTnLst>
                                </p:cTn>
                              </p:par>
                            </p:childTnLst>
                          </p:cTn>
                        </p:par>
                        <p:par>
                          <p:cTn id="14" fill="hold" nodeType="afterGroup">
                            <p:stCondLst>
                              <p:cond delay="1500"/>
                            </p:stCondLst>
                            <p:childTnLst>
                              <p:par>
                                <p:cTn id="15" presetID="42" presetClass="exit" presetSubtype="0" fill="hold" nodeType="afterEffect">
                                  <p:stCondLst>
                                    <p:cond delay="0"/>
                                  </p:stCondLst>
                                  <p:childTnLst>
                                    <p:animEffect transition="out" filter="fade">
                                      <p:cBhvr>
                                        <p:cTn id="16" dur="500"/>
                                        <p:tgtEl>
                                          <p:spTgt spid="94"/>
                                        </p:tgtEl>
                                      </p:cBhvr>
                                    </p:animEffect>
                                    <p:anim calcmode="lin" valueType="num">
                                      <p:cBhvr>
                                        <p:cTn id="17" dur="500"/>
                                        <p:tgtEl>
                                          <p:spTgt spid="94"/>
                                        </p:tgtEl>
                                        <p:attrNameLst>
                                          <p:attrName>ppt_x</p:attrName>
                                        </p:attrNameLst>
                                      </p:cBhvr>
                                      <p:tavLst>
                                        <p:tav tm="0">
                                          <p:val>
                                            <p:strVal val="ppt_x"/>
                                          </p:val>
                                        </p:tav>
                                        <p:tav tm="100000">
                                          <p:val>
                                            <p:strVal val="ppt_x"/>
                                          </p:val>
                                        </p:tav>
                                      </p:tavLst>
                                    </p:anim>
                                    <p:anim calcmode="lin" valueType="num">
                                      <p:cBhvr>
                                        <p:cTn id="18" dur="500"/>
                                        <p:tgtEl>
                                          <p:spTgt spid="94"/>
                                        </p:tgtEl>
                                        <p:attrNameLst>
                                          <p:attrName>ppt_y</p:attrName>
                                        </p:attrNameLst>
                                      </p:cBhvr>
                                      <p:tavLst>
                                        <p:tav tm="0">
                                          <p:val>
                                            <p:strVal val="ppt_y"/>
                                          </p:val>
                                        </p:tav>
                                        <p:tav tm="100000">
                                          <p:val>
                                            <p:strVal val="ppt_y+.1"/>
                                          </p:val>
                                        </p:tav>
                                      </p:tavLst>
                                    </p:anim>
                                    <p:set>
                                      <p:cBhvr>
                                        <p:cTn id="19" dur="1" fill="hold">
                                          <p:stCondLst>
                                            <p:cond delay="499"/>
                                          </p:stCondLst>
                                        </p:cTn>
                                        <p:tgtEl>
                                          <p:spTgt spid="94"/>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123"/>
                                        </p:tgtEl>
                                        <p:attrNameLst>
                                          <p:attrName>style.visibility</p:attrName>
                                        </p:attrNameLst>
                                      </p:cBhvr>
                                      <p:to>
                                        <p:strVal val="visible"/>
                                      </p:to>
                                    </p:set>
                                    <p:animEffect transition="in" filter="fade">
                                      <p:cBhvr>
                                        <p:cTn id="22" dur="1000"/>
                                        <p:tgtEl>
                                          <p:spTgt spid="123"/>
                                        </p:tgtEl>
                                      </p:cBhvr>
                                    </p:animEffect>
                                  </p:childTnLst>
                                </p:cTn>
                              </p:par>
                            </p:childTnLst>
                          </p:cTn>
                        </p:par>
                        <p:par>
                          <p:cTn id="23" fill="hold" nodeType="afterGroup">
                            <p:stCondLst>
                              <p:cond delay="2500"/>
                            </p:stCondLst>
                            <p:childTnLst>
                              <p:par>
                                <p:cTn id="24" presetID="10" presetClass="exit" presetSubtype="0" fill="hold" nodeType="afterEffect">
                                  <p:stCondLst>
                                    <p:cond delay="0"/>
                                  </p:stCondLst>
                                  <p:childTnLst>
                                    <p:animEffect transition="out" filter="fade">
                                      <p:cBhvr>
                                        <p:cTn id="25" dur="1000"/>
                                        <p:tgtEl>
                                          <p:spTgt spid="123"/>
                                        </p:tgtEl>
                                      </p:cBhvr>
                                    </p:animEffect>
                                    <p:set>
                                      <p:cBhvr>
                                        <p:cTn id="26" dur="1" fill="hold">
                                          <p:stCondLst>
                                            <p:cond delay="999"/>
                                          </p:stCondLst>
                                        </p:cTn>
                                        <p:tgtEl>
                                          <p:spTgt spid="123"/>
                                        </p:tgtEl>
                                        <p:attrNameLst>
                                          <p:attrName>style.visibility</p:attrName>
                                        </p:attrNameLst>
                                      </p:cBhvr>
                                      <p:to>
                                        <p:strVal val="hidden"/>
                                      </p:to>
                                    </p:set>
                                  </p:childTnLst>
                                </p:cTn>
                              </p:par>
                            </p:childTnLst>
                          </p:cTn>
                        </p:par>
                        <p:par>
                          <p:cTn id="27" fill="hold" nodeType="afterGroup">
                            <p:stCondLst>
                              <p:cond delay="3500"/>
                            </p:stCondLst>
                            <p:childTnLst>
                              <p:par>
                                <p:cTn id="28" presetID="63" presetClass="path" presetSubtype="0" accel="50000" decel="50000" fill="hold" grpId="0" nodeType="afterEffect">
                                  <p:stCondLst>
                                    <p:cond delay="0"/>
                                  </p:stCondLst>
                                  <p:childTnLst>
                                    <p:animMotion origin="layout" path="M -2.5E-6 -4.44444E-6 L 0.19722 -4.44444E-6 " pathEditMode="relative" rAng="0" ptsTypes="AA">
                                      <p:cBhvr>
                                        <p:cTn id="29" dur="500" fill="hold"/>
                                        <p:tgtEl>
                                          <p:spTgt spid="12"/>
                                        </p:tgtEl>
                                        <p:attrNameLst>
                                          <p:attrName>ppt_x</p:attrName>
                                          <p:attrName>ppt_y</p:attrName>
                                        </p:attrNameLst>
                                      </p:cBhvr>
                                      <p:rCtr x="99" y="0"/>
                                    </p:animMotion>
                                  </p:childTnLst>
                                </p:cTn>
                              </p:par>
                            </p:childTnLst>
                          </p:cTn>
                        </p:par>
                        <p:par>
                          <p:cTn id="30" fill="hold" nodeType="afterGroup">
                            <p:stCondLst>
                              <p:cond delay="4000"/>
                            </p:stCondLst>
                            <p:childTnLst>
                              <p:par>
                                <p:cTn id="31" presetID="10" presetClass="entr" presetSubtype="0" fill="hold" grpId="0" nodeType="afterEffect">
                                  <p:stCondLst>
                                    <p:cond delay="0"/>
                                  </p:stCondLst>
                                  <p:childTnLst>
                                    <p:set>
                                      <p:cBhvr>
                                        <p:cTn id="32" dur="1" fill="hold">
                                          <p:stCondLst>
                                            <p:cond delay="0"/>
                                          </p:stCondLst>
                                        </p:cTn>
                                        <p:tgtEl>
                                          <p:spTgt spid="146"/>
                                        </p:tgtEl>
                                        <p:attrNameLst>
                                          <p:attrName>style.visibility</p:attrName>
                                        </p:attrNameLst>
                                      </p:cBhvr>
                                      <p:to>
                                        <p:strVal val="visible"/>
                                      </p:to>
                                    </p:set>
                                    <p:animEffect transition="in" filter="fade">
                                      <p:cBhvr>
                                        <p:cTn id="33" dur="1000"/>
                                        <p:tgtEl>
                                          <p:spTgt spid="146"/>
                                        </p:tgtEl>
                                      </p:cBhvr>
                                    </p:animEffect>
                                  </p:childTnLst>
                                </p:cTn>
                              </p:par>
                            </p:childTnLst>
                          </p:cTn>
                        </p:par>
                        <p:par>
                          <p:cTn id="34" fill="hold" nodeType="afterGroup">
                            <p:stCondLst>
                              <p:cond delay="5000"/>
                            </p:stCondLst>
                            <p:childTnLst>
                              <p:par>
                                <p:cTn id="35" presetID="10" presetClass="exit" presetSubtype="0" fill="hold" grpId="1" nodeType="afterEffect">
                                  <p:stCondLst>
                                    <p:cond delay="0"/>
                                  </p:stCondLst>
                                  <p:childTnLst>
                                    <p:animEffect transition="out" filter="fade">
                                      <p:cBhvr>
                                        <p:cTn id="36" dur="1000"/>
                                        <p:tgtEl>
                                          <p:spTgt spid="146"/>
                                        </p:tgtEl>
                                      </p:cBhvr>
                                    </p:animEffect>
                                    <p:set>
                                      <p:cBhvr>
                                        <p:cTn id="37" dur="1" fill="hold">
                                          <p:stCondLst>
                                            <p:cond delay="999"/>
                                          </p:stCondLst>
                                        </p:cTn>
                                        <p:tgtEl>
                                          <p:spTgt spid="146"/>
                                        </p:tgtEl>
                                        <p:attrNameLst>
                                          <p:attrName>style.visibility</p:attrName>
                                        </p:attrNameLst>
                                      </p:cBhvr>
                                      <p:to>
                                        <p:strVal val="hidden"/>
                                      </p:to>
                                    </p:set>
                                  </p:childTnLst>
                                </p:cTn>
                              </p:par>
                            </p:childTnLst>
                          </p:cTn>
                        </p:par>
                        <p:par>
                          <p:cTn id="38" fill="hold" nodeType="afterGroup">
                            <p:stCondLst>
                              <p:cond delay="6000"/>
                            </p:stCondLst>
                            <p:childTnLst>
                              <p:par>
                                <p:cTn id="39" presetID="49" presetClass="entr" presetSubtype="0" decel="100000" fill="hold" nodeType="afterEffect">
                                  <p:stCondLst>
                                    <p:cond delay="0"/>
                                  </p:stCondLst>
                                  <p:childTnLst>
                                    <p:set>
                                      <p:cBhvr>
                                        <p:cTn id="40" dur="1" fill="hold">
                                          <p:stCondLst>
                                            <p:cond delay="0"/>
                                          </p:stCondLst>
                                        </p:cTn>
                                        <p:tgtEl>
                                          <p:spTgt spid="59"/>
                                        </p:tgtEl>
                                        <p:attrNameLst>
                                          <p:attrName>style.visibility</p:attrName>
                                        </p:attrNameLst>
                                      </p:cBhvr>
                                      <p:to>
                                        <p:strVal val="visible"/>
                                      </p:to>
                                    </p:set>
                                    <p:anim calcmode="lin" valueType="num">
                                      <p:cBhvr>
                                        <p:cTn id="41" dur="500" fill="hold"/>
                                        <p:tgtEl>
                                          <p:spTgt spid="59"/>
                                        </p:tgtEl>
                                        <p:attrNameLst>
                                          <p:attrName>ppt_w</p:attrName>
                                        </p:attrNameLst>
                                      </p:cBhvr>
                                      <p:tavLst>
                                        <p:tav tm="0">
                                          <p:val>
                                            <p:fltVal val="0"/>
                                          </p:val>
                                        </p:tav>
                                        <p:tav tm="100000">
                                          <p:val>
                                            <p:strVal val="#ppt_w"/>
                                          </p:val>
                                        </p:tav>
                                      </p:tavLst>
                                    </p:anim>
                                    <p:anim calcmode="lin" valueType="num">
                                      <p:cBhvr>
                                        <p:cTn id="42" dur="500" fill="hold"/>
                                        <p:tgtEl>
                                          <p:spTgt spid="59"/>
                                        </p:tgtEl>
                                        <p:attrNameLst>
                                          <p:attrName>ppt_h</p:attrName>
                                        </p:attrNameLst>
                                      </p:cBhvr>
                                      <p:tavLst>
                                        <p:tav tm="0">
                                          <p:val>
                                            <p:fltVal val="0"/>
                                          </p:val>
                                        </p:tav>
                                        <p:tav tm="100000">
                                          <p:val>
                                            <p:strVal val="#ppt_h"/>
                                          </p:val>
                                        </p:tav>
                                      </p:tavLst>
                                    </p:anim>
                                    <p:anim calcmode="lin" valueType="num">
                                      <p:cBhvr>
                                        <p:cTn id="43" dur="500" fill="hold"/>
                                        <p:tgtEl>
                                          <p:spTgt spid="59"/>
                                        </p:tgtEl>
                                        <p:attrNameLst>
                                          <p:attrName>style.rotation</p:attrName>
                                        </p:attrNameLst>
                                      </p:cBhvr>
                                      <p:tavLst>
                                        <p:tav tm="0">
                                          <p:val>
                                            <p:fltVal val="360"/>
                                          </p:val>
                                        </p:tav>
                                        <p:tav tm="100000">
                                          <p:val>
                                            <p:fltVal val="0"/>
                                          </p:val>
                                        </p:tav>
                                      </p:tavLst>
                                    </p:anim>
                                    <p:animEffect transition="in" filter="fade">
                                      <p:cBhvr>
                                        <p:cTn id="44" dur="500"/>
                                        <p:tgtEl>
                                          <p:spTgt spid="59"/>
                                        </p:tgtEl>
                                      </p:cBhvr>
                                    </p:animEffect>
                                  </p:childTnLst>
                                </p:cTn>
                              </p:par>
                            </p:childTnLst>
                          </p:cTn>
                        </p:par>
                        <p:par>
                          <p:cTn id="45" fill="hold" nodeType="afterGroup">
                            <p:stCondLst>
                              <p:cond delay="6500"/>
                            </p:stCondLst>
                            <p:childTnLst>
                              <p:par>
                                <p:cTn id="46" presetID="0" presetClass="path" presetSubtype="0" accel="50000" decel="50000" fill="hold" grpId="0" nodeType="afterEffect">
                                  <p:stCondLst>
                                    <p:cond delay="0"/>
                                  </p:stCondLst>
                                  <p:childTnLst>
                                    <p:animMotion origin="layout" path="M -0.00035 -0.00069 C 0.01094 -0.00162 0.05469 -0.00185 0.06719 -0.00671 C 0.07708 -0.01435 0.06198 -0.06296 0.07604 -0.06713 C 0.09479 -0.07268 0.13125 -0.06967 0.17344 -0.0706 C 0.21562 -0.07153 0.2967 -0.07176 0.32917 -0.07199 " pathEditMode="relative" rAng="0" ptsTypes="affaa">
                                      <p:cBhvr>
                                        <p:cTn id="47" dur="1000" fill="hold"/>
                                        <p:tgtEl>
                                          <p:spTgt spid="43"/>
                                        </p:tgtEl>
                                        <p:attrNameLst>
                                          <p:attrName>ppt_x</p:attrName>
                                          <p:attrName>ppt_y</p:attrName>
                                        </p:attrNameLst>
                                      </p:cBhvr>
                                      <p:rCtr x="165" y="-36"/>
                                    </p:animMotion>
                                  </p:childTnLst>
                                </p:cTn>
                              </p:par>
                            </p:childTnLst>
                          </p:cTn>
                        </p:par>
                        <p:par>
                          <p:cTn id="48" fill="hold" nodeType="afterGroup">
                            <p:stCondLst>
                              <p:cond delay="7500"/>
                            </p:stCondLst>
                            <p:childTnLst>
                              <p:par>
                                <p:cTn id="49" presetID="42" presetClass="exit" presetSubtype="0" fill="hold" nodeType="afterEffect">
                                  <p:stCondLst>
                                    <p:cond delay="0"/>
                                  </p:stCondLst>
                                  <p:childTnLst>
                                    <p:animEffect transition="out" filter="fade">
                                      <p:cBhvr>
                                        <p:cTn id="50" dur="500"/>
                                        <p:tgtEl>
                                          <p:spTgt spid="59"/>
                                        </p:tgtEl>
                                      </p:cBhvr>
                                    </p:animEffect>
                                    <p:anim calcmode="lin" valueType="num">
                                      <p:cBhvr>
                                        <p:cTn id="51" dur="500"/>
                                        <p:tgtEl>
                                          <p:spTgt spid="59"/>
                                        </p:tgtEl>
                                        <p:attrNameLst>
                                          <p:attrName>ppt_x</p:attrName>
                                        </p:attrNameLst>
                                      </p:cBhvr>
                                      <p:tavLst>
                                        <p:tav tm="0">
                                          <p:val>
                                            <p:strVal val="ppt_x"/>
                                          </p:val>
                                        </p:tav>
                                        <p:tav tm="100000">
                                          <p:val>
                                            <p:strVal val="ppt_x"/>
                                          </p:val>
                                        </p:tav>
                                      </p:tavLst>
                                    </p:anim>
                                    <p:anim calcmode="lin" valueType="num">
                                      <p:cBhvr>
                                        <p:cTn id="52" dur="500"/>
                                        <p:tgtEl>
                                          <p:spTgt spid="59"/>
                                        </p:tgtEl>
                                        <p:attrNameLst>
                                          <p:attrName>ppt_y</p:attrName>
                                        </p:attrNameLst>
                                      </p:cBhvr>
                                      <p:tavLst>
                                        <p:tav tm="0">
                                          <p:val>
                                            <p:strVal val="ppt_y"/>
                                          </p:val>
                                        </p:tav>
                                        <p:tav tm="100000">
                                          <p:val>
                                            <p:strVal val="ppt_y+.1"/>
                                          </p:val>
                                        </p:tav>
                                      </p:tavLst>
                                    </p:anim>
                                    <p:set>
                                      <p:cBhvr>
                                        <p:cTn id="53" dur="1" fill="hold">
                                          <p:stCondLst>
                                            <p:cond delay="499"/>
                                          </p:stCondLst>
                                        </p:cTn>
                                        <p:tgtEl>
                                          <p:spTgt spid="59"/>
                                        </p:tgtEl>
                                        <p:attrNameLst>
                                          <p:attrName>style.visibility</p:attrName>
                                        </p:attrNameLst>
                                      </p:cBhvr>
                                      <p:to>
                                        <p:strVal val="hidden"/>
                                      </p:to>
                                    </p:set>
                                  </p:childTnLst>
                                </p:cTn>
                              </p:par>
                              <p:par>
                                <p:cTn id="54" presetID="10" presetClass="entr" presetSubtype="0" fill="hold" nodeType="withEffect">
                                  <p:stCondLst>
                                    <p:cond delay="0"/>
                                  </p:stCondLst>
                                  <p:childTnLst>
                                    <p:set>
                                      <p:cBhvr>
                                        <p:cTn id="55" dur="1" fill="hold">
                                          <p:stCondLst>
                                            <p:cond delay="0"/>
                                          </p:stCondLst>
                                        </p:cTn>
                                        <p:tgtEl>
                                          <p:spTgt spid="120"/>
                                        </p:tgtEl>
                                        <p:attrNameLst>
                                          <p:attrName>style.visibility</p:attrName>
                                        </p:attrNameLst>
                                      </p:cBhvr>
                                      <p:to>
                                        <p:strVal val="visible"/>
                                      </p:to>
                                    </p:set>
                                    <p:animEffect transition="in" filter="fade">
                                      <p:cBhvr>
                                        <p:cTn id="56" dur="1000"/>
                                        <p:tgtEl>
                                          <p:spTgt spid="120"/>
                                        </p:tgtEl>
                                      </p:cBhvr>
                                    </p:animEffect>
                                  </p:childTnLst>
                                </p:cTn>
                              </p:par>
                            </p:childTnLst>
                          </p:cTn>
                        </p:par>
                        <p:par>
                          <p:cTn id="57" fill="hold" nodeType="afterGroup">
                            <p:stCondLst>
                              <p:cond delay="8500"/>
                            </p:stCondLst>
                            <p:childTnLst>
                              <p:par>
                                <p:cTn id="58" presetID="10" presetClass="exit" presetSubtype="0" fill="hold" nodeType="afterEffect">
                                  <p:stCondLst>
                                    <p:cond delay="0"/>
                                  </p:stCondLst>
                                  <p:childTnLst>
                                    <p:animEffect transition="out" filter="fade">
                                      <p:cBhvr>
                                        <p:cTn id="59" dur="1000"/>
                                        <p:tgtEl>
                                          <p:spTgt spid="120"/>
                                        </p:tgtEl>
                                      </p:cBhvr>
                                    </p:animEffect>
                                    <p:set>
                                      <p:cBhvr>
                                        <p:cTn id="60" dur="1" fill="hold">
                                          <p:stCondLst>
                                            <p:cond delay="999"/>
                                          </p:stCondLst>
                                        </p:cTn>
                                        <p:tgtEl>
                                          <p:spTgt spid="120"/>
                                        </p:tgtEl>
                                        <p:attrNameLst>
                                          <p:attrName>style.visibility</p:attrName>
                                        </p:attrNameLst>
                                      </p:cBhvr>
                                      <p:to>
                                        <p:strVal val="hidden"/>
                                      </p:to>
                                    </p:set>
                                  </p:childTnLst>
                                </p:cTn>
                              </p:par>
                            </p:childTnLst>
                          </p:cTn>
                        </p:par>
                        <p:par>
                          <p:cTn id="61" fill="hold" nodeType="afterGroup">
                            <p:stCondLst>
                              <p:cond delay="9500"/>
                            </p:stCondLst>
                            <p:childTnLst>
                              <p:par>
                                <p:cTn id="62" presetID="63" presetClass="path" presetSubtype="0" accel="50000" decel="50000" fill="hold" grpId="0" nodeType="afterEffect">
                                  <p:stCondLst>
                                    <p:cond delay="0"/>
                                  </p:stCondLst>
                                  <p:childTnLst>
                                    <p:animMotion origin="layout" path="M -2.5E-6 -4.44444E-6 L 0.19722 -4.44444E-6 " pathEditMode="relative" rAng="0" ptsTypes="AA">
                                      <p:cBhvr>
                                        <p:cTn id="63" dur="500" fill="hold"/>
                                        <p:tgtEl>
                                          <p:spTgt spid="13"/>
                                        </p:tgtEl>
                                        <p:attrNameLst>
                                          <p:attrName>ppt_x</p:attrName>
                                          <p:attrName>ppt_y</p:attrName>
                                        </p:attrNameLst>
                                      </p:cBhvr>
                                      <p:rCtr x="99" y="0"/>
                                    </p:animMotion>
                                  </p:childTnLst>
                                </p:cTn>
                              </p:par>
                            </p:childTnLst>
                          </p:cTn>
                        </p:par>
                        <p:par>
                          <p:cTn id="64" fill="hold" nodeType="afterGroup">
                            <p:stCondLst>
                              <p:cond delay="10000"/>
                            </p:stCondLst>
                            <p:childTnLst>
                              <p:par>
                                <p:cTn id="65" presetID="10" presetClass="entr" presetSubtype="0" fill="hold" grpId="0" nodeType="afterEffect">
                                  <p:stCondLst>
                                    <p:cond delay="0"/>
                                  </p:stCondLst>
                                  <p:childTnLst>
                                    <p:set>
                                      <p:cBhvr>
                                        <p:cTn id="66" dur="1" fill="hold">
                                          <p:stCondLst>
                                            <p:cond delay="0"/>
                                          </p:stCondLst>
                                        </p:cTn>
                                        <p:tgtEl>
                                          <p:spTgt spid="147"/>
                                        </p:tgtEl>
                                        <p:attrNameLst>
                                          <p:attrName>style.visibility</p:attrName>
                                        </p:attrNameLst>
                                      </p:cBhvr>
                                      <p:to>
                                        <p:strVal val="visible"/>
                                      </p:to>
                                    </p:set>
                                    <p:animEffect transition="in" filter="fade">
                                      <p:cBhvr>
                                        <p:cTn id="67" dur="1000"/>
                                        <p:tgtEl>
                                          <p:spTgt spid="147"/>
                                        </p:tgtEl>
                                      </p:cBhvr>
                                    </p:animEffect>
                                  </p:childTnLst>
                                </p:cTn>
                              </p:par>
                            </p:childTnLst>
                          </p:cTn>
                        </p:par>
                        <p:par>
                          <p:cTn id="68" fill="hold" nodeType="afterGroup">
                            <p:stCondLst>
                              <p:cond delay="11000"/>
                            </p:stCondLst>
                            <p:childTnLst>
                              <p:par>
                                <p:cTn id="69" presetID="10" presetClass="exit" presetSubtype="0" fill="hold" grpId="1" nodeType="afterEffect">
                                  <p:stCondLst>
                                    <p:cond delay="0"/>
                                  </p:stCondLst>
                                  <p:childTnLst>
                                    <p:animEffect transition="out" filter="fade">
                                      <p:cBhvr>
                                        <p:cTn id="70" dur="1000"/>
                                        <p:tgtEl>
                                          <p:spTgt spid="147"/>
                                        </p:tgtEl>
                                      </p:cBhvr>
                                    </p:animEffect>
                                    <p:set>
                                      <p:cBhvr>
                                        <p:cTn id="71" dur="1" fill="hold">
                                          <p:stCondLst>
                                            <p:cond delay="999"/>
                                          </p:stCondLst>
                                        </p:cTn>
                                        <p:tgtEl>
                                          <p:spTgt spid="147"/>
                                        </p:tgtEl>
                                        <p:attrNameLst>
                                          <p:attrName>style.visibility</p:attrName>
                                        </p:attrNameLst>
                                      </p:cBhvr>
                                      <p:to>
                                        <p:strVal val="hidden"/>
                                      </p:to>
                                    </p:set>
                                  </p:childTnLst>
                                </p:cTn>
                              </p:par>
                            </p:childTnLst>
                          </p:cTn>
                        </p:par>
                        <p:par>
                          <p:cTn id="72" fill="hold" nodeType="afterGroup">
                            <p:stCondLst>
                              <p:cond delay="12000"/>
                            </p:stCondLst>
                            <p:childTnLst>
                              <p:par>
                                <p:cTn id="73" presetID="49" presetClass="entr" presetSubtype="0" decel="100000" fill="hold" nodeType="afterEffect">
                                  <p:stCondLst>
                                    <p:cond delay="0"/>
                                  </p:stCondLst>
                                  <p:childTnLst>
                                    <p:set>
                                      <p:cBhvr>
                                        <p:cTn id="74" dur="1" fill="hold">
                                          <p:stCondLst>
                                            <p:cond delay="0"/>
                                          </p:stCondLst>
                                        </p:cTn>
                                        <p:tgtEl>
                                          <p:spTgt spid="74"/>
                                        </p:tgtEl>
                                        <p:attrNameLst>
                                          <p:attrName>style.visibility</p:attrName>
                                        </p:attrNameLst>
                                      </p:cBhvr>
                                      <p:to>
                                        <p:strVal val="visible"/>
                                      </p:to>
                                    </p:set>
                                    <p:anim calcmode="lin" valueType="num">
                                      <p:cBhvr>
                                        <p:cTn id="75" dur="500" fill="hold"/>
                                        <p:tgtEl>
                                          <p:spTgt spid="74"/>
                                        </p:tgtEl>
                                        <p:attrNameLst>
                                          <p:attrName>ppt_w</p:attrName>
                                        </p:attrNameLst>
                                      </p:cBhvr>
                                      <p:tavLst>
                                        <p:tav tm="0">
                                          <p:val>
                                            <p:fltVal val="0"/>
                                          </p:val>
                                        </p:tav>
                                        <p:tav tm="100000">
                                          <p:val>
                                            <p:strVal val="#ppt_w"/>
                                          </p:val>
                                        </p:tav>
                                      </p:tavLst>
                                    </p:anim>
                                    <p:anim calcmode="lin" valueType="num">
                                      <p:cBhvr>
                                        <p:cTn id="76" dur="500" fill="hold"/>
                                        <p:tgtEl>
                                          <p:spTgt spid="74"/>
                                        </p:tgtEl>
                                        <p:attrNameLst>
                                          <p:attrName>ppt_h</p:attrName>
                                        </p:attrNameLst>
                                      </p:cBhvr>
                                      <p:tavLst>
                                        <p:tav tm="0">
                                          <p:val>
                                            <p:fltVal val="0"/>
                                          </p:val>
                                        </p:tav>
                                        <p:tav tm="100000">
                                          <p:val>
                                            <p:strVal val="#ppt_h"/>
                                          </p:val>
                                        </p:tav>
                                      </p:tavLst>
                                    </p:anim>
                                    <p:anim calcmode="lin" valueType="num">
                                      <p:cBhvr>
                                        <p:cTn id="77" dur="500" fill="hold"/>
                                        <p:tgtEl>
                                          <p:spTgt spid="74"/>
                                        </p:tgtEl>
                                        <p:attrNameLst>
                                          <p:attrName>style.rotation</p:attrName>
                                        </p:attrNameLst>
                                      </p:cBhvr>
                                      <p:tavLst>
                                        <p:tav tm="0">
                                          <p:val>
                                            <p:fltVal val="360"/>
                                          </p:val>
                                        </p:tav>
                                        <p:tav tm="100000">
                                          <p:val>
                                            <p:fltVal val="0"/>
                                          </p:val>
                                        </p:tav>
                                      </p:tavLst>
                                    </p:anim>
                                    <p:animEffect transition="in" filter="fade">
                                      <p:cBhvr>
                                        <p:cTn id="78" dur="500"/>
                                        <p:tgtEl>
                                          <p:spTgt spid="74"/>
                                        </p:tgtEl>
                                      </p:cBhvr>
                                    </p:animEffect>
                                  </p:childTnLst>
                                </p:cTn>
                              </p:par>
                            </p:childTnLst>
                          </p:cTn>
                        </p:par>
                        <p:par>
                          <p:cTn id="79" fill="hold" nodeType="afterGroup">
                            <p:stCondLst>
                              <p:cond delay="12500"/>
                            </p:stCondLst>
                            <p:childTnLst>
                              <p:par>
                                <p:cTn id="80" presetID="0" presetClass="path" presetSubtype="0" accel="50000" decel="50000" fill="hold" grpId="0" nodeType="afterEffect">
                                  <p:stCondLst>
                                    <p:cond delay="0"/>
                                  </p:stCondLst>
                                  <p:childTnLst>
                                    <p:animMotion origin="layout" path="M 8.33333E-7 4.81481E-6 C 0.01094 0.00069 0.05399 -0.00672 0.06615 0.0037 C 0.07656 0.01342 0.06719 0.05185 0.07292 0.06203 C 0.11771 0.0662 0.27257 0.06203 0.325 0.06203 " pathEditMode="relative" rAng="0" ptsTypes="affa">
                                      <p:cBhvr>
                                        <p:cTn id="81" dur="1000" fill="hold"/>
                                        <p:tgtEl>
                                          <p:spTgt spid="39"/>
                                        </p:tgtEl>
                                        <p:attrNameLst>
                                          <p:attrName>ppt_x</p:attrName>
                                          <p:attrName>ppt_y</p:attrName>
                                        </p:attrNameLst>
                                      </p:cBhvr>
                                      <p:rCtr x="162" y="30"/>
                                    </p:animMotion>
                                  </p:childTnLst>
                                </p:cTn>
                              </p:par>
                            </p:childTnLst>
                          </p:cTn>
                        </p:par>
                        <p:par>
                          <p:cTn id="82" fill="hold" nodeType="afterGroup">
                            <p:stCondLst>
                              <p:cond delay="13500"/>
                            </p:stCondLst>
                            <p:childTnLst>
                              <p:par>
                                <p:cTn id="83" presetID="42" presetClass="exit" presetSubtype="0" fill="hold" nodeType="afterEffect">
                                  <p:stCondLst>
                                    <p:cond delay="0"/>
                                  </p:stCondLst>
                                  <p:childTnLst>
                                    <p:animEffect transition="out" filter="fade">
                                      <p:cBhvr>
                                        <p:cTn id="84" dur="500"/>
                                        <p:tgtEl>
                                          <p:spTgt spid="74"/>
                                        </p:tgtEl>
                                      </p:cBhvr>
                                    </p:animEffect>
                                    <p:anim calcmode="lin" valueType="num">
                                      <p:cBhvr>
                                        <p:cTn id="85" dur="500"/>
                                        <p:tgtEl>
                                          <p:spTgt spid="74"/>
                                        </p:tgtEl>
                                        <p:attrNameLst>
                                          <p:attrName>ppt_x</p:attrName>
                                        </p:attrNameLst>
                                      </p:cBhvr>
                                      <p:tavLst>
                                        <p:tav tm="0">
                                          <p:val>
                                            <p:strVal val="ppt_x"/>
                                          </p:val>
                                        </p:tav>
                                        <p:tav tm="100000">
                                          <p:val>
                                            <p:strVal val="ppt_x"/>
                                          </p:val>
                                        </p:tav>
                                      </p:tavLst>
                                    </p:anim>
                                    <p:anim calcmode="lin" valueType="num">
                                      <p:cBhvr>
                                        <p:cTn id="86" dur="500"/>
                                        <p:tgtEl>
                                          <p:spTgt spid="74"/>
                                        </p:tgtEl>
                                        <p:attrNameLst>
                                          <p:attrName>ppt_y</p:attrName>
                                        </p:attrNameLst>
                                      </p:cBhvr>
                                      <p:tavLst>
                                        <p:tav tm="0">
                                          <p:val>
                                            <p:strVal val="ppt_y"/>
                                          </p:val>
                                        </p:tav>
                                        <p:tav tm="100000">
                                          <p:val>
                                            <p:strVal val="ppt_y+.1"/>
                                          </p:val>
                                        </p:tav>
                                      </p:tavLst>
                                    </p:anim>
                                    <p:set>
                                      <p:cBhvr>
                                        <p:cTn id="87" dur="1" fill="hold">
                                          <p:stCondLst>
                                            <p:cond delay="499"/>
                                          </p:stCondLst>
                                        </p:cTn>
                                        <p:tgtEl>
                                          <p:spTgt spid="74"/>
                                        </p:tgtEl>
                                        <p:attrNameLst>
                                          <p:attrName>style.visibility</p:attrName>
                                        </p:attrNameLst>
                                      </p:cBhvr>
                                      <p:to>
                                        <p:strVal val="hidden"/>
                                      </p:to>
                                    </p:set>
                                  </p:childTnLst>
                                </p:cTn>
                              </p:par>
                              <p:par>
                                <p:cTn id="88" presetID="10" presetClass="entr" presetSubtype="0" fill="hold" nodeType="withEffect">
                                  <p:stCondLst>
                                    <p:cond delay="0"/>
                                  </p:stCondLst>
                                  <p:childTnLst>
                                    <p:set>
                                      <p:cBhvr>
                                        <p:cTn id="89" dur="1" fill="hold">
                                          <p:stCondLst>
                                            <p:cond delay="0"/>
                                          </p:stCondLst>
                                        </p:cTn>
                                        <p:tgtEl>
                                          <p:spTgt spid="124"/>
                                        </p:tgtEl>
                                        <p:attrNameLst>
                                          <p:attrName>style.visibility</p:attrName>
                                        </p:attrNameLst>
                                      </p:cBhvr>
                                      <p:to>
                                        <p:strVal val="visible"/>
                                      </p:to>
                                    </p:set>
                                    <p:animEffect transition="in" filter="fade">
                                      <p:cBhvr>
                                        <p:cTn id="90" dur="1000"/>
                                        <p:tgtEl>
                                          <p:spTgt spid="124"/>
                                        </p:tgtEl>
                                      </p:cBhvr>
                                    </p:animEffect>
                                  </p:childTnLst>
                                </p:cTn>
                              </p:par>
                            </p:childTnLst>
                          </p:cTn>
                        </p:par>
                        <p:par>
                          <p:cTn id="91" fill="hold" nodeType="afterGroup">
                            <p:stCondLst>
                              <p:cond delay="14500"/>
                            </p:stCondLst>
                            <p:childTnLst>
                              <p:par>
                                <p:cTn id="92" presetID="10" presetClass="exit" presetSubtype="0" fill="hold" nodeType="afterEffect">
                                  <p:stCondLst>
                                    <p:cond delay="0"/>
                                  </p:stCondLst>
                                  <p:childTnLst>
                                    <p:animEffect transition="out" filter="fade">
                                      <p:cBhvr>
                                        <p:cTn id="93" dur="1000"/>
                                        <p:tgtEl>
                                          <p:spTgt spid="124"/>
                                        </p:tgtEl>
                                      </p:cBhvr>
                                    </p:animEffect>
                                    <p:set>
                                      <p:cBhvr>
                                        <p:cTn id="94" dur="1" fill="hold">
                                          <p:stCondLst>
                                            <p:cond delay="999"/>
                                          </p:stCondLst>
                                        </p:cTn>
                                        <p:tgtEl>
                                          <p:spTgt spid="124"/>
                                        </p:tgtEl>
                                        <p:attrNameLst>
                                          <p:attrName>style.visibility</p:attrName>
                                        </p:attrNameLst>
                                      </p:cBhvr>
                                      <p:to>
                                        <p:strVal val="hidden"/>
                                      </p:to>
                                    </p:set>
                                  </p:childTnLst>
                                </p:cTn>
                              </p:par>
                            </p:childTnLst>
                          </p:cTn>
                        </p:par>
                        <p:par>
                          <p:cTn id="95" fill="hold" nodeType="afterGroup">
                            <p:stCondLst>
                              <p:cond delay="15500"/>
                            </p:stCondLst>
                            <p:childTnLst>
                              <p:par>
                                <p:cTn id="96" presetID="63" presetClass="path" presetSubtype="0" accel="50000" decel="50000" fill="hold" grpId="0" nodeType="afterEffect">
                                  <p:stCondLst>
                                    <p:cond delay="0"/>
                                  </p:stCondLst>
                                  <p:childTnLst>
                                    <p:animMotion origin="layout" path="M -2.5E-6 -4.44444E-6 L 0.19722 -4.44444E-6 " pathEditMode="relative" rAng="0" ptsTypes="AA">
                                      <p:cBhvr>
                                        <p:cTn id="97" dur="500" fill="hold"/>
                                        <p:tgtEl>
                                          <p:spTgt spid="14"/>
                                        </p:tgtEl>
                                        <p:attrNameLst>
                                          <p:attrName>ppt_x</p:attrName>
                                          <p:attrName>ppt_y</p:attrName>
                                        </p:attrNameLst>
                                      </p:cBhvr>
                                      <p:rCtr x="99" y="0"/>
                                    </p:animMotion>
                                  </p:childTnLst>
                                </p:cTn>
                              </p:par>
                            </p:childTnLst>
                          </p:cTn>
                        </p:par>
                        <p:par>
                          <p:cTn id="98" fill="hold" nodeType="afterGroup">
                            <p:stCondLst>
                              <p:cond delay="16000"/>
                            </p:stCondLst>
                            <p:childTnLst>
                              <p:par>
                                <p:cTn id="99" presetID="10" presetClass="entr" presetSubtype="0" fill="hold" grpId="0" nodeType="afterEffect">
                                  <p:stCondLst>
                                    <p:cond delay="0"/>
                                  </p:stCondLst>
                                  <p:childTnLst>
                                    <p:set>
                                      <p:cBhvr>
                                        <p:cTn id="100" dur="1" fill="hold">
                                          <p:stCondLst>
                                            <p:cond delay="0"/>
                                          </p:stCondLst>
                                        </p:cTn>
                                        <p:tgtEl>
                                          <p:spTgt spid="148"/>
                                        </p:tgtEl>
                                        <p:attrNameLst>
                                          <p:attrName>style.visibility</p:attrName>
                                        </p:attrNameLst>
                                      </p:cBhvr>
                                      <p:to>
                                        <p:strVal val="visible"/>
                                      </p:to>
                                    </p:set>
                                    <p:animEffect transition="in" filter="fade">
                                      <p:cBhvr>
                                        <p:cTn id="101" dur="1000"/>
                                        <p:tgtEl>
                                          <p:spTgt spid="148"/>
                                        </p:tgtEl>
                                      </p:cBhvr>
                                    </p:animEffect>
                                  </p:childTnLst>
                                </p:cTn>
                              </p:par>
                            </p:childTnLst>
                          </p:cTn>
                        </p:par>
                        <p:par>
                          <p:cTn id="102" fill="hold" nodeType="afterGroup">
                            <p:stCondLst>
                              <p:cond delay="17000"/>
                            </p:stCondLst>
                            <p:childTnLst>
                              <p:par>
                                <p:cTn id="103" presetID="10" presetClass="exit" presetSubtype="0" fill="hold" grpId="1" nodeType="afterEffect">
                                  <p:stCondLst>
                                    <p:cond delay="0"/>
                                  </p:stCondLst>
                                  <p:childTnLst>
                                    <p:animEffect transition="out" filter="fade">
                                      <p:cBhvr>
                                        <p:cTn id="104" dur="1000"/>
                                        <p:tgtEl>
                                          <p:spTgt spid="148"/>
                                        </p:tgtEl>
                                      </p:cBhvr>
                                    </p:animEffect>
                                    <p:set>
                                      <p:cBhvr>
                                        <p:cTn id="105" dur="1" fill="hold">
                                          <p:stCondLst>
                                            <p:cond delay="999"/>
                                          </p:stCondLst>
                                        </p:cTn>
                                        <p:tgtEl>
                                          <p:spTgt spid="148"/>
                                        </p:tgtEl>
                                        <p:attrNameLst>
                                          <p:attrName>style.visibility</p:attrName>
                                        </p:attrNameLst>
                                      </p:cBhvr>
                                      <p:to>
                                        <p:strVal val="hidden"/>
                                      </p:to>
                                    </p:set>
                                  </p:childTnLst>
                                </p:cTn>
                              </p:par>
                            </p:childTnLst>
                          </p:cTn>
                        </p:par>
                        <p:par>
                          <p:cTn id="106" fill="hold" nodeType="afterGroup">
                            <p:stCondLst>
                              <p:cond delay="18000"/>
                            </p:stCondLst>
                            <p:childTnLst>
                              <p:par>
                                <p:cTn id="107" presetID="49" presetClass="entr" presetSubtype="0" decel="100000" fill="hold" nodeType="afterEffect">
                                  <p:stCondLst>
                                    <p:cond delay="0"/>
                                  </p:stCondLst>
                                  <p:childTnLst>
                                    <p:set>
                                      <p:cBhvr>
                                        <p:cTn id="108" dur="1" fill="hold">
                                          <p:stCondLst>
                                            <p:cond delay="0"/>
                                          </p:stCondLst>
                                        </p:cTn>
                                        <p:tgtEl>
                                          <p:spTgt spid="104"/>
                                        </p:tgtEl>
                                        <p:attrNameLst>
                                          <p:attrName>style.visibility</p:attrName>
                                        </p:attrNameLst>
                                      </p:cBhvr>
                                      <p:to>
                                        <p:strVal val="visible"/>
                                      </p:to>
                                    </p:set>
                                    <p:anim calcmode="lin" valueType="num">
                                      <p:cBhvr>
                                        <p:cTn id="109" dur="500" fill="hold"/>
                                        <p:tgtEl>
                                          <p:spTgt spid="104"/>
                                        </p:tgtEl>
                                        <p:attrNameLst>
                                          <p:attrName>ppt_w</p:attrName>
                                        </p:attrNameLst>
                                      </p:cBhvr>
                                      <p:tavLst>
                                        <p:tav tm="0">
                                          <p:val>
                                            <p:fltVal val="0"/>
                                          </p:val>
                                        </p:tav>
                                        <p:tav tm="100000">
                                          <p:val>
                                            <p:strVal val="#ppt_w"/>
                                          </p:val>
                                        </p:tav>
                                      </p:tavLst>
                                    </p:anim>
                                    <p:anim calcmode="lin" valueType="num">
                                      <p:cBhvr>
                                        <p:cTn id="110" dur="500" fill="hold"/>
                                        <p:tgtEl>
                                          <p:spTgt spid="104"/>
                                        </p:tgtEl>
                                        <p:attrNameLst>
                                          <p:attrName>ppt_h</p:attrName>
                                        </p:attrNameLst>
                                      </p:cBhvr>
                                      <p:tavLst>
                                        <p:tav tm="0">
                                          <p:val>
                                            <p:fltVal val="0"/>
                                          </p:val>
                                        </p:tav>
                                        <p:tav tm="100000">
                                          <p:val>
                                            <p:strVal val="#ppt_h"/>
                                          </p:val>
                                        </p:tav>
                                      </p:tavLst>
                                    </p:anim>
                                    <p:anim calcmode="lin" valueType="num">
                                      <p:cBhvr>
                                        <p:cTn id="111" dur="500" fill="hold"/>
                                        <p:tgtEl>
                                          <p:spTgt spid="104"/>
                                        </p:tgtEl>
                                        <p:attrNameLst>
                                          <p:attrName>style.rotation</p:attrName>
                                        </p:attrNameLst>
                                      </p:cBhvr>
                                      <p:tavLst>
                                        <p:tav tm="0">
                                          <p:val>
                                            <p:fltVal val="360"/>
                                          </p:val>
                                        </p:tav>
                                        <p:tav tm="100000">
                                          <p:val>
                                            <p:fltVal val="0"/>
                                          </p:val>
                                        </p:tav>
                                      </p:tavLst>
                                    </p:anim>
                                    <p:animEffect transition="in" filter="fade">
                                      <p:cBhvr>
                                        <p:cTn id="112" dur="500"/>
                                        <p:tgtEl>
                                          <p:spTgt spid="104"/>
                                        </p:tgtEl>
                                      </p:cBhvr>
                                    </p:animEffect>
                                  </p:childTnLst>
                                </p:cTn>
                              </p:par>
                            </p:childTnLst>
                          </p:cTn>
                        </p:par>
                        <p:par>
                          <p:cTn id="113" fill="hold" nodeType="afterGroup">
                            <p:stCondLst>
                              <p:cond delay="18500"/>
                            </p:stCondLst>
                            <p:childTnLst>
                              <p:par>
                                <p:cTn id="114" presetID="0" presetClass="path" presetSubtype="0" accel="50000" decel="50000" fill="hold" grpId="0" nodeType="afterEffect">
                                  <p:stCondLst>
                                    <p:cond delay="0"/>
                                  </p:stCondLst>
                                  <p:childTnLst>
                                    <p:animMotion origin="layout" path="M -0.00035 -0.0007 C 0.01545 -0.00139 0.07812 0.00393 0.09427 -0.0044 C 0.09896 -0.03843 0.09167 -0.17107 0.09792 -0.17176 C 0.15625 -0.18009 0.28472 -0.17176 0.33385 -0.17176 " pathEditMode="relative" rAng="0" ptsTypes="affa">
                                      <p:cBhvr>
                                        <p:cTn id="115" dur="1000" fill="hold"/>
                                        <p:tgtEl>
                                          <p:spTgt spid="46"/>
                                        </p:tgtEl>
                                        <p:attrNameLst>
                                          <p:attrName>ppt_x</p:attrName>
                                          <p:attrName>ppt_y</p:attrName>
                                        </p:attrNameLst>
                                      </p:cBhvr>
                                      <p:rCtr x="167" y="-87"/>
                                    </p:animMotion>
                                  </p:childTnLst>
                                </p:cTn>
                              </p:par>
                            </p:childTnLst>
                          </p:cTn>
                        </p:par>
                        <p:par>
                          <p:cTn id="116" fill="hold" nodeType="afterGroup">
                            <p:stCondLst>
                              <p:cond delay="19500"/>
                            </p:stCondLst>
                            <p:childTnLst>
                              <p:par>
                                <p:cTn id="117" presetID="42" presetClass="exit" presetSubtype="0" fill="hold" nodeType="afterEffect">
                                  <p:stCondLst>
                                    <p:cond delay="0"/>
                                  </p:stCondLst>
                                  <p:childTnLst>
                                    <p:animEffect transition="out" filter="fade">
                                      <p:cBhvr>
                                        <p:cTn id="118" dur="500"/>
                                        <p:tgtEl>
                                          <p:spTgt spid="104"/>
                                        </p:tgtEl>
                                      </p:cBhvr>
                                    </p:animEffect>
                                    <p:anim calcmode="lin" valueType="num">
                                      <p:cBhvr>
                                        <p:cTn id="119" dur="500"/>
                                        <p:tgtEl>
                                          <p:spTgt spid="104"/>
                                        </p:tgtEl>
                                        <p:attrNameLst>
                                          <p:attrName>ppt_x</p:attrName>
                                        </p:attrNameLst>
                                      </p:cBhvr>
                                      <p:tavLst>
                                        <p:tav tm="0">
                                          <p:val>
                                            <p:strVal val="ppt_x"/>
                                          </p:val>
                                        </p:tav>
                                        <p:tav tm="100000">
                                          <p:val>
                                            <p:strVal val="ppt_x"/>
                                          </p:val>
                                        </p:tav>
                                      </p:tavLst>
                                    </p:anim>
                                    <p:anim calcmode="lin" valueType="num">
                                      <p:cBhvr>
                                        <p:cTn id="120" dur="500"/>
                                        <p:tgtEl>
                                          <p:spTgt spid="104"/>
                                        </p:tgtEl>
                                        <p:attrNameLst>
                                          <p:attrName>ppt_y</p:attrName>
                                        </p:attrNameLst>
                                      </p:cBhvr>
                                      <p:tavLst>
                                        <p:tav tm="0">
                                          <p:val>
                                            <p:strVal val="ppt_y"/>
                                          </p:val>
                                        </p:tav>
                                        <p:tav tm="100000">
                                          <p:val>
                                            <p:strVal val="ppt_y+.1"/>
                                          </p:val>
                                        </p:tav>
                                      </p:tavLst>
                                    </p:anim>
                                    <p:set>
                                      <p:cBhvr>
                                        <p:cTn id="121" dur="1" fill="hold">
                                          <p:stCondLst>
                                            <p:cond delay="499"/>
                                          </p:stCondLst>
                                        </p:cTn>
                                        <p:tgtEl>
                                          <p:spTgt spid="104"/>
                                        </p:tgtEl>
                                        <p:attrNameLst>
                                          <p:attrName>style.visibility</p:attrName>
                                        </p:attrNameLst>
                                      </p:cBhvr>
                                      <p:to>
                                        <p:strVal val="hidden"/>
                                      </p:to>
                                    </p:set>
                                  </p:childTnLst>
                                </p:cTn>
                              </p:par>
                              <p:par>
                                <p:cTn id="122" presetID="10" presetClass="entr" presetSubtype="0" fill="hold" nodeType="withEffect">
                                  <p:stCondLst>
                                    <p:cond delay="0"/>
                                  </p:stCondLst>
                                  <p:childTnLst>
                                    <p:set>
                                      <p:cBhvr>
                                        <p:cTn id="123" dur="1" fill="hold">
                                          <p:stCondLst>
                                            <p:cond delay="0"/>
                                          </p:stCondLst>
                                        </p:cTn>
                                        <p:tgtEl>
                                          <p:spTgt spid="126"/>
                                        </p:tgtEl>
                                        <p:attrNameLst>
                                          <p:attrName>style.visibility</p:attrName>
                                        </p:attrNameLst>
                                      </p:cBhvr>
                                      <p:to>
                                        <p:strVal val="visible"/>
                                      </p:to>
                                    </p:set>
                                    <p:animEffect transition="in" filter="fade">
                                      <p:cBhvr>
                                        <p:cTn id="124" dur="1000"/>
                                        <p:tgtEl>
                                          <p:spTgt spid="126"/>
                                        </p:tgtEl>
                                      </p:cBhvr>
                                    </p:animEffect>
                                  </p:childTnLst>
                                </p:cTn>
                              </p:par>
                            </p:childTnLst>
                          </p:cTn>
                        </p:par>
                        <p:par>
                          <p:cTn id="125" fill="hold" nodeType="afterGroup">
                            <p:stCondLst>
                              <p:cond delay="20500"/>
                            </p:stCondLst>
                            <p:childTnLst>
                              <p:par>
                                <p:cTn id="126" presetID="10" presetClass="exit" presetSubtype="0" fill="hold" nodeType="afterEffect">
                                  <p:stCondLst>
                                    <p:cond delay="0"/>
                                  </p:stCondLst>
                                  <p:childTnLst>
                                    <p:animEffect transition="out" filter="fade">
                                      <p:cBhvr>
                                        <p:cTn id="127" dur="1000"/>
                                        <p:tgtEl>
                                          <p:spTgt spid="126"/>
                                        </p:tgtEl>
                                      </p:cBhvr>
                                    </p:animEffect>
                                    <p:set>
                                      <p:cBhvr>
                                        <p:cTn id="128" dur="1" fill="hold">
                                          <p:stCondLst>
                                            <p:cond delay="999"/>
                                          </p:stCondLst>
                                        </p:cTn>
                                        <p:tgtEl>
                                          <p:spTgt spid="126"/>
                                        </p:tgtEl>
                                        <p:attrNameLst>
                                          <p:attrName>style.visibility</p:attrName>
                                        </p:attrNameLst>
                                      </p:cBhvr>
                                      <p:to>
                                        <p:strVal val="hidden"/>
                                      </p:to>
                                    </p:set>
                                  </p:childTnLst>
                                </p:cTn>
                              </p:par>
                            </p:childTnLst>
                          </p:cTn>
                        </p:par>
                        <p:par>
                          <p:cTn id="129" fill="hold" nodeType="afterGroup">
                            <p:stCondLst>
                              <p:cond delay="21500"/>
                            </p:stCondLst>
                            <p:childTnLst>
                              <p:par>
                                <p:cTn id="130" presetID="63" presetClass="path" presetSubtype="0" accel="50000" decel="50000" fill="hold" grpId="0" nodeType="afterEffect">
                                  <p:stCondLst>
                                    <p:cond delay="0"/>
                                  </p:stCondLst>
                                  <p:childTnLst>
                                    <p:animMotion origin="layout" path="M -2.5E-6 -4.44444E-6 L 0.19722 -4.44444E-6 " pathEditMode="relative" rAng="0" ptsTypes="AA">
                                      <p:cBhvr>
                                        <p:cTn id="131" dur="500" fill="hold"/>
                                        <p:tgtEl>
                                          <p:spTgt spid="15"/>
                                        </p:tgtEl>
                                        <p:attrNameLst>
                                          <p:attrName>ppt_x</p:attrName>
                                          <p:attrName>ppt_y</p:attrName>
                                        </p:attrNameLst>
                                      </p:cBhvr>
                                      <p:rCtr x="99" y="0"/>
                                    </p:animMotion>
                                  </p:childTnLst>
                                </p:cTn>
                              </p:par>
                            </p:childTnLst>
                          </p:cTn>
                        </p:par>
                        <p:par>
                          <p:cTn id="132" fill="hold" nodeType="afterGroup">
                            <p:stCondLst>
                              <p:cond delay="22000"/>
                            </p:stCondLst>
                            <p:childTnLst>
                              <p:par>
                                <p:cTn id="133" presetID="10" presetClass="entr" presetSubtype="0" fill="hold" grpId="0" nodeType="afterEffect">
                                  <p:stCondLst>
                                    <p:cond delay="0"/>
                                  </p:stCondLst>
                                  <p:childTnLst>
                                    <p:set>
                                      <p:cBhvr>
                                        <p:cTn id="134" dur="1" fill="hold">
                                          <p:stCondLst>
                                            <p:cond delay="0"/>
                                          </p:stCondLst>
                                        </p:cTn>
                                        <p:tgtEl>
                                          <p:spTgt spid="149"/>
                                        </p:tgtEl>
                                        <p:attrNameLst>
                                          <p:attrName>style.visibility</p:attrName>
                                        </p:attrNameLst>
                                      </p:cBhvr>
                                      <p:to>
                                        <p:strVal val="visible"/>
                                      </p:to>
                                    </p:set>
                                    <p:animEffect transition="in" filter="fade">
                                      <p:cBhvr>
                                        <p:cTn id="135" dur="1000"/>
                                        <p:tgtEl>
                                          <p:spTgt spid="149"/>
                                        </p:tgtEl>
                                      </p:cBhvr>
                                    </p:animEffect>
                                  </p:childTnLst>
                                </p:cTn>
                              </p:par>
                            </p:childTnLst>
                          </p:cTn>
                        </p:par>
                        <p:par>
                          <p:cTn id="136" fill="hold" nodeType="afterGroup">
                            <p:stCondLst>
                              <p:cond delay="23000"/>
                            </p:stCondLst>
                            <p:childTnLst>
                              <p:par>
                                <p:cTn id="137" presetID="10" presetClass="exit" presetSubtype="0" fill="hold" grpId="1" nodeType="afterEffect">
                                  <p:stCondLst>
                                    <p:cond delay="0"/>
                                  </p:stCondLst>
                                  <p:childTnLst>
                                    <p:animEffect transition="out" filter="fade">
                                      <p:cBhvr>
                                        <p:cTn id="138" dur="1000"/>
                                        <p:tgtEl>
                                          <p:spTgt spid="149"/>
                                        </p:tgtEl>
                                      </p:cBhvr>
                                    </p:animEffect>
                                    <p:set>
                                      <p:cBhvr>
                                        <p:cTn id="139" dur="1" fill="hold">
                                          <p:stCondLst>
                                            <p:cond delay="999"/>
                                          </p:stCondLst>
                                        </p:cTn>
                                        <p:tgtEl>
                                          <p:spTgt spid="149"/>
                                        </p:tgtEl>
                                        <p:attrNameLst>
                                          <p:attrName>style.visibility</p:attrName>
                                        </p:attrNameLst>
                                      </p:cBhvr>
                                      <p:to>
                                        <p:strVal val="hidden"/>
                                      </p:to>
                                    </p:set>
                                  </p:childTnLst>
                                </p:cTn>
                              </p:par>
                            </p:childTnLst>
                          </p:cTn>
                        </p:par>
                        <p:par>
                          <p:cTn id="140" fill="hold" nodeType="afterGroup">
                            <p:stCondLst>
                              <p:cond delay="24000"/>
                            </p:stCondLst>
                            <p:childTnLst>
                              <p:par>
                                <p:cTn id="141" presetID="49" presetClass="entr" presetSubtype="0" decel="100000" fill="hold" nodeType="afterEffect">
                                  <p:stCondLst>
                                    <p:cond delay="0"/>
                                  </p:stCondLst>
                                  <p:childTnLst>
                                    <p:set>
                                      <p:cBhvr>
                                        <p:cTn id="142" dur="1" fill="hold">
                                          <p:stCondLst>
                                            <p:cond delay="0"/>
                                          </p:stCondLst>
                                        </p:cTn>
                                        <p:tgtEl>
                                          <p:spTgt spid="89"/>
                                        </p:tgtEl>
                                        <p:attrNameLst>
                                          <p:attrName>style.visibility</p:attrName>
                                        </p:attrNameLst>
                                      </p:cBhvr>
                                      <p:to>
                                        <p:strVal val="visible"/>
                                      </p:to>
                                    </p:set>
                                    <p:anim calcmode="lin" valueType="num">
                                      <p:cBhvr>
                                        <p:cTn id="143" dur="500" fill="hold"/>
                                        <p:tgtEl>
                                          <p:spTgt spid="89"/>
                                        </p:tgtEl>
                                        <p:attrNameLst>
                                          <p:attrName>ppt_w</p:attrName>
                                        </p:attrNameLst>
                                      </p:cBhvr>
                                      <p:tavLst>
                                        <p:tav tm="0">
                                          <p:val>
                                            <p:fltVal val="0"/>
                                          </p:val>
                                        </p:tav>
                                        <p:tav tm="100000">
                                          <p:val>
                                            <p:strVal val="#ppt_w"/>
                                          </p:val>
                                        </p:tav>
                                      </p:tavLst>
                                    </p:anim>
                                    <p:anim calcmode="lin" valueType="num">
                                      <p:cBhvr>
                                        <p:cTn id="144" dur="500" fill="hold"/>
                                        <p:tgtEl>
                                          <p:spTgt spid="89"/>
                                        </p:tgtEl>
                                        <p:attrNameLst>
                                          <p:attrName>ppt_h</p:attrName>
                                        </p:attrNameLst>
                                      </p:cBhvr>
                                      <p:tavLst>
                                        <p:tav tm="0">
                                          <p:val>
                                            <p:fltVal val="0"/>
                                          </p:val>
                                        </p:tav>
                                        <p:tav tm="100000">
                                          <p:val>
                                            <p:strVal val="#ppt_h"/>
                                          </p:val>
                                        </p:tav>
                                      </p:tavLst>
                                    </p:anim>
                                    <p:anim calcmode="lin" valueType="num">
                                      <p:cBhvr>
                                        <p:cTn id="145" dur="500" fill="hold"/>
                                        <p:tgtEl>
                                          <p:spTgt spid="89"/>
                                        </p:tgtEl>
                                        <p:attrNameLst>
                                          <p:attrName>style.rotation</p:attrName>
                                        </p:attrNameLst>
                                      </p:cBhvr>
                                      <p:tavLst>
                                        <p:tav tm="0">
                                          <p:val>
                                            <p:fltVal val="360"/>
                                          </p:val>
                                        </p:tav>
                                        <p:tav tm="100000">
                                          <p:val>
                                            <p:fltVal val="0"/>
                                          </p:val>
                                        </p:tav>
                                      </p:tavLst>
                                    </p:anim>
                                    <p:animEffect transition="in" filter="fade">
                                      <p:cBhvr>
                                        <p:cTn id="146" dur="500"/>
                                        <p:tgtEl>
                                          <p:spTgt spid="89"/>
                                        </p:tgtEl>
                                      </p:cBhvr>
                                    </p:animEffect>
                                  </p:childTnLst>
                                </p:cTn>
                              </p:par>
                            </p:childTnLst>
                          </p:cTn>
                        </p:par>
                        <p:par>
                          <p:cTn id="147" fill="hold" nodeType="afterGroup">
                            <p:stCondLst>
                              <p:cond delay="24500"/>
                            </p:stCondLst>
                            <p:childTnLst>
                              <p:par>
                                <p:cTn id="148" presetID="0" presetClass="path" presetSubtype="0" accel="50000" decel="50000" fill="hold" grpId="0" nodeType="afterEffect">
                                  <p:stCondLst>
                                    <p:cond delay="0"/>
                                  </p:stCondLst>
                                  <p:childTnLst>
                                    <p:animMotion origin="layout" path="M -0.00035 -0.00069 C 0.01493 0.00047 0.07049 0.00347 0.09184 0.00671 C 0.10764 0.00787 0.07101 0.15059 0.11146 0.17604 C 0.15156 0.1772 0.28802 0.16239 0.33455 0.15892 " pathEditMode="relative" rAng="0" ptsTypes="atfa">
                                      <p:cBhvr>
                                        <p:cTn id="149" dur="1000" fill="hold"/>
                                        <p:tgtEl>
                                          <p:spTgt spid="37"/>
                                        </p:tgtEl>
                                        <p:attrNameLst>
                                          <p:attrName>ppt_x</p:attrName>
                                          <p:attrName>ppt_y</p:attrName>
                                        </p:attrNameLst>
                                      </p:cBhvr>
                                      <p:rCtr x="167" y="89"/>
                                    </p:animMotion>
                                  </p:childTnLst>
                                </p:cTn>
                              </p:par>
                            </p:childTnLst>
                          </p:cTn>
                        </p:par>
                        <p:par>
                          <p:cTn id="150" fill="hold" nodeType="afterGroup">
                            <p:stCondLst>
                              <p:cond delay="25500"/>
                            </p:stCondLst>
                            <p:childTnLst>
                              <p:par>
                                <p:cTn id="151" presetID="42" presetClass="exit" presetSubtype="0" fill="hold" nodeType="afterEffect">
                                  <p:stCondLst>
                                    <p:cond delay="0"/>
                                  </p:stCondLst>
                                  <p:childTnLst>
                                    <p:animEffect transition="out" filter="fade">
                                      <p:cBhvr>
                                        <p:cTn id="152" dur="500"/>
                                        <p:tgtEl>
                                          <p:spTgt spid="89"/>
                                        </p:tgtEl>
                                      </p:cBhvr>
                                    </p:animEffect>
                                    <p:anim calcmode="lin" valueType="num">
                                      <p:cBhvr>
                                        <p:cTn id="153" dur="500"/>
                                        <p:tgtEl>
                                          <p:spTgt spid="89"/>
                                        </p:tgtEl>
                                        <p:attrNameLst>
                                          <p:attrName>ppt_x</p:attrName>
                                        </p:attrNameLst>
                                      </p:cBhvr>
                                      <p:tavLst>
                                        <p:tav tm="0">
                                          <p:val>
                                            <p:strVal val="ppt_x"/>
                                          </p:val>
                                        </p:tav>
                                        <p:tav tm="100000">
                                          <p:val>
                                            <p:strVal val="ppt_x"/>
                                          </p:val>
                                        </p:tav>
                                      </p:tavLst>
                                    </p:anim>
                                    <p:anim calcmode="lin" valueType="num">
                                      <p:cBhvr>
                                        <p:cTn id="154" dur="500"/>
                                        <p:tgtEl>
                                          <p:spTgt spid="89"/>
                                        </p:tgtEl>
                                        <p:attrNameLst>
                                          <p:attrName>ppt_y</p:attrName>
                                        </p:attrNameLst>
                                      </p:cBhvr>
                                      <p:tavLst>
                                        <p:tav tm="0">
                                          <p:val>
                                            <p:strVal val="ppt_y"/>
                                          </p:val>
                                        </p:tav>
                                        <p:tav tm="100000">
                                          <p:val>
                                            <p:strVal val="ppt_y+.1"/>
                                          </p:val>
                                        </p:tav>
                                      </p:tavLst>
                                    </p:anim>
                                    <p:set>
                                      <p:cBhvr>
                                        <p:cTn id="155" dur="1" fill="hold">
                                          <p:stCondLst>
                                            <p:cond delay="499"/>
                                          </p:stCondLst>
                                        </p:cTn>
                                        <p:tgtEl>
                                          <p:spTgt spid="89"/>
                                        </p:tgtEl>
                                        <p:attrNameLst>
                                          <p:attrName>style.visibility</p:attrName>
                                        </p:attrNameLst>
                                      </p:cBhvr>
                                      <p:to>
                                        <p:strVal val="hidden"/>
                                      </p:to>
                                    </p:set>
                                  </p:childTnLst>
                                </p:cTn>
                              </p:par>
                            </p:childTnLst>
                          </p:cTn>
                        </p:par>
                        <p:par>
                          <p:cTn id="156" fill="hold" nodeType="afterGroup">
                            <p:stCondLst>
                              <p:cond delay="26000"/>
                            </p:stCondLst>
                            <p:childTnLst>
                              <p:par>
                                <p:cTn id="157" presetID="1" presetClass="entr" presetSubtype="0" fill="hold" nodeType="afterEffect">
                                  <p:stCondLst>
                                    <p:cond delay="0"/>
                                  </p:stCondLst>
                                  <p:childTnLst>
                                    <p:set>
                                      <p:cBhvr>
                                        <p:cTn id="158" dur="1" fill="hold">
                                          <p:stCondLst>
                                            <p:cond delay="0"/>
                                          </p:stCondLst>
                                        </p:cTn>
                                        <p:tgtEl>
                                          <p:spTgt spid="131"/>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27"/>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32"/>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35"/>
                                        </p:tgtEl>
                                        <p:attrNameLst>
                                          <p:attrName>style.visibility</p:attrName>
                                        </p:attrNameLst>
                                      </p:cBhvr>
                                      <p:to>
                                        <p:strVal val="visible"/>
                                      </p:to>
                                    </p:set>
                                  </p:childTnLst>
                                </p:cTn>
                              </p:par>
                              <p:par>
                                <p:cTn id="165" presetID="10" presetClass="entr" presetSubtype="0" fill="hold" nodeType="withEffect">
                                  <p:stCondLst>
                                    <p:cond delay="0"/>
                                  </p:stCondLst>
                                  <p:childTnLst>
                                    <p:set>
                                      <p:cBhvr>
                                        <p:cTn id="166" dur="1" fill="hold">
                                          <p:stCondLst>
                                            <p:cond delay="0"/>
                                          </p:stCondLst>
                                        </p:cTn>
                                        <p:tgtEl>
                                          <p:spTgt spid="133"/>
                                        </p:tgtEl>
                                        <p:attrNameLst>
                                          <p:attrName>style.visibility</p:attrName>
                                        </p:attrNameLst>
                                      </p:cBhvr>
                                      <p:to>
                                        <p:strVal val="visible"/>
                                      </p:to>
                                    </p:set>
                                    <p:animEffect transition="in" filter="fade">
                                      <p:cBhvr>
                                        <p:cTn id="167" dur="1000"/>
                                        <p:tgtEl>
                                          <p:spTgt spid="133"/>
                                        </p:tgtEl>
                                      </p:cBhvr>
                                    </p:animEffect>
                                  </p:childTnLst>
                                </p:cTn>
                              </p:par>
                            </p:childTnLst>
                          </p:cTn>
                        </p:par>
                        <p:par>
                          <p:cTn id="168" fill="hold" nodeType="afterGroup">
                            <p:stCondLst>
                              <p:cond delay="27000"/>
                            </p:stCondLst>
                            <p:childTnLst>
                              <p:par>
                                <p:cTn id="169" presetID="10" presetClass="exit" presetSubtype="0" fill="hold" nodeType="afterEffect">
                                  <p:stCondLst>
                                    <p:cond delay="0"/>
                                  </p:stCondLst>
                                  <p:childTnLst>
                                    <p:animEffect transition="out" filter="fade">
                                      <p:cBhvr>
                                        <p:cTn id="170" dur="1000"/>
                                        <p:tgtEl>
                                          <p:spTgt spid="133"/>
                                        </p:tgtEl>
                                      </p:cBhvr>
                                    </p:animEffect>
                                    <p:set>
                                      <p:cBhvr>
                                        <p:cTn id="171" dur="1" fill="hold">
                                          <p:stCondLst>
                                            <p:cond delay="999"/>
                                          </p:stCondLst>
                                        </p:cTn>
                                        <p:tgtEl>
                                          <p:spTgt spid="133"/>
                                        </p:tgtEl>
                                        <p:attrNameLst>
                                          <p:attrName>style.visibility</p:attrName>
                                        </p:attrNameLst>
                                      </p:cBhvr>
                                      <p:to>
                                        <p:strVal val="hidden"/>
                                      </p:to>
                                    </p:set>
                                  </p:childTnLst>
                                </p:cTn>
                              </p:par>
                            </p:childTnLst>
                          </p:cTn>
                        </p:par>
                        <p:par>
                          <p:cTn id="172" fill="hold" nodeType="afterGroup">
                            <p:stCondLst>
                              <p:cond delay="28000"/>
                            </p:stCondLst>
                            <p:childTnLst>
                              <p:par>
                                <p:cTn id="173" presetID="63" presetClass="path" presetSubtype="0" accel="50000" decel="50000" fill="hold" grpId="0" nodeType="afterEffect">
                                  <p:stCondLst>
                                    <p:cond delay="0"/>
                                  </p:stCondLst>
                                  <p:childTnLst>
                                    <p:animMotion origin="layout" path="M -2.5E-6 -4.44444E-6 L 0.19722 -4.44444E-6 " pathEditMode="relative" rAng="0" ptsTypes="AA">
                                      <p:cBhvr>
                                        <p:cTn id="174" dur="500" fill="hold"/>
                                        <p:tgtEl>
                                          <p:spTgt spid="16"/>
                                        </p:tgtEl>
                                        <p:attrNameLst>
                                          <p:attrName>ppt_x</p:attrName>
                                          <p:attrName>ppt_y</p:attrName>
                                        </p:attrNameLst>
                                      </p:cBhvr>
                                      <p:rCtr x="99" y="0"/>
                                    </p:animMotion>
                                  </p:childTnLst>
                                </p:cTn>
                              </p:par>
                            </p:childTnLst>
                          </p:cTn>
                        </p:par>
                        <p:par>
                          <p:cTn id="175" fill="hold" nodeType="afterGroup">
                            <p:stCondLst>
                              <p:cond delay="28500"/>
                            </p:stCondLst>
                            <p:childTnLst>
                              <p:par>
                                <p:cTn id="176" presetID="10" presetClass="entr" presetSubtype="0" fill="hold" grpId="0" nodeType="afterEffect">
                                  <p:stCondLst>
                                    <p:cond delay="0"/>
                                  </p:stCondLst>
                                  <p:childTnLst>
                                    <p:set>
                                      <p:cBhvr>
                                        <p:cTn id="177" dur="1" fill="hold">
                                          <p:stCondLst>
                                            <p:cond delay="0"/>
                                          </p:stCondLst>
                                        </p:cTn>
                                        <p:tgtEl>
                                          <p:spTgt spid="150"/>
                                        </p:tgtEl>
                                        <p:attrNameLst>
                                          <p:attrName>style.visibility</p:attrName>
                                        </p:attrNameLst>
                                      </p:cBhvr>
                                      <p:to>
                                        <p:strVal val="visible"/>
                                      </p:to>
                                    </p:set>
                                    <p:animEffect transition="in" filter="fade">
                                      <p:cBhvr>
                                        <p:cTn id="178" dur="1000"/>
                                        <p:tgtEl>
                                          <p:spTgt spid="150"/>
                                        </p:tgtEl>
                                      </p:cBhvr>
                                    </p:animEffect>
                                  </p:childTnLst>
                                </p:cTn>
                              </p:par>
                            </p:childTnLst>
                          </p:cTn>
                        </p:par>
                        <p:par>
                          <p:cTn id="179" fill="hold" nodeType="afterGroup">
                            <p:stCondLst>
                              <p:cond delay="29500"/>
                            </p:stCondLst>
                            <p:childTnLst>
                              <p:par>
                                <p:cTn id="180" presetID="10" presetClass="exit" presetSubtype="0" fill="hold" grpId="1" nodeType="afterEffect">
                                  <p:stCondLst>
                                    <p:cond delay="0"/>
                                  </p:stCondLst>
                                  <p:childTnLst>
                                    <p:animEffect transition="out" filter="fade">
                                      <p:cBhvr>
                                        <p:cTn id="181" dur="1000"/>
                                        <p:tgtEl>
                                          <p:spTgt spid="150"/>
                                        </p:tgtEl>
                                      </p:cBhvr>
                                    </p:animEffect>
                                    <p:set>
                                      <p:cBhvr>
                                        <p:cTn id="182" dur="1" fill="hold">
                                          <p:stCondLst>
                                            <p:cond delay="999"/>
                                          </p:stCondLst>
                                        </p:cTn>
                                        <p:tgtEl>
                                          <p:spTgt spid="150"/>
                                        </p:tgtEl>
                                        <p:attrNameLst>
                                          <p:attrName>style.visibility</p:attrName>
                                        </p:attrNameLst>
                                      </p:cBhvr>
                                      <p:to>
                                        <p:strVal val="hidden"/>
                                      </p:to>
                                    </p:set>
                                  </p:childTnLst>
                                </p:cTn>
                              </p:par>
                            </p:childTnLst>
                          </p:cTn>
                        </p:par>
                        <p:par>
                          <p:cTn id="183" fill="hold" nodeType="afterGroup">
                            <p:stCondLst>
                              <p:cond delay="30500"/>
                            </p:stCondLst>
                            <p:childTnLst>
                              <p:par>
                                <p:cTn id="184" presetID="49" presetClass="entr" presetSubtype="0" decel="100000" fill="hold" nodeType="afterEffect">
                                  <p:stCondLst>
                                    <p:cond delay="0"/>
                                  </p:stCondLst>
                                  <p:childTnLst>
                                    <p:set>
                                      <p:cBhvr>
                                        <p:cTn id="185" dur="1" fill="hold">
                                          <p:stCondLst>
                                            <p:cond delay="0"/>
                                          </p:stCondLst>
                                        </p:cTn>
                                        <p:tgtEl>
                                          <p:spTgt spid="79"/>
                                        </p:tgtEl>
                                        <p:attrNameLst>
                                          <p:attrName>style.visibility</p:attrName>
                                        </p:attrNameLst>
                                      </p:cBhvr>
                                      <p:to>
                                        <p:strVal val="visible"/>
                                      </p:to>
                                    </p:set>
                                    <p:anim calcmode="lin" valueType="num">
                                      <p:cBhvr>
                                        <p:cTn id="186" dur="500" fill="hold"/>
                                        <p:tgtEl>
                                          <p:spTgt spid="79"/>
                                        </p:tgtEl>
                                        <p:attrNameLst>
                                          <p:attrName>ppt_w</p:attrName>
                                        </p:attrNameLst>
                                      </p:cBhvr>
                                      <p:tavLst>
                                        <p:tav tm="0">
                                          <p:val>
                                            <p:fltVal val="0"/>
                                          </p:val>
                                        </p:tav>
                                        <p:tav tm="100000">
                                          <p:val>
                                            <p:strVal val="#ppt_w"/>
                                          </p:val>
                                        </p:tav>
                                      </p:tavLst>
                                    </p:anim>
                                    <p:anim calcmode="lin" valueType="num">
                                      <p:cBhvr>
                                        <p:cTn id="187" dur="500" fill="hold"/>
                                        <p:tgtEl>
                                          <p:spTgt spid="79"/>
                                        </p:tgtEl>
                                        <p:attrNameLst>
                                          <p:attrName>ppt_h</p:attrName>
                                        </p:attrNameLst>
                                      </p:cBhvr>
                                      <p:tavLst>
                                        <p:tav tm="0">
                                          <p:val>
                                            <p:fltVal val="0"/>
                                          </p:val>
                                        </p:tav>
                                        <p:tav tm="100000">
                                          <p:val>
                                            <p:strVal val="#ppt_h"/>
                                          </p:val>
                                        </p:tav>
                                      </p:tavLst>
                                    </p:anim>
                                    <p:anim calcmode="lin" valueType="num">
                                      <p:cBhvr>
                                        <p:cTn id="188" dur="500" fill="hold"/>
                                        <p:tgtEl>
                                          <p:spTgt spid="79"/>
                                        </p:tgtEl>
                                        <p:attrNameLst>
                                          <p:attrName>style.rotation</p:attrName>
                                        </p:attrNameLst>
                                      </p:cBhvr>
                                      <p:tavLst>
                                        <p:tav tm="0">
                                          <p:val>
                                            <p:fltVal val="360"/>
                                          </p:val>
                                        </p:tav>
                                        <p:tav tm="100000">
                                          <p:val>
                                            <p:fltVal val="0"/>
                                          </p:val>
                                        </p:tav>
                                      </p:tavLst>
                                    </p:anim>
                                    <p:animEffect transition="in" filter="fade">
                                      <p:cBhvr>
                                        <p:cTn id="189" dur="500"/>
                                        <p:tgtEl>
                                          <p:spTgt spid="79"/>
                                        </p:tgtEl>
                                      </p:cBhvr>
                                    </p:animEffect>
                                  </p:childTnLst>
                                </p:cTn>
                              </p:par>
                            </p:childTnLst>
                          </p:cTn>
                        </p:par>
                        <p:par>
                          <p:cTn id="190" fill="hold" nodeType="afterGroup">
                            <p:stCondLst>
                              <p:cond delay="31000"/>
                            </p:stCondLst>
                            <p:childTnLst>
                              <p:par>
                                <p:cTn id="191" presetID="0" presetClass="path" presetSubtype="0" accel="50000" decel="50000" fill="hold" grpId="0" nodeType="afterEffect">
                                  <p:stCondLst>
                                    <p:cond delay="0"/>
                                  </p:stCondLst>
                                  <p:childTnLst>
                                    <p:animMotion origin="layout" path="M -0.00035 -0.00069 C 0.01094 -0.00162 0.05469 -0.00185 0.06719 -0.00671 C 0.07708 -0.01435 0.06198 -0.06296 0.07604 -0.06713 C 0.09479 -0.07268 0.13125 -0.06967 0.17344 -0.0706 C 0.21562 -0.07153 0.2967 -0.07176 0.32917 -0.07199 " pathEditMode="relative" rAng="0" ptsTypes="affaa">
                                      <p:cBhvr>
                                        <p:cTn id="192" dur="1000" fill="hold"/>
                                        <p:tgtEl>
                                          <p:spTgt spid="44"/>
                                        </p:tgtEl>
                                        <p:attrNameLst>
                                          <p:attrName>ppt_x</p:attrName>
                                          <p:attrName>ppt_y</p:attrName>
                                        </p:attrNameLst>
                                      </p:cBhvr>
                                      <p:rCtr x="165" y="-36"/>
                                    </p:animMotion>
                                  </p:childTnLst>
                                </p:cTn>
                              </p:par>
                            </p:childTnLst>
                          </p:cTn>
                        </p:par>
                        <p:par>
                          <p:cTn id="193" fill="hold" nodeType="afterGroup">
                            <p:stCondLst>
                              <p:cond delay="32000"/>
                            </p:stCondLst>
                            <p:childTnLst>
                              <p:par>
                                <p:cTn id="194" presetID="42" presetClass="exit" presetSubtype="0" fill="hold" nodeType="afterEffect">
                                  <p:stCondLst>
                                    <p:cond delay="0"/>
                                  </p:stCondLst>
                                  <p:childTnLst>
                                    <p:animEffect transition="out" filter="fade">
                                      <p:cBhvr>
                                        <p:cTn id="195" dur="500"/>
                                        <p:tgtEl>
                                          <p:spTgt spid="79"/>
                                        </p:tgtEl>
                                      </p:cBhvr>
                                    </p:animEffect>
                                    <p:anim calcmode="lin" valueType="num">
                                      <p:cBhvr>
                                        <p:cTn id="196" dur="500"/>
                                        <p:tgtEl>
                                          <p:spTgt spid="79"/>
                                        </p:tgtEl>
                                        <p:attrNameLst>
                                          <p:attrName>ppt_x</p:attrName>
                                        </p:attrNameLst>
                                      </p:cBhvr>
                                      <p:tavLst>
                                        <p:tav tm="0">
                                          <p:val>
                                            <p:strVal val="ppt_x"/>
                                          </p:val>
                                        </p:tav>
                                        <p:tav tm="100000">
                                          <p:val>
                                            <p:strVal val="ppt_x"/>
                                          </p:val>
                                        </p:tav>
                                      </p:tavLst>
                                    </p:anim>
                                    <p:anim calcmode="lin" valueType="num">
                                      <p:cBhvr>
                                        <p:cTn id="197" dur="500"/>
                                        <p:tgtEl>
                                          <p:spTgt spid="79"/>
                                        </p:tgtEl>
                                        <p:attrNameLst>
                                          <p:attrName>ppt_y</p:attrName>
                                        </p:attrNameLst>
                                      </p:cBhvr>
                                      <p:tavLst>
                                        <p:tav tm="0">
                                          <p:val>
                                            <p:strVal val="ppt_y"/>
                                          </p:val>
                                        </p:tav>
                                        <p:tav tm="100000">
                                          <p:val>
                                            <p:strVal val="ppt_y+.1"/>
                                          </p:val>
                                        </p:tav>
                                      </p:tavLst>
                                    </p:anim>
                                    <p:set>
                                      <p:cBhvr>
                                        <p:cTn id="198" dur="1" fill="hold">
                                          <p:stCondLst>
                                            <p:cond delay="499"/>
                                          </p:stCondLst>
                                        </p:cTn>
                                        <p:tgtEl>
                                          <p:spTgt spid="79"/>
                                        </p:tgtEl>
                                        <p:attrNameLst>
                                          <p:attrName>style.visibility</p:attrName>
                                        </p:attrNameLst>
                                      </p:cBhvr>
                                      <p:to>
                                        <p:strVal val="hidden"/>
                                      </p:to>
                                    </p:set>
                                  </p:childTnLst>
                                </p:cTn>
                              </p:par>
                              <p:par>
                                <p:cTn id="199" presetID="10" presetClass="entr" presetSubtype="0" fill="hold" nodeType="withEffect">
                                  <p:stCondLst>
                                    <p:cond delay="0"/>
                                  </p:stCondLst>
                                  <p:childTnLst>
                                    <p:set>
                                      <p:cBhvr>
                                        <p:cTn id="200" dur="1" fill="hold">
                                          <p:stCondLst>
                                            <p:cond delay="0"/>
                                          </p:stCondLst>
                                        </p:cTn>
                                        <p:tgtEl>
                                          <p:spTgt spid="128"/>
                                        </p:tgtEl>
                                        <p:attrNameLst>
                                          <p:attrName>style.visibility</p:attrName>
                                        </p:attrNameLst>
                                      </p:cBhvr>
                                      <p:to>
                                        <p:strVal val="visible"/>
                                      </p:to>
                                    </p:set>
                                    <p:animEffect transition="in" filter="fade">
                                      <p:cBhvr>
                                        <p:cTn id="201" dur="1000"/>
                                        <p:tgtEl>
                                          <p:spTgt spid="128"/>
                                        </p:tgtEl>
                                      </p:cBhvr>
                                    </p:animEffect>
                                  </p:childTnLst>
                                </p:cTn>
                              </p:par>
                            </p:childTnLst>
                          </p:cTn>
                        </p:par>
                        <p:par>
                          <p:cTn id="202" fill="hold" nodeType="afterGroup">
                            <p:stCondLst>
                              <p:cond delay="33000"/>
                            </p:stCondLst>
                            <p:childTnLst>
                              <p:par>
                                <p:cTn id="203" presetID="10" presetClass="exit" presetSubtype="0" fill="hold" nodeType="afterEffect">
                                  <p:stCondLst>
                                    <p:cond delay="0"/>
                                  </p:stCondLst>
                                  <p:childTnLst>
                                    <p:animEffect transition="out" filter="fade">
                                      <p:cBhvr>
                                        <p:cTn id="204" dur="1000"/>
                                        <p:tgtEl>
                                          <p:spTgt spid="128"/>
                                        </p:tgtEl>
                                      </p:cBhvr>
                                    </p:animEffect>
                                    <p:set>
                                      <p:cBhvr>
                                        <p:cTn id="205" dur="1" fill="hold">
                                          <p:stCondLst>
                                            <p:cond delay="999"/>
                                          </p:stCondLst>
                                        </p:cTn>
                                        <p:tgtEl>
                                          <p:spTgt spid="128"/>
                                        </p:tgtEl>
                                        <p:attrNameLst>
                                          <p:attrName>style.visibility</p:attrName>
                                        </p:attrNameLst>
                                      </p:cBhvr>
                                      <p:to>
                                        <p:strVal val="hidden"/>
                                      </p:to>
                                    </p:set>
                                  </p:childTnLst>
                                </p:cTn>
                              </p:par>
                            </p:childTnLst>
                          </p:cTn>
                        </p:par>
                        <p:par>
                          <p:cTn id="206" fill="hold" nodeType="afterGroup">
                            <p:stCondLst>
                              <p:cond delay="34000"/>
                            </p:stCondLst>
                            <p:childTnLst>
                              <p:par>
                                <p:cTn id="207" presetID="63" presetClass="path" presetSubtype="0" accel="50000" decel="50000" fill="hold" grpId="0" nodeType="afterEffect">
                                  <p:stCondLst>
                                    <p:cond delay="0"/>
                                  </p:stCondLst>
                                  <p:childTnLst>
                                    <p:animMotion origin="layout" path="M -2.5E-6 -4.44444E-6 L 0.19722 -4.44444E-6 " pathEditMode="relative" rAng="0" ptsTypes="AA">
                                      <p:cBhvr>
                                        <p:cTn id="208" dur="500" fill="hold"/>
                                        <p:tgtEl>
                                          <p:spTgt spid="17"/>
                                        </p:tgtEl>
                                        <p:attrNameLst>
                                          <p:attrName>ppt_x</p:attrName>
                                          <p:attrName>ppt_y</p:attrName>
                                        </p:attrNameLst>
                                      </p:cBhvr>
                                      <p:rCtr x="99" y="0"/>
                                    </p:animMotion>
                                  </p:childTnLst>
                                </p:cTn>
                              </p:par>
                            </p:childTnLst>
                          </p:cTn>
                        </p:par>
                        <p:par>
                          <p:cTn id="209" fill="hold" nodeType="afterGroup">
                            <p:stCondLst>
                              <p:cond delay="34500"/>
                            </p:stCondLst>
                            <p:childTnLst>
                              <p:par>
                                <p:cTn id="210" presetID="10" presetClass="entr" presetSubtype="0" fill="hold" grpId="0" nodeType="afterEffect">
                                  <p:stCondLst>
                                    <p:cond delay="0"/>
                                  </p:stCondLst>
                                  <p:childTnLst>
                                    <p:set>
                                      <p:cBhvr>
                                        <p:cTn id="211" dur="1" fill="hold">
                                          <p:stCondLst>
                                            <p:cond delay="0"/>
                                          </p:stCondLst>
                                        </p:cTn>
                                        <p:tgtEl>
                                          <p:spTgt spid="151"/>
                                        </p:tgtEl>
                                        <p:attrNameLst>
                                          <p:attrName>style.visibility</p:attrName>
                                        </p:attrNameLst>
                                      </p:cBhvr>
                                      <p:to>
                                        <p:strVal val="visible"/>
                                      </p:to>
                                    </p:set>
                                    <p:animEffect transition="in" filter="fade">
                                      <p:cBhvr>
                                        <p:cTn id="212" dur="1000"/>
                                        <p:tgtEl>
                                          <p:spTgt spid="151"/>
                                        </p:tgtEl>
                                      </p:cBhvr>
                                    </p:animEffect>
                                  </p:childTnLst>
                                </p:cTn>
                              </p:par>
                            </p:childTnLst>
                          </p:cTn>
                        </p:par>
                        <p:par>
                          <p:cTn id="213" fill="hold" nodeType="afterGroup">
                            <p:stCondLst>
                              <p:cond delay="35500"/>
                            </p:stCondLst>
                            <p:childTnLst>
                              <p:par>
                                <p:cTn id="214" presetID="10" presetClass="exit" presetSubtype="0" fill="hold" grpId="1" nodeType="afterEffect">
                                  <p:stCondLst>
                                    <p:cond delay="0"/>
                                  </p:stCondLst>
                                  <p:childTnLst>
                                    <p:animEffect transition="out" filter="fade">
                                      <p:cBhvr>
                                        <p:cTn id="215" dur="1000"/>
                                        <p:tgtEl>
                                          <p:spTgt spid="151"/>
                                        </p:tgtEl>
                                      </p:cBhvr>
                                    </p:animEffect>
                                    <p:set>
                                      <p:cBhvr>
                                        <p:cTn id="216" dur="1" fill="hold">
                                          <p:stCondLst>
                                            <p:cond delay="999"/>
                                          </p:stCondLst>
                                        </p:cTn>
                                        <p:tgtEl>
                                          <p:spTgt spid="151"/>
                                        </p:tgtEl>
                                        <p:attrNameLst>
                                          <p:attrName>style.visibility</p:attrName>
                                        </p:attrNameLst>
                                      </p:cBhvr>
                                      <p:to>
                                        <p:strVal val="hidden"/>
                                      </p:to>
                                    </p:set>
                                  </p:childTnLst>
                                </p:cTn>
                              </p:par>
                            </p:childTnLst>
                          </p:cTn>
                        </p:par>
                        <p:par>
                          <p:cTn id="217" fill="hold" nodeType="afterGroup">
                            <p:stCondLst>
                              <p:cond delay="36500"/>
                            </p:stCondLst>
                            <p:childTnLst>
                              <p:par>
                                <p:cTn id="218" presetID="49" presetClass="entr" presetSubtype="0" decel="100000" fill="hold" nodeType="afterEffect">
                                  <p:stCondLst>
                                    <p:cond delay="0"/>
                                  </p:stCondLst>
                                  <p:childTnLst>
                                    <p:set>
                                      <p:cBhvr>
                                        <p:cTn id="219" dur="1" fill="hold">
                                          <p:stCondLst>
                                            <p:cond delay="0"/>
                                          </p:stCondLst>
                                        </p:cTn>
                                        <p:tgtEl>
                                          <p:spTgt spid="69"/>
                                        </p:tgtEl>
                                        <p:attrNameLst>
                                          <p:attrName>style.visibility</p:attrName>
                                        </p:attrNameLst>
                                      </p:cBhvr>
                                      <p:to>
                                        <p:strVal val="visible"/>
                                      </p:to>
                                    </p:set>
                                    <p:anim calcmode="lin" valueType="num">
                                      <p:cBhvr>
                                        <p:cTn id="220" dur="500" fill="hold"/>
                                        <p:tgtEl>
                                          <p:spTgt spid="69"/>
                                        </p:tgtEl>
                                        <p:attrNameLst>
                                          <p:attrName>ppt_w</p:attrName>
                                        </p:attrNameLst>
                                      </p:cBhvr>
                                      <p:tavLst>
                                        <p:tav tm="0">
                                          <p:val>
                                            <p:fltVal val="0"/>
                                          </p:val>
                                        </p:tav>
                                        <p:tav tm="100000">
                                          <p:val>
                                            <p:strVal val="#ppt_w"/>
                                          </p:val>
                                        </p:tav>
                                      </p:tavLst>
                                    </p:anim>
                                    <p:anim calcmode="lin" valueType="num">
                                      <p:cBhvr>
                                        <p:cTn id="221" dur="500" fill="hold"/>
                                        <p:tgtEl>
                                          <p:spTgt spid="69"/>
                                        </p:tgtEl>
                                        <p:attrNameLst>
                                          <p:attrName>ppt_h</p:attrName>
                                        </p:attrNameLst>
                                      </p:cBhvr>
                                      <p:tavLst>
                                        <p:tav tm="0">
                                          <p:val>
                                            <p:fltVal val="0"/>
                                          </p:val>
                                        </p:tav>
                                        <p:tav tm="100000">
                                          <p:val>
                                            <p:strVal val="#ppt_h"/>
                                          </p:val>
                                        </p:tav>
                                      </p:tavLst>
                                    </p:anim>
                                    <p:anim calcmode="lin" valueType="num">
                                      <p:cBhvr>
                                        <p:cTn id="222" dur="500" fill="hold"/>
                                        <p:tgtEl>
                                          <p:spTgt spid="69"/>
                                        </p:tgtEl>
                                        <p:attrNameLst>
                                          <p:attrName>style.rotation</p:attrName>
                                        </p:attrNameLst>
                                      </p:cBhvr>
                                      <p:tavLst>
                                        <p:tav tm="0">
                                          <p:val>
                                            <p:fltVal val="360"/>
                                          </p:val>
                                        </p:tav>
                                        <p:tav tm="100000">
                                          <p:val>
                                            <p:fltVal val="0"/>
                                          </p:val>
                                        </p:tav>
                                      </p:tavLst>
                                    </p:anim>
                                    <p:animEffect transition="in" filter="fade">
                                      <p:cBhvr>
                                        <p:cTn id="223" dur="500"/>
                                        <p:tgtEl>
                                          <p:spTgt spid="69"/>
                                        </p:tgtEl>
                                      </p:cBhvr>
                                    </p:animEffect>
                                  </p:childTnLst>
                                </p:cTn>
                              </p:par>
                            </p:childTnLst>
                          </p:cTn>
                        </p:par>
                        <p:par>
                          <p:cTn id="224" fill="hold" nodeType="afterGroup">
                            <p:stCondLst>
                              <p:cond delay="37000"/>
                            </p:stCondLst>
                            <p:childTnLst>
                              <p:par>
                                <p:cTn id="225" presetID="0" presetClass="path" presetSubtype="0" accel="50000" decel="50000" fill="hold" grpId="0" nodeType="afterEffect">
                                  <p:stCondLst>
                                    <p:cond delay="0"/>
                                  </p:stCondLst>
                                  <p:childTnLst>
                                    <p:animMotion origin="layout" path="M 8.33333E-7 4.81481E-6 C 0.01094 0.00069 0.05399 -0.00672 0.06615 0.0037 C 0.07656 0.01342 0.06719 0.05185 0.07292 0.06203 C 0.11771 0.0662 0.27257 0.06203 0.325 0.06203 " pathEditMode="relative" rAng="0" ptsTypes="affa">
                                      <p:cBhvr>
                                        <p:cTn id="226" dur="1000" fill="hold"/>
                                        <p:tgtEl>
                                          <p:spTgt spid="40"/>
                                        </p:tgtEl>
                                        <p:attrNameLst>
                                          <p:attrName>ppt_x</p:attrName>
                                          <p:attrName>ppt_y</p:attrName>
                                        </p:attrNameLst>
                                      </p:cBhvr>
                                      <p:rCtr x="162" y="30"/>
                                    </p:animMotion>
                                  </p:childTnLst>
                                </p:cTn>
                              </p:par>
                            </p:childTnLst>
                          </p:cTn>
                        </p:par>
                        <p:par>
                          <p:cTn id="227" fill="hold" nodeType="afterGroup">
                            <p:stCondLst>
                              <p:cond delay="38000"/>
                            </p:stCondLst>
                            <p:childTnLst>
                              <p:par>
                                <p:cTn id="228" presetID="42" presetClass="exit" presetSubtype="0" fill="hold" nodeType="afterEffect">
                                  <p:stCondLst>
                                    <p:cond delay="0"/>
                                  </p:stCondLst>
                                  <p:childTnLst>
                                    <p:animEffect transition="out" filter="fade">
                                      <p:cBhvr>
                                        <p:cTn id="229" dur="500"/>
                                        <p:tgtEl>
                                          <p:spTgt spid="69"/>
                                        </p:tgtEl>
                                      </p:cBhvr>
                                    </p:animEffect>
                                    <p:anim calcmode="lin" valueType="num">
                                      <p:cBhvr>
                                        <p:cTn id="230" dur="500"/>
                                        <p:tgtEl>
                                          <p:spTgt spid="69"/>
                                        </p:tgtEl>
                                        <p:attrNameLst>
                                          <p:attrName>ppt_x</p:attrName>
                                        </p:attrNameLst>
                                      </p:cBhvr>
                                      <p:tavLst>
                                        <p:tav tm="0">
                                          <p:val>
                                            <p:strVal val="ppt_x"/>
                                          </p:val>
                                        </p:tav>
                                        <p:tav tm="100000">
                                          <p:val>
                                            <p:strVal val="ppt_x"/>
                                          </p:val>
                                        </p:tav>
                                      </p:tavLst>
                                    </p:anim>
                                    <p:anim calcmode="lin" valueType="num">
                                      <p:cBhvr>
                                        <p:cTn id="231" dur="500"/>
                                        <p:tgtEl>
                                          <p:spTgt spid="69"/>
                                        </p:tgtEl>
                                        <p:attrNameLst>
                                          <p:attrName>ppt_y</p:attrName>
                                        </p:attrNameLst>
                                      </p:cBhvr>
                                      <p:tavLst>
                                        <p:tav tm="0">
                                          <p:val>
                                            <p:strVal val="ppt_y"/>
                                          </p:val>
                                        </p:tav>
                                        <p:tav tm="100000">
                                          <p:val>
                                            <p:strVal val="ppt_y+.1"/>
                                          </p:val>
                                        </p:tav>
                                      </p:tavLst>
                                    </p:anim>
                                    <p:set>
                                      <p:cBhvr>
                                        <p:cTn id="232" dur="1" fill="hold">
                                          <p:stCondLst>
                                            <p:cond delay="499"/>
                                          </p:stCondLst>
                                        </p:cTn>
                                        <p:tgtEl>
                                          <p:spTgt spid="69"/>
                                        </p:tgtEl>
                                        <p:attrNameLst>
                                          <p:attrName>style.visibility</p:attrName>
                                        </p:attrNameLst>
                                      </p:cBhvr>
                                      <p:to>
                                        <p:strVal val="hidden"/>
                                      </p:to>
                                    </p:set>
                                  </p:childTnLst>
                                </p:cTn>
                              </p:par>
                              <p:par>
                                <p:cTn id="233" presetID="10" presetClass="entr" presetSubtype="0" fill="hold" nodeType="withEffect">
                                  <p:stCondLst>
                                    <p:cond delay="0"/>
                                  </p:stCondLst>
                                  <p:childTnLst>
                                    <p:set>
                                      <p:cBhvr>
                                        <p:cTn id="234" dur="1" fill="hold">
                                          <p:stCondLst>
                                            <p:cond delay="0"/>
                                          </p:stCondLst>
                                        </p:cTn>
                                        <p:tgtEl>
                                          <p:spTgt spid="134"/>
                                        </p:tgtEl>
                                        <p:attrNameLst>
                                          <p:attrName>style.visibility</p:attrName>
                                        </p:attrNameLst>
                                      </p:cBhvr>
                                      <p:to>
                                        <p:strVal val="visible"/>
                                      </p:to>
                                    </p:set>
                                    <p:animEffect transition="in" filter="fade">
                                      <p:cBhvr>
                                        <p:cTn id="235" dur="1000"/>
                                        <p:tgtEl>
                                          <p:spTgt spid="134"/>
                                        </p:tgtEl>
                                      </p:cBhvr>
                                    </p:animEffect>
                                  </p:childTnLst>
                                </p:cTn>
                              </p:par>
                            </p:childTnLst>
                          </p:cTn>
                        </p:par>
                        <p:par>
                          <p:cTn id="236" fill="hold" nodeType="afterGroup">
                            <p:stCondLst>
                              <p:cond delay="39000"/>
                            </p:stCondLst>
                            <p:childTnLst>
                              <p:par>
                                <p:cTn id="237" presetID="10" presetClass="exit" presetSubtype="0" fill="hold" nodeType="afterEffect">
                                  <p:stCondLst>
                                    <p:cond delay="0"/>
                                  </p:stCondLst>
                                  <p:childTnLst>
                                    <p:animEffect transition="out" filter="fade">
                                      <p:cBhvr>
                                        <p:cTn id="238" dur="1000"/>
                                        <p:tgtEl>
                                          <p:spTgt spid="134"/>
                                        </p:tgtEl>
                                      </p:cBhvr>
                                    </p:animEffect>
                                    <p:set>
                                      <p:cBhvr>
                                        <p:cTn id="239" dur="1" fill="hold">
                                          <p:stCondLst>
                                            <p:cond delay="999"/>
                                          </p:stCondLst>
                                        </p:cTn>
                                        <p:tgtEl>
                                          <p:spTgt spid="134"/>
                                        </p:tgtEl>
                                        <p:attrNameLst>
                                          <p:attrName>style.visibility</p:attrName>
                                        </p:attrNameLst>
                                      </p:cBhvr>
                                      <p:to>
                                        <p:strVal val="hidden"/>
                                      </p:to>
                                    </p:set>
                                  </p:childTnLst>
                                </p:cTn>
                              </p:par>
                            </p:childTnLst>
                          </p:cTn>
                        </p:par>
                        <p:par>
                          <p:cTn id="240" fill="hold" nodeType="afterGroup">
                            <p:stCondLst>
                              <p:cond delay="40000"/>
                            </p:stCondLst>
                            <p:childTnLst>
                              <p:par>
                                <p:cTn id="241" presetID="63" presetClass="path" presetSubtype="0" accel="50000" decel="50000" fill="hold" grpId="0" nodeType="afterEffect">
                                  <p:stCondLst>
                                    <p:cond delay="0"/>
                                  </p:stCondLst>
                                  <p:childTnLst>
                                    <p:animMotion origin="layout" path="M -2.5E-6 -4.44444E-6 L 0.19722 -4.44444E-6 " pathEditMode="relative" rAng="0" ptsTypes="AA">
                                      <p:cBhvr>
                                        <p:cTn id="242" dur="500" fill="hold"/>
                                        <p:tgtEl>
                                          <p:spTgt spid="18"/>
                                        </p:tgtEl>
                                        <p:attrNameLst>
                                          <p:attrName>ppt_x</p:attrName>
                                          <p:attrName>ppt_y</p:attrName>
                                        </p:attrNameLst>
                                      </p:cBhvr>
                                      <p:rCtr x="99" y="0"/>
                                    </p:animMotion>
                                  </p:childTnLst>
                                </p:cTn>
                              </p:par>
                            </p:childTnLst>
                          </p:cTn>
                        </p:par>
                        <p:par>
                          <p:cTn id="243" fill="hold" nodeType="afterGroup">
                            <p:stCondLst>
                              <p:cond delay="40500"/>
                            </p:stCondLst>
                            <p:childTnLst>
                              <p:par>
                                <p:cTn id="244" presetID="10" presetClass="entr" presetSubtype="0" fill="hold" grpId="0" nodeType="afterEffect">
                                  <p:stCondLst>
                                    <p:cond delay="0"/>
                                  </p:stCondLst>
                                  <p:childTnLst>
                                    <p:set>
                                      <p:cBhvr>
                                        <p:cTn id="245" dur="1" fill="hold">
                                          <p:stCondLst>
                                            <p:cond delay="0"/>
                                          </p:stCondLst>
                                        </p:cTn>
                                        <p:tgtEl>
                                          <p:spTgt spid="152"/>
                                        </p:tgtEl>
                                        <p:attrNameLst>
                                          <p:attrName>style.visibility</p:attrName>
                                        </p:attrNameLst>
                                      </p:cBhvr>
                                      <p:to>
                                        <p:strVal val="visible"/>
                                      </p:to>
                                    </p:set>
                                    <p:animEffect transition="in" filter="fade">
                                      <p:cBhvr>
                                        <p:cTn id="246" dur="1000"/>
                                        <p:tgtEl>
                                          <p:spTgt spid="152"/>
                                        </p:tgtEl>
                                      </p:cBhvr>
                                    </p:animEffect>
                                  </p:childTnLst>
                                </p:cTn>
                              </p:par>
                            </p:childTnLst>
                          </p:cTn>
                        </p:par>
                        <p:par>
                          <p:cTn id="247" fill="hold" nodeType="afterGroup">
                            <p:stCondLst>
                              <p:cond delay="41500"/>
                            </p:stCondLst>
                            <p:childTnLst>
                              <p:par>
                                <p:cTn id="248" presetID="10" presetClass="exit" presetSubtype="0" fill="hold" grpId="1" nodeType="afterEffect">
                                  <p:stCondLst>
                                    <p:cond delay="0"/>
                                  </p:stCondLst>
                                  <p:childTnLst>
                                    <p:animEffect transition="out" filter="fade">
                                      <p:cBhvr>
                                        <p:cTn id="249" dur="1000"/>
                                        <p:tgtEl>
                                          <p:spTgt spid="152"/>
                                        </p:tgtEl>
                                      </p:cBhvr>
                                    </p:animEffect>
                                    <p:set>
                                      <p:cBhvr>
                                        <p:cTn id="250" dur="1" fill="hold">
                                          <p:stCondLst>
                                            <p:cond delay="999"/>
                                          </p:stCondLst>
                                        </p:cTn>
                                        <p:tgtEl>
                                          <p:spTgt spid="152"/>
                                        </p:tgtEl>
                                        <p:attrNameLst>
                                          <p:attrName>style.visibility</p:attrName>
                                        </p:attrNameLst>
                                      </p:cBhvr>
                                      <p:to>
                                        <p:strVal val="hidden"/>
                                      </p:to>
                                    </p:set>
                                  </p:childTnLst>
                                </p:cTn>
                              </p:par>
                            </p:childTnLst>
                          </p:cTn>
                        </p:par>
                        <p:par>
                          <p:cTn id="251" fill="hold" nodeType="afterGroup">
                            <p:stCondLst>
                              <p:cond delay="42500"/>
                            </p:stCondLst>
                            <p:childTnLst>
                              <p:par>
                                <p:cTn id="252" presetID="49" presetClass="entr" presetSubtype="0" decel="100000" fill="hold" nodeType="afterEffect">
                                  <p:stCondLst>
                                    <p:cond delay="0"/>
                                  </p:stCondLst>
                                  <p:childTnLst>
                                    <p:set>
                                      <p:cBhvr>
                                        <p:cTn id="253" dur="1" fill="hold">
                                          <p:stCondLst>
                                            <p:cond delay="0"/>
                                          </p:stCondLst>
                                        </p:cTn>
                                        <p:tgtEl>
                                          <p:spTgt spid="109"/>
                                        </p:tgtEl>
                                        <p:attrNameLst>
                                          <p:attrName>style.visibility</p:attrName>
                                        </p:attrNameLst>
                                      </p:cBhvr>
                                      <p:to>
                                        <p:strVal val="visible"/>
                                      </p:to>
                                    </p:set>
                                    <p:anim calcmode="lin" valueType="num">
                                      <p:cBhvr>
                                        <p:cTn id="254" dur="500" fill="hold"/>
                                        <p:tgtEl>
                                          <p:spTgt spid="109"/>
                                        </p:tgtEl>
                                        <p:attrNameLst>
                                          <p:attrName>ppt_w</p:attrName>
                                        </p:attrNameLst>
                                      </p:cBhvr>
                                      <p:tavLst>
                                        <p:tav tm="0">
                                          <p:val>
                                            <p:fltVal val="0"/>
                                          </p:val>
                                        </p:tav>
                                        <p:tav tm="100000">
                                          <p:val>
                                            <p:strVal val="#ppt_w"/>
                                          </p:val>
                                        </p:tav>
                                      </p:tavLst>
                                    </p:anim>
                                    <p:anim calcmode="lin" valueType="num">
                                      <p:cBhvr>
                                        <p:cTn id="255" dur="500" fill="hold"/>
                                        <p:tgtEl>
                                          <p:spTgt spid="109"/>
                                        </p:tgtEl>
                                        <p:attrNameLst>
                                          <p:attrName>ppt_h</p:attrName>
                                        </p:attrNameLst>
                                      </p:cBhvr>
                                      <p:tavLst>
                                        <p:tav tm="0">
                                          <p:val>
                                            <p:fltVal val="0"/>
                                          </p:val>
                                        </p:tav>
                                        <p:tav tm="100000">
                                          <p:val>
                                            <p:strVal val="#ppt_h"/>
                                          </p:val>
                                        </p:tav>
                                      </p:tavLst>
                                    </p:anim>
                                    <p:anim calcmode="lin" valueType="num">
                                      <p:cBhvr>
                                        <p:cTn id="256" dur="500" fill="hold"/>
                                        <p:tgtEl>
                                          <p:spTgt spid="109"/>
                                        </p:tgtEl>
                                        <p:attrNameLst>
                                          <p:attrName>style.rotation</p:attrName>
                                        </p:attrNameLst>
                                      </p:cBhvr>
                                      <p:tavLst>
                                        <p:tav tm="0">
                                          <p:val>
                                            <p:fltVal val="360"/>
                                          </p:val>
                                        </p:tav>
                                        <p:tav tm="100000">
                                          <p:val>
                                            <p:fltVal val="0"/>
                                          </p:val>
                                        </p:tav>
                                      </p:tavLst>
                                    </p:anim>
                                    <p:animEffect transition="in" filter="fade">
                                      <p:cBhvr>
                                        <p:cTn id="257" dur="500"/>
                                        <p:tgtEl>
                                          <p:spTgt spid="109"/>
                                        </p:tgtEl>
                                      </p:cBhvr>
                                    </p:animEffect>
                                  </p:childTnLst>
                                </p:cTn>
                              </p:par>
                            </p:childTnLst>
                          </p:cTn>
                        </p:par>
                        <p:par>
                          <p:cTn id="258" fill="hold" nodeType="afterGroup">
                            <p:stCondLst>
                              <p:cond delay="43000"/>
                            </p:stCondLst>
                            <p:childTnLst>
                              <p:par>
                                <p:cTn id="259" presetID="0" presetClass="path" presetSubtype="0" accel="50000" decel="50000" fill="hold" grpId="0" nodeType="afterEffect">
                                  <p:stCondLst>
                                    <p:cond delay="0"/>
                                  </p:stCondLst>
                                  <p:childTnLst>
                                    <p:animMotion origin="layout" path="M -0.00035 -0.0007 C 0.01545 -0.00139 0.07812 0.00393 0.09427 -0.0044 C 0.09896 -0.03843 0.09167 -0.17107 0.09792 -0.17176 C 0.15625 -0.18009 0.28472 -0.17176 0.33385 -0.17176 " pathEditMode="relative" rAng="0" ptsTypes="affa">
                                      <p:cBhvr>
                                        <p:cTn id="260" dur="1000" fill="hold"/>
                                        <p:tgtEl>
                                          <p:spTgt spid="45"/>
                                        </p:tgtEl>
                                        <p:attrNameLst>
                                          <p:attrName>ppt_x</p:attrName>
                                          <p:attrName>ppt_y</p:attrName>
                                        </p:attrNameLst>
                                      </p:cBhvr>
                                      <p:rCtr x="167" y="-87"/>
                                    </p:animMotion>
                                  </p:childTnLst>
                                </p:cTn>
                              </p:par>
                            </p:childTnLst>
                          </p:cTn>
                        </p:par>
                        <p:par>
                          <p:cTn id="261" fill="hold" nodeType="afterGroup">
                            <p:stCondLst>
                              <p:cond delay="44000"/>
                            </p:stCondLst>
                            <p:childTnLst>
                              <p:par>
                                <p:cTn id="262" presetID="42" presetClass="exit" presetSubtype="0" fill="hold" nodeType="afterEffect">
                                  <p:stCondLst>
                                    <p:cond delay="0"/>
                                  </p:stCondLst>
                                  <p:childTnLst>
                                    <p:animEffect transition="out" filter="fade">
                                      <p:cBhvr>
                                        <p:cTn id="263" dur="500"/>
                                        <p:tgtEl>
                                          <p:spTgt spid="109"/>
                                        </p:tgtEl>
                                      </p:cBhvr>
                                    </p:animEffect>
                                    <p:anim calcmode="lin" valueType="num">
                                      <p:cBhvr>
                                        <p:cTn id="264" dur="500"/>
                                        <p:tgtEl>
                                          <p:spTgt spid="109"/>
                                        </p:tgtEl>
                                        <p:attrNameLst>
                                          <p:attrName>ppt_x</p:attrName>
                                        </p:attrNameLst>
                                      </p:cBhvr>
                                      <p:tavLst>
                                        <p:tav tm="0">
                                          <p:val>
                                            <p:strVal val="ppt_x"/>
                                          </p:val>
                                        </p:tav>
                                        <p:tav tm="100000">
                                          <p:val>
                                            <p:strVal val="ppt_x"/>
                                          </p:val>
                                        </p:tav>
                                      </p:tavLst>
                                    </p:anim>
                                    <p:anim calcmode="lin" valueType="num">
                                      <p:cBhvr>
                                        <p:cTn id="265" dur="500"/>
                                        <p:tgtEl>
                                          <p:spTgt spid="109"/>
                                        </p:tgtEl>
                                        <p:attrNameLst>
                                          <p:attrName>ppt_y</p:attrName>
                                        </p:attrNameLst>
                                      </p:cBhvr>
                                      <p:tavLst>
                                        <p:tav tm="0">
                                          <p:val>
                                            <p:strVal val="ppt_y"/>
                                          </p:val>
                                        </p:tav>
                                        <p:tav tm="100000">
                                          <p:val>
                                            <p:strVal val="ppt_y+.1"/>
                                          </p:val>
                                        </p:tav>
                                      </p:tavLst>
                                    </p:anim>
                                    <p:set>
                                      <p:cBhvr>
                                        <p:cTn id="266" dur="1" fill="hold">
                                          <p:stCondLst>
                                            <p:cond delay="499"/>
                                          </p:stCondLst>
                                        </p:cTn>
                                        <p:tgtEl>
                                          <p:spTgt spid="109"/>
                                        </p:tgtEl>
                                        <p:attrNameLst>
                                          <p:attrName>style.visibility</p:attrName>
                                        </p:attrNameLst>
                                      </p:cBhvr>
                                      <p:to>
                                        <p:strVal val="hidden"/>
                                      </p:to>
                                    </p:set>
                                  </p:childTnLst>
                                </p:cTn>
                              </p:par>
                              <p:par>
                                <p:cTn id="267" presetID="10" presetClass="entr" presetSubtype="0" fill="hold" nodeType="withEffect">
                                  <p:stCondLst>
                                    <p:cond delay="0"/>
                                  </p:stCondLst>
                                  <p:childTnLst>
                                    <p:set>
                                      <p:cBhvr>
                                        <p:cTn id="268" dur="1" fill="hold">
                                          <p:stCondLst>
                                            <p:cond delay="0"/>
                                          </p:stCondLst>
                                        </p:cTn>
                                        <p:tgtEl>
                                          <p:spTgt spid="136"/>
                                        </p:tgtEl>
                                        <p:attrNameLst>
                                          <p:attrName>style.visibility</p:attrName>
                                        </p:attrNameLst>
                                      </p:cBhvr>
                                      <p:to>
                                        <p:strVal val="visible"/>
                                      </p:to>
                                    </p:set>
                                    <p:animEffect transition="in" filter="fade">
                                      <p:cBhvr>
                                        <p:cTn id="269" dur="1000"/>
                                        <p:tgtEl>
                                          <p:spTgt spid="136"/>
                                        </p:tgtEl>
                                      </p:cBhvr>
                                    </p:animEffect>
                                  </p:childTnLst>
                                </p:cTn>
                              </p:par>
                            </p:childTnLst>
                          </p:cTn>
                        </p:par>
                        <p:par>
                          <p:cTn id="270" fill="hold" nodeType="afterGroup">
                            <p:stCondLst>
                              <p:cond delay="45000"/>
                            </p:stCondLst>
                            <p:childTnLst>
                              <p:par>
                                <p:cTn id="271" presetID="10" presetClass="exit" presetSubtype="0" fill="hold" nodeType="afterEffect">
                                  <p:stCondLst>
                                    <p:cond delay="0"/>
                                  </p:stCondLst>
                                  <p:childTnLst>
                                    <p:animEffect transition="out" filter="fade">
                                      <p:cBhvr>
                                        <p:cTn id="272" dur="1000"/>
                                        <p:tgtEl>
                                          <p:spTgt spid="136"/>
                                        </p:tgtEl>
                                      </p:cBhvr>
                                    </p:animEffect>
                                    <p:set>
                                      <p:cBhvr>
                                        <p:cTn id="273" dur="1" fill="hold">
                                          <p:stCondLst>
                                            <p:cond delay="999"/>
                                          </p:stCondLst>
                                        </p:cTn>
                                        <p:tgtEl>
                                          <p:spTgt spid="136"/>
                                        </p:tgtEl>
                                        <p:attrNameLst>
                                          <p:attrName>style.visibility</p:attrName>
                                        </p:attrNameLst>
                                      </p:cBhvr>
                                      <p:to>
                                        <p:strVal val="hidden"/>
                                      </p:to>
                                    </p:set>
                                  </p:childTnLst>
                                </p:cTn>
                              </p:par>
                            </p:childTnLst>
                          </p:cTn>
                        </p:par>
                        <p:par>
                          <p:cTn id="274" fill="hold" nodeType="afterGroup">
                            <p:stCondLst>
                              <p:cond delay="46000"/>
                            </p:stCondLst>
                            <p:childTnLst>
                              <p:par>
                                <p:cTn id="275" presetID="63" presetClass="path" presetSubtype="0" accel="50000" decel="50000" fill="hold" grpId="0" nodeType="afterEffect">
                                  <p:stCondLst>
                                    <p:cond delay="0"/>
                                  </p:stCondLst>
                                  <p:childTnLst>
                                    <p:animMotion origin="layout" path="M -2.5E-6 -4.44444E-6 L 0.19722 -4.44444E-6 " pathEditMode="relative" rAng="0" ptsTypes="AA">
                                      <p:cBhvr>
                                        <p:cTn id="276" dur="500" fill="hold"/>
                                        <p:tgtEl>
                                          <p:spTgt spid="19"/>
                                        </p:tgtEl>
                                        <p:attrNameLst>
                                          <p:attrName>ppt_x</p:attrName>
                                          <p:attrName>ppt_y</p:attrName>
                                        </p:attrNameLst>
                                      </p:cBhvr>
                                      <p:rCtr x="99" y="0"/>
                                    </p:animMotion>
                                  </p:childTnLst>
                                </p:cTn>
                              </p:par>
                            </p:childTnLst>
                          </p:cTn>
                        </p:par>
                        <p:par>
                          <p:cTn id="277" fill="hold" nodeType="afterGroup">
                            <p:stCondLst>
                              <p:cond delay="46500"/>
                            </p:stCondLst>
                            <p:childTnLst>
                              <p:par>
                                <p:cTn id="278" presetID="10" presetClass="entr" presetSubtype="0" fill="hold" grpId="0" nodeType="afterEffect">
                                  <p:stCondLst>
                                    <p:cond delay="0"/>
                                  </p:stCondLst>
                                  <p:childTnLst>
                                    <p:set>
                                      <p:cBhvr>
                                        <p:cTn id="279" dur="1" fill="hold">
                                          <p:stCondLst>
                                            <p:cond delay="0"/>
                                          </p:stCondLst>
                                        </p:cTn>
                                        <p:tgtEl>
                                          <p:spTgt spid="153"/>
                                        </p:tgtEl>
                                        <p:attrNameLst>
                                          <p:attrName>style.visibility</p:attrName>
                                        </p:attrNameLst>
                                      </p:cBhvr>
                                      <p:to>
                                        <p:strVal val="visible"/>
                                      </p:to>
                                    </p:set>
                                    <p:animEffect transition="in" filter="fade">
                                      <p:cBhvr>
                                        <p:cTn id="280" dur="1000"/>
                                        <p:tgtEl>
                                          <p:spTgt spid="153"/>
                                        </p:tgtEl>
                                      </p:cBhvr>
                                    </p:animEffect>
                                  </p:childTnLst>
                                </p:cTn>
                              </p:par>
                            </p:childTnLst>
                          </p:cTn>
                        </p:par>
                        <p:par>
                          <p:cTn id="281" fill="hold" nodeType="afterGroup">
                            <p:stCondLst>
                              <p:cond delay="47500"/>
                            </p:stCondLst>
                            <p:childTnLst>
                              <p:par>
                                <p:cTn id="282" presetID="10" presetClass="exit" presetSubtype="0" fill="hold" grpId="1" nodeType="afterEffect">
                                  <p:stCondLst>
                                    <p:cond delay="0"/>
                                  </p:stCondLst>
                                  <p:childTnLst>
                                    <p:animEffect transition="out" filter="fade">
                                      <p:cBhvr>
                                        <p:cTn id="283" dur="1000"/>
                                        <p:tgtEl>
                                          <p:spTgt spid="153"/>
                                        </p:tgtEl>
                                      </p:cBhvr>
                                    </p:animEffect>
                                    <p:set>
                                      <p:cBhvr>
                                        <p:cTn id="284" dur="1" fill="hold">
                                          <p:stCondLst>
                                            <p:cond delay="999"/>
                                          </p:stCondLst>
                                        </p:cTn>
                                        <p:tgtEl>
                                          <p:spTgt spid="153"/>
                                        </p:tgtEl>
                                        <p:attrNameLst>
                                          <p:attrName>style.visibility</p:attrName>
                                        </p:attrNameLst>
                                      </p:cBhvr>
                                      <p:to>
                                        <p:strVal val="hidden"/>
                                      </p:to>
                                    </p:set>
                                  </p:childTnLst>
                                </p:cTn>
                              </p:par>
                              <p:par>
                                <p:cTn id="285" presetID="10" presetClass="entr" presetSubtype="0" fill="hold" nodeType="withEffect">
                                  <p:stCondLst>
                                    <p:cond delay="0"/>
                                  </p:stCondLst>
                                  <p:childTnLst>
                                    <p:set>
                                      <p:cBhvr>
                                        <p:cTn id="286" dur="1" fill="hold">
                                          <p:stCondLst>
                                            <p:cond delay="0"/>
                                          </p:stCondLst>
                                        </p:cTn>
                                        <p:tgtEl>
                                          <p:spTgt spid="141"/>
                                        </p:tgtEl>
                                        <p:attrNameLst>
                                          <p:attrName>style.visibility</p:attrName>
                                        </p:attrNameLst>
                                      </p:cBhvr>
                                      <p:to>
                                        <p:strVal val="visible"/>
                                      </p:to>
                                    </p:set>
                                    <p:animEffect transition="in" filter="fade">
                                      <p:cBhvr>
                                        <p:cTn id="287" dur="2000"/>
                                        <p:tgtEl>
                                          <p:spTgt spid="141"/>
                                        </p:tgtEl>
                                      </p:cBhvr>
                                    </p:animEffect>
                                  </p:childTnLst>
                                </p:cTn>
                              </p:par>
                              <p:par>
                                <p:cTn id="288" presetID="10" presetClass="entr" presetSubtype="0" fill="hold" nodeType="withEffect">
                                  <p:stCondLst>
                                    <p:cond delay="0"/>
                                  </p:stCondLst>
                                  <p:childTnLst>
                                    <p:set>
                                      <p:cBhvr>
                                        <p:cTn id="289" dur="1" fill="hold">
                                          <p:stCondLst>
                                            <p:cond delay="0"/>
                                          </p:stCondLst>
                                        </p:cTn>
                                        <p:tgtEl>
                                          <p:spTgt spid="137"/>
                                        </p:tgtEl>
                                        <p:attrNameLst>
                                          <p:attrName>style.visibility</p:attrName>
                                        </p:attrNameLst>
                                      </p:cBhvr>
                                      <p:to>
                                        <p:strVal val="visible"/>
                                      </p:to>
                                    </p:set>
                                    <p:animEffect transition="in" filter="fade">
                                      <p:cBhvr>
                                        <p:cTn id="290" dur="2000"/>
                                        <p:tgtEl>
                                          <p:spTgt spid="137"/>
                                        </p:tgtEl>
                                      </p:cBhvr>
                                    </p:animEffect>
                                  </p:childTnLst>
                                </p:cTn>
                              </p:par>
                              <p:par>
                                <p:cTn id="291" presetID="10" presetClass="entr" presetSubtype="0" fill="hold" nodeType="withEffect">
                                  <p:stCondLst>
                                    <p:cond delay="0"/>
                                  </p:stCondLst>
                                  <p:childTnLst>
                                    <p:set>
                                      <p:cBhvr>
                                        <p:cTn id="292" dur="1" fill="hold">
                                          <p:stCondLst>
                                            <p:cond delay="0"/>
                                          </p:stCondLst>
                                        </p:cTn>
                                        <p:tgtEl>
                                          <p:spTgt spid="129"/>
                                        </p:tgtEl>
                                        <p:attrNameLst>
                                          <p:attrName>style.visibility</p:attrName>
                                        </p:attrNameLst>
                                      </p:cBhvr>
                                      <p:to>
                                        <p:strVal val="visible"/>
                                      </p:to>
                                    </p:set>
                                    <p:animEffect transition="in" filter="fade">
                                      <p:cBhvr>
                                        <p:cTn id="293" dur="2000"/>
                                        <p:tgtEl>
                                          <p:spTgt spid="129"/>
                                        </p:tgtEl>
                                      </p:cBhvr>
                                    </p:animEffect>
                                  </p:childTnLst>
                                </p:cTn>
                              </p:par>
                              <p:par>
                                <p:cTn id="294" presetID="10" presetClass="entr" presetSubtype="0" fill="hold" nodeType="withEffect">
                                  <p:stCondLst>
                                    <p:cond delay="0"/>
                                  </p:stCondLst>
                                  <p:childTnLst>
                                    <p:set>
                                      <p:cBhvr>
                                        <p:cTn id="295" dur="1" fill="hold">
                                          <p:stCondLst>
                                            <p:cond delay="0"/>
                                          </p:stCondLst>
                                        </p:cTn>
                                        <p:tgtEl>
                                          <p:spTgt spid="139"/>
                                        </p:tgtEl>
                                        <p:attrNameLst>
                                          <p:attrName>style.visibility</p:attrName>
                                        </p:attrNameLst>
                                      </p:cBhvr>
                                      <p:to>
                                        <p:strVal val="visible"/>
                                      </p:to>
                                    </p:set>
                                    <p:animEffect transition="in" filter="fade">
                                      <p:cBhvr>
                                        <p:cTn id="296" dur="2000"/>
                                        <p:tgtEl>
                                          <p:spTgt spid="139"/>
                                        </p:tgtEl>
                                      </p:cBhvr>
                                    </p:animEffect>
                                  </p:childTnLst>
                                </p:cTn>
                              </p:par>
                            </p:childTnLst>
                          </p:cTn>
                        </p:par>
                        <p:par>
                          <p:cTn id="297" fill="hold" nodeType="afterGroup">
                            <p:stCondLst>
                              <p:cond delay="49500"/>
                            </p:stCondLst>
                            <p:childTnLst>
                              <p:par>
                                <p:cTn id="298" presetID="49" presetClass="entr" presetSubtype="0" decel="100000" fill="hold" nodeType="afterEffect">
                                  <p:stCondLst>
                                    <p:cond delay="0"/>
                                  </p:stCondLst>
                                  <p:childTnLst>
                                    <p:set>
                                      <p:cBhvr>
                                        <p:cTn id="299" dur="1" fill="hold">
                                          <p:stCondLst>
                                            <p:cond delay="0"/>
                                          </p:stCondLst>
                                        </p:cTn>
                                        <p:tgtEl>
                                          <p:spTgt spid="99"/>
                                        </p:tgtEl>
                                        <p:attrNameLst>
                                          <p:attrName>style.visibility</p:attrName>
                                        </p:attrNameLst>
                                      </p:cBhvr>
                                      <p:to>
                                        <p:strVal val="visible"/>
                                      </p:to>
                                    </p:set>
                                    <p:anim calcmode="lin" valueType="num">
                                      <p:cBhvr>
                                        <p:cTn id="300" dur="500" fill="hold"/>
                                        <p:tgtEl>
                                          <p:spTgt spid="99"/>
                                        </p:tgtEl>
                                        <p:attrNameLst>
                                          <p:attrName>ppt_w</p:attrName>
                                        </p:attrNameLst>
                                      </p:cBhvr>
                                      <p:tavLst>
                                        <p:tav tm="0">
                                          <p:val>
                                            <p:fltVal val="0"/>
                                          </p:val>
                                        </p:tav>
                                        <p:tav tm="100000">
                                          <p:val>
                                            <p:strVal val="#ppt_w"/>
                                          </p:val>
                                        </p:tav>
                                      </p:tavLst>
                                    </p:anim>
                                    <p:anim calcmode="lin" valueType="num">
                                      <p:cBhvr>
                                        <p:cTn id="301" dur="500" fill="hold"/>
                                        <p:tgtEl>
                                          <p:spTgt spid="99"/>
                                        </p:tgtEl>
                                        <p:attrNameLst>
                                          <p:attrName>ppt_h</p:attrName>
                                        </p:attrNameLst>
                                      </p:cBhvr>
                                      <p:tavLst>
                                        <p:tav tm="0">
                                          <p:val>
                                            <p:fltVal val="0"/>
                                          </p:val>
                                        </p:tav>
                                        <p:tav tm="100000">
                                          <p:val>
                                            <p:strVal val="#ppt_h"/>
                                          </p:val>
                                        </p:tav>
                                      </p:tavLst>
                                    </p:anim>
                                    <p:anim calcmode="lin" valueType="num">
                                      <p:cBhvr>
                                        <p:cTn id="302" dur="500" fill="hold"/>
                                        <p:tgtEl>
                                          <p:spTgt spid="99"/>
                                        </p:tgtEl>
                                        <p:attrNameLst>
                                          <p:attrName>style.rotation</p:attrName>
                                        </p:attrNameLst>
                                      </p:cBhvr>
                                      <p:tavLst>
                                        <p:tav tm="0">
                                          <p:val>
                                            <p:fltVal val="360"/>
                                          </p:val>
                                        </p:tav>
                                        <p:tav tm="100000">
                                          <p:val>
                                            <p:fltVal val="0"/>
                                          </p:val>
                                        </p:tav>
                                      </p:tavLst>
                                    </p:anim>
                                    <p:animEffect transition="in" filter="fade">
                                      <p:cBhvr>
                                        <p:cTn id="303" dur="500"/>
                                        <p:tgtEl>
                                          <p:spTgt spid="99"/>
                                        </p:tgtEl>
                                      </p:cBhvr>
                                    </p:animEffect>
                                  </p:childTnLst>
                                </p:cTn>
                              </p:par>
                            </p:childTnLst>
                          </p:cTn>
                        </p:par>
                        <p:par>
                          <p:cTn id="304" fill="hold" nodeType="afterGroup">
                            <p:stCondLst>
                              <p:cond delay="50000"/>
                            </p:stCondLst>
                            <p:childTnLst>
                              <p:par>
                                <p:cTn id="305" presetID="0" presetClass="path" presetSubtype="0" accel="50000" decel="50000" fill="hold" grpId="0" nodeType="afterEffect">
                                  <p:stCondLst>
                                    <p:cond delay="0"/>
                                  </p:stCondLst>
                                  <p:childTnLst>
                                    <p:animMotion origin="layout" path="M -0.00035 -0.00069 L 0.08802 -0.00092 C 0.10121 0.02545 0.08715 0.15985 0.0993 0.17095 C 0.14601 0.17974 0.27847 0.16794 0.32552 0.16725 " pathEditMode="relative" rAng="0" ptsTypes="AtfA">
                                      <p:cBhvr>
                                        <p:cTn id="306" dur="1000" fill="hold"/>
                                        <p:tgtEl>
                                          <p:spTgt spid="38"/>
                                        </p:tgtEl>
                                        <p:attrNameLst>
                                          <p:attrName>ppt_x</p:attrName>
                                          <p:attrName>ppt_y</p:attrName>
                                        </p:attrNameLst>
                                      </p:cBhvr>
                                      <p:rCtr x="163" y="90"/>
                                    </p:animMotion>
                                  </p:childTnLst>
                                </p:cTn>
                              </p:par>
                            </p:childTnLst>
                          </p:cTn>
                        </p:par>
                        <p:par>
                          <p:cTn id="307" fill="hold" nodeType="afterGroup">
                            <p:stCondLst>
                              <p:cond delay="51000"/>
                            </p:stCondLst>
                            <p:childTnLst>
                              <p:par>
                                <p:cTn id="308" presetID="42" presetClass="exit" presetSubtype="0" fill="hold" nodeType="afterEffect">
                                  <p:stCondLst>
                                    <p:cond delay="0"/>
                                  </p:stCondLst>
                                  <p:childTnLst>
                                    <p:animEffect transition="out" filter="fade">
                                      <p:cBhvr>
                                        <p:cTn id="309" dur="500"/>
                                        <p:tgtEl>
                                          <p:spTgt spid="99"/>
                                        </p:tgtEl>
                                      </p:cBhvr>
                                    </p:animEffect>
                                    <p:anim calcmode="lin" valueType="num">
                                      <p:cBhvr>
                                        <p:cTn id="310" dur="500"/>
                                        <p:tgtEl>
                                          <p:spTgt spid="99"/>
                                        </p:tgtEl>
                                        <p:attrNameLst>
                                          <p:attrName>ppt_x</p:attrName>
                                        </p:attrNameLst>
                                      </p:cBhvr>
                                      <p:tavLst>
                                        <p:tav tm="0">
                                          <p:val>
                                            <p:strVal val="ppt_x"/>
                                          </p:val>
                                        </p:tav>
                                        <p:tav tm="100000">
                                          <p:val>
                                            <p:strVal val="ppt_x"/>
                                          </p:val>
                                        </p:tav>
                                      </p:tavLst>
                                    </p:anim>
                                    <p:anim calcmode="lin" valueType="num">
                                      <p:cBhvr>
                                        <p:cTn id="311" dur="500"/>
                                        <p:tgtEl>
                                          <p:spTgt spid="99"/>
                                        </p:tgtEl>
                                        <p:attrNameLst>
                                          <p:attrName>ppt_y</p:attrName>
                                        </p:attrNameLst>
                                      </p:cBhvr>
                                      <p:tavLst>
                                        <p:tav tm="0">
                                          <p:val>
                                            <p:strVal val="ppt_y"/>
                                          </p:val>
                                        </p:tav>
                                        <p:tav tm="100000">
                                          <p:val>
                                            <p:strVal val="ppt_y+.1"/>
                                          </p:val>
                                        </p:tav>
                                      </p:tavLst>
                                    </p:anim>
                                    <p:set>
                                      <p:cBhvr>
                                        <p:cTn id="312" dur="1" fill="hold">
                                          <p:stCondLst>
                                            <p:cond delay="499"/>
                                          </p:stCondLst>
                                        </p:cTn>
                                        <p:tgtEl>
                                          <p:spTgt spid="99"/>
                                        </p:tgtEl>
                                        <p:attrNameLst>
                                          <p:attrName>style.visibility</p:attrName>
                                        </p:attrNameLst>
                                      </p:cBhvr>
                                      <p:to>
                                        <p:strVal val="hidden"/>
                                      </p:to>
                                    </p:set>
                                  </p:childTnLst>
                                </p:cTn>
                              </p:par>
                            </p:childTnLst>
                          </p:cTn>
                        </p:par>
                        <p:par>
                          <p:cTn id="313" fill="hold" nodeType="afterGroup">
                            <p:stCondLst>
                              <p:cond delay="51500"/>
                            </p:stCondLst>
                            <p:childTnLst>
                              <p:par>
                                <p:cTn id="314" presetID="10" presetClass="entr" presetSubtype="0" fill="hold" nodeType="afterEffect">
                                  <p:stCondLst>
                                    <p:cond delay="0"/>
                                  </p:stCondLst>
                                  <p:childTnLst>
                                    <p:set>
                                      <p:cBhvr>
                                        <p:cTn id="315" dur="1" fill="hold">
                                          <p:stCondLst>
                                            <p:cond delay="0"/>
                                          </p:stCondLst>
                                        </p:cTn>
                                        <p:tgtEl>
                                          <p:spTgt spid="138"/>
                                        </p:tgtEl>
                                        <p:attrNameLst>
                                          <p:attrName>style.visibility</p:attrName>
                                        </p:attrNameLst>
                                      </p:cBhvr>
                                      <p:to>
                                        <p:strVal val="visible"/>
                                      </p:to>
                                    </p:set>
                                    <p:animEffect transition="in" filter="fade">
                                      <p:cBhvr>
                                        <p:cTn id="316" dur="1000"/>
                                        <p:tgtEl>
                                          <p:spTgt spid="138"/>
                                        </p:tgtEl>
                                      </p:cBhvr>
                                    </p:animEffect>
                                  </p:childTnLst>
                                </p:cTn>
                              </p:par>
                            </p:childTnLst>
                          </p:cTn>
                        </p:par>
                        <p:par>
                          <p:cTn id="317" fill="hold" nodeType="afterGroup">
                            <p:stCondLst>
                              <p:cond delay="52500"/>
                            </p:stCondLst>
                            <p:childTnLst>
                              <p:par>
                                <p:cTn id="318" presetID="10" presetClass="exit" presetSubtype="0" fill="hold" nodeType="afterEffect">
                                  <p:stCondLst>
                                    <p:cond delay="0"/>
                                  </p:stCondLst>
                                  <p:childTnLst>
                                    <p:animEffect transition="out" filter="fade">
                                      <p:cBhvr>
                                        <p:cTn id="319" dur="1000"/>
                                        <p:tgtEl>
                                          <p:spTgt spid="138"/>
                                        </p:tgtEl>
                                      </p:cBhvr>
                                    </p:animEffect>
                                    <p:set>
                                      <p:cBhvr>
                                        <p:cTn id="320" dur="1" fill="hold">
                                          <p:stCondLst>
                                            <p:cond delay="999"/>
                                          </p:stCondLst>
                                        </p:cTn>
                                        <p:tgtEl>
                                          <p:spTgt spid="138"/>
                                        </p:tgtEl>
                                        <p:attrNameLst>
                                          <p:attrName>style.visibility</p:attrName>
                                        </p:attrNameLst>
                                      </p:cBhvr>
                                      <p:to>
                                        <p:strVal val="hidden"/>
                                      </p:to>
                                    </p:set>
                                  </p:childTnLst>
                                </p:cTn>
                              </p:par>
                            </p:childTnLst>
                          </p:cTn>
                        </p:par>
                        <p:par>
                          <p:cTn id="321" fill="hold" nodeType="afterGroup">
                            <p:stCondLst>
                              <p:cond delay="53500"/>
                            </p:stCondLst>
                            <p:childTnLst>
                              <p:par>
                                <p:cTn id="322" presetID="63" presetClass="path" presetSubtype="0" accel="50000" decel="50000" fill="hold" grpId="0" nodeType="afterEffect">
                                  <p:stCondLst>
                                    <p:cond delay="0"/>
                                  </p:stCondLst>
                                  <p:childTnLst>
                                    <p:animMotion origin="layout" path="M -2.5E-6 -4.44444E-6 L 0.19722 -4.44444E-6 " pathEditMode="relative" rAng="0" ptsTypes="AA">
                                      <p:cBhvr>
                                        <p:cTn id="323" dur="500" fill="hold"/>
                                        <p:tgtEl>
                                          <p:spTgt spid="20"/>
                                        </p:tgtEl>
                                        <p:attrNameLst>
                                          <p:attrName>ppt_x</p:attrName>
                                          <p:attrName>ppt_y</p:attrName>
                                        </p:attrNameLst>
                                      </p:cBhvr>
                                      <p:rCtr x="99" y="0"/>
                                    </p:animMotion>
                                  </p:childTnLst>
                                </p:cTn>
                              </p:par>
                            </p:childTnLst>
                          </p:cTn>
                        </p:par>
                        <p:par>
                          <p:cTn id="324" fill="hold" nodeType="afterGroup">
                            <p:stCondLst>
                              <p:cond delay="54000"/>
                            </p:stCondLst>
                            <p:childTnLst>
                              <p:par>
                                <p:cTn id="325" presetID="10" presetClass="entr" presetSubtype="0" fill="hold" grpId="0" nodeType="afterEffect">
                                  <p:stCondLst>
                                    <p:cond delay="0"/>
                                  </p:stCondLst>
                                  <p:childTnLst>
                                    <p:set>
                                      <p:cBhvr>
                                        <p:cTn id="326" dur="1" fill="hold">
                                          <p:stCondLst>
                                            <p:cond delay="0"/>
                                          </p:stCondLst>
                                        </p:cTn>
                                        <p:tgtEl>
                                          <p:spTgt spid="154"/>
                                        </p:tgtEl>
                                        <p:attrNameLst>
                                          <p:attrName>style.visibility</p:attrName>
                                        </p:attrNameLst>
                                      </p:cBhvr>
                                      <p:to>
                                        <p:strVal val="visible"/>
                                      </p:to>
                                    </p:set>
                                    <p:animEffect transition="in" filter="fade">
                                      <p:cBhvr>
                                        <p:cTn id="327" dur="1000"/>
                                        <p:tgtEl>
                                          <p:spTgt spid="154"/>
                                        </p:tgtEl>
                                      </p:cBhvr>
                                    </p:animEffect>
                                  </p:childTnLst>
                                </p:cTn>
                              </p:par>
                            </p:childTnLst>
                          </p:cTn>
                        </p:par>
                        <p:par>
                          <p:cTn id="328" fill="hold" nodeType="afterGroup">
                            <p:stCondLst>
                              <p:cond delay="55000"/>
                            </p:stCondLst>
                            <p:childTnLst>
                              <p:par>
                                <p:cTn id="329" presetID="10" presetClass="exit" presetSubtype="0" fill="hold" grpId="1" nodeType="afterEffect">
                                  <p:stCondLst>
                                    <p:cond delay="0"/>
                                  </p:stCondLst>
                                  <p:childTnLst>
                                    <p:animEffect transition="out" filter="fade">
                                      <p:cBhvr>
                                        <p:cTn id="330" dur="1000"/>
                                        <p:tgtEl>
                                          <p:spTgt spid="154"/>
                                        </p:tgtEl>
                                      </p:cBhvr>
                                    </p:animEffect>
                                    <p:set>
                                      <p:cBhvr>
                                        <p:cTn id="331" dur="1" fill="hold">
                                          <p:stCondLst>
                                            <p:cond delay="999"/>
                                          </p:stCondLst>
                                        </p:cTn>
                                        <p:tgtEl>
                                          <p:spTgt spid="154"/>
                                        </p:tgtEl>
                                        <p:attrNameLst>
                                          <p:attrName>style.visibility</p:attrName>
                                        </p:attrNameLst>
                                      </p:cBhvr>
                                      <p:to>
                                        <p:strVal val="hidden"/>
                                      </p:to>
                                    </p:set>
                                  </p:childTnLst>
                                </p:cTn>
                              </p:par>
                            </p:childTnLst>
                          </p:cTn>
                        </p:par>
                        <p:par>
                          <p:cTn id="332" fill="hold" nodeType="afterGroup">
                            <p:stCondLst>
                              <p:cond delay="56000"/>
                            </p:stCondLst>
                            <p:childTnLst>
                              <p:par>
                                <p:cTn id="333" presetID="49" presetClass="entr" presetSubtype="0" decel="100000" fill="hold" nodeType="afterEffect">
                                  <p:stCondLst>
                                    <p:cond delay="0"/>
                                  </p:stCondLst>
                                  <p:childTnLst>
                                    <p:set>
                                      <p:cBhvr>
                                        <p:cTn id="334" dur="1" fill="hold">
                                          <p:stCondLst>
                                            <p:cond delay="0"/>
                                          </p:stCondLst>
                                        </p:cTn>
                                        <p:tgtEl>
                                          <p:spTgt spid="64"/>
                                        </p:tgtEl>
                                        <p:attrNameLst>
                                          <p:attrName>style.visibility</p:attrName>
                                        </p:attrNameLst>
                                      </p:cBhvr>
                                      <p:to>
                                        <p:strVal val="visible"/>
                                      </p:to>
                                    </p:set>
                                    <p:anim calcmode="lin" valueType="num">
                                      <p:cBhvr>
                                        <p:cTn id="335" dur="500" fill="hold"/>
                                        <p:tgtEl>
                                          <p:spTgt spid="64"/>
                                        </p:tgtEl>
                                        <p:attrNameLst>
                                          <p:attrName>ppt_w</p:attrName>
                                        </p:attrNameLst>
                                      </p:cBhvr>
                                      <p:tavLst>
                                        <p:tav tm="0">
                                          <p:val>
                                            <p:fltVal val="0"/>
                                          </p:val>
                                        </p:tav>
                                        <p:tav tm="100000">
                                          <p:val>
                                            <p:strVal val="#ppt_w"/>
                                          </p:val>
                                        </p:tav>
                                      </p:tavLst>
                                    </p:anim>
                                    <p:anim calcmode="lin" valueType="num">
                                      <p:cBhvr>
                                        <p:cTn id="336" dur="500" fill="hold"/>
                                        <p:tgtEl>
                                          <p:spTgt spid="64"/>
                                        </p:tgtEl>
                                        <p:attrNameLst>
                                          <p:attrName>ppt_h</p:attrName>
                                        </p:attrNameLst>
                                      </p:cBhvr>
                                      <p:tavLst>
                                        <p:tav tm="0">
                                          <p:val>
                                            <p:fltVal val="0"/>
                                          </p:val>
                                        </p:tav>
                                        <p:tav tm="100000">
                                          <p:val>
                                            <p:strVal val="#ppt_h"/>
                                          </p:val>
                                        </p:tav>
                                      </p:tavLst>
                                    </p:anim>
                                    <p:anim calcmode="lin" valueType="num">
                                      <p:cBhvr>
                                        <p:cTn id="337" dur="500" fill="hold"/>
                                        <p:tgtEl>
                                          <p:spTgt spid="64"/>
                                        </p:tgtEl>
                                        <p:attrNameLst>
                                          <p:attrName>style.rotation</p:attrName>
                                        </p:attrNameLst>
                                      </p:cBhvr>
                                      <p:tavLst>
                                        <p:tav tm="0">
                                          <p:val>
                                            <p:fltVal val="360"/>
                                          </p:val>
                                        </p:tav>
                                        <p:tav tm="100000">
                                          <p:val>
                                            <p:fltVal val="0"/>
                                          </p:val>
                                        </p:tav>
                                      </p:tavLst>
                                    </p:anim>
                                    <p:animEffect transition="in" filter="fade">
                                      <p:cBhvr>
                                        <p:cTn id="338" dur="500"/>
                                        <p:tgtEl>
                                          <p:spTgt spid="64"/>
                                        </p:tgtEl>
                                      </p:cBhvr>
                                    </p:animEffect>
                                  </p:childTnLst>
                                </p:cTn>
                              </p:par>
                            </p:childTnLst>
                          </p:cTn>
                        </p:par>
                        <p:par>
                          <p:cTn id="339" fill="hold" nodeType="afterGroup">
                            <p:stCondLst>
                              <p:cond delay="56500"/>
                            </p:stCondLst>
                            <p:childTnLst>
                              <p:par>
                                <p:cTn id="340" presetID="0" presetClass="path" presetSubtype="0" accel="50000" decel="50000" fill="hold" grpId="0" nodeType="afterEffect">
                                  <p:stCondLst>
                                    <p:cond delay="0"/>
                                  </p:stCondLst>
                                  <p:childTnLst>
                                    <p:animMotion origin="layout" path="M -0.00035 -0.00069 C 0.01094 -0.00162 0.05469 -0.00185 0.06719 -0.00671 C 0.07708 -0.01435 0.06198 -0.06296 0.07604 -0.06713 C 0.09479 -0.07268 0.13125 -0.06967 0.17344 -0.0706 C 0.21562 -0.07153 0.2967 -0.07176 0.32917 -0.07199 " pathEditMode="relative" rAng="0" ptsTypes="affaa">
                                      <p:cBhvr>
                                        <p:cTn id="341" dur="1000" fill="hold"/>
                                        <p:tgtEl>
                                          <p:spTgt spid="42"/>
                                        </p:tgtEl>
                                        <p:attrNameLst>
                                          <p:attrName>ppt_x</p:attrName>
                                          <p:attrName>ppt_y</p:attrName>
                                        </p:attrNameLst>
                                      </p:cBhvr>
                                      <p:rCtr x="165" y="-36"/>
                                    </p:animMotion>
                                  </p:childTnLst>
                                </p:cTn>
                              </p:par>
                            </p:childTnLst>
                          </p:cTn>
                        </p:par>
                        <p:par>
                          <p:cTn id="342" fill="hold" nodeType="afterGroup">
                            <p:stCondLst>
                              <p:cond delay="57500"/>
                            </p:stCondLst>
                            <p:childTnLst>
                              <p:par>
                                <p:cTn id="343" presetID="42" presetClass="exit" presetSubtype="0" fill="hold" nodeType="afterEffect">
                                  <p:stCondLst>
                                    <p:cond delay="0"/>
                                  </p:stCondLst>
                                  <p:childTnLst>
                                    <p:animEffect transition="out" filter="fade">
                                      <p:cBhvr>
                                        <p:cTn id="344" dur="500"/>
                                        <p:tgtEl>
                                          <p:spTgt spid="64"/>
                                        </p:tgtEl>
                                      </p:cBhvr>
                                    </p:animEffect>
                                    <p:anim calcmode="lin" valueType="num">
                                      <p:cBhvr>
                                        <p:cTn id="345" dur="500"/>
                                        <p:tgtEl>
                                          <p:spTgt spid="64"/>
                                        </p:tgtEl>
                                        <p:attrNameLst>
                                          <p:attrName>ppt_x</p:attrName>
                                        </p:attrNameLst>
                                      </p:cBhvr>
                                      <p:tavLst>
                                        <p:tav tm="0">
                                          <p:val>
                                            <p:strVal val="ppt_x"/>
                                          </p:val>
                                        </p:tav>
                                        <p:tav tm="100000">
                                          <p:val>
                                            <p:strVal val="ppt_x"/>
                                          </p:val>
                                        </p:tav>
                                      </p:tavLst>
                                    </p:anim>
                                    <p:anim calcmode="lin" valueType="num">
                                      <p:cBhvr>
                                        <p:cTn id="346" dur="500"/>
                                        <p:tgtEl>
                                          <p:spTgt spid="64"/>
                                        </p:tgtEl>
                                        <p:attrNameLst>
                                          <p:attrName>ppt_y</p:attrName>
                                        </p:attrNameLst>
                                      </p:cBhvr>
                                      <p:tavLst>
                                        <p:tav tm="0">
                                          <p:val>
                                            <p:strVal val="ppt_y"/>
                                          </p:val>
                                        </p:tav>
                                        <p:tav tm="100000">
                                          <p:val>
                                            <p:strVal val="ppt_y+.1"/>
                                          </p:val>
                                        </p:tav>
                                      </p:tavLst>
                                    </p:anim>
                                    <p:set>
                                      <p:cBhvr>
                                        <p:cTn id="347" dur="1" fill="hold">
                                          <p:stCondLst>
                                            <p:cond delay="499"/>
                                          </p:stCondLst>
                                        </p:cTn>
                                        <p:tgtEl>
                                          <p:spTgt spid="64"/>
                                        </p:tgtEl>
                                        <p:attrNameLst>
                                          <p:attrName>style.visibility</p:attrName>
                                        </p:attrNameLst>
                                      </p:cBhvr>
                                      <p:to>
                                        <p:strVal val="hidden"/>
                                      </p:to>
                                    </p:set>
                                  </p:childTnLst>
                                </p:cTn>
                              </p:par>
                              <p:par>
                                <p:cTn id="348" presetID="10" presetClass="entr" presetSubtype="0" fill="hold" nodeType="withEffect">
                                  <p:stCondLst>
                                    <p:cond delay="0"/>
                                  </p:stCondLst>
                                  <p:childTnLst>
                                    <p:set>
                                      <p:cBhvr>
                                        <p:cTn id="349" dur="1" fill="hold">
                                          <p:stCondLst>
                                            <p:cond delay="0"/>
                                          </p:stCondLst>
                                        </p:cTn>
                                        <p:tgtEl>
                                          <p:spTgt spid="130"/>
                                        </p:tgtEl>
                                        <p:attrNameLst>
                                          <p:attrName>style.visibility</p:attrName>
                                        </p:attrNameLst>
                                      </p:cBhvr>
                                      <p:to>
                                        <p:strVal val="visible"/>
                                      </p:to>
                                    </p:set>
                                    <p:animEffect transition="in" filter="fade">
                                      <p:cBhvr>
                                        <p:cTn id="350" dur="1000"/>
                                        <p:tgtEl>
                                          <p:spTgt spid="130"/>
                                        </p:tgtEl>
                                      </p:cBhvr>
                                    </p:animEffect>
                                  </p:childTnLst>
                                </p:cTn>
                              </p:par>
                            </p:childTnLst>
                          </p:cTn>
                        </p:par>
                        <p:par>
                          <p:cTn id="351" fill="hold" nodeType="afterGroup">
                            <p:stCondLst>
                              <p:cond delay="58500"/>
                            </p:stCondLst>
                            <p:childTnLst>
                              <p:par>
                                <p:cTn id="352" presetID="10" presetClass="exit" presetSubtype="0" fill="hold" nodeType="afterEffect">
                                  <p:stCondLst>
                                    <p:cond delay="0"/>
                                  </p:stCondLst>
                                  <p:childTnLst>
                                    <p:animEffect transition="out" filter="fade">
                                      <p:cBhvr>
                                        <p:cTn id="353" dur="1000"/>
                                        <p:tgtEl>
                                          <p:spTgt spid="130"/>
                                        </p:tgtEl>
                                      </p:cBhvr>
                                    </p:animEffect>
                                    <p:set>
                                      <p:cBhvr>
                                        <p:cTn id="354" dur="1" fill="hold">
                                          <p:stCondLst>
                                            <p:cond delay="999"/>
                                          </p:stCondLst>
                                        </p:cTn>
                                        <p:tgtEl>
                                          <p:spTgt spid="130"/>
                                        </p:tgtEl>
                                        <p:attrNameLst>
                                          <p:attrName>style.visibility</p:attrName>
                                        </p:attrNameLst>
                                      </p:cBhvr>
                                      <p:to>
                                        <p:strVal val="hidden"/>
                                      </p:to>
                                    </p:set>
                                  </p:childTnLst>
                                </p:cTn>
                              </p:par>
                            </p:childTnLst>
                          </p:cTn>
                        </p:par>
                        <p:par>
                          <p:cTn id="355" fill="hold" nodeType="afterGroup">
                            <p:stCondLst>
                              <p:cond delay="59500"/>
                            </p:stCondLst>
                            <p:childTnLst>
                              <p:par>
                                <p:cTn id="356" presetID="63" presetClass="path" presetSubtype="0" accel="50000" decel="50000" fill="hold" grpId="0" nodeType="afterEffect">
                                  <p:stCondLst>
                                    <p:cond delay="0"/>
                                  </p:stCondLst>
                                  <p:childTnLst>
                                    <p:animMotion origin="layout" path="M -2.5E-6 -4.44444E-6 L 0.19722 -4.44444E-6 " pathEditMode="relative" rAng="0" ptsTypes="AA">
                                      <p:cBhvr>
                                        <p:cTn id="357" dur="500" fill="hold"/>
                                        <p:tgtEl>
                                          <p:spTgt spid="21"/>
                                        </p:tgtEl>
                                        <p:attrNameLst>
                                          <p:attrName>ppt_x</p:attrName>
                                          <p:attrName>ppt_y</p:attrName>
                                        </p:attrNameLst>
                                      </p:cBhvr>
                                      <p:rCtr x="99" y="0"/>
                                    </p:animMotion>
                                  </p:childTnLst>
                                </p:cTn>
                              </p:par>
                            </p:childTnLst>
                          </p:cTn>
                        </p:par>
                        <p:par>
                          <p:cTn id="358" fill="hold" nodeType="afterGroup">
                            <p:stCondLst>
                              <p:cond delay="60000"/>
                            </p:stCondLst>
                            <p:childTnLst>
                              <p:par>
                                <p:cTn id="359" presetID="10" presetClass="entr" presetSubtype="0" fill="hold" grpId="0" nodeType="afterEffect">
                                  <p:stCondLst>
                                    <p:cond delay="0"/>
                                  </p:stCondLst>
                                  <p:childTnLst>
                                    <p:set>
                                      <p:cBhvr>
                                        <p:cTn id="360" dur="1" fill="hold">
                                          <p:stCondLst>
                                            <p:cond delay="0"/>
                                          </p:stCondLst>
                                        </p:cTn>
                                        <p:tgtEl>
                                          <p:spTgt spid="155"/>
                                        </p:tgtEl>
                                        <p:attrNameLst>
                                          <p:attrName>style.visibility</p:attrName>
                                        </p:attrNameLst>
                                      </p:cBhvr>
                                      <p:to>
                                        <p:strVal val="visible"/>
                                      </p:to>
                                    </p:set>
                                    <p:animEffect transition="in" filter="fade">
                                      <p:cBhvr>
                                        <p:cTn id="361" dur="1000"/>
                                        <p:tgtEl>
                                          <p:spTgt spid="155"/>
                                        </p:tgtEl>
                                      </p:cBhvr>
                                    </p:animEffect>
                                  </p:childTnLst>
                                </p:cTn>
                              </p:par>
                            </p:childTnLst>
                          </p:cTn>
                        </p:par>
                        <p:par>
                          <p:cTn id="362" fill="hold" nodeType="afterGroup">
                            <p:stCondLst>
                              <p:cond delay="61000"/>
                            </p:stCondLst>
                            <p:childTnLst>
                              <p:par>
                                <p:cTn id="363" presetID="10" presetClass="exit" presetSubtype="0" fill="hold" grpId="1" nodeType="afterEffect">
                                  <p:stCondLst>
                                    <p:cond delay="0"/>
                                  </p:stCondLst>
                                  <p:childTnLst>
                                    <p:animEffect transition="out" filter="fade">
                                      <p:cBhvr>
                                        <p:cTn id="364" dur="1000"/>
                                        <p:tgtEl>
                                          <p:spTgt spid="155"/>
                                        </p:tgtEl>
                                      </p:cBhvr>
                                    </p:animEffect>
                                    <p:set>
                                      <p:cBhvr>
                                        <p:cTn id="365" dur="1" fill="hold">
                                          <p:stCondLst>
                                            <p:cond delay="999"/>
                                          </p:stCondLst>
                                        </p:cTn>
                                        <p:tgtEl>
                                          <p:spTgt spid="155"/>
                                        </p:tgtEl>
                                        <p:attrNameLst>
                                          <p:attrName>style.visibility</p:attrName>
                                        </p:attrNameLst>
                                      </p:cBhvr>
                                      <p:to>
                                        <p:strVal val="hidden"/>
                                      </p:to>
                                    </p:set>
                                  </p:childTnLst>
                                </p:cTn>
                              </p:par>
                            </p:childTnLst>
                          </p:cTn>
                        </p:par>
                        <p:par>
                          <p:cTn id="366" fill="hold" nodeType="afterGroup">
                            <p:stCondLst>
                              <p:cond delay="62000"/>
                            </p:stCondLst>
                            <p:childTnLst>
                              <p:par>
                                <p:cTn id="367" presetID="49" presetClass="entr" presetSubtype="0" decel="100000" fill="hold" nodeType="afterEffect">
                                  <p:stCondLst>
                                    <p:cond delay="0"/>
                                  </p:stCondLst>
                                  <p:childTnLst>
                                    <p:set>
                                      <p:cBhvr>
                                        <p:cTn id="368" dur="1" fill="hold">
                                          <p:stCondLst>
                                            <p:cond delay="0"/>
                                          </p:stCondLst>
                                        </p:cTn>
                                        <p:tgtEl>
                                          <p:spTgt spid="84"/>
                                        </p:tgtEl>
                                        <p:attrNameLst>
                                          <p:attrName>style.visibility</p:attrName>
                                        </p:attrNameLst>
                                      </p:cBhvr>
                                      <p:to>
                                        <p:strVal val="visible"/>
                                      </p:to>
                                    </p:set>
                                    <p:anim calcmode="lin" valueType="num">
                                      <p:cBhvr>
                                        <p:cTn id="369" dur="500" fill="hold"/>
                                        <p:tgtEl>
                                          <p:spTgt spid="84"/>
                                        </p:tgtEl>
                                        <p:attrNameLst>
                                          <p:attrName>ppt_w</p:attrName>
                                        </p:attrNameLst>
                                      </p:cBhvr>
                                      <p:tavLst>
                                        <p:tav tm="0">
                                          <p:val>
                                            <p:fltVal val="0"/>
                                          </p:val>
                                        </p:tav>
                                        <p:tav tm="100000">
                                          <p:val>
                                            <p:strVal val="#ppt_w"/>
                                          </p:val>
                                        </p:tav>
                                      </p:tavLst>
                                    </p:anim>
                                    <p:anim calcmode="lin" valueType="num">
                                      <p:cBhvr>
                                        <p:cTn id="370" dur="500" fill="hold"/>
                                        <p:tgtEl>
                                          <p:spTgt spid="84"/>
                                        </p:tgtEl>
                                        <p:attrNameLst>
                                          <p:attrName>ppt_h</p:attrName>
                                        </p:attrNameLst>
                                      </p:cBhvr>
                                      <p:tavLst>
                                        <p:tav tm="0">
                                          <p:val>
                                            <p:fltVal val="0"/>
                                          </p:val>
                                        </p:tav>
                                        <p:tav tm="100000">
                                          <p:val>
                                            <p:strVal val="#ppt_h"/>
                                          </p:val>
                                        </p:tav>
                                      </p:tavLst>
                                    </p:anim>
                                    <p:anim calcmode="lin" valueType="num">
                                      <p:cBhvr>
                                        <p:cTn id="371" dur="500" fill="hold"/>
                                        <p:tgtEl>
                                          <p:spTgt spid="84"/>
                                        </p:tgtEl>
                                        <p:attrNameLst>
                                          <p:attrName>style.rotation</p:attrName>
                                        </p:attrNameLst>
                                      </p:cBhvr>
                                      <p:tavLst>
                                        <p:tav tm="0">
                                          <p:val>
                                            <p:fltVal val="360"/>
                                          </p:val>
                                        </p:tav>
                                        <p:tav tm="100000">
                                          <p:val>
                                            <p:fltVal val="0"/>
                                          </p:val>
                                        </p:tav>
                                      </p:tavLst>
                                    </p:anim>
                                    <p:animEffect transition="in" filter="fade">
                                      <p:cBhvr>
                                        <p:cTn id="372" dur="500"/>
                                        <p:tgtEl>
                                          <p:spTgt spid="84"/>
                                        </p:tgtEl>
                                      </p:cBhvr>
                                    </p:animEffect>
                                  </p:childTnLst>
                                </p:cTn>
                              </p:par>
                            </p:childTnLst>
                          </p:cTn>
                        </p:par>
                        <p:par>
                          <p:cTn id="373" fill="hold" nodeType="afterGroup">
                            <p:stCondLst>
                              <p:cond delay="62500"/>
                            </p:stCondLst>
                            <p:childTnLst>
                              <p:par>
                                <p:cTn id="374" presetID="0" presetClass="path" presetSubtype="0" accel="50000" decel="50000" fill="hold" grpId="0" nodeType="afterEffect">
                                  <p:stCondLst>
                                    <p:cond delay="0"/>
                                  </p:stCondLst>
                                  <p:childTnLst>
                                    <p:animMotion origin="layout" path="M 8.33333E-7 4.81481E-6 C 0.01094 0.00069 0.05399 -0.00672 0.06615 0.0037 C 0.07656 0.01342 0.06719 0.05185 0.07292 0.06203 C 0.11771 0.0662 0.27257 0.06203 0.325 0.06203 " pathEditMode="relative" rAng="0" ptsTypes="affa">
                                      <p:cBhvr>
                                        <p:cTn id="375" dur="1000" fill="hold"/>
                                        <p:tgtEl>
                                          <p:spTgt spid="41"/>
                                        </p:tgtEl>
                                        <p:attrNameLst>
                                          <p:attrName>ppt_x</p:attrName>
                                          <p:attrName>ppt_y</p:attrName>
                                        </p:attrNameLst>
                                      </p:cBhvr>
                                      <p:rCtr x="162" y="30"/>
                                    </p:animMotion>
                                  </p:childTnLst>
                                </p:cTn>
                              </p:par>
                            </p:childTnLst>
                          </p:cTn>
                        </p:par>
                        <p:par>
                          <p:cTn id="376" fill="hold" nodeType="afterGroup">
                            <p:stCondLst>
                              <p:cond delay="63500"/>
                            </p:stCondLst>
                            <p:childTnLst>
                              <p:par>
                                <p:cTn id="377" presetID="42" presetClass="exit" presetSubtype="0" fill="hold" nodeType="afterEffect">
                                  <p:stCondLst>
                                    <p:cond delay="0"/>
                                  </p:stCondLst>
                                  <p:childTnLst>
                                    <p:animEffect transition="out" filter="fade">
                                      <p:cBhvr>
                                        <p:cTn id="378" dur="500"/>
                                        <p:tgtEl>
                                          <p:spTgt spid="84"/>
                                        </p:tgtEl>
                                      </p:cBhvr>
                                    </p:animEffect>
                                    <p:anim calcmode="lin" valueType="num">
                                      <p:cBhvr>
                                        <p:cTn id="379" dur="500"/>
                                        <p:tgtEl>
                                          <p:spTgt spid="84"/>
                                        </p:tgtEl>
                                        <p:attrNameLst>
                                          <p:attrName>ppt_x</p:attrName>
                                        </p:attrNameLst>
                                      </p:cBhvr>
                                      <p:tavLst>
                                        <p:tav tm="0">
                                          <p:val>
                                            <p:strVal val="ppt_x"/>
                                          </p:val>
                                        </p:tav>
                                        <p:tav tm="100000">
                                          <p:val>
                                            <p:strVal val="ppt_x"/>
                                          </p:val>
                                        </p:tav>
                                      </p:tavLst>
                                    </p:anim>
                                    <p:anim calcmode="lin" valueType="num">
                                      <p:cBhvr>
                                        <p:cTn id="380" dur="500"/>
                                        <p:tgtEl>
                                          <p:spTgt spid="84"/>
                                        </p:tgtEl>
                                        <p:attrNameLst>
                                          <p:attrName>ppt_y</p:attrName>
                                        </p:attrNameLst>
                                      </p:cBhvr>
                                      <p:tavLst>
                                        <p:tav tm="0">
                                          <p:val>
                                            <p:strVal val="ppt_y"/>
                                          </p:val>
                                        </p:tav>
                                        <p:tav tm="100000">
                                          <p:val>
                                            <p:strVal val="ppt_y+.1"/>
                                          </p:val>
                                        </p:tav>
                                      </p:tavLst>
                                    </p:anim>
                                    <p:set>
                                      <p:cBhvr>
                                        <p:cTn id="381" dur="1" fill="hold">
                                          <p:stCondLst>
                                            <p:cond delay="499"/>
                                          </p:stCondLst>
                                        </p:cTn>
                                        <p:tgtEl>
                                          <p:spTgt spid="84"/>
                                        </p:tgtEl>
                                        <p:attrNameLst>
                                          <p:attrName>style.visibility</p:attrName>
                                        </p:attrNameLst>
                                      </p:cBhvr>
                                      <p:to>
                                        <p:strVal val="hidden"/>
                                      </p:to>
                                    </p:set>
                                  </p:childTnLst>
                                </p:cTn>
                              </p:par>
                              <p:par>
                                <p:cTn id="382" presetID="10" presetClass="entr" presetSubtype="0" fill="hold" nodeType="withEffect">
                                  <p:stCondLst>
                                    <p:cond delay="0"/>
                                  </p:stCondLst>
                                  <p:childTnLst>
                                    <p:set>
                                      <p:cBhvr>
                                        <p:cTn id="383" dur="1" fill="hold">
                                          <p:stCondLst>
                                            <p:cond delay="0"/>
                                          </p:stCondLst>
                                        </p:cTn>
                                        <p:tgtEl>
                                          <p:spTgt spid="140"/>
                                        </p:tgtEl>
                                        <p:attrNameLst>
                                          <p:attrName>style.visibility</p:attrName>
                                        </p:attrNameLst>
                                      </p:cBhvr>
                                      <p:to>
                                        <p:strVal val="visible"/>
                                      </p:to>
                                    </p:set>
                                    <p:animEffect transition="in" filter="fade">
                                      <p:cBhvr>
                                        <p:cTn id="384" dur="1000"/>
                                        <p:tgtEl>
                                          <p:spTgt spid="140"/>
                                        </p:tgtEl>
                                      </p:cBhvr>
                                    </p:animEffect>
                                  </p:childTnLst>
                                </p:cTn>
                              </p:par>
                            </p:childTnLst>
                          </p:cTn>
                        </p:par>
                        <p:par>
                          <p:cTn id="385" fill="hold" nodeType="afterGroup">
                            <p:stCondLst>
                              <p:cond delay="64500"/>
                            </p:stCondLst>
                            <p:childTnLst>
                              <p:par>
                                <p:cTn id="386" presetID="10" presetClass="exit" presetSubtype="0" fill="hold" nodeType="afterEffect">
                                  <p:stCondLst>
                                    <p:cond delay="0"/>
                                  </p:stCondLst>
                                  <p:childTnLst>
                                    <p:animEffect transition="out" filter="fade">
                                      <p:cBhvr>
                                        <p:cTn id="387" dur="1000"/>
                                        <p:tgtEl>
                                          <p:spTgt spid="140"/>
                                        </p:tgtEl>
                                      </p:cBhvr>
                                    </p:animEffect>
                                    <p:set>
                                      <p:cBhvr>
                                        <p:cTn id="388" dur="1" fill="hold">
                                          <p:stCondLst>
                                            <p:cond delay="999"/>
                                          </p:stCondLst>
                                        </p:cTn>
                                        <p:tgtEl>
                                          <p:spTgt spid="140"/>
                                        </p:tgtEl>
                                        <p:attrNameLst>
                                          <p:attrName>style.visibility</p:attrName>
                                        </p:attrNameLst>
                                      </p:cBhvr>
                                      <p:to>
                                        <p:strVal val="hidden"/>
                                      </p:to>
                                    </p:set>
                                  </p:childTnLst>
                                </p:cTn>
                              </p:par>
                            </p:childTnLst>
                          </p:cTn>
                        </p:par>
                        <p:par>
                          <p:cTn id="389" fill="hold" nodeType="afterGroup">
                            <p:stCondLst>
                              <p:cond delay="65500"/>
                            </p:stCondLst>
                            <p:childTnLst>
                              <p:par>
                                <p:cTn id="390" presetID="63" presetClass="path" presetSubtype="0" accel="50000" decel="50000" fill="hold" grpId="0" nodeType="afterEffect">
                                  <p:stCondLst>
                                    <p:cond delay="0"/>
                                  </p:stCondLst>
                                  <p:childTnLst>
                                    <p:animMotion origin="layout" path="M -2.5E-6 3.7037E-6 L 0.19722 3.7037E-6 " pathEditMode="relative" rAng="0" ptsTypes="AA">
                                      <p:cBhvr>
                                        <p:cTn id="391" dur="500" fill="hold"/>
                                        <p:tgtEl>
                                          <p:spTgt spid="22"/>
                                        </p:tgtEl>
                                        <p:attrNameLst>
                                          <p:attrName>ppt_x</p:attrName>
                                          <p:attrName>ppt_y</p:attrName>
                                        </p:attrNameLst>
                                      </p:cBhvr>
                                      <p:rCtr x="99" y="0"/>
                                    </p:animMotion>
                                  </p:childTnLst>
                                </p:cTn>
                              </p:par>
                            </p:childTnLst>
                          </p:cTn>
                        </p:par>
                        <p:par>
                          <p:cTn id="392" fill="hold" nodeType="afterGroup">
                            <p:stCondLst>
                              <p:cond delay="66000"/>
                            </p:stCondLst>
                            <p:childTnLst>
                              <p:par>
                                <p:cTn id="393" presetID="10" presetClass="entr" presetSubtype="0" fill="hold" grpId="0" nodeType="afterEffect">
                                  <p:stCondLst>
                                    <p:cond delay="0"/>
                                  </p:stCondLst>
                                  <p:childTnLst>
                                    <p:set>
                                      <p:cBhvr>
                                        <p:cTn id="394" dur="1" fill="hold">
                                          <p:stCondLst>
                                            <p:cond delay="0"/>
                                          </p:stCondLst>
                                        </p:cTn>
                                        <p:tgtEl>
                                          <p:spTgt spid="156"/>
                                        </p:tgtEl>
                                        <p:attrNameLst>
                                          <p:attrName>style.visibility</p:attrName>
                                        </p:attrNameLst>
                                      </p:cBhvr>
                                      <p:to>
                                        <p:strVal val="visible"/>
                                      </p:to>
                                    </p:set>
                                    <p:animEffect transition="in" filter="fade">
                                      <p:cBhvr>
                                        <p:cTn id="395" dur="1000"/>
                                        <p:tgtEl>
                                          <p:spTgt spid="156"/>
                                        </p:tgtEl>
                                      </p:cBhvr>
                                    </p:animEffect>
                                  </p:childTnLst>
                                </p:cTn>
                              </p:par>
                            </p:childTnLst>
                          </p:cTn>
                        </p:par>
                        <p:par>
                          <p:cTn id="396" fill="hold" nodeType="afterGroup">
                            <p:stCondLst>
                              <p:cond delay="67000"/>
                            </p:stCondLst>
                            <p:childTnLst>
                              <p:par>
                                <p:cTn id="397" presetID="10" presetClass="exit" presetSubtype="0" fill="hold" grpId="1" nodeType="afterEffect">
                                  <p:stCondLst>
                                    <p:cond delay="0"/>
                                  </p:stCondLst>
                                  <p:childTnLst>
                                    <p:animEffect transition="out" filter="fade">
                                      <p:cBhvr>
                                        <p:cTn id="398" dur="1000"/>
                                        <p:tgtEl>
                                          <p:spTgt spid="156"/>
                                        </p:tgtEl>
                                      </p:cBhvr>
                                    </p:animEffect>
                                    <p:set>
                                      <p:cBhvr>
                                        <p:cTn id="399" dur="1" fill="hold">
                                          <p:stCondLst>
                                            <p:cond delay="999"/>
                                          </p:stCondLst>
                                        </p:cTn>
                                        <p:tgtEl>
                                          <p:spTgt spid="1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146" grpId="0" animBg="1"/>
      <p:bldP spid="146" grpId="1" animBg="1"/>
      <p:bldP spid="147" grpId="0" animBg="1"/>
      <p:bldP spid="147" grpId="1" animBg="1"/>
      <p:bldP spid="148" grpId="0" animBg="1"/>
      <p:bldP spid="148" grpId="1" animBg="1"/>
      <p:bldP spid="149" grpId="0" animBg="1"/>
      <p:bldP spid="149" grpId="1" animBg="1"/>
      <p:bldP spid="150" grpId="0" animBg="1"/>
      <p:bldP spid="150" grpId="1" animBg="1"/>
      <p:bldP spid="151" grpId="0" animBg="1"/>
      <p:bldP spid="151" grpId="1" animBg="1"/>
      <p:bldP spid="152" grpId="0" animBg="1"/>
      <p:bldP spid="152" grpId="1" animBg="1"/>
      <p:bldP spid="153" grpId="0" animBg="1"/>
      <p:bldP spid="153" grpId="1" animBg="1"/>
      <p:bldP spid="154" grpId="0" animBg="1"/>
      <p:bldP spid="154" grpId="1" animBg="1"/>
      <p:bldP spid="155" grpId="0" animBg="1"/>
      <p:bldP spid="155" grpId="1" animBg="1"/>
      <p:bldP spid="156" grpId="0" animBg="1"/>
      <p:bldP spid="156" grpId="1" animBg="1"/>
    </p:bldLst>
  </p:timing>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ＭＳ Ｐゴシック"/>
        <a:cs typeface="Arial"/>
      </a:majorFont>
      <a:minorFont>
        <a:latin typeface="Arial"/>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just" defTabSz="914400" rtl="0" eaLnBrk="1" fontAlgn="base" latinLnBrk="0" hangingPunct="1">
          <a:lnSpc>
            <a:spcPct val="120000"/>
          </a:lnSpc>
          <a:spcBef>
            <a:spcPct val="20000"/>
          </a:spcBef>
          <a:spcAft>
            <a:spcPct val="50000"/>
          </a:spcAft>
          <a:buClrTx/>
          <a:buSzTx/>
          <a:buFontTx/>
          <a:buNone/>
          <a:tabLst/>
          <a:defRPr kumimoji="0" lang="pt-BR" sz="1800" b="0" i="0" u="none" strike="noStrike" cap="none" normalizeH="0" baseline="0">
            <a:ln>
              <a:noFill/>
            </a:ln>
            <a:solidFill>
              <a:schemeClr val="tx1"/>
            </a:solidFill>
            <a:effectLst/>
            <a:latin typeface="Arial" charset="0"/>
            <a:ea typeface="ＭＳ Ｐゴシック" charset="0"/>
            <a:cs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just" defTabSz="914400" rtl="0" eaLnBrk="1" fontAlgn="base" latinLnBrk="0" hangingPunct="1">
          <a:lnSpc>
            <a:spcPct val="120000"/>
          </a:lnSpc>
          <a:spcBef>
            <a:spcPct val="20000"/>
          </a:spcBef>
          <a:spcAft>
            <a:spcPct val="50000"/>
          </a:spcAft>
          <a:buClrTx/>
          <a:buSzTx/>
          <a:buFontTx/>
          <a:buNone/>
          <a:tabLst/>
          <a:defRPr kumimoji="0" lang="pt-BR" sz="1800" b="0" i="0" u="none" strike="noStrike" cap="none" normalizeH="0" baseline="0">
            <a:ln>
              <a:noFill/>
            </a:ln>
            <a:solidFill>
              <a:schemeClr val="tx1"/>
            </a:solidFill>
            <a:effectLst/>
            <a:latin typeface="Arial" charset="0"/>
            <a:ea typeface="ＭＳ Ｐゴシック" charset="0"/>
            <a:cs typeface="Arial" charset="0"/>
          </a:defRPr>
        </a:defPPr>
      </a:lst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4858</TotalTime>
  <Words>8033</Words>
  <Application>Microsoft Office PowerPoint</Application>
  <PresentationFormat>Apresentação na tela (4:3)</PresentationFormat>
  <Paragraphs>1232</Paragraphs>
  <Slides>56</Slides>
  <Notes>43</Notes>
  <HiddenSlides>1</HiddenSlides>
  <MMClips>0</MMClips>
  <ScaleCrop>false</ScaleCrop>
  <HeadingPairs>
    <vt:vector size="4" baseType="variant">
      <vt:variant>
        <vt:lpstr>Tema</vt:lpstr>
      </vt:variant>
      <vt:variant>
        <vt:i4>1</vt:i4>
      </vt:variant>
      <vt:variant>
        <vt:lpstr>Títulos de slides</vt:lpstr>
      </vt:variant>
      <vt:variant>
        <vt:i4>56</vt:i4>
      </vt:variant>
    </vt:vector>
  </HeadingPairs>
  <TitlesOfParts>
    <vt:vector size="57" baseType="lpstr">
      <vt:lpstr>Design padrão</vt:lpstr>
      <vt:lpstr>Programa Gestão Empresarial</vt:lpstr>
      <vt:lpstr>eBusiness Suite - Metodologia</vt:lpstr>
      <vt:lpstr>eBusiness Suite - Metodologia</vt:lpstr>
      <vt:lpstr>eBusiness Suite - Metodologia</vt:lpstr>
      <vt:lpstr>eBusiness Suite - Metodologia</vt:lpstr>
      <vt:lpstr>Apresentação do PowerPoint</vt:lpstr>
      <vt:lpstr>Apresentação do PowerPoint</vt:lpstr>
      <vt:lpstr>eBusiness Suite – Fluxos</vt:lpstr>
      <vt:lpstr>Forecast to Plan (Previsão até Planejamento) </vt:lpstr>
      <vt:lpstr>Procure to Pay (Aquisição até o Pagamento) </vt:lpstr>
      <vt:lpstr>Demand to Build (Demanda até Criação) </vt:lpstr>
      <vt:lpstr>Campaign to Order (Campanha até Ordem) </vt:lpstr>
      <vt:lpstr>Click to Order (Seleção até Ordem) </vt:lpstr>
      <vt:lpstr>Order to Cash (Ordem até o Caixa) </vt:lpstr>
      <vt:lpstr>Contract to Renewal (Contrato até Renovação)</vt:lpstr>
      <vt:lpstr>Request to Resolution (Solicitação até Resolução)</vt:lpstr>
      <vt:lpstr>Project to Profit (Projeto até Lucro) </vt:lpstr>
      <vt:lpstr>People to Paycheck (Pessoas até Recibo  de Pagamento) </vt:lpstr>
      <vt:lpstr>Plan to Replenish (Planejamento até Reposição)</vt:lpstr>
      <vt:lpstr>Benefits to Payroll (Benefícios até  a Folha de Pagamento) </vt:lpstr>
      <vt:lpstr>eBusiness Suite - Arquitetura</vt:lpstr>
      <vt:lpstr>eBusiness Suite - Login</vt:lpstr>
      <vt:lpstr>eBusiness Suite – Tipos Aplicativos</vt:lpstr>
      <vt:lpstr>eBusiness Suite – Navegabilidade</vt:lpstr>
      <vt:lpstr>eBusiness Suite – Navegabilidade</vt:lpstr>
      <vt:lpstr>eBusiness Suite – Navegabilidade</vt:lpstr>
      <vt:lpstr>eBusiness Suite – Navegabilidade</vt:lpstr>
      <vt:lpstr>eBusiness Suite – Entidades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Usando Campos de Referência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Dúvidas ou questões?</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 Gestão Empresarial</dc:title>
  <dc:creator>Usuário do Microsoft Office</dc:creator>
  <cp:lastModifiedBy>Horácio Vasconcelos</cp:lastModifiedBy>
  <cp:revision>320</cp:revision>
  <dcterms:created xsi:type="dcterms:W3CDTF">2015-10-21T17:12:56Z</dcterms:created>
  <dcterms:modified xsi:type="dcterms:W3CDTF">2018-10-25T15:03:14Z</dcterms:modified>
</cp:coreProperties>
</file>